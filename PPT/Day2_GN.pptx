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8" r:id="rId2"/>
  </p:sldMasterIdLst>
  <p:notesMasterIdLst>
    <p:notesMasterId r:id="rId27"/>
  </p:notesMasterIdLst>
  <p:sldIdLst>
    <p:sldId id="4319" r:id="rId3"/>
    <p:sldId id="668" r:id="rId4"/>
    <p:sldId id="4508" r:id="rId5"/>
    <p:sldId id="4509" r:id="rId6"/>
    <p:sldId id="970" r:id="rId7"/>
    <p:sldId id="507" r:id="rId8"/>
    <p:sldId id="572" r:id="rId9"/>
    <p:sldId id="508" r:id="rId10"/>
    <p:sldId id="628" r:id="rId11"/>
    <p:sldId id="510" r:id="rId12"/>
    <p:sldId id="981" r:id="rId13"/>
    <p:sldId id="961" r:id="rId14"/>
    <p:sldId id="963" r:id="rId15"/>
    <p:sldId id="964" r:id="rId16"/>
    <p:sldId id="965" r:id="rId17"/>
    <p:sldId id="966" r:id="rId18"/>
    <p:sldId id="967" r:id="rId19"/>
    <p:sldId id="968" r:id="rId20"/>
    <p:sldId id="974" r:id="rId21"/>
    <p:sldId id="976" r:id="rId22"/>
    <p:sldId id="977" r:id="rId23"/>
    <p:sldId id="556" r:id="rId24"/>
    <p:sldId id="452" r:id="rId25"/>
    <p:sldId id="447" r:id="rId26"/>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1B78B4-4A23-B746-831F-6886DCD96958}">
          <p14:sldIdLst>
            <p14:sldId id="4319"/>
            <p14:sldId id="668"/>
            <p14:sldId id="4508"/>
            <p14:sldId id="4509"/>
            <p14:sldId id="970"/>
            <p14:sldId id="507"/>
            <p14:sldId id="572"/>
            <p14:sldId id="508"/>
            <p14:sldId id="628"/>
            <p14:sldId id="510"/>
            <p14:sldId id="981"/>
            <p14:sldId id="961"/>
            <p14:sldId id="963"/>
            <p14:sldId id="964"/>
            <p14:sldId id="965"/>
            <p14:sldId id="966"/>
            <p14:sldId id="967"/>
            <p14:sldId id="968"/>
            <p14:sldId id="974"/>
            <p14:sldId id="976"/>
            <p14:sldId id="977"/>
          </p14:sldIdLst>
        </p14:section>
        <p14:section name="Lab session 2" id="{79874F54-C33B-412D-91D8-84955D24CD68}">
          <p14:sldIdLst>
            <p14:sldId id="556"/>
          </p14:sldIdLst>
        </p14:section>
        <p14:section name="Wrap-up" id="{4B76DBA2-45CD-8844-B48A-DFB47FBDC455}">
          <p14:sldIdLst>
            <p14:sldId id="452"/>
            <p14:sldId id="4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05"/>
    <p:restoredTop sz="64863" autoAdjust="0"/>
  </p:normalViewPr>
  <p:slideViewPr>
    <p:cSldViewPr snapToGrid="0">
      <p:cViewPr varScale="1">
        <p:scale>
          <a:sx n="75" d="100"/>
          <a:sy n="75" d="100"/>
        </p:scale>
        <p:origin x="18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598AD3-A401-9E4F-8F75-C24781233EA0}" type="datetimeFigureOut">
              <a:rPr lang="en-GB" smtClean="0"/>
              <a:t>09/06/2026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9ACCB8-C571-5044-810F-76B781C2137C}" type="slidenum">
              <a:rPr lang="en-GB" smtClean="0"/>
              <a:t>‹#›</a:t>
            </a:fld>
            <a:endParaRPr lang="en-GB"/>
          </a:p>
        </p:txBody>
      </p:sp>
    </p:spTree>
    <p:extLst>
      <p:ext uri="{BB962C8B-B14F-4D97-AF65-F5344CB8AC3E}">
        <p14:creationId xmlns:p14="http://schemas.microsoft.com/office/powerpoint/2010/main" val="3312190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FontTx/>
              <a:buNone/>
            </a:pPr>
            <a:endParaRPr lang="en-GB" noProof="1"/>
          </a:p>
        </p:txBody>
      </p:sp>
      <p:sp>
        <p:nvSpPr>
          <p:cNvPr id="4" name="Slide Number Placeholder 3"/>
          <p:cNvSpPr>
            <a:spLocks noGrp="1"/>
          </p:cNvSpPr>
          <p:nvPr>
            <p:ph type="sldNum" sz="quarter" idx="5"/>
          </p:nvPr>
        </p:nvSpPr>
        <p:spPr/>
        <p:txBody>
          <a:bodyPr/>
          <a:lstStyle/>
          <a:p>
            <a:fld id="{3B9F644A-22D0-0E41-9CB7-0D833FE0D1B3}" type="slidenum">
              <a:rPr lang="es-ES_tradnl" smtClean="0"/>
              <a:t>1</a:t>
            </a:fld>
            <a:endParaRPr lang="es-ES_tradnl"/>
          </a:p>
        </p:txBody>
      </p:sp>
    </p:spTree>
    <p:extLst>
      <p:ext uri="{BB962C8B-B14F-4D97-AF65-F5344CB8AC3E}">
        <p14:creationId xmlns:p14="http://schemas.microsoft.com/office/powerpoint/2010/main" val="84643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9366A6-7DC8-4C2E-B969-7A593BD97F4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2571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9CCA-6A96-5908-AD62-581157BCDC24}"/>
            </a:ext>
          </a:extLst>
        </p:cNvPr>
        <p:cNvGrpSpPr/>
        <p:nvPr/>
      </p:nvGrpSpPr>
      <p:grpSpPr>
        <a:xfrm>
          <a:off x="0" y="0"/>
          <a:ext cx="0" cy="0"/>
          <a:chOff x="0" y="0"/>
          <a:chExt cx="0" cy="0"/>
        </a:xfrm>
      </p:grpSpPr>
      <p:sp>
        <p:nvSpPr>
          <p:cNvPr id="520" name="PlaceHolder 1">
            <a:extLst>
              <a:ext uri="{FF2B5EF4-FFF2-40B4-BE49-F238E27FC236}">
                <a16:creationId xmlns:a16="http://schemas.microsoft.com/office/drawing/2014/main" id="{6CFB1143-0ED3-C84C-6735-9483A5B8189C}"/>
              </a:ext>
            </a:extLst>
          </p:cNvPr>
          <p:cNvSpPr>
            <a:spLocks noGrp="1" noRot="1" noChangeAspect="1"/>
          </p:cNvSpPr>
          <p:nvPr>
            <p:ph type="sldImg"/>
          </p:nvPr>
        </p:nvSpPr>
        <p:spPr>
          <a:xfrm>
            <a:off x="685800" y="1143000"/>
            <a:ext cx="5486400" cy="3086100"/>
          </a:xfrm>
          <a:prstGeom prst="rect">
            <a:avLst/>
          </a:prstGeom>
        </p:spPr>
      </p:sp>
      <p:sp>
        <p:nvSpPr>
          <p:cNvPr id="521" name="PlaceHolder 2">
            <a:extLst>
              <a:ext uri="{FF2B5EF4-FFF2-40B4-BE49-F238E27FC236}">
                <a16:creationId xmlns:a16="http://schemas.microsoft.com/office/drawing/2014/main" id="{7F5F1FD7-34FB-ED95-B24C-617BC14D2ACA}"/>
              </a:ext>
            </a:extLst>
          </p:cNvPr>
          <p:cNvSpPr>
            <a:spLocks noGrp="1"/>
          </p:cNvSpPr>
          <p:nvPr>
            <p:ph type="body"/>
          </p:nvPr>
        </p:nvSpPr>
        <p:spPr>
          <a:xfrm>
            <a:off x="685800" y="4400640"/>
            <a:ext cx="5485680" cy="3599640"/>
          </a:xfrm>
          <a:prstGeom prst="rect">
            <a:avLst/>
          </a:prstGeom>
        </p:spPr>
        <p:txBody>
          <a:bodyPr lIns="0" tIns="0" rIns="0" bIns="0">
            <a:noAutofit/>
          </a:bodyPr>
          <a:lstStyle/>
          <a:p>
            <a:pPr>
              <a:lnSpc>
                <a:spcPts val="1175"/>
              </a:lnSpc>
              <a:spcAft>
                <a:spcPts val="800"/>
              </a:spcAft>
            </a:pPr>
            <a:endParaRPr lang="en-US" sz="2000" b="0" strike="noStrike" spc="-1" dirty="0">
              <a:latin typeface="Calibri"/>
            </a:endParaRPr>
          </a:p>
        </p:txBody>
      </p:sp>
      <p:sp>
        <p:nvSpPr>
          <p:cNvPr id="522" name="CustomShape 3">
            <a:extLst>
              <a:ext uri="{FF2B5EF4-FFF2-40B4-BE49-F238E27FC236}">
                <a16:creationId xmlns:a16="http://schemas.microsoft.com/office/drawing/2014/main" id="{98D1335C-8D70-364F-8A2D-4471EEF99178}"/>
              </a:ext>
            </a:extLst>
          </p:cNvPr>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C4AD8394-06F2-4437-950A-2024FD027C4D}" type="slidenum">
              <a:rPr lang="es-ES_tradnl" sz="1200" b="0" strike="noStrike" spc="-1">
                <a:latin typeface="Calibri"/>
              </a:rPr>
              <a:t>3</a:t>
            </a:fld>
            <a:endParaRPr lang="en-US" sz="1200" b="0" strike="noStrike" spc="-1">
              <a:latin typeface="Calibri"/>
            </a:endParaRPr>
          </a:p>
        </p:txBody>
      </p:sp>
    </p:spTree>
    <p:extLst>
      <p:ext uri="{BB962C8B-B14F-4D97-AF65-F5344CB8AC3E}">
        <p14:creationId xmlns:p14="http://schemas.microsoft.com/office/powerpoint/2010/main" val="972338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9497-195B-E41A-FCCF-7CD841789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87941-7C26-BB13-1F19-C7B1E9FA5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7C332-5835-58CE-18EB-EDA09344866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6A004C2-81E2-3B7E-0620-FAC5623D0E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9366A6-7DC8-4C2E-B969-7A593BD97F4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922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97663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8211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6548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3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0722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9552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45807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56834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5474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5157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1141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30768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79521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3843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5688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8811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327A93-E22C-4B73-A065-EE978B3C7250}"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3458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9F327A93-E22C-4B73-A065-EE978B3C7250}" type="slidenum">
              <a:rPr lang="nl-NL" smtClean="0">
                <a:solidFill>
                  <a:prstClr val="black"/>
                </a:solidFill>
              </a:rPr>
              <a:pPr/>
              <a:t>23</a:t>
            </a:fld>
            <a:endParaRPr lang="nl-NL">
              <a:solidFill>
                <a:prstClr val="black"/>
              </a:solidFill>
            </a:endParaRPr>
          </a:p>
        </p:txBody>
      </p:sp>
    </p:spTree>
    <p:extLst>
      <p:ext uri="{BB962C8B-B14F-4D97-AF65-F5344CB8AC3E}">
        <p14:creationId xmlns:p14="http://schemas.microsoft.com/office/powerpoint/2010/main" val="2251341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EEB1F4B1-1FCF-4C1A-A12F-34EB2745DE74}" type="slidenum">
              <a:rPr lang="nl-NL" smtClean="0">
                <a:solidFill>
                  <a:prstClr val="black"/>
                </a:solidFill>
              </a:rPr>
              <a:pPr/>
              <a:t>24</a:t>
            </a:fld>
            <a:endParaRPr lang="nl-NL">
              <a:solidFill>
                <a:prstClr val="black"/>
              </a:solidFill>
            </a:endParaRPr>
          </a:p>
        </p:txBody>
      </p:sp>
    </p:spTree>
    <p:extLst>
      <p:ext uri="{BB962C8B-B14F-4D97-AF65-F5344CB8AC3E}">
        <p14:creationId xmlns:p14="http://schemas.microsoft.com/office/powerpoint/2010/main" val="412012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149A-0C35-FF5E-F94C-E1319146C4D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9299570-99F2-1CEA-16A5-5947D368C5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84F607CF-4BCF-FBB7-6D27-286054FB774D}"/>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5" name="Footer Placeholder 4">
            <a:extLst>
              <a:ext uri="{FF2B5EF4-FFF2-40B4-BE49-F238E27FC236}">
                <a16:creationId xmlns:a16="http://schemas.microsoft.com/office/drawing/2014/main" id="{8BEFC984-A87D-E858-7275-D2CFE41F27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A5C9A98-F6B0-053A-815D-F1F875E9512B}"/>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2354555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D13C-5F20-1DDF-DE99-B62F3ED351C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250454-0478-AD97-C60C-9E415B631B2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9756721-8BF4-A57D-9A0B-379788CADC6A}"/>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5" name="Footer Placeholder 4">
            <a:extLst>
              <a:ext uri="{FF2B5EF4-FFF2-40B4-BE49-F238E27FC236}">
                <a16:creationId xmlns:a16="http://schemas.microsoft.com/office/drawing/2014/main" id="{777730EB-8D1D-DD2C-8E22-D0EB731714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E93AED-562C-66E1-50AB-76F09F39C8D4}"/>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2614038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F049A-A90C-61B7-38F9-4777C7C77A9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EA52E42-A3D1-7C3E-D842-9A94F9D4CD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1F07625-11AF-57E5-6E17-E8AD65B42019}"/>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5" name="Footer Placeholder 4">
            <a:extLst>
              <a:ext uri="{FF2B5EF4-FFF2-40B4-BE49-F238E27FC236}">
                <a16:creationId xmlns:a16="http://schemas.microsoft.com/office/drawing/2014/main" id="{61FF2D9C-4B15-5B95-5E85-94FE57C7C3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C240DC-FEEF-C283-A457-2809F69F4C52}"/>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1923118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2679-C607-0923-DCF6-2FC2EF8998E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E318BCA-6584-937E-5ED8-A8FDE6C45FD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89D2A16-A7F8-BB5B-562B-B8E140596A7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65D2C78-A04C-F27A-AC1B-3FE46723AC85}"/>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6" name="Footer Placeholder 5">
            <a:extLst>
              <a:ext uri="{FF2B5EF4-FFF2-40B4-BE49-F238E27FC236}">
                <a16:creationId xmlns:a16="http://schemas.microsoft.com/office/drawing/2014/main" id="{80343515-CF2C-440F-0F4F-9C4AE5D84DA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6E0F93E-420E-B39D-8E31-B552CBC93AE7}"/>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215906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61B1D-3F08-13E5-13BF-5A612C56363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948D01C-12E4-D641-B449-A1246A909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A32A653-769A-4640-D916-98076009D08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4D1F5F6-EAFC-0845-1E3B-531D3ACEAA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A80CB2B-A694-46DA-DFC5-6658C7680FE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F3836EDC-8CB7-5FFC-568C-26F841813858}"/>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8" name="Footer Placeholder 7">
            <a:extLst>
              <a:ext uri="{FF2B5EF4-FFF2-40B4-BE49-F238E27FC236}">
                <a16:creationId xmlns:a16="http://schemas.microsoft.com/office/drawing/2014/main" id="{D3C9C5ED-09A0-417B-BE36-0855C98E77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EF4EF76-3EDF-16E6-F0DA-F2F60779CD48}"/>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1447931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AF110-0B40-251B-7785-E47C6506FB3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FA324EA-57FA-A4A9-2C0D-2A7870D3DFC2}"/>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4" name="Footer Placeholder 3">
            <a:extLst>
              <a:ext uri="{FF2B5EF4-FFF2-40B4-BE49-F238E27FC236}">
                <a16:creationId xmlns:a16="http://schemas.microsoft.com/office/drawing/2014/main" id="{4A512F80-F1CD-EF7E-6D1D-BAF6EBC8F4D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F61DC9-F55D-72A6-7446-AFBBBA1D1D97}"/>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2421518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9320EA-C0F8-DA84-AB23-3906E779AC91}"/>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3" name="Footer Placeholder 2">
            <a:extLst>
              <a:ext uri="{FF2B5EF4-FFF2-40B4-BE49-F238E27FC236}">
                <a16:creationId xmlns:a16="http://schemas.microsoft.com/office/drawing/2014/main" id="{E0351F6E-4CAF-95EA-0672-FEDE8F8A554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F8B7C8-C8AC-6D16-0FFC-B21456F3CA64}"/>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3715902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0B7E6-FD95-BDAA-495C-BE6B4D409E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33F3969-C3BF-BB03-025A-6B19E381A1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3B5EE0A-CE45-EF39-46E9-CB240A2BA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5A1C54D-D468-B84D-23CB-CA43FA9AC0B4}"/>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6" name="Footer Placeholder 5">
            <a:extLst>
              <a:ext uri="{FF2B5EF4-FFF2-40B4-BE49-F238E27FC236}">
                <a16:creationId xmlns:a16="http://schemas.microsoft.com/office/drawing/2014/main" id="{8387CB95-68E2-F608-E083-930CA4A6849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0FF947-5929-B4C9-AEAE-E06AFFDE6119}"/>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3939989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41C0C-F7C3-B1A2-0A8E-E3F86BC3AAC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8281B9F-7089-3BEE-4D5D-45271CD4B8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F055B9F-11C9-690C-258D-4B747C5E23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C8786D-7DB0-FB8A-56E2-29B0B8BB9FE0}"/>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6" name="Footer Placeholder 5">
            <a:extLst>
              <a:ext uri="{FF2B5EF4-FFF2-40B4-BE49-F238E27FC236}">
                <a16:creationId xmlns:a16="http://schemas.microsoft.com/office/drawing/2014/main" id="{9579310D-DD34-3F27-592B-5DBABE48868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7565BB6-3E54-B845-1B59-D9033D6BE4F2}"/>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553044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7F6A7-3082-F660-B9EC-7A7EA0620F5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BCB199BF-2FE3-3AF8-3C53-F40C08EE40D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22A9F58-B1D2-EA57-CFC5-8C6F3932AFE0}"/>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5" name="Footer Placeholder 4">
            <a:extLst>
              <a:ext uri="{FF2B5EF4-FFF2-40B4-BE49-F238E27FC236}">
                <a16:creationId xmlns:a16="http://schemas.microsoft.com/office/drawing/2014/main" id="{1DD567E5-892D-BA48-0AAD-AC019BD4FA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5ED3AC-AD11-361B-4495-DCDF61EF4EFC}"/>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2661284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B16112-E307-B851-5923-C9111B10AE74}"/>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0B0322C-A136-6181-8E22-DFAF1529D92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C18241-8891-1DF1-6ECD-BD255464DB94}"/>
              </a:ext>
            </a:extLst>
          </p:cNvPr>
          <p:cNvSpPr>
            <a:spLocks noGrp="1"/>
          </p:cNvSpPr>
          <p:nvPr>
            <p:ph type="dt" sz="half" idx="10"/>
          </p:nvPr>
        </p:nvSpPr>
        <p:spPr/>
        <p:txBody>
          <a:bodyPr/>
          <a:lstStyle/>
          <a:p>
            <a:fld id="{9F1E1E98-96DB-4B4C-BBB0-3F499401B9C0}" type="datetimeFigureOut">
              <a:rPr lang="en-GB" smtClean="0"/>
              <a:t>09/06/2026</a:t>
            </a:fld>
            <a:endParaRPr lang="en-GB"/>
          </a:p>
        </p:txBody>
      </p:sp>
      <p:sp>
        <p:nvSpPr>
          <p:cNvPr id="5" name="Footer Placeholder 4">
            <a:extLst>
              <a:ext uri="{FF2B5EF4-FFF2-40B4-BE49-F238E27FC236}">
                <a16:creationId xmlns:a16="http://schemas.microsoft.com/office/drawing/2014/main" id="{6E4FC5DD-1B5B-E3AD-CF17-72F39BBA2E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7BA181-8D4A-EC20-1CC9-661776C0441F}"/>
              </a:ext>
            </a:extLst>
          </p:cNvPr>
          <p:cNvSpPr>
            <a:spLocks noGrp="1"/>
          </p:cNvSpPr>
          <p:nvPr>
            <p:ph type="sldNum" sz="quarter" idx="12"/>
          </p:nvPr>
        </p:nvSpPr>
        <p:spPr/>
        <p:txBody>
          <a:bodyPr/>
          <a:lstStyle/>
          <a:p>
            <a:fld id="{5E451388-B755-5B4B-900B-1B1DA760467E}" type="slidenum">
              <a:rPr lang="en-GB" smtClean="0"/>
              <a:t>‹#›</a:t>
            </a:fld>
            <a:endParaRPr lang="en-GB"/>
          </a:p>
        </p:txBody>
      </p:sp>
    </p:spTree>
    <p:extLst>
      <p:ext uri="{BB962C8B-B14F-4D97-AF65-F5344CB8AC3E}">
        <p14:creationId xmlns:p14="http://schemas.microsoft.com/office/powerpoint/2010/main" val="2879043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a:xfrm>
            <a:off x="715992" y="1216324"/>
            <a:ext cx="10791646" cy="5641675"/>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 Placeholder 3"/>
          <p:cNvSpPr>
            <a:spLocks noGrp="1"/>
          </p:cNvSpPr>
          <p:nvPr>
            <p:ph type="dt" sz="half" idx="10"/>
          </p:nvPr>
        </p:nvSpPr>
        <p:spPr/>
        <p:txBody>
          <a:bodyPr/>
          <a:lstStyle/>
          <a:p>
            <a:fld id="{A5910415-8276-4E7F-AECA-B589B021D3EC}" type="datetime1">
              <a:rPr lang="en-GB" noProof="0" smtClean="0">
                <a:solidFill>
                  <a:prstClr val="black">
                    <a:tint val="75000"/>
                  </a:prstClr>
                </a:solidFill>
              </a:rPr>
              <a:pPr/>
              <a:t>09/06/2026</a:t>
            </a:fld>
            <a:endParaRPr lang="en-GB" noProof="0"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GB" noProof="0"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8038A88-BFD1-4DDE-9255-0657B8D83B52}" type="slidenum">
              <a:rPr lang="en-GB" noProof="0" smtClean="0">
                <a:solidFill>
                  <a:prstClr val="black">
                    <a:tint val="75000"/>
                  </a:prstClr>
                </a:solidFill>
              </a:rPr>
              <a:pPr/>
              <a:t>‹#›</a:t>
            </a:fld>
            <a:endParaRPr lang="en-GB" noProof="0" dirty="0">
              <a:solidFill>
                <a:prstClr val="black">
                  <a:tint val="75000"/>
                </a:prstClr>
              </a:solidFill>
            </a:endParaRPr>
          </a:p>
        </p:txBody>
      </p:sp>
    </p:spTree>
    <p:extLst>
      <p:ext uri="{BB962C8B-B14F-4D97-AF65-F5344CB8AC3E}">
        <p14:creationId xmlns:p14="http://schemas.microsoft.com/office/powerpoint/2010/main" val="1200918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BF3A0-E321-6D51-BD9A-3F62634FA6B1}"/>
              </a:ext>
            </a:extLst>
          </p:cNvPr>
          <p:cNvSpPr>
            <a:spLocks noGrp="1"/>
          </p:cNvSpPr>
          <p:nvPr>
            <p:ph type="title"/>
          </p:nvPr>
        </p:nvSpPr>
        <p:spPr>
          <a:xfrm>
            <a:off x="715992" y="136525"/>
            <a:ext cx="10853708" cy="6099175"/>
          </a:xfrm>
        </p:spPr>
        <p:txBody>
          <a:bodyPr/>
          <a:lstStyle/>
          <a:p>
            <a:r>
              <a:rPr lang="en-GB" noProof="0" dirty="0"/>
              <a:t>Click to edit Master title style</a:t>
            </a:r>
          </a:p>
        </p:txBody>
      </p:sp>
      <p:sp>
        <p:nvSpPr>
          <p:cNvPr id="3" name="Slide Number Placeholder 2">
            <a:extLst>
              <a:ext uri="{FF2B5EF4-FFF2-40B4-BE49-F238E27FC236}">
                <a16:creationId xmlns:a16="http://schemas.microsoft.com/office/drawing/2014/main" id="{DCC2DC0C-EE15-1EC5-4B11-3BF0B83E7055}"/>
              </a:ext>
            </a:extLst>
          </p:cNvPr>
          <p:cNvSpPr>
            <a:spLocks noGrp="1"/>
          </p:cNvSpPr>
          <p:nvPr>
            <p:ph type="sldNum" sz="quarter" idx="10"/>
          </p:nvPr>
        </p:nvSpPr>
        <p:spPr/>
        <p:txBody>
          <a:bodyPr/>
          <a:lstStyle/>
          <a:p>
            <a:fld id="{01F60780-9D08-400B-AB0B-A1DD33AEF2DB}" type="slidenum">
              <a:rPr lang="en-GB" smtClean="0"/>
              <a:t>‹#›</a:t>
            </a:fld>
            <a:endParaRPr lang="en-GB"/>
          </a:p>
        </p:txBody>
      </p:sp>
    </p:spTree>
    <p:extLst>
      <p:ext uri="{BB962C8B-B14F-4D97-AF65-F5344CB8AC3E}">
        <p14:creationId xmlns:p14="http://schemas.microsoft.com/office/powerpoint/2010/main" val="1104756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5269C4-1359-204D-A1B3-DCA47AA7C8A0}"/>
              </a:ext>
            </a:extLst>
          </p:cNvPr>
          <p:cNvSpPr>
            <a:spLocks noGrp="1"/>
          </p:cNvSpPr>
          <p:nvPr>
            <p:ph type="dt" sz="half" idx="10"/>
          </p:nvPr>
        </p:nvSpPr>
        <p:spPr/>
        <p:txBody>
          <a:bodyPr/>
          <a:lstStyle/>
          <a:p>
            <a:fld id="{B2C86080-8904-4BDD-A6D0-0A6F4DD66E1A}" type="datetimeFigureOut">
              <a:rPr lang="en-GB" smtClean="0"/>
              <a:t>09/06/2026</a:t>
            </a:fld>
            <a:endParaRPr lang="en-GB"/>
          </a:p>
        </p:txBody>
      </p:sp>
      <p:sp>
        <p:nvSpPr>
          <p:cNvPr id="3" name="Footer Placeholder 2">
            <a:extLst>
              <a:ext uri="{FF2B5EF4-FFF2-40B4-BE49-F238E27FC236}">
                <a16:creationId xmlns:a16="http://schemas.microsoft.com/office/drawing/2014/main" id="{A24E4F5D-DC93-F6AB-7D30-01F90E1FC81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ABA667A-C37A-172B-97FC-9AD8858FCC7A}"/>
              </a:ext>
            </a:extLst>
          </p:cNvPr>
          <p:cNvSpPr>
            <a:spLocks noGrp="1"/>
          </p:cNvSpPr>
          <p:nvPr>
            <p:ph type="sldNum" sz="quarter" idx="12"/>
          </p:nvPr>
        </p:nvSpPr>
        <p:spPr/>
        <p:txBody>
          <a:bodyPr/>
          <a:lstStyle/>
          <a:p>
            <a:fld id="{388BC78A-A539-4550-9801-40B5036F063D}" type="slidenum">
              <a:rPr lang="en-GB" smtClean="0"/>
              <a:t>‹#›</a:t>
            </a:fld>
            <a:endParaRPr lang="en-GB"/>
          </a:p>
        </p:txBody>
      </p:sp>
    </p:spTree>
    <p:extLst>
      <p:ext uri="{BB962C8B-B14F-4D97-AF65-F5344CB8AC3E}">
        <p14:creationId xmlns:p14="http://schemas.microsoft.com/office/powerpoint/2010/main" val="46484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A9CFDF-2410-C915-A89A-B1730AF03D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8316C05-A705-FAAC-3291-8E83B5CCED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F290740-0871-8747-0BDB-B04879995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1E1E98-96DB-4B4C-BBB0-3F499401B9C0}" type="datetimeFigureOut">
              <a:rPr lang="en-GB" smtClean="0"/>
              <a:t>09/06/2026</a:t>
            </a:fld>
            <a:endParaRPr lang="en-GB"/>
          </a:p>
        </p:txBody>
      </p:sp>
      <p:sp>
        <p:nvSpPr>
          <p:cNvPr id="5" name="Footer Placeholder 4">
            <a:extLst>
              <a:ext uri="{FF2B5EF4-FFF2-40B4-BE49-F238E27FC236}">
                <a16:creationId xmlns:a16="http://schemas.microsoft.com/office/drawing/2014/main" id="{23372C65-1B11-FF11-CFA0-D8542305EA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EE8FAD7-E305-3B56-24A4-2628CFA7ED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451388-B755-5B4B-900B-1B1DA760467E}" type="slidenum">
              <a:rPr lang="en-GB" smtClean="0"/>
              <a:t>‹#›</a:t>
            </a:fld>
            <a:endParaRPr lang="en-GB"/>
          </a:p>
        </p:txBody>
      </p:sp>
    </p:spTree>
    <p:extLst>
      <p:ext uri="{BB962C8B-B14F-4D97-AF65-F5344CB8AC3E}">
        <p14:creationId xmlns:p14="http://schemas.microsoft.com/office/powerpoint/2010/main" val="3868908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CA20D4-431B-F797-0747-841E231FFFBC}"/>
              </a:ext>
            </a:extLst>
          </p:cNvPr>
          <p:cNvSpPr>
            <a:spLocks noGrp="1"/>
          </p:cNvSpPr>
          <p:nvPr>
            <p:ph type="title"/>
          </p:nvPr>
        </p:nvSpPr>
        <p:spPr>
          <a:xfrm>
            <a:off x="715992" y="136525"/>
            <a:ext cx="10791646" cy="898645"/>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067E53F-6D0D-C8D1-3747-6448C08EE0C0}"/>
              </a:ext>
            </a:extLst>
          </p:cNvPr>
          <p:cNvSpPr>
            <a:spLocks noGrp="1"/>
          </p:cNvSpPr>
          <p:nvPr>
            <p:ph type="body" idx="1"/>
          </p:nvPr>
        </p:nvSpPr>
        <p:spPr>
          <a:xfrm>
            <a:off x="715992" y="1216324"/>
            <a:ext cx="10791646" cy="5641675"/>
          </a:xfrm>
          <a:prstGeom prst="rect">
            <a:avLst/>
          </a:prstGeom>
        </p:spPr>
        <p:txBody>
          <a:bodyPr vert="horz" lIns="91440" tIns="45720" rIns="91440" bIns="45720" rtlCol="0">
            <a:no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a:extLst>
              <a:ext uri="{FF2B5EF4-FFF2-40B4-BE49-F238E27FC236}">
                <a16:creationId xmlns:a16="http://schemas.microsoft.com/office/drawing/2014/main" id="{499AA5CE-5ABB-08FC-C1DB-98A1B0B5639C}"/>
              </a:ext>
            </a:extLst>
          </p:cNvPr>
          <p:cNvSpPr>
            <a:spLocks noGrp="1"/>
          </p:cNvSpPr>
          <p:nvPr>
            <p:ph type="sldNum" sz="quarter" idx="4"/>
          </p:nvPr>
        </p:nvSpPr>
        <p:spPr>
          <a:xfrm>
            <a:off x="10308566" y="6356350"/>
            <a:ext cx="119907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F60780-9D08-400B-AB0B-A1DD33AEF2DB}" type="slidenum">
              <a:rPr lang="en-GB" smtClean="0"/>
              <a:t>‹#›</a:t>
            </a:fld>
            <a:endParaRPr lang="en-GB"/>
          </a:p>
        </p:txBody>
      </p:sp>
    </p:spTree>
    <p:extLst>
      <p:ext uri="{BB962C8B-B14F-4D97-AF65-F5344CB8AC3E}">
        <p14:creationId xmlns:p14="http://schemas.microsoft.com/office/powerpoint/2010/main" val="195073484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Lst>
  <p:txStyles>
    <p:title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26" Type="http://schemas.openxmlformats.org/officeDocument/2006/relationships/image" Target="NUL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5" Type="http://schemas.openxmlformats.org/officeDocument/2006/relationships/image" Target="NULL"/><Relationship Id="rId2" Type="http://schemas.openxmlformats.org/officeDocument/2006/relationships/notesSlide" Target="../notesSlides/notesSlide2.xml"/><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12.xml"/><Relationship Id="rId6" Type="http://schemas.openxmlformats.org/officeDocument/2006/relationships/image" Target="NULL"/><Relationship Id="rId11" Type="http://schemas.openxmlformats.org/officeDocument/2006/relationships/image" Target="NULL"/><Relationship Id="rId24"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 Id="rId22" Type="http://schemas.openxmlformats.org/officeDocument/2006/relationships/image" Target="NUL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6.emf"/><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5.emf"/><Relationship Id="rId7" Type="http://schemas.openxmlformats.org/officeDocument/2006/relationships/image" Target="../media/image8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81.png"/><Relationship Id="rId10" Type="http://schemas.openxmlformats.org/officeDocument/2006/relationships/image" Target="../media/image9.jpeg"/><Relationship Id="rId4" Type="http://schemas.openxmlformats.org/officeDocument/2006/relationships/image" Target="../media/image6.emf"/><Relationship Id="rId9" Type="http://schemas.openxmlformats.org/officeDocument/2006/relationships/image" Target="../media/image8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13.png"/><Relationship Id="rId7"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98.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mailto:s.vancranenburgh@tudelft.nl"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53834-B31D-7A4D-9536-ACDDD53296F5}"/>
              </a:ext>
            </a:extLst>
          </p:cNvPr>
          <p:cNvSpPr>
            <a:spLocks noGrp="1"/>
          </p:cNvSpPr>
          <p:nvPr>
            <p:ph type="ctrTitle"/>
          </p:nvPr>
        </p:nvSpPr>
        <p:spPr>
          <a:xfrm>
            <a:off x="732673" y="2287559"/>
            <a:ext cx="10964220" cy="1713533"/>
          </a:xfrm>
          <a:solidFill>
            <a:srgbClr val="1CADE4"/>
          </a:solidFill>
          <a:ln>
            <a:solidFill>
              <a:srgbClr val="1CADE4"/>
            </a:solidFill>
          </a:ln>
          <a:effectLst>
            <a:outerShdw blurRad="50800" dist="38100" dir="13500000" algn="br"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anchor="ctr">
            <a:noAutofit/>
          </a:bodyPr>
          <a:lstStyle/>
          <a:p>
            <a:r>
              <a:rPr lang="en-GB" sz="3200" b="1" dirty="0">
                <a:latin typeface="Calibri" panose="020F0502020204030204" pitchFamily="34" charset="0"/>
              </a:rPr>
              <a:t>Learning- Multinomial Logit model</a:t>
            </a:r>
            <a:endParaRPr lang="en-GB" sz="2800" b="1" noProof="0" dirty="0"/>
          </a:p>
        </p:txBody>
      </p:sp>
      <p:sp>
        <p:nvSpPr>
          <p:cNvPr id="3" name="Subtitle 2">
            <a:extLst>
              <a:ext uri="{FF2B5EF4-FFF2-40B4-BE49-F238E27FC236}">
                <a16:creationId xmlns:a16="http://schemas.microsoft.com/office/drawing/2014/main" id="{5CCAFFE7-8548-674D-95EE-B2F39067BE4F}"/>
              </a:ext>
            </a:extLst>
          </p:cNvPr>
          <p:cNvSpPr>
            <a:spLocks noGrp="1"/>
          </p:cNvSpPr>
          <p:nvPr>
            <p:ph type="subTitle" idx="1"/>
          </p:nvPr>
        </p:nvSpPr>
        <p:spPr>
          <a:xfrm>
            <a:off x="1642783" y="4337491"/>
            <a:ext cx="9144000" cy="1938618"/>
          </a:xfrm>
        </p:spPr>
        <p:txBody>
          <a:bodyPr>
            <a:normAutofit/>
          </a:bodyPr>
          <a:lstStyle/>
          <a:p>
            <a:pPr marL="360045">
              <a:spcBef>
                <a:spcPts val="1200"/>
              </a:spcBef>
            </a:pPr>
            <a:r>
              <a:rPr lang="en-GB" sz="1800" b="0" spc="20" dirty="0">
                <a:effectLst/>
                <a:latin typeface="Times New Roman" panose="02020603050405020304" pitchFamily="18" charset="0"/>
                <a:ea typeface="Times New Roman" panose="02020603050405020304" pitchFamily="18" charset="0"/>
              </a:rPr>
              <a:t>Gabriel Nova*</a:t>
            </a:r>
            <a:r>
              <a:rPr lang="en-GB" sz="1800" b="0" spc="20" baseline="30000" dirty="0">
                <a:effectLst/>
                <a:latin typeface="Times New Roman" panose="02020603050405020304" pitchFamily="18" charset="0"/>
                <a:ea typeface="Times New Roman" panose="02020603050405020304" pitchFamily="18" charset="0"/>
              </a:rPr>
              <a:t>1</a:t>
            </a:r>
            <a:r>
              <a:rPr lang="en-GB" sz="1800" spc="20" dirty="0">
                <a:latin typeface="Times New Roman" panose="02020603050405020304" pitchFamily="18" charset="0"/>
                <a:ea typeface="Times New Roman" panose="02020603050405020304" pitchFamily="18" charset="0"/>
              </a:rPr>
              <a:t>, Sander van Cranenburgh</a:t>
            </a:r>
            <a:r>
              <a:rPr lang="en-GB" sz="1800" spc="20" baseline="30000" dirty="0">
                <a:latin typeface="Times New Roman" panose="02020603050405020304" pitchFamily="18" charset="0"/>
                <a:ea typeface="Times New Roman" panose="02020603050405020304" pitchFamily="18" charset="0"/>
              </a:rPr>
              <a:t>1</a:t>
            </a:r>
            <a:endParaRPr lang="en-GB" sz="1800" b="0" spc="20" baseline="30000" dirty="0">
              <a:effectLst/>
              <a:latin typeface="Times New Roman" panose="02020603050405020304" pitchFamily="18" charset="0"/>
              <a:ea typeface="Times New Roman" panose="02020603050405020304" pitchFamily="18" charset="0"/>
            </a:endParaRPr>
          </a:p>
          <a:p>
            <a:pPr marL="360045" marR="0" algn="ctr">
              <a:spcBef>
                <a:spcPts val="1200"/>
              </a:spcBef>
            </a:pPr>
            <a:endParaRPr lang="en-US" sz="1800" b="1" dirty="0">
              <a:effectLst/>
              <a:latin typeface="Times New Roman" panose="02020603050405020304" pitchFamily="18" charset="0"/>
              <a:ea typeface="Times New Roman" panose="02020603050405020304" pitchFamily="18" charset="0"/>
            </a:endParaRPr>
          </a:p>
          <a:p>
            <a:pPr>
              <a:lnSpc>
                <a:spcPct val="100000"/>
              </a:lnSpc>
              <a:spcBef>
                <a:spcPts val="0"/>
              </a:spcBef>
            </a:pPr>
            <a:r>
              <a:rPr lang="en-GB" b="0" spc="20" baseline="30000" dirty="0">
                <a:effectLst/>
                <a:latin typeface="Times New Roman" panose="02020603050405020304" pitchFamily="18" charset="0"/>
                <a:ea typeface="Times New Roman" panose="02020603050405020304" pitchFamily="18" charset="0"/>
              </a:rPr>
              <a:t>City </a:t>
            </a:r>
            <a:r>
              <a:rPr lang="en-GB" spc="20" baseline="30000" dirty="0">
                <a:latin typeface="Times New Roman" panose="02020603050405020304" pitchFamily="18" charset="0"/>
                <a:ea typeface="Times New Roman" panose="02020603050405020304" pitchFamily="18" charset="0"/>
              </a:rPr>
              <a:t>AI Lab, </a:t>
            </a:r>
            <a:r>
              <a:rPr lang="en-GB" b="0" spc="20" baseline="30000" dirty="0">
                <a:effectLst/>
                <a:latin typeface="Times New Roman" panose="02020603050405020304" pitchFamily="18" charset="0"/>
                <a:ea typeface="Times New Roman" panose="02020603050405020304" pitchFamily="18" charset="0"/>
              </a:rPr>
              <a:t>Transport and Logistics</a:t>
            </a:r>
            <a:br>
              <a:rPr lang="en-GB" b="0" spc="20" baseline="30000" dirty="0">
                <a:effectLst/>
                <a:latin typeface="Times New Roman" panose="02020603050405020304" pitchFamily="18" charset="0"/>
                <a:ea typeface="Times New Roman" panose="02020603050405020304" pitchFamily="18" charset="0"/>
              </a:rPr>
            </a:br>
            <a:r>
              <a:rPr lang="en-GB" b="0" spc="20" baseline="30000" dirty="0">
                <a:effectLst/>
                <a:latin typeface="Times New Roman" panose="02020603050405020304" pitchFamily="18" charset="0"/>
                <a:ea typeface="Times New Roman" panose="02020603050405020304" pitchFamily="18" charset="0"/>
              </a:rPr>
              <a:t>Faculty of Technology, Policy and Management, Delft University of Technology</a:t>
            </a:r>
            <a:endParaRPr lang="en-US" sz="3600" i="1" dirty="0"/>
          </a:p>
        </p:txBody>
      </p:sp>
      <p:pic>
        <p:nvPicPr>
          <p:cNvPr id="1026" name="Picture 2" descr="Zigzag DNA">
            <a:extLst>
              <a:ext uri="{FF2B5EF4-FFF2-40B4-BE49-F238E27FC236}">
                <a16:creationId xmlns:a16="http://schemas.microsoft.com/office/drawing/2014/main" id="{9F7BC26A-A130-8E47-9C60-6C375A43F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840" y="0"/>
            <a:ext cx="1818415" cy="88458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76EC1F7-F969-E74B-9294-1C2AC70CA8FD}"/>
              </a:ext>
            </a:extLst>
          </p:cNvPr>
          <p:cNvSpPr/>
          <p:nvPr/>
        </p:nvSpPr>
        <p:spPr>
          <a:xfrm>
            <a:off x="5977217" y="3624899"/>
            <a:ext cx="237566" cy="369332"/>
          </a:xfrm>
          <a:prstGeom prst="rect">
            <a:avLst/>
          </a:prstGeom>
        </p:spPr>
        <p:txBody>
          <a:bodyPr wrap="none">
            <a:spAutoFit/>
          </a:bodyPr>
          <a:lstStyle/>
          <a:p>
            <a:r>
              <a:rPr lang="en-US" dirty="0">
                <a:solidFill>
                  <a:srgbClr val="000000"/>
                </a:solidFill>
                <a:latin typeface="-webkit-standard"/>
              </a:rPr>
              <a:t> </a:t>
            </a:r>
            <a:endParaRPr lang="en-US" dirty="0"/>
          </a:p>
        </p:txBody>
      </p:sp>
      <p:sp>
        <p:nvSpPr>
          <p:cNvPr id="8" name="Rectangle 7">
            <a:extLst>
              <a:ext uri="{FF2B5EF4-FFF2-40B4-BE49-F238E27FC236}">
                <a16:creationId xmlns:a16="http://schemas.microsoft.com/office/drawing/2014/main" id="{9DE97810-3C4A-7D43-BEB5-A91B7F3F6A29}"/>
              </a:ext>
            </a:extLst>
          </p:cNvPr>
          <p:cNvSpPr/>
          <p:nvPr/>
        </p:nvSpPr>
        <p:spPr>
          <a:xfrm>
            <a:off x="5977217" y="3624899"/>
            <a:ext cx="237566" cy="369332"/>
          </a:xfrm>
          <a:prstGeom prst="rect">
            <a:avLst/>
          </a:prstGeom>
        </p:spPr>
        <p:txBody>
          <a:bodyPr wrap="none">
            <a:spAutoFit/>
          </a:bodyPr>
          <a:lstStyle/>
          <a:p>
            <a:r>
              <a:rPr lang="en-US" dirty="0">
                <a:solidFill>
                  <a:srgbClr val="000000"/>
                </a:solidFill>
                <a:latin typeface="-webkit-standard"/>
              </a:rPr>
              <a:t> </a:t>
            </a:r>
            <a:endParaRPr lang="en-US" dirty="0"/>
          </a:p>
        </p:txBody>
      </p:sp>
      <p:pic>
        <p:nvPicPr>
          <p:cNvPr id="11" name="Picture 10">
            <a:extLst>
              <a:ext uri="{FF2B5EF4-FFF2-40B4-BE49-F238E27FC236}">
                <a16:creationId xmlns:a16="http://schemas.microsoft.com/office/drawing/2014/main" id="{432A65C9-B905-8818-6F37-DE48035B9A9C}"/>
              </a:ext>
            </a:extLst>
          </p:cNvPr>
          <p:cNvPicPr>
            <a:picLocks noChangeAspect="1"/>
          </p:cNvPicPr>
          <p:nvPr/>
        </p:nvPicPr>
        <p:blipFill rotWithShape="1">
          <a:blip r:embed="rId4"/>
          <a:srcRect l="2060" t="2010" r="75448" b="78706"/>
          <a:stretch/>
        </p:blipFill>
        <p:spPr>
          <a:xfrm>
            <a:off x="9991142" y="128155"/>
            <a:ext cx="1983235" cy="1107256"/>
          </a:xfrm>
          <a:prstGeom prst="rect">
            <a:avLst/>
          </a:prstGeom>
        </p:spPr>
      </p:pic>
      <p:pic>
        <p:nvPicPr>
          <p:cNvPr id="5" name="Picture 2" descr="qr-code for edu.nl/6tb4y">
            <a:extLst>
              <a:ext uri="{FF2B5EF4-FFF2-40B4-BE49-F238E27FC236}">
                <a16:creationId xmlns:a16="http://schemas.microsoft.com/office/drawing/2014/main" id="{6D34E571-7D34-C874-78EF-9A9A70A64E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6690" y="5456471"/>
            <a:ext cx="1177687" cy="1273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8704"/>
      </p:ext>
    </p:extLst>
  </p:cSld>
  <p:clrMapOvr>
    <a:masterClrMapping/>
  </p:clrMapOvr>
  <mc:AlternateContent xmlns:mc="http://schemas.openxmlformats.org/markup-compatibility/2006" xmlns:p14="http://schemas.microsoft.com/office/powerpoint/2010/main">
    <mc:Choice Requires="p14">
      <p:transition spd="slow" p14:dur="2000" advTm="1159"/>
    </mc:Choice>
    <mc:Fallback xmlns="">
      <p:transition spd="slow" advTm="115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6CF2D2-DC59-1142-7F99-40D6CA0B1E9D}"/>
              </a:ext>
            </a:extLst>
          </p:cNvPr>
          <p:cNvSpPr>
            <a:spLocks noGrp="1"/>
          </p:cNvSpPr>
          <p:nvPr>
            <p:ph type="title"/>
          </p:nvPr>
        </p:nvSpPr>
        <p:spPr>
          <a:xfrm>
            <a:off x="715992" y="245400"/>
            <a:ext cx="10791646" cy="789770"/>
          </a:xfrm>
        </p:spPr>
        <p:txBody>
          <a:bodyPr/>
          <a:lstStyle/>
          <a:p>
            <a:r>
              <a:rPr lang="en-GB" noProof="0" dirty="0"/>
              <a:t>Limitation of theory-based DCM</a:t>
            </a:r>
            <a:endParaRPr lang="en-US" noProof="0" dirty="0"/>
          </a:p>
        </p:txBody>
      </p:sp>
      <p:sp>
        <p:nvSpPr>
          <p:cNvPr id="2" name="Slide Number Placeholder 3">
            <a:extLst>
              <a:ext uri="{FF2B5EF4-FFF2-40B4-BE49-F238E27FC236}">
                <a16:creationId xmlns:a16="http://schemas.microsoft.com/office/drawing/2014/main" id="{B673BC93-20BA-8DBB-9785-5054675DAEDF}"/>
              </a:ext>
            </a:extLst>
          </p:cNvPr>
          <p:cNvSpPr txBox="1">
            <a:spLocks/>
          </p:cNvSpPr>
          <p:nvPr/>
        </p:nvSpPr>
        <p:spPr>
          <a:xfrm>
            <a:off x="11225348" y="6356351"/>
            <a:ext cx="357051"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FFBEFDAD-53DF-CC9D-DA56-44A92BD2C635}"/>
              </a:ext>
            </a:extLst>
          </p:cNvPr>
          <p:cNvSpPr txBox="1"/>
          <p:nvPr/>
        </p:nvSpPr>
        <p:spPr>
          <a:xfrm>
            <a:off x="720001" y="1080001"/>
            <a:ext cx="9439875" cy="318027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researcher needs to </a:t>
            </a: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a priori</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specify</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the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functional form</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of the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utility function: V</a:t>
            </a:r>
            <a:r>
              <a:rPr kumimoji="0" lang="en-GB" sz="1800" b="1" i="0" u="none" strike="noStrike" kern="1200" cap="none" spc="0" normalizeH="0" baseline="-25000" noProof="0" dirty="0">
                <a:ln>
                  <a:noFill/>
                </a:ln>
                <a:solidFill>
                  <a:prstClr val="black"/>
                </a:solidFill>
                <a:effectLst/>
                <a:uLnTx/>
                <a:uFillTx/>
                <a:latin typeface="Calibri" panose="020F0502020204030204"/>
                <a:ea typeface="+mn-ea"/>
                <a:cs typeface="+mn-cs"/>
              </a:rPr>
              <a:t>i</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f(x</a:t>
            </a:r>
            <a:r>
              <a:rPr kumimoji="0" lang="en-GB" sz="1800" b="1" i="1" u="none" strike="noStrike" kern="1200" cap="none" spc="0" normalizeH="0" baseline="-25000" noProof="0" dirty="0">
                <a:ln>
                  <a:noFill/>
                </a:ln>
                <a:solidFill>
                  <a:prstClr val="black"/>
                </a:solidFill>
                <a:effectLst/>
                <a:uLnTx/>
                <a:uFillTx/>
                <a:latin typeface="Calibri" panose="020F0502020204030204"/>
                <a:ea typeface="+mn-ea"/>
                <a:cs typeface="+mn-cs"/>
              </a:rPr>
              <a:t>i</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rPr>
              <a:t>But the true DGP is unlikely to be found, considering the large number of potential specifications with interactions, nonlinearities, asymmetries, etc.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1114" name="Line 2">
            <a:extLst>
              <a:ext uri="{FF2B5EF4-FFF2-40B4-BE49-F238E27FC236}">
                <a16:creationId xmlns:a16="http://schemas.microsoft.com/office/drawing/2014/main" id="{832BAEA2-C7BB-4788-FFB0-20E8D26985BF}"/>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15" name="Line 2">
            <a:extLst>
              <a:ext uri="{FF2B5EF4-FFF2-40B4-BE49-F238E27FC236}">
                <a16:creationId xmlns:a16="http://schemas.microsoft.com/office/drawing/2014/main" id="{56A759D7-D9B1-B765-2598-68CFB4F82C31}"/>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16" name="TextBox 1115">
            <a:extLst>
              <a:ext uri="{FF2B5EF4-FFF2-40B4-BE49-F238E27FC236}">
                <a16:creationId xmlns:a16="http://schemas.microsoft.com/office/drawing/2014/main" id="{6C122ED6-8C26-822C-E3F2-D48DEF1C0105}"/>
              </a:ext>
            </a:extLst>
          </p:cNvPr>
          <p:cNvSpPr txBox="1"/>
          <p:nvPr/>
        </p:nvSpPr>
        <p:spPr>
          <a:xfrm>
            <a:off x="852541" y="6492960"/>
            <a:ext cx="10576678" cy="276999"/>
          </a:xfrm>
          <a:prstGeom prst="rect">
            <a:avLst/>
          </a:prstGeom>
          <a:noFill/>
        </p:spPr>
        <p:txBody>
          <a:bodyPr wrap="none" rtlCol="0">
            <a:spAutoFit/>
          </a:bodyPr>
          <a:lstStyle/>
          <a:p>
            <a:pPr algn="ctr"/>
            <a:r>
              <a:rPr lang="en-US" sz="1200" dirty="0"/>
              <a:t>1. </a:t>
            </a:r>
            <a:r>
              <a:rPr lang="en-US" sz="1200" dirty="0">
                <a:latin typeface="Times New Roman" panose="02020603050405020304" pitchFamily="18" charset="0"/>
              </a:rPr>
              <a:t>Paz et al., (2019); 2. Rodriguez et al., (2020); 3. Ortelli et al., (2021); 4. Beeramoole et al., (2023); 5. Yahai et al., (2024); 6. </a:t>
            </a:r>
            <a:r>
              <a:rPr lang="en-US" sz="1200" dirty="0">
                <a:latin typeface="Times New Roman" panose="02020603050405020304" pitchFamily="18" charset="0"/>
                <a:ea typeface="Times New Roman" panose="02020603050405020304" pitchFamily="18" charset="0"/>
              </a:rPr>
              <a:t>Sfeir et al., (2025); 7. Nova et al., (2026)</a:t>
            </a:r>
            <a:r>
              <a:rPr lang="en-US" sz="1200" dirty="0">
                <a:latin typeface="Times New Roman" panose="02020603050405020304" pitchFamily="18" charset="0"/>
              </a:rPr>
              <a:t> </a:t>
            </a:r>
            <a:endParaRPr lang="en-US" sz="1200" dirty="0"/>
          </a:p>
        </p:txBody>
      </p:sp>
      <p:sp>
        <p:nvSpPr>
          <p:cNvPr id="1119" name="Rounded Rectangle 1118">
            <a:extLst>
              <a:ext uri="{FF2B5EF4-FFF2-40B4-BE49-F238E27FC236}">
                <a16:creationId xmlns:a16="http://schemas.microsoft.com/office/drawing/2014/main" id="{2C73B4D5-84A4-2C40-2E42-D705E58754EC}"/>
              </a:ext>
            </a:extLst>
          </p:cNvPr>
          <p:cNvSpPr/>
          <p:nvPr/>
        </p:nvSpPr>
        <p:spPr>
          <a:xfrm>
            <a:off x="4254003" y="2822678"/>
            <a:ext cx="3334190" cy="3148408"/>
          </a:xfrm>
          <a:prstGeom prst="roundRect">
            <a:avLst/>
          </a:prstGeom>
          <a:noFill/>
          <a:ln w="38100">
            <a:solidFill>
              <a:srgbClr val="00A6D6"/>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GB" b="1" dirty="0"/>
              <a:t>Machine Learning</a:t>
            </a:r>
            <a:endParaRPr lang="en-GB" dirty="0"/>
          </a:p>
          <a:p>
            <a:pPr algn="ctr"/>
            <a:r>
              <a:rPr lang="en-GB" sz="1400" dirty="0"/>
              <a:t>Learn specification patterns</a:t>
            </a:r>
          </a:p>
          <a:p>
            <a:pPr algn="ctr"/>
            <a:endParaRPr lang="en-US" sz="1500" dirty="0"/>
          </a:p>
          <a:p>
            <a:pPr algn="ctr"/>
            <a:r>
              <a:rPr lang="en-US" sz="2800" dirty="0"/>
              <a:t>🧠</a:t>
            </a:r>
          </a:p>
          <a:p>
            <a:pPr algn="ctr"/>
            <a:endParaRPr lang="en-US" sz="1500" dirty="0"/>
          </a:p>
          <a:p>
            <a:pPr algn="ctr"/>
            <a:endParaRPr lang="en-GB" dirty="0"/>
          </a:p>
          <a:p>
            <a:pPr marL="342900" indent="-342900">
              <a:buFont typeface="+mj-lt"/>
              <a:buAutoNum type="arabicPeriod" startAt="6"/>
            </a:pPr>
            <a:r>
              <a:rPr lang="en-GB" dirty="0"/>
              <a:t>LLM-driven specification</a:t>
            </a:r>
          </a:p>
          <a:p>
            <a:pPr marL="342900" indent="-342900">
              <a:buFont typeface="+mj-lt"/>
              <a:buAutoNum type="arabicPeriod" startAt="6"/>
            </a:pPr>
            <a:r>
              <a:rPr lang="en-GB" dirty="0"/>
              <a:t>Reinforcement learning</a:t>
            </a:r>
          </a:p>
          <a:p>
            <a:pPr algn="ctr"/>
            <a:endParaRPr lang="en-GB" dirty="0"/>
          </a:p>
          <a:p>
            <a:pPr algn="ctr"/>
            <a:endParaRPr lang="en-GB" dirty="0"/>
          </a:p>
          <a:p>
            <a:pPr algn="ctr"/>
            <a:r>
              <a:rPr lang="en-GB" dirty="0"/>
              <a:t> </a:t>
            </a:r>
          </a:p>
        </p:txBody>
      </p:sp>
      <p:sp>
        <p:nvSpPr>
          <p:cNvPr id="1120" name="Rounded Rectangle 1119">
            <a:extLst>
              <a:ext uri="{FF2B5EF4-FFF2-40B4-BE49-F238E27FC236}">
                <a16:creationId xmlns:a16="http://schemas.microsoft.com/office/drawing/2014/main" id="{0AFB18A5-9075-E810-EDFC-6945140F5227}"/>
              </a:ext>
            </a:extLst>
          </p:cNvPr>
          <p:cNvSpPr/>
          <p:nvPr/>
        </p:nvSpPr>
        <p:spPr>
          <a:xfrm>
            <a:off x="843264" y="2809446"/>
            <a:ext cx="3334190" cy="3148408"/>
          </a:xfrm>
          <a:prstGeom prst="roundRect">
            <a:avLst/>
          </a:prstGeom>
          <a:noFill/>
          <a:ln w="38100">
            <a:solidFill>
              <a:srgbClr val="00A6D6"/>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GB" b="1" dirty="0"/>
              <a:t>Metaheuristics</a:t>
            </a:r>
            <a:endParaRPr lang="en-US" dirty="0"/>
          </a:p>
          <a:p>
            <a:pPr algn="ctr"/>
            <a:r>
              <a:rPr lang="en-US" sz="1400" dirty="0"/>
              <a:t>Explore the specification space</a:t>
            </a:r>
          </a:p>
          <a:p>
            <a:pPr algn="ctr"/>
            <a:endParaRPr lang="en-US" sz="1500" dirty="0"/>
          </a:p>
          <a:p>
            <a:pPr algn="ctr"/>
            <a:r>
              <a:rPr lang="en-US" sz="2800" dirty="0"/>
              <a:t>🔎</a:t>
            </a:r>
          </a:p>
          <a:p>
            <a:pPr algn="ctr"/>
            <a:endParaRPr lang="en-GB" sz="1500" dirty="0"/>
          </a:p>
          <a:p>
            <a:pPr marL="342900" indent="-342900">
              <a:buFont typeface="+mj-lt"/>
              <a:buAutoNum type="arabicPeriod"/>
            </a:pPr>
            <a:r>
              <a:rPr lang="en-GB" dirty="0"/>
              <a:t>Simulated annealing</a:t>
            </a:r>
          </a:p>
          <a:p>
            <a:pPr marL="342900" indent="-342900">
              <a:buFont typeface="+mj-lt"/>
              <a:buAutoNum type="arabicPeriod"/>
            </a:pPr>
            <a:r>
              <a:rPr lang="en-GB" dirty="0"/>
              <a:t>Bayesian selection </a:t>
            </a:r>
          </a:p>
          <a:p>
            <a:pPr marL="342900" indent="-342900">
              <a:buFont typeface="+mj-lt"/>
              <a:buAutoNum type="arabicPeriod"/>
            </a:pPr>
            <a:r>
              <a:rPr lang="en-GB" dirty="0"/>
              <a:t>Variable neighbourhood</a:t>
            </a:r>
          </a:p>
          <a:p>
            <a:pPr marL="342900" indent="-342900">
              <a:buFont typeface="+mj-lt"/>
              <a:buAutoNum type="arabicPeriod"/>
            </a:pPr>
            <a:r>
              <a:rPr lang="en-GB" dirty="0"/>
              <a:t>Bi-level optimisation</a:t>
            </a:r>
          </a:p>
          <a:p>
            <a:pPr marL="342900" indent="-342900">
              <a:buFont typeface="+mj-lt"/>
              <a:buAutoNum type="arabicPeriod"/>
            </a:pPr>
            <a:r>
              <a:rPr lang="en-GB" dirty="0"/>
              <a:t>Genetic algorithms</a:t>
            </a:r>
          </a:p>
          <a:p>
            <a:endParaRPr lang="en-GB" dirty="0"/>
          </a:p>
        </p:txBody>
      </p:sp>
      <p:grpSp>
        <p:nvGrpSpPr>
          <p:cNvPr id="1121" name="Group 1120">
            <a:extLst>
              <a:ext uri="{FF2B5EF4-FFF2-40B4-BE49-F238E27FC236}">
                <a16:creationId xmlns:a16="http://schemas.microsoft.com/office/drawing/2014/main" id="{BE162338-1C29-DDD6-E2E6-4B95D0E04F3F}"/>
              </a:ext>
            </a:extLst>
          </p:cNvPr>
          <p:cNvGrpSpPr/>
          <p:nvPr/>
        </p:nvGrpSpPr>
        <p:grpSpPr>
          <a:xfrm>
            <a:off x="8099774" y="1904283"/>
            <a:ext cx="4092226" cy="4292331"/>
            <a:chOff x="5749737" y="1138870"/>
            <a:chExt cx="5279136" cy="5202513"/>
          </a:xfrm>
        </p:grpSpPr>
        <p:sp>
          <p:nvSpPr>
            <p:cNvPr id="1122" name="Oval 1121">
              <a:extLst>
                <a:ext uri="{FF2B5EF4-FFF2-40B4-BE49-F238E27FC236}">
                  <a16:creationId xmlns:a16="http://schemas.microsoft.com/office/drawing/2014/main" id="{019EDCB4-B1E7-33A0-4AB5-233B5E31A6C8}"/>
                </a:ext>
              </a:extLst>
            </p:cNvPr>
            <p:cNvSpPr/>
            <p:nvPr/>
          </p:nvSpPr>
          <p:spPr>
            <a:xfrm>
              <a:off x="6659987" y="5970919"/>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23" name="TextBox 1122">
                  <a:extLst>
                    <a:ext uri="{FF2B5EF4-FFF2-40B4-BE49-F238E27FC236}">
                      <a16:creationId xmlns:a16="http://schemas.microsoft.com/office/drawing/2014/main" id="{E41CE946-4F14-57AD-6F87-CBB796DBE912}"/>
                    </a:ext>
                  </a:extLst>
                </p:cNvPr>
                <p:cNvSpPr txBox="1"/>
                <p:nvPr/>
              </p:nvSpPr>
              <p:spPr>
                <a:xfrm>
                  <a:off x="6667435" y="6034943"/>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latin typeface="Cambria Math" panose="02040503050406030204" pitchFamily="18" charset="0"/>
                          </a:rPr>
                          <m:t>T</m:t>
                        </m:r>
                        <m:r>
                          <m:rPr>
                            <m:sty m:val="p"/>
                          </m:rPr>
                          <a:rPr lang="nl-NL" sz="700" b="0" i="1" smtClean="0">
                            <a:latin typeface="Cambria Math" panose="02040503050406030204" pitchFamily="18" charset="0"/>
                          </a:rPr>
                          <m:t>T</m:t>
                        </m:r>
                      </m:oMath>
                    </m:oMathPara>
                  </a14:m>
                  <a:endParaRPr lang="en-GB" sz="700" dirty="0"/>
                </a:p>
              </p:txBody>
            </p:sp>
          </mc:Choice>
          <mc:Fallback xmlns="">
            <p:sp>
              <p:nvSpPr>
                <p:cNvPr id="75" name="TextBox 74">
                  <a:extLst>
                    <a:ext uri="{FF2B5EF4-FFF2-40B4-BE49-F238E27FC236}">
                      <a16:creationId xmlns:a16="http://schemas.microsoft.com/office/drawing/2014/main" id="{118DA14A-B213-F21F-5444-44D643B8E6C1}"/>
                    </a:ext>
                  </a:extLst>
                </p:cNvPr>
                <p:cNvSpPr txBox="1">
                  <a:spLocks noRot="1" noChangeAspect="1" noMove="1" noResize="1" noEditPoints="1" noAdjustHandles="1" noChangeArrowheads="1" noChangeShapeType="1" noTextEdit="1"/>
                </p:cNvSpPr>
                <p:nvPr/>
              </p:nvSpPr>
              <p:spPr>
                <a:xfrm>
                  <a:off x="6667435" y="6034943"/>
                  <a:ext cx="420512" cy="24247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24" name="Oval 1123">
                  <a:extLst>
                    <a:ext uri="{FF2B5EF4-FFF2-40B4-BE49-F238E27FC236}">
                      <a16:creationId xmlns:a16="http://schemas.microsoft.com/office/drawing/2014/main" id="{860A7E62-1CD4-56A2-898D-0FB7B3C5F3D9}"/>
                    </a:ext>
                  </a:extLst>
                </p:cNvPr>
                <p:cNvSpPr/>
                <p:nvPr/>
              </p:nvSpPr>
              <p:spPr>
                <a:xfrm>
                  <a:off x="9372047" y="1138870"/>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pPr/>
                  <a14:m>
                    <m:oMathPara xmlns:m="http://schemas.openxmlformats.org/officeDocument/2006/math">
                      <m:oMathParaPr>
                        <m:jc m:val="center"/>
                      </m:oMathParaPr>
                      <m:oMath xmlns:m="http://schemas.openxmlformats.org/officeDocument/2006/math">
                        <m:sSub>
                          <m:sSubPr>
                            <m:ctrlPr>
                              <a:rPr lang="en-GB" sz="700" i="1" smtClean="0">
                                <a:solidFill>
                                  <a:schemeClr val="bg1"/>
                                </a:solidFill>
                                <a:latin typeface="Cambria Math" panose="02040503050406030204" pitchFamily="18" charset="0"/>
                              </a:rPr>
                            </m:ctrlPr>
                          </m:sSubPr>
                          <m:e>
                            <m:r>
                              <a:rPr lang="en-GB" sz="700" i="1">
                                <a:solidFill>
                                  <a:schemeClr val="bg1"/>
                                </a:solidFill>
                                <a:latin typeface="Cambria Math" panose="02040503050406030204" pitchFamily="18" charset="0"/>
                                <a:ea typeface="Cambria Math" panose="02040503050406030204" pitchFamily="18" charset="0"/>
                              </a:rPr>
                              <m:t>𝛽</m:t>
                            </m:r>
                          </m:e>
                          <m:sub>
                            <m:r>
                              <a:rPr lang="nl-NL" sz="700" b="0" i="1" smtClean="0">
                                <a:solidFill>
                                  <a:schemeClr val="bg1"/>
                                </a:solidFill>
                                <a:latin typeface="Cambria Math" panose="02040503050406030204" pitchFamily="18" charset="0"/>
                              </a:rPr>
                              <m:t>0</m:t>
                            </m:r>
                          </m:sub>
                        </m:sSub>
                      </m:oMath>
                    </m:oMathPara>
                  </a14:m>
                  <a:endParaRPr lang="en-GB" sz="700" dirty="0"/>
                </a:p>
              </p:txBody>
            </p:sp>
          </mc:Choice>
          <mc:Fallback xmlns="">
            <p:sp>
              <p:nvSpPr>
                <p:cNvPr id="76" name="Oval 75">
                  <a:extLst>
                    <a:ext uri="{FF2B5EF4-FFF2-40B4-BE49-F238E27FC236}">
                      <a16:creationId xmlns:a16="http://schemas.microsoft.com/office/drawing/2014/main" id="{352F94D9-F715-4E63-83BF-43DE91DF1DDA}"/>
                    </a:ext>
                  </a:extLst>
                </p:cNvPr>
                <p:cNvSpPr>
                  <a:spLocks noRot="1" noChangeAspect="1" noMove="1" noResize="1" noEditPoints="1" noAdjustHandles="1" noChangeArrowheads="1" noChangeShapeType="1" noTextEdit="1"/>
                </p:cNvSpPr>
                <p:nvPr/>
              </p:nvSpPr>
              <p:spPr>
                <a:xfrm>
                  <a:off x="9372047" y="1138870"/>
                  <a:ext cx="414504" cy="370464"/>
                </a:xfrm>
                <a:prstGeom prst="ellipse">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25" name="Oval 1124">
                  <a:extLst>
                    <a:ext uri="{FF2B5EF4-FFF2-40B4-BE49-F238E27FC236}">
                      <a16:creationId xmlns:a16="http://schemas.microsoft.com/office/drawing/2014/main" id="{0CBE59D4-5EDA-7447-BB33-CABEEFD1CC79}"/>
                    </a:ext>
                  </a:extLst>
                </p:cNvPr>
                <p:cNvSpPr/>
                <p:nvPr/>
              </p:nvSpPr>
              <p:spPr>
                <a:xfrm>
                  <a:off x="8308756" y="4890772"/>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14:m>
                    <m:oMathPara xmlns:m="http://schemas.openxmlformats.org/officeDocument/2006/math">
                      <m:oMathParaPr>
                        <m:jc m:val="center"/>
                      </m:oMathParaPr>
                      <m:oMath xmlns:m="http://schemas.openxmlformats.org/officeDocument/2006/math">
                        <m:r>
                          <a:rPr lang="nl-NL" sz="700" i="1" smtClean="0">
                            <a:latin typeface="Cambria Math" panose="02040503050406030204" pitchFamily="18" charset="0"/>
                          </a:rPr>
                          <m:t>+</m:t>
                        </m:r>
                      </m:oMath>
                    </m:oMathPara>
                  </a14:m>
                  <a:endParaRPr lang="en-GB" sz="700" dirty="0"/>
                </a:p>
              </p:txBody>
            </p:sp>
          </mc:Choice>
          <mc:Fallback xmlns="">
            <p:sp>
              <p:nvSpPr>
                <p:cNvPr id="77" name="Oval 76">
                  <a:extLst>
                    <a:ext uri="{FF2B5EF4-FFF2-40B4-BE49-F238E27FC236}">
                      <a16:creationId xmlns:a16="http://schemas.microsoft.com/office/drawing/2014/main" id="{DE579CE5-152D-8178-76E0-9059CE660F7C}"/>
                    </a:ext>
                  </a:extLst>
                </p:cNvPr>
                <p:cNvSpPr>
                  <a:spLocks noRot="1" noChangeAspect="1" noMove="1" noResize="1" noEditPoints="1" noAdjustHandles="1" noChangeArrowheads="1" noChangeShapeType="1" noTextEdit="1"/>
                </p:cNvSpPr>
                <p:nvPr/>
              </p:nvSpPr>
              <p:spPr>
                <a:xfrm>
                  <a:off x="8308756" y="4890772"/>
                  <a:ext cx="414504" cy="370464"/>
                </a:xfrm>
                <a:prstGeom prst="ellipse">
                  <a:avLst/>
                </a:prstGeom>
                <a:blipFill>
                  <a:blip r:embed="rId5"/>
                  <a:stretch>
                    <a:fillRect/>
                  </a:stretch>
                </a:blipFill>
              </p:spPr>
              <p:txBody>
                <a:bodyPr/>
                <a:lstStyle/>
                <a:p>
                  <a:r>
                    <a:rPr lang="en-GB">
                      <a:noFill/>
                    </a:rPr>
                    <a:t> </a:t>
                  </a:r>
                </a:p>
              </p:txBody>
            </p:sp>
          </mc:Fallback>
        </mc:AlternateContent>
        <p:sp>
          <p:nvSpPr>
            <p:cNvPr id="1126" name="Oval 1125">
              <a:extLst>
                <a:ext uri="{FF2B5EF4-FFF2-40B4-BE49-F238E27FC236}">
                  <a16:creationId xmlns:a16="http://schemas.microsoft.com/office/drawing/2014/main" id="{68879AD2-FD76-EF26-5479-D4C1A01CA088}"/>
                </a:ext>
              </a:extLst>
            </p:cNvPr>
            <p:cNvSpPr/>
            <p:nvPr/>
          </p:nvSpPr>
          <p:spPr>
            <a:xfrm>
              <a:off x="7481312" y="5435604"/>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27" name="TextBox 1126">
                  <a:extLst>
                    <a:ext uri="{FF2B5EF4-FFF2-40B4-BE49-F238E27FC236}">
                      <a16:creationId xmlns:a16="http://schemas.microsoft.com/office/drawing/2014/main" id="{8D8A7A6D-C2FF-1ACE-59B9-A0C643BFB535}"/>
                    </a:ext>
                  </a:extLst>
                </p:cNvPr>
                <p:cNvSpPr txBox="1"/>
                <p:nvPr/>
              </p:nvSpPr>
              <p:spPr>
                <a:xfrm>
                  <a:off x="7376306" y="5509055"/>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solidFill>
                              <a:schemeClr val="bg1"/>
                            </a:solidFill>
                            <a:latin typeface="Cambria Math" panose="02040503050406030204" pitchFamily="18" charset="0"/>
                          </a:rPr>
                          <m:t>l</m:t>
                        </m:r>
                        <m:r>
                          <m:rPr>
                            <m:sty m:val="p"/>
                          </m:rPr>
                          <a:rPr lang="nl-NL" sz="700" b="0" i="1" smtClean="0">
                            <a:solidFill>
                              <a:schemeClr val="bg1"/>
                            </a:solidFill>
                            <a:latin typeface="Cambria Math" panose="02040503050406030204" pitchFamily="18" charset="0"/>
                          </a:rPr>
                          <m:t>og</m:t>
                        </m:r>
                        <m:r>
                          <a:rPr lang="nl-NL" sz="700" b="0" i="1" smtClean="0">
                            <a:solidFill>
                              <a:schemeClr val="bg1"/>
                            </a:solidFill>
                            <a:latin typeface="Cambria Math" panose="02040503050406030204" pitchFamily="18" charset="0"/>
                          </a:rPr>
                          <m:t>( )</m:t>
                        </m:r>
                      </m:oMath>
                    </m:oMathPara>
                  </a14:m>
                  <a:endParaRPr/>
                </a:p>
              </p:txBody>
            </p:sp>
          </mc:Choice>
          <mc:Fallback xmlns="">
            <p:sp>
              <p:nvSpPr>
                <p:cNvPr id="79" name="TextBox 78">
                  <a:extLst>
                    <a:ext uri="{FF2B5EF4-FFF2-40B4-BE49-F238E27FC236}">
                      <a16:creationId xmlns:a16="http://schemas.microsoft.com/office/drawing/2014/main" id="{0767CB3D-6D2C-893D-BDF1-0F9C2989EF30}"/>
                    </a:ext>
                  </a:extLst>
                </p:cNvPr>
                <p:cNvSpPr txBox="1">
                  <a:spLocks noRot="1" noChangeAspect="1" noMove="1" noResize="1" noEditPoints="1" noAdjustHandles="1" noChangeArrowheads="1" noChangeShapeType="1" noTextEdit="1"/>
                </p:cNvSpPr>
                <p:nvPr/>
              </p:nvSpPr>
              <p:spPr>
                <a:xfrm>
                  <a:off x="7376306" y="5509055"/>
                  <a:ext cx="648788" cy="242476"/>
                </a:xfrm>
                <a:prstGeom prst="rect">
                  <a:avLst/>
                </a:prstGeom>
                <a:blipFill>
                  <a:blip r:embed="rId6"/>
                  <a:stretch>
                    <a:fillRect b="-5882"/>
                  </a:stretch>
                </a:blipFill>
              </p:spPr>
              <p:txBody>
                <a:bodyPr/>
                <a:lstStyle/>
                <a:p>
                  <a:r>
                    <a:rPr lang="en-GB">
                      <a:noFill/>
                    </a:rPr>
                    <a:t> </a:t>
                  </a:r>
                </a:p>
              </p:txBody>
            </p:sp>
          </mc:Fallback>
        </mc:AlternateContent>
        <p:sp>
          <p:nvSpPr>
            <p:cNvPr id="1128" name="Oval 1127">
              <a:extLst>
                <a:ext uri="{FF2B5EF4-FFF2-40B4-BE49-F238E27FC236}">
                  <a16:creationId xmlns:a16="http://schemas.microsoft.com/office/drawing/2014/main" id="{3E6C3E6B-9243-81A6-AA3A-BF3B587840C3}"/>
                </a:ext>
              </a:extLst>
            </p:cNvPr>
            <p:cNvSpPr/>
            <p:nvPr/>
          </p:nvSpPr>
          <p:spPr>
            <a:xfrm>
              <a:off x="8306185" y="5422040"/>
              <a:ext cx="427958"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29" name="TextBox 1128">
                  <a:extLst>
                    <a:ext uri="{FF2B5EF4-FFF2-40B4-BE49-F238E27FC236}">
                      <a16:creationId xmlns:a16="http://schemas.microsoft.com/office/drawing/2014/main" id="{5C4A4994-F1D8-7D8F-5DC3-9EB25073BC57}"/>
                    </a:ext>
                  </a:extLst>
                </p:cNvPr>
                <p:cNvSpPr txBox="1"/>
                <p:nvPr/>
              </p:nvSpPr>
              <p:spPr>
                <a:xfrm>
                  <a:off x="8199492" y="5502894"/>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nl-NL" sz="700" b="0" i="1" smtClean="0">
                                <a:latin typeface="Cambria Math" panose="02040503050406030204" pitchFamily="18" charset="0"/>
                              </a:rPr>
                            </m:ctrlPr>
                          </m:sSupPr>
                          <m:e>
                            <m:r>
                              <a:rPr lang="nl-NL" sz="700" b="0" i="1" smtClean="0">
                                <a:latin typeface="Cambria Math" panose="02040503050406030204" pitchFamily="18" charset="0"/>
                              </a:rPr>
                              <m:t>( )</m:t>
                            </m:r>
                          </m:e>
                          <m:sup>
                            <m:r>
                              <a:rPr lang="nl-NL" sz="700" b="0" i="1" smtClean="0">
                                <a:latin typeface="Cambria Math" panose="02040503050406030204" pitchFamily="18" charset="0"/>
                              </a:rPr>
                              <m:t>2</m:t>
                            </m:r>
                          </m:sup>
                        </m:sSup>
                      </m:oMath>
                    </m:oMathPara>
                  </a14:m>
                  <a:endParaRPr/>
                </a:p>
              </p:txBody>
            </p:sp>
          </mc:Choice>
          <mc:Fallback xmlns="">
            <p:sp>
              <p:nvSpPr>
                <p:cNvPr id="81" name="TextBox 80">
                  <a:extLst>
                    <a:ext uri="{FF2B5EF4-FFF2-40B4-BE49-F238E27FC236}">
                      <a16:creationId xmlns:a16="http://schemas.microsoft.com/office/drawing/2014/main" id="{27216BDF-329F-A5D0-9EE6-4E93D4ADE14A}"/>
                    </a:ext>
                  </a:extLst>
                </p:cNvPr>
                <p:cNvSpPr txBox="1">
                  <a:spLocks noRot="1" noChangeAspect="1" noMove="1" noResize="1" noEditPoints="1" noAdjustHandles="1" noChangeArrowheads="1" noChangeShapeType="1" noTextEdit="1"/>
                </p:cNvSpPr>
                <p:nvPr/>
              </p:nvSpPr>
              <p:spPr>
                <a:xfrm>
                  <a:off x="8199492" y="5502894"/>
                  <a:ext cx="648788" cy="242476"/>
                </a:xfrm>
                <a:prstGeom prst="rect">
                  <a:avLst/>
                </a:prstGeom>
                <a:blipFill>
                  <a:blip r:embed="rId7"/>
                  <a:stretch>
                    <a:fillRect b="-5882"/>
                  </a:stretch>
                </a:blipFill>
              </p:spPr>
              <p:txBody>
                <a:bodyPr/>
                <a:lstStyle/>
                <a:p>
                  <a:r>
                    <a:rPr lang="en-GB">
                      <a:noFill/>
                    </a:rPr>
                    <a:t> </a:t>
                  </a:r>
                </a:p>
              </p:txBody>
            </p:sp>
          </mc:Fallback>
        </mc:AlternateContent>
        <p:sp>
          <p:nvSpPr>
            <p:cNvPr id="1130" name="Oval 1129">
              <a:extLst>
                <a:ext uri="{FF2B5EF4-FFF2-40B4-BE49-F238E27FC236}">
                  <a16:creationId xmlns:a16="http://schemas.microsoft.com/office/drawing/2014/main" id="{B3E2297A-2CDB-8AE3-3CF4-AB9C23B370A3}"/>
                </a:ext>
              </a:extLst>
            </p:cNvPr>
            <p:cNvSpPr/>
            <p:nvPr/>
          </p:nvSpPr>
          <p:spPr>
            <a:xfrm>
              <a:off x="9150273" y="5433383"/>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31" name="TextBox 1130">
                  <a:extLst>
                    <a:ext uri="{FF2B5EF4-FFF2-40B4-BE49-F238E27FC236}">
                      <a16:creationId xmlns:a16="http://schemas.microsoft.com/office/drawing/2014/main" id="{CB576A51-4417-0D2E-A39E-1F320AC622AC}"/>
                    </a:ext>
                  </a:extLst>
                </p:cNvPr>
                <p:cNvSpPr txBox="1"/>
                <p:nvPr/>
              </p:nvSpPr>
              <p:spPr>
                <a:xfrm>
                  <a:off x="9033131" y="5448755"/>
                  <a:ext cx="648788" cy="37715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GB" sz="700" i="1" dirty="0" smtClean="0">
                                <a:latin typeface="Cambria Math" panose="02040503050406030204" pitchFamily="18" charset="0"/>
                              </a:rPr>
                            </m:ctrlPr>
                          </m:fPr>
                          <m:num>
                            <m:sSup>
                              <m:sSupPr>
                                <m:ctrlPr>
                                  <a:rPr lang="nl-NL" sz="700" i="1">
                                    <a:latin typeface="Cambria Math" panose="02040503050406030204" pitchFamily="18" charset="0"/>
                                  </a:rPr>
                                </m:ctrlPr>
                              </m:sSupPr>
                              <m:e>
                                <m:r>
                                  <a:rPr lang="nl-NL" sz="700" i="1">
                                    <a:latin typeface="Cambria Math" panose="02040503050406030204" pitchFamily="18" charset="0"/>
                                  </a:rPr>
                                  <m:t>( )</m:t>
                                </m:r>
                              </m:e>
                              <m:sup>
                                <m:r>
                                  <a:rPr lang="nl-NL" sz="700" i="1" smtClean="0">
                                    <a:latin typeface="Cambria Math" panose="02040503050406030204" pitchFamily="18" charset="0"/>
                                    <a:ea typeface="Cambria Math" panose="02040503050406030204" pitchFamily="18" charset="0"/>
                                  </a:rPr>
                                  <m:t>𝜆</m:t>
                                </m:r>
                              </m:sup>
                            </m:sSup>
                            <m:r>
                              <a:rPr lang="nl-NL" sz="700" b="0" i="1" smtClean="0">
                                <a:latin typeface="Cambria Math" panose="02040503050406030204" pitchFamily="18" charset="0"/>
                              </a:rPr>
                              <m:t>−1</m:t>
                            </m:r>
                          </m:num>
                          <m:den>
                            <m:r>
                              <a:rPr lang="en-GB" sz="700" i="1" dirty="0" smtClean="0">
                                <a:latin typeface="Cambria Math" panose="02040503050406030204" pitchFamily="18" charset="0"/>
                                <a:ea typeface="Cambria Math" panose="02040503050406030204" pitchFamily="18" charset="0"/>
                              </a:rPr>
                              <m:t>𝜆</m:t>
                            </m:r>
                          </m:den>
                        </m:f>
                      </m:oMath>
                    </m:oMathPara>
                  </a14:m>
                  <a:endParaRPr/>
                </a:p>
              </p:txBody>
            </p:sp>
          </mc:Choice>
          <mc:Fallback xmlns="">
            <p:sp>
              <p:nvSpPr>
                <p:cNvPr id="83" name="TextBox 82">
                  <a:extLst>
                    <a:ext uri="{FF2B5EF4-FFF2-40B4-BE49-F238E27FC236}">
                      <a16:creationId xmlns:a16="http://schemas.microsoft.com/office/drawing/2014/main" id="{6F667336-B00D-1435-5D92-0A99ABAC05CF}"/>
                    </a:ext>
                  </a:extLst>
                </p:cNvPr>
                <p:cNvSpPr txBox="1">
                  <a:spLocks noRot="1" noChangeAspect="1" noMove="1" noResize="1" noEditPoints="1" noAdjustHandles="1" noChangeArrowheads="1" noChangeShapeType="1" noTextEdit="1"/>
                </p:cNvSpPr>
                <p:nvPr/>
              </p:nvSpPr>
              <p:spPr>
                <a:xfrm>
                  <a:off x="9033131" y="5448755"/>
                  <a:ext cx="648788" cy="377155"/>
                </a:xfrm>
                <a:prstGeom prst="rect">
                  <a:avLst/>
                </a:prstGeom>
                <a:blipFill>
                  <a:blip r:embed="rId8"/>
                  <a:stretch>
                    <a:fillRect/>
                  </a:stretch>
                </a:blipFill>
              </p:spPr>
              <p:txBody>
                <a:bodyPr/>
                <a:lstStyle/>
                <a:p>
                  <a:r>
                    <a:rPr lang="en-GB">
                      <a:noFill/>
                    </a:rPr>
                    <a:t> </a:t>
                  </a:r>
                </a:p>
              </p:txBody>
            </p:sp>
          </mc:Fallback>
        </mc:AlternateContent>
        <p:cxnSp>
          <p:nvCxnSpPr>
            <p:cNvPr id="1132" name="Straight Connector 1131">
              <a:extLst>
                <a:ext uri="{FF2B5EF4-FFF2-40B4-BE49-F238E27FC236}">
                  <a16:creationId xmlns:a16="http://schemas.microsoft.com/office/drawing/2014/main" id="{6C8C859C-75D4-631A-BF42-D10928F9C5E8}"/>
                </a:ext>
              </a:extLst>
            </p:cNvPr>
            <p:cNvCxnSpPr>
              <a:cxnSpLocks/>
              <a:stCxn id="1125" idx="4"/>
              <a:endCxn id="1126" idx="0"/>
            </p:cNvCxnSpPr>
            <p:nvPr/>
          </p:nvCxnSpPr>
          <p:spPr>
            <a:xfrm flipH="1">
              <a:off x="7688563" y="5261236"/>
              <a:ext cx="827444" cy="174368"/>
            </a:xfrm>
            <a:prstGeom prst="line">
              <a:avLst/>
            </a:prstGeom>
          </p:spPr>
          <p:style>
            <a:lnRef idx="1">
              <a:schemeClr val="dk1"/>
            </a:lnRef>
            <a:fillRef idx="0">
              <a:schemeClr val="dk1"/>
            </a:fillRef>
            <a:effectRef idx="0">
              <a:schemeClr val="dk1"/>
            </a:effectRef>
            <a:fontRef idx="minor">
              <a:schemeClr val="tx1"/>
            </a:fontRef>
          </p:style>
        </p:cxnSp>
        <p:cxnSp>
          <p:nvCxnSpPr>
            <p:cNvPr id="1133" name="Straight Connector 1132">
              <a:extLst>
                <a:ext uri="{FF2B5EF4-FFF2-40B4-BE49-F238E27FC236}">
                  <a16:creationId xmlns:a16="http://schemas.microsoft.com/office/drawing/2014/main" id="{E5888F11-D683-6A7C-F718-013AAA5F5DE8}"/>
                </a:ext>
              </a:extLst>
            </p:cNvPr>
            <p:cNvCxnSpPr>
              <a:cxnSpLocks/>
              <a:stCxn id="1125" idx="4"/>
              <a:endCxn id="1128" idx="0"/>
            </p:cNvCxnSpPr>
            <p:nvPr/>
          </p:nvCxnSpPr>
          <p:spPr>
            <a:xfrm>
              <a:off x="8516008" y="5261236"/>
              <a:ext cx="4156" cy="160805"/>
            </a:xfrm>
            <a:prstGeom prst="line">
              <a:avLst/>
            </a:prstGeom>
          </p:spPr>
          <p:style>
            <a:lnRef idx="1">
              <a:schemeClr val="dk1"/>
            </a:lnRef>
            <a:fillRef idx="0">
              <a:schemeClr val="dk1"/>
            </a:fillRef>
            <a:effectRef idx="0">
              <a:schemeClr val="dk1"/>
            </a:effectRef>
            <a:fontRef idx="minor">
              <a:schemeClr val="tx1"/>
            </a:fontRef>
          </p:style>
        </p:cxnSp>
        <p:cxnSp>
          <p:nvCxnSpPr>
            <p:cNvPr id="1134" name="Straight Connector 1133">
              <a:extLst>
                <a:ext uri="{FF2B5EF4-FFF2-40B4-BE49-F238E27FC236}">
                  <a16:creationId xmlns:a16="http://schemas.microsoft.com/office/drawing/2014/main" id="{D4C6A840-DD06-BA23-4B55-F01E35A9F261}"/>
                </a:ext>
              </a:extLst>
            </p:cNvPr>
            <p:cNvCxnSpPr>
              <a:cxnSpLocks/>
              <a:stCxn id="1125" idx="4"/>
              <a:endCxn id="1130" idx="0"/>
            </p:cNvCxnSpPr>
            <p:nvPr/>
          </p:nvCxnSpPr>
          <p:spPr>
            <a:xfrm>
              <a:off x="8516008" y="5261236"/>
              <a:ext cx="841518" cy="172148"/>
            </a:xfrm>
            <a:prstGeom prst="line">
              <a:avLst/>
            </a:prstGeom>
          </p:spPr>
          <p:style>
            <a:lnRef idx="1">
              <a:schemeClr val="dk1"/>
            </a:lnRef>
            <a:fillRef idx="0">
              <a:schemeClr val="dk1"/>
            </a:fillRef>
            <a:effectRef idx="0">
              <a:schemeClr val="dk1"/>
            </a:effectRef>
            <a:fontRef idx="minor">
              <a:schemeClr val="tx1"/>
            </a:fontRef>
          </p:style>
        </p:cxnSp>
        <p:cxnSp>
          <p:nvCxnSpPr>
            <p:cNvPr id="1135" name="Straight Connector 1134">
              <a:extLst>
                <a:ext uri="{FF2B5EF4-FFF2-40B4-BE49-F238E27FC236}">
                  <a16:creationId xmlns:a16="http://schemas.microsoft.com/office/drawing/2014/main" id="{28ADDCD0-BBDD-070A-8074-04953A85961B}"/>
                </a:ext>
              </a:extLst>
            </p:cNvPr>
            <p:cNvCxnSpPr>
              <a:cxnSpLocks/>
              <a:stCxn id="1126" idx="4"/>
              <a:endCxn id="1122" idx="0"/>
            </p:cNvCxnSpPr>
            <p:nvPr/>
          </p:nvCxnSpPr>
          <p:spPr>
            <a:xfrm flipH="1">
              <a:off x="6875408" y="5806068"/>
              <a:ext cx="813155" cy="164851"/>
            </a:xfrm>
            <a:prstGeom prst="line">
              <a:avLst/>
            </a:prstGeom>
          </p:spPr>
          <p:style>
            <a:lnRef idx="1">
              <a:schemeClr val="dk1"/>
            </a:lnRef>
            <a:fillRef idx="0">
              <a:schemeClr val="dk1"/>
            </a:fillRef>
            <a:effectRef idx="0">
              <a:schemeClr val="dk1"/>
            </a:effectRef>
            <a:fontRef idx="minor">
              <a:schemeClr val="tx1"/>
            </a:fontRef>
          </p:style>
        </p:cxnSp>
        <p:sp>
          <p:nvSpPr>
            <p:cNvPr id="1136" name="Oval 1135">
              <a:extLst>
                <a:ext uri="{FF2B5EF4-FFF2-40B4-BE49-F238E27FC236}">
                  <a16:creationId xmlns:a16="http://schemas.microsoft.com/office/drawing/2014/main" id="{999656BD-1E2C-B1BF-BF7C-00F4182A4708}"/>
                </a:ext>
              </a:extLst>
            </p:cNvPr>
            <p:cNvSpPr/>
            <p:nvPr/>
          </p:nvSpPr>
          <p:spPr>
            <a:xfrm>
              <a:off x="7480956" y="5958397"/>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37" name="TextBox 1136">
                  <a:extLst>
                    <a:ext uri="{FF2B5EF4-FFF2-40B4-BE49-F238E27FC236}">
                      <a16:creationId xmlns:a16="http://schemas.microsoft.com/office/drawing/2014/main" id="{AB035D53-E5F3-FC3D-9211-18B4CCB824A1}"/>
                    </a:ext>
                  </a:extLst>
                </p:cNvPr>
                <p:cNvSpPr txBox="1"/>
                <p:nvPr/>
              </p:nvSpPr>
              <p:spPr>
                <a:xfrm>
                  <a:off x="7488404" y="6022422"/>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latin typeface="Cambria Math" panose="02040503050406030204" pitchFamily="18" charset="0"/>
                          </a:rPr>
                          <m:t>T</m:t>
                        </m:r>
                        <m:r>
                          <m:rPr>
                            <m:sty m:val="p"/>
                          </m:rPr>
                          <a:rPr lang="nl-NL" sz="700" b="0" i="1" smtClean="0">
                            <a:latin typeface="Cambria Math" panose="02040503050406030204" pitchFamily="18" charset="0"/>
                          </a:rPr>
                          <m:t>C</m:t>
                        </m:r>
                      </m:oMath>
                    </m:oMathPara>
                  </a14:m>
                  <a:endParaRPr lang="en-GB" sz="700" dirty="0"/>
                </a:p>
              </p:txBody>
            </p:sp>
          </mc:Choice>
          <mc:Fallback xmlns="">
            <p:sp>
              <p:nvSpPr>
                <p:cNvPr id="90" name="TextBox 89">
                  <a:extLst>
                    <a:ext uri="{FF2B5EF4-FFF2-40B4-BE49-F238E27FC236}">
                      <a16:creationId xmlns:a16="http://schemas.microsoft.com/office/drawing/2014/main" id="{95D44A75-134E-5145-B136-5660C6B5B1A1}"/>
                    </a:ext>
                  </a:extLst>
                </p:cNvPr>
                <p:cNvSpPr txBox="1">
                  <a:spLocks noRot="1" noChangeAspect="1" noMove="1" noResize="1" noEditPoints="1" noAdjustHandles="1" noChangeArrowheads="1" noChangeShapeType="1" noTextEdit="1"/>
                </p:cNvSpPr>
                <p:nvPr/>
              </p:nvSpPr>
              <p:spPr>
                <a:xfrm>
                  <a:off x="7488404" y="6022422"/>
                  <a:ext cx="420512" cy="242476"/>
                </a:xfrm>
                <a:prstGeom prst="rect">
                  <a:avLst/>
                </a:prstGeom>
                <a:blipFill>
                  <a:blip r:embed="rId9"/>
                  <a:stretch>
                    <a:fillRect/>
                  </a:stretch>
                </a:blipFill>
              </p:spPr>
              <p:txBody>
                <a:bodyPr/>
                <a:lstStyle/>
                <a:p>
                  <a:r>
                    <a:rPr lang="en-GB">
                      <a:noFill/>
                    </a:rPr>
                    <a:t> </a:t>
                  </a:r>
                </a:p>
              </p:txBody>
            </p:sp>
          </mc:Fallback>
        </mc:AlternateContent>
        <p:sp>
          <p:nvSpPr>
            <p:cNvPr id="1138" name="Oval 1137">
              <a:extLst>
                <a:ext uri="{FF2B5EF4-FFF2-40B4-BE49-F238E27FC236}">
                  <a16:creationId xmlns:a16="http://schemas.microsoft.com/office/drawing/2014/main" id="{25C675D2-CEF7-C285-1D87-BDD3F97D3C9C}"/>
                </a:ext>
              </a:extLst>
            </p:cNvPr>
            <p:cNvSpPr/>
            <p:nvPr/>
          </p:nvSpPr>
          <p:spPr>
            <a:xfrm>
              <a:off x="8314595" y="5952860"/>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39" name="TextBox 1138">
                  <a:extLst>
                    <a:ext uri="{FF2B5EF4-FFF2-40B4-BE49-F238E27FC236}">
                      <a16:creationId xmlns:a16="http://schemas.microsoft.com/office/drawing/2014/main" id="{7AA53B4D-A75B-FE23-F679-1729B0E18CFB}"/>
                    </a:ext>
                  </a:extLst>
                </p:cNvPr>
                <p:cNvSpPr txBox="1"/>
                <p:nvPr/>
              </p:nvSpPr>
              <p:spPr>
                <a:xfrm>
                  <a:off x="8327921" y="6015727"/>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solidFill>
                              <a:schemeClr val="bg1"/>
                            </a:solidFill>
                            <a:latin typeface="Cambria Math" panose="02040503050406030204" pitchFamily="18" charset="0"/>
                          </a:rPr>
                          <m:t>H</m:t>
                        </m:r>
                        <m:r>
                          <m:rPr>
                            <m:sty m:val="p"/>
                          </m:rPr>
                          <a:rPr lang="nl-NL" sz="700" b="0" i="1" smtClean="0">
                            <a:solidFill>
                              <a:schemeClr val="bg1"/>
                            </a:solidFill>
                            <a:latin typeface="Cambria Math" panose="02040503050406030204" pitchFamily="18" charset="0"/>
                          </a:rPr>
                          <m:t>E</m:t>
                        </m:r>
                      </m:oMath>
                    </m:oMathPara>
                  </a14:m>
                  <a:endParaRPr lang="en-GB" sz="700" dirty="0">
                    <a:solidFill>
                      <a:schemeClr val="bg1"/>
                    </a:solidFill>
                  </a:endParaRPr>
                </a:p>
              </p:txBody>
            </p:sp>
          </mc:Choice>
          <mc:Fallback xmlns="">
            <p:sp>
              <p:nvSpPr>
                <p:cNvPr id="92" name="TextBox 91">
                  <a:extLst>
                    <a:ext uri="{FF2B5EF4-FFF2-40B4-BE49-F238E27FC236}">
                      <a16:creationId xmlns:a16="http://schemas.microsoft.com/office/drawing/2014/main" id="{4F41E5F0-7660-F782-09CC-E0AFD346C2F3}"/>
                    </a:ext>
                  </a:extLst>
                </p:cNvPr>
                <p:cNvSpPr txBox="1">
                  <a:spLocks noRot="1" noChangeAspect="1" noMove="1" noResize="1" noEditPoints="1" noAdjustHandles="1" noChangeArrowheads="1" noChangeShapeType="1" noTextEdit="1"/>
                </p:cNvSpPr>
                <p:nvPr/>
              </p:nvSpPr>
              <p:spPr>
                <a:xfrm>
                  <a:off x="8327921" y="6015727"/>
                  <a:ext cx="420512" cy="242476"/>
                </a:xfrm>
                <a:prstGeom prst="rect">
                  <a:avLst/>
                </a:prstGeom>
                <a:blipFill>
                  <a:blip r:embed="rId10"/>
                  <a:stretch>
                    <a:fillRect/>
                  </a:stretch>
                </a:blipFill>
              </p:spPr>
              <p:txBody>
                <a:bodyPr/>
                <a:lstStyle/>
                <a:p>
                  <a:r>
                    <a:rPr lang="en-GB">
                      <a:noFill/>
                    </a:rPr>
                    <a:t> </a:t>
                  </a:r>
                </a:p>
              </p:txBody>
            </p:sp>
          </mc:Fallback>
        </mc:AlternateContent>
        <p:cxnSp>
          <p:nvCxnSpPr>
            <p:cNvPr id="1140" name="Straight Connector 1139">
              <a:extLst>
                <a:ext uri="{FF2B5EF4-FFF2-40B4-BE49-F238E27FC236}">
                  <a16:creationId xmlns:a16="http://schemas.microsoft.com/office/drawing/2014/main" id="{8722DA05-5FD2-C903-6CE8-36357C1BE1E8}"/>
                </a:ext>
              </a:extLst>
            </p:cNvPr>
            <p:cNvCxnSpPr>
              <a:cxnSpLocks/>
              <a:stCxn id="1126" idx="4"/>
              <a:endCxn id="1136" idx="0"/>
            </p:cNvCxnSpPr>
            <p:nvPr/>
          </p:nvCxnSpPr>
          <p:spPr>
            <a:xfrm flipH="1">
              <a:off x="7688208" y="5806068"/>
              <a:ext cx="356" cy="152329"/>
            </a:xfrm>
            <a:prstGeom prst="line">
              <a:avLst/>
            </a:prstGeom>
          </p:spPr>
          <p:style>
            <a:lnRef idx="1">
              <a:schemeClr val="dk1"/>
            </a:lnRef>
            <a:fillRef idx="0">
              <a:schemeClr val="dk1"/>
            </a:fillRef>
            <a:effectRef idx="0">
              <a:schemeClr val="dk1"/>
            </a:effectRef>
            <a:fontRef idx="minor">
              <a:schemeClr val="tx1"/>
            </a:fontRef>
          </p:style>
        </p:cxnSp>
        <p:cxnSp>
          <p:nvCxnSpPr>
            <p:cNvPr id="1141" name="Straight Connector 1140">
              <a:extLst>
                <a:ext uri="{FF2B5EF4-FFF2-40B4-BE49-F238E27FC236}">
                  <a16:creationId xmlns:a16="http://schemas.microsoft.com/office/drawing/2014/main" id="{C4C0509B-16E7-B7A2-A4A6-6F7693376389}"/>
                </a:ext>
              </a:extLst>
            </p:cNvPr>
            <p:cNvCxnSpPr>
              <a:cxnSpLocks/>
              <a:stCxn id="1126" idx="4"/>
              <a:endCxn id="1138" idx="0"/>
            </p:cNvCxnSpPr>
            <p:nvPr/>
          </p:nvCxnSpPr>
          <p:spPr>
            <a:xfrm>
              <a:off x="7688563" y="5806068"/>
              <a:ext cx="833283" cy="146792"/>
            </a:xfrm>
            <a:prstGeom prst="line">
              <a:avLst/>
            </a:prstGeom>
          </p:spPr>
          <p:style>
            <a:lnRef idx="1">
              <a:schemeClr val="dk1"/>
            </a:lnRef>
            <a:fillRef idx="0">
              <a:schemeClr val="dk1"/>
            </a:fillRef>
            <a:effectRef idx="0">
              <a:schemeClr val="dk1"/>
            </a:effectRef>
            <a:fontRef idx="minor">
              <a:schemeClr val="tx1"/>
            </a:fontRef>
          </p:style>
        </p:cxnSp>
        <p:cxnSp>
          <p:nvCxnSpPr>
            <p:cNvPr id="1142" name="Straight Connector 1141">
              <a:extLst>
                <a:ext uri="{FF2B5EF4-FFF2-40B4-BE49-F238E27FC236}">
                  <a16:creationId xmlns:a16="http://schemas.microsoft.com/office/drawing/2014/main" id="{98DF0961-DBDA-117D-9216-0DC1A0E29D2D}"/>
                </a:ext>
              </a:extLst>
            </p:cNvPr>
            <p:cNvCxnSpPr>
              <a:cxnSpLocks/>
              <a:stCxn id="1125" idx="0"/>
            </p:cNvCxnSpPr>
            <p:nvPr/>
          </p:nvCxnSpPr>
          <p:spPr>
            <a:xfrm flipV="1">
              <a:off x="8516008" y="4722245"/>
              <a:ext cx="0" cy="16852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43" name="Oval 1142">
                  <a:extLst>
                    <a:ext uri="{FF2B5EF4-FFF2-40B4-BE49-F238E27FC236}">
                      <a16:creationId xmlns:a16="http://schemas.microsoft.com/office/drawing/2014/main" id="{309D310D-5709-11C0-AE29-A65871990C19}"/>
                    </a:ext>
                  </a:extLst>
                </p:cNvPr>
                <p:cNvSpPr/>
                <p:nvPr/>
              </p:nvSpPr>
              <p:spPr>
                <a:xfrm>
                  <a:off x="9372047" y="1728657"/>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14:m>
                    <m:oMathPara xmlns:m="http://schemas.openxmlformats.org/officeDocument/2006/math">
                      <m:oMathParaPr>
                        <m:jc m:val="center"/>
                      </m:oMathParaPr>
                      <m:oMath xmlns:m="http://schemas.openxmlformats.org/officeDocument/2006/math">
                        <m:r>
                          <a:rPr lang="nl-NL" sz="700" i="1" smtClean="0">
                            <a:latin typeface="Cambria Math" panose="02040503050406030204" pitchFamily="18" charset="0"/>
                          </a:rPr>
                          <m:t>+</m:t>
                        </m:r>
                      </m:oMath>
                    </m:oMathPara>
                  </a14:m>
                  <a:endParaRPr lang="en-GB" sz="700" dirty="0"/>
                </a:p>
              </p:txBody>
            </p:sp>
          </mc:Choice>
          <mc:Fallback xmlns="">
            <p:sp>
              <p:nvSpPr>
                <p:cNvPr id="96" name="Oval 95">
                  <a:extLst>
                    <a:ext uri="{FF2B5EF4-FFF2-40B4-BE49-F238E27FC236}">
                      <a16:creationId xmlns:a16="http://schemas.microsoft.com/office/drawing/2014/main" id="{A7117B86-28FF-1E26-83E9-4D215072A823}"/>
                    </a:ext>
                  </a:extLst>
                </p:cNvPr>
                <p:cNvSpPr>
                  <a:spLocks noRot="1" noChangeAspect="1" noMove="1" noResize="1" noEditPoints="1" noAdjustHandles="1" noChangeArrowheads="1" noChangeShapeType="1" noTextEdit="1"/>
                </p:cNvSpPr>
                <p:nvPr/>
              </p:nvSpPr>
              <p:spPr>
                <a:xfrm>
                  <a:off x="9372047" y="1728657"/>
                  <a:ext cx="414504" cy="370464"/>
                </a:xfrm>
                <a:prstGeom prst="ellipse">
                  <a:avLst/>
                </a:prstGeom>
                <a:blipFill>
                  <a:blip r:embed="rId11"/>
                  <a:stretch>
                    <a:fillRect/>
                  </a:stretch>
                </a:blipFill>
              </p:spPr>
              <p:txBody>
                <a:bodyPr/>
                <a:lstStyle/>
                <a:p>
                  <a:r>
                    <a:rPr lang="en-GB">
                      <a:noFill/>
                    </a:rPr>
                    <a:t> </a:t>
                  </a:r>
                </a:p>
              </p:txBody>
            </p:sp>
          </mc:Fallback>
        </mc:AlternateContent>
        <p:cxnSp>
          <p:nvCxnSpPr>
            <p:cNvPr id="1144" name="Straight Connector 1143">
              <a:extLst>
                <a:ext uri="{FF2B5EF4-FFF2-40B4-BE49-F238E27FC236}">
                  <a16:creationId xmlns:a16="http://schemas.microsoft.com/office/drawing/2014/main" id="{1ABED482-EE3E-2981-F178-E5CBEAF0AC06}"/>
                </a:ext>
              </a:extLst>
            </p:cNvPr>
            <p:cNvCxnSpPr>
              <a:cxnSpLocks/>
              <a:stCxn id="1124" idx="4"/>
              <a:endCxn id="1143" idx="0"/>
            </p:cNvCxnSpPr>
            <p:nvPr/>
          </p:nvCxnSpPr>
          <p:spPr>
            <a:xfrm>
              <a:off x="9579299" y="1509334"/>
              <a:ext cx="0" cy="219323"/>
            </a:xfrm>
            <a:prstGeom prst="line">
              <a:avLst/>
            </a:prstGeom>
          </p:spPr>
          <p:style>
            <a:lnRef idx="1">
              <a:schemeClr val="dk1"/>
            </a:lnRef>
            <a:fillRef idx="0">
              <a:schemeClr val="dk1"/>
            </a:fillRef>
            <a:effectRef idx="0">
              <a:schemeClr val="dk1"/>
            </a:effectRef>
            <a:fontRef idx="minor">
              <a:schemeClr val="tx1"/>
            </a:fontRef>
          </p:style>
        </p:cxnSp>
        <p:sp>
          <p:nvSpPr>
            <p:cNvPr id="1145" name="Oval 1144">
              <a:extLst>
                <a:ext uri="{FF2B5EF4-FFF2-40B4-BE49-F238E27FC236}">
                  <a16:creationId xmlns:a16="http://schemas.microsoft.com/office/drawing/2014/main" id="{BE538399-75F3-20A7-1E42-E957EF4A6FA6}"/>
                </a:ext>
              </a:extLst>
            </p:cNvPr>
            <p:cNvSpPr/>
            <p:nvPr/>
          </p:nvSpPr>
          <p:spPr>
            <a:xfrm>
              <a:off x="8828266" y="2308180"/>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46" name="TextBox 1145">
                  <a:extLst>
                    <a:ext uri="{FF2B5EF4-FFF2-40B4-BE49-F238E27FC236}">
                      <a16:creationId xmlns:a16="http://schemas.microsoft.com/office/drawing/2014/main" id="{596078C4-B3E9-5063-D77C-CA32FEDF6F33}"/>
                    </a:ext>
                  </a:extLst>
                </p:cNvPr>
                <p:cNvSpPr txBox="1"/>
                <p:nvPr/>
              </p:nvSpPr>
              <p:spPr>
                <a:xfrm>
                  <a:off x="8723260" y="2381631"/>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a:latin typeface="Cambria Math" panose="02040503050406030204" pitchFamily="18" charset="0"/>
                          </a:rPr>
                          <m:t>l</m:t>
                        </m:r>
                        <m:r>
                          <m:rPr>
                            <m:sty m:val="p"/>
                          </m:rPr>
                          <a:rPr lang="nl-NL" sz="700" b="0" i="1" smtClean="0">
                            <a:latin typeface="Cambria Math" panose="02040503050406030204" pitchFamily="18" charset="0"/>
                          </a:rPr>
                          <m:t>og</m:t>
                        </m:r>
                        <m:r>
                          <a:rPr lang="nl-NL" sz="700" b="0" i="1" smtClean="0">
                            <a:latin typeface="Cambria Math" panose="02040503050406030204" pitchFamily="18" charset="0"/>
                          </a:rPr>
                          <m:t>( )</m:t>
                        </m:r>
                      </m:oMath>
                    </m:oMathPara>
                  </a14:m>
                  <a:endParaRPr/>
                </a:p>
              </p:txBody>
            </p:sp>
          </mc:Choice>
          <mc:Fallback xmlns="">
            <p:sp>
              <p:nvSpPr>
                <p:cNvPr id="99" name="TextBox 98">
                  <a:extLst>
                    <a:ext uri="{FF2B5EF4-FFF2-40B4-BE49-F238E27FC236}">
                      <a16:creationId xmlns:a16="http://schemas.microsoft.com/office/drawing/2014/main" id="{B28408C3-8EFF-F526-97C6-A48201A556FF}"/>
                    </a:ext>
                  </a:extLst>
                </p:cNvPr>
                <p:cNvSpPr txBox="1">
                  <a:spLocks noRot="1" noChangeAspect="1" noMove="1" noResize="1" noEditPoints="1" noAdjustHandles="1" noChangeArrowheads="1" noChangeShapeType="1" noTextEdit="1"/>
                </p:cNvSpPr>
                <p:nvPr/>
              </p:nvSpPr>
              <p:spPr>
                <a:xfrm>
                  <a:off x="8723260" y="2381631"/>
                  <a:ext cx="648788" cy="242476"/>
                </a:xfrm>
                <a:prstGeom prst="rect">
                  <a:avLst/>
                </a:prstGeom>
                <a:blipFill>
                  <a:blip r:embed="rId12"/>
                  <a:stretch>
                    <a:fillRect b="-12500"/>
                  </a:stretch>
                </a:blipFill>
              </p:spPr>
              <p:txBody>
                <a:bodyPr/>
                <a:lstStyle/>
                <a:p>
                  <a:r>
                    <a:rPr lang="en-GB">
                      <a:noFill/>
                    </a:rPr>
                    <a:t> </a:t>
                  </a:r>
                </a:p>
              </p:txBody>
            </p:sp>
          </mc:Fallback>
        </mc:AlternateContent>
        <p:sp>
          <p:nvSpPr>
            <p:cNvPr id="1147" name="Oval 1146">
              <a:extLst>
                <a:ext uri="{FF2B5EF4-FFF2-40B4-BE49-F238E27FC236}">
                  <a16:creationId xmlns:a16="http://schemas.microsoft.com/office/drawing/2014/main" id="{9A72246F-1646-56D2-B7ED-F1CBE3CD80FD}"/>
                </a:ext>
              </a:extLst>
            </p:cNvPr>
            <p:cNvSpPr/>
            <p:nvPr/>
          </p:nvSpPr>
          <p:spPr>
            <a:xfrm>
              <a:off x="9653138" y="2294617"/>
              <a:ext cx="427958"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48" name="TextBox 1147">
                  <a:extLst>
                    <a:ext uri="{FF2B5EF4-FFF2-40B4-BE49-F238E27FC236}">
                      <a16:creationId xmlns:a16="http://schemas.microsoft.com/office/drawing/2014/main" id="{ACBDFB30-1F30-7D8E-E4A5-62BD24B00518}"/>
                    </a:ext>
                  </a:extLst>
                </p:cNvPr>
                <p:cNvSpPr txBox="1"/>
                <p:nvPr/>
              </p:nvSpPr>
              <p:spPr>
                <a:xfrm>
                  <a:off x="9546447" y="2375471"/>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nl-NL" sz="700" b="0" i="1" smtClean="0">
                                <a:latin typeface="Cambria Math" panose="02040503050406030204" pitchFamily="18" charset="0"/>
                              </a:rPr>
                            </m:ctrlPr>
                          </m:sSupPr>
                          <m:e>
                            <m:r>
                              <a:rPr lang="nl-NL" sz="700" b="0" i="1" smtClean="0">
                                <a:latin typeface="Cambria Math" panose="02040503050406030204" pitchFamily="18" charset="0"/>
                              </a:rPr>
                              <m:t>( )</m:t>
                            </m:r>
                          </m:e>
                          <m:sup>
                            <m:r>
                              <a:rPr lang="nl-NL" sz="700" b="0" i="1" smtClean="0">
                                <a:latin typeface="Cambria Math" panose="02040503050406030204" pitchFamily="18" charset="0"/>
                              </a:rPr>
                              <m:t>2</m:t>
                            </m:r>
                          </m:sup>
                        </m:sSup>
                      </m:oMath>
                    </m:oMathPara>
                  </a14:m>
                  <a:endParaRPr/>
                </a:p>
              </p:txBody>
            </p:sp>
          </mc:Choice>
          <mc:Fallback xmlns="">
            <p:sp>
              <p:nvSpPr>
                <p:cNvPr id="101" name="TextBox 100">
                  <a:extLst>
                    <a:ext uri="{FF2B5EF4-FFF2-40B4-BE49-F238E27FC236}">
                      <a16:creationId xmlns:a16="http://schemas.microsoft.com/office/drawing/2014/main" id="{DEF160C5-64BD-ECD9-D60B-0A5A90845194}"/>
                    </a:ext>
                  </a:extLst>
                </p:cNvPr>
                <p:cNvSpPr txBox="1">
                  <a:spLocks noRot="1" noChangeAspect="1" noMove="1" noResize="1" noEditPoints="1" noAdjustHandles="1" noChangeArrowheads="1" noChangeShapeType="1" noTextEdit="1"/>
                </p:cNvSpPr>
                <p:nvPr/>
              </p:nvSpPr>
              <p:spPr>
                <a:xfrm>
                  <a:off x="9546447" y="2375471"/>
                  <a:ext cx="648788" cy="242476"/>
                </a:xfrm>
                <a:prstGeom prst="rect">
                  <a:avLst/>
                </a:prstGeom>
                <a:blipFill>
                  <a:blip r:embed="rId13"/>
                  <a:stretch>
                    <a:fillRect b="-5882"/>
                  </a:stretch>
                </a:blipFill>
              </p:spPr>
              <p:txBody>
                <a:bodyPr/>
                <a:lstStyle/>
                <a:p>
                  <a:r>
                    <a:rPr lang="en-GB">
                      <a:noFill/>
                    </a:rPr>
                    <a:t> </a:t>
                  </a:r>
                </a:p>
              </p:txBody>
            </p:sp>
          </mc:Fallback>
        </mc:AlternateContent>
        <p:sp>
          <p:nvSpPr>
            <p:cNvPr id="1149" name="Oval 1148">
              <a:extLst>
                <a:ext uri="{FF2B5EF4-FFF2-40B4-BE49-F238E27FC236}">
                  <a16:creationId xmlns:a16="http://schemas.microsoft.com/office/drawing/2014/main" id="{25D599D7-D8AE-F8F9-C51C-DF5B218AE96A}"/>
                </a:ext>
              </a:extLst>
            </p:cNvPr>
            <p:cNvSpPr/>
            <p:nvPr/>
          </p:nvSpPr>
          <p:spPr>
            <a:xfrm>
              <a:off x="10497227" y="2305960"/>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50" name="TextBox 1149">
                  <a:extLst>
                    <a:ext uri="{FF2B5EF4-FFF2-40B4-BE49-F238E27FC236}">
                      <a16:creationId xmlns:a16="http://schemas.microsoft.com/office/drawing/2014/main" id="{CF7E258A-AB7A-B466-5BBD-66C36723BBE0}"/>
                    </a:ext>
                  </a:extLst>
                </p:cNvPr>
                <p:cNvSpPr txBox="1"/>
                <p:nvPr/>
              </p:nvSpPr>
              <p:spPr>
                <a:xfrm>
                  <a:off x="10380085" y="2321332"/>
                  <a:ext cx="648788" cy="37715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GB" sz="700" i="1" dirty="0" smtClean="0">
                                <a:latin typeface="Cambria Math" panose="02040503050406030204" pitchFamily="18" charset="0"/>
                              </a:rPr>
                            </m:ctrlPr>
                          </m:fPr>
                          <m:num>
                            <m:sSup>
                              <m:sSupPr>
                                <m:ctrlPr>
                                  <a:rPr lang="nl-NL" sz="700" i="1">
                                    <a:latin typeface="Cambria Math" panose="02040503050406030204" pitchFamily="18" charset="0"/>
                                  </a:rPr>
                                </m:ctrlPr>
                              </m:sSupPr>
                              <m:e>
                                <m:r>
                                  <a:rPr lang="nl-NL" sz="700" i="1">
                                    <a:latin typeface="Cambria Math" panose="02040503050406030204" pitchFamily="18" charset="0"/>
                                  </a:rPr>
                                  <m:t>( )</m:t>
                                </m:r>
                              </m:e>
                              <m:sup>
                                <m:r>
                                  <a:rPr lang="nl-NL" sz="700" i="1" smtClean="0">
                                    <a:latin typeface="Cambria Math" panose="02040503050406030204" pitchFamily="18" charset="0"/>
                                    <a:ea typeface="Cambria Math" panose="02040503050406030204" pitchFamily="18" charset="0"/>
                                  </a:rPr>
                                  <m:t>𝜆</m:t>
                                </m:r>
                              </m:sup>
                            </m:sSup>
                            <m:r>
                              <a:rPr lang="nl-NL" sz="700" b="0" i="1" smtClean="0">
                                <a:latin typeface="Cambria Math" panose="02040503050406030204" pitchFamily="18" charset="0"/>
                              </a:rPr>
                              <m:t>−1</m:t>
                            </m:r>
                          </m:num>
                          <m:den>
                            <m:r>
                              <a:rPr lang="en-GB" sz="700" i="1" dirty="0" smtClean="0">
                                <a:latin typeface="Cambria Math" panose="02040503050406030204" pitchFamily="18" charset="0"/>
                                <a:ea typeface="Cambria Math" panose="02040503050406030204" pitchFamily="18" charset="0"/>
                              </a:rPr>
                              <m:t>𝜆</m:t>
                            </m:r>
                          </m:den>
                        </m:f>
                      </m:oMath>
                    </m:oMathPara>
                  </a14:m>
                  <a:endParaRPr/>
                </a:p>
              </p:txBody>
            </p:sp>
          </mc:Choice>
          <mc:Fallback xmlns="">
            <p:sp>
              <p:nvSpPr>
                <p:cNvPr id="103" name="TextBox 102">
                  <a:extLst>
                    <a:ext uri="{FF2B5EF4-FFF2-40B4-BE49-F238E27FC236}">
                      <a16:creationId xmlns:a16="http://schemas.microsoft.com/office/drawing/2014/main" id="{F98371AD-80C9-85CE-26E0-9714D0871062}"/>
                    </a:ext>
                  </a:extLst>
                </p:cNvPr>
                <p:cNvSpPr txBox="1">
                  <a:spLocks noRot="1" noChangeAspect="1" noMove="1" noResize="1" noEditPoints="1" noAdjustHandles="1" noChangeArrowheads="1" noChangeShapeType="1" noTextEdit="1"/>
                </p:cNvSpPr>
                <p:nvPr/>
              </p:nvSpPr>
              <p:spPr>
                <a:xfrm>
                  <a:off x="10380085" y="2321332"/>
                  <a:ext cx="648788" cy="377155"/>
                </a:xfrm>
                <a:prstGeom prst="rect">
                  <a:avLst/>
                </a:prstGeom>
                <a:blipFill>
                  <a:blip r:embed="rId14"/>
                  <a:stretch>
                    <a:fillRect/>
                  </a:stretch>
                </a:blipFill>
              </p:spPr>
              <p:txBody>
                <a:bodyPr/>
                <a:lstStyle/>
                <a:p>
                  <a:r>
                    <a:rPr lang="en-GB">
                      <a:noFill/>
                    </a:rPr>
                    <a:t> </a:t>
                  </a:r>
                </a:p>
              </p:txBody>
            </p:sp>
          </mc:Fallback>
        </mc:AlternateContent>
        <p:cxnSp>
          <p:nvCxnSpPr>
            <p:cNvPr id="1151" name="Straight Connector 1150">
              <a:extLst>
                <a:ext uri="{FF2B5EF4-FFF2-40B4-BE49-F238E27FC236}">
                  <a16:creationId xmlns:a16="http://schemas.microsoft.com/office/drawing/2014/main" id="{D0DDDFE6-9C3E-A009-7C8D-4E2175D22366}"/>
                </a:ext>
              </a:extLst>
            </p:cNvPr>
            <p:cNvCxnSpPr>
              <a:cxnSpLocks/>
              <a:stCxn id="1143" idx="4"/>
              <a:endCxn id="1145" idx="0"/>
            </p:cNvCxnSpPr>
            <p:nvPr/>
          </p:nvCxnSpPr>
          <p:spPr>
            <a:xfrm flipH="1">
              <a:off x="9035517" y="2099121"/>
              <a:ext cx="543782" cy="209059"/>
            </a:xfrm>
            <a:prstGeom prst="line">
              <a:avLst/>
            </a:prstGeom>
          </p:spPr>
          <p:style>
            <a:lnRef idx="1">
              <a:schemeClr val="dk1"/>
            </a:lnRef>
            <a:fillRef idx="0">
              <a:schemeClr val="dk1"/>
            </a:fillRef>
            <a:effectRef idx="0">
              <a:schemeClr val="dk1"/>
            </a:effectRef>
            <a:fontRef idx="minor">
              <a:schemeClr val="tx1"/>
            </a:fontRef>
          </p:style>
        </p:cxnSp>
        <p:cxnSp>
          <p:nvCxnSpPr>
            <p:cNvPr id="1152" name="Straight Connector 1151">
              <a:extLst>
                <a:ext uri="{FF2B5EF4-FFF2-40B4-BE49-F238E27FC236}">
                  <a16:creationId xmlns:a16="http://schemas.microsoft.com/office/drawing/2014/main" id="{38DE1189-877A-8D12-8AF5-EDAC2971EC99}"/>
                </a:ext>
              </a:extLst>
            </p:cNvPr>
            <p:cNvCxnSpPr>
              <a:cxnSpLocks/>
              <a:stCxn id="1143" idx="4"/>
              <a:endCxn id="1147" idx="0"/>
            </p:cNvCxnSpPr>
            <p:nvPr/>
          </p:nvCxnSpPr>
          <p:spPr>
            <a:xfrm>
              <a:off x="9579299" y="2099121"/>
              <a:ext cx="287818" cy="195496"/>
            </a:xfrm>
            <a:prstGeom prst="line">
              <a:avLst/>
            </a:prstGeom>
          </p:spPr>
          <p:style>
            <a:lnRef idx="1">
              <a:schemeClr val="dk1"/>
            </a:lnRef>
            <a:fillRef idx="0">
              <a:schemeClr val="dk1"/>
            </a:fillRef>
            <a:effectRef idx="0">
              <a:schemeClr val="dk1"/>
            </a:effectRef>
            <a:fontRef idx="minor">
              <a:schemeClr val="tx1"/>
            </a:fontRef>
          </p:style>
        </p:cxnSp>
        <p:cxnSp>
          <p:nvCxnSpPr>
            <p:cNvPr id="1153" name="Straight Connector 1152">
              <a:extLst>
                <a:ext uri="{FF2B5EF4-FFF2-40B4-BE49-F238E27FC236}">
                  <a16:creationId xmlns:a16="http://schemas.microsoft.com/office/drawing/2014/main" id="{B0C44053-BD62-8840-1AD7-8A9F1654313D}"/>
                </a:ext>
              </a:extLst>
            </p:cNvPr>
            <p:cNvCxnSpPr>
              <a:cxnSpLocks/>
              <a:stCxn id="1143" idx="4"/>
              <a:endCxn id="1149" idx="0"/>
            </p:cNvCxnSpPr>
            <p:nvPr/>
          </p:nvCxnSpPr>
          <p:spPr>
            <a:xfrm>
              <a:off x="9579299" y="2099121"/>
              <a:ext cx="1125180" cy="206839"/>
            </a:xfrm>
            <a:prstGeom prst="line">
              <a:avLst/>
            </a:prstGeom>
          </p:spPr>
          <p:style>
            <a:lnRef idx="1">
              <a:schemeClr val="dk1"/>
            </a:lnRef>
            <a:fillRef idx="0">
              <a:schemeClr val="dk1"/>
            </a:fillRef>
            <a:effectRef idx="0">
              <a:schemeClr val="dk1"/>
            </a:effectRef>
            <a:fontRef idx="minor">
              <a:schemeClr val="tx1"/>
            </a:fontRef>
          </p:style>
        </p:cxnSp>
        <p:cxnSp>
          <p:nvCxnSpPr>
            <p:cNvPr id="1154" name="Straight Connector 1153">
              <a:extLst>
                <a:ext uri="{FF2B5EF4-FFF2-40B4-BE49-F238E27FC236}">
                  <a16:creationId xmlns:a16="http://schemas.microsoft.com/office/drawing/2014/main" id="{69DA7D1D-D65A-1E92-DBA4-51BA991CCB3F}"/>
                </a:ext>
              </a:extLst>
            </p:cNvPr>
            <p:cNvCxnSpPr>
              <a:cxnSpLocks/>
              <a:stCxn id="1164" idx="4"/>
              <a:endCxn id="1155" idx="0"/>
            </p:cNvCxnSpPr>
            <p:nvPr/>
          </p:nvCxnSpPr>
          <p:spPr>
            <a:xfrm flipH="1">
              <a:off x="7402136" y="2678248"/>
              <a:ext cx="837021" cy="146554"/>
            </a:xfrm>
            <a:prstGeom prst="line">
              <a:avLst/>
            </a:prstGeom>
          </p:spPr>
          <p:style>
            <a:lnRef idx="1">
              <a:schemeClr val="dk1"/>
            </a:lnRef>
            <a:fillRef idx="0">
              <a:schemeClr val="dk1"/>
            </a:fillRef>
            <a:effectRef idx="0">
              <a:schemeClr val="dk1"/>
            </a:effectRef>
            <a:fontRef idx="minor">
              <a:schemeClr val="tx1"/>
            </a:fontRef>
          </p:style>
        </p:cxnSp>
        <p:sp>
          <p:nvSpPr>
            <p:cNvPr id="1155" name="Oval 1154">
              <a:extLst>
                <a:ext uri="{FF2B5EF4-FFF2-40B4-BE49-F238E27FC236}">
                  <a16:creationId xmlns:a16="http://schemas.microsoft.com/office/drawing/2014/main" id="{B847811B-3BC9-B210-122D-DD9C063F69E5}"/>
                </a:ext>
              </a:extLst>
            </p:cNvPr>
            <p:cNvSpPr/>
            <p:nvPr/>
          </p:nvSpPr>
          <p:spPr>
            <a:xfrm>
              <a:off x="7194884" y="2824802"/>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56" name="TextBox 1155">
                  <a:extLst>
                    <a:ext uri="{FF2B5EF4-FFF2-40B4-BE49-F238E27FC236}">
                      <a16:creationId xmlns:a16="http://schemas.microsoft.com/office/drawing/2014/main" id="{40D9905E-8AF4-1378-2136-A36849781ACD}"/>
                    </a:ext>
                  </a:extLst>
                </p:cNvPr>
                <p:cNvSpPr txBox="1"/>
                <p:nvPr/>
              </p:nvSpPr>
              <p:spPr>
                <a:xfrm>
                  <a:off x="7202333" y="2888826"/>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solidFill>
                              <a:schemeClr val="bg1"/>
                            </a:solidFill>
                            <a:latin typeface="Cambria Math" panose="02040503050406030204" pitchFamily="18" charset="0"/>
                          </a:rPr>
                          <m:t>T</m:t>
                        </m:r>
                        <m:r>
                          <m:rPr>
                            <m:sty m:val="p"/>
                          </m:rPr>
                          <a:rPr lang="nl-NL" sz="700" b="0" i="1" smtClean="0">
                            <a:solidFill>
                              <a:schemeClr val="bg1"/>
                            </a:solidFill>
                            <a:latin typeface="Cambria Math" panose="02040503050406030204" pitchFamily="18" charset="0"/>
                          </a:rPr>
                          <m:t>T</m:t>
                        </m:r>
                      </m:oMath>
                    </m:oMathPara>
                  </a14:m>
                  <a:endParaRPr lang="en-GB" sz="700" dirty="0">
                    <a:solidFill>
                      <a:schemeClr val="bg1"/>
                    </a:solidFill>
                  </a:endParaRPr>
                </a:p>
              </p:txBody>
            </p:sp>
          </mc:Choice>
          <mc:Fallback xmlns="">
            <p:sp>
              <p:nvSpPr>
                <p:cNvPr id="109" name="TextBox 108">
                  <a:extLst>
                    <a:ext uri="{FF2B5EF4-FFF2-40B4-BE49-F238E27FC236}">
                      <a16:creationId xmlns:a16="http://schemas.microsoft.com/office/drawing/2014/main" id="{F87A26D3-CCD6-5DA5-C839-31AA7BB8A69B}"/>
                    </a:ext>
                  </a:extLst>
                </p:cNvPr>
                <p:cNvSpPr txBox="1">
                  <a:spLocks noRot="1" noChangeAspect="1" noMove="1" noResize="1" noEditPoints="1" noAdjustHandles="1" noChangeArrowheads="1" noChangeShapeType="1" noTextEdit="1"/>
                </p:cNvSpPr>
                <p:nvPr/>
              </p:nvSpPr>
              <p:spPr>
                <a:xfrm>
                  <a:off x="7202333" y="2888826"/>
                  <a:ext cx="420512" cy="242476"/>
                </a:xfrm>
                <a:prstGeom prst="rect">
                  <a:avLst/>
                </a:prstGeom>
                <a:blipFill>
                  <a:blip r:embed="rId15"/>
                  <a:stretch>
                    <a:fillRect/>
                  </a:stretch>
                </a:blipFill>
              </p:spPr>
              <p:txBody>
                <a:bodyPr/>
                <a:lstStyle/>
                <a:p>
                  <a:r>
                    <a:rPr lang="en-GB">
                      <a:noFill/>
                    </a:rPr>
                    <a:t> </a:t>
                  </a:r>
                </a:p>
              </p:txBody>
            </p:sp>
          </mc:Fallback>
        </mc:AlternateContent>
        <p:sp>
          <p:nvSpPr>
            <p:cNvPr id="1157" name="Oval 1156">
              <a:extLst>
                <a:ext uri="{FF2B5EF4-FFF2-40B4-BE49-F238E27FC236}">
                  <a16:creationId xmlns:a16="http://schemas.microsoft.com/office/drawing/2014/main" id="{E6A494FA-0C75-9253-4CD0-69DA4D894FCC}"/>
                </a:ext>
              </a:extLst>
            </p:cNvPr>
            <p:cNvSpPr/>
            <p:nvPr/>
          </p:nvSpPr>
          <p:spPr>
            <a:xfrm>
              <a:off x="8031720" y="2813032"/>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58" name="TextBox 1157">
                  <a:extLst>
                    <a:ext uri="{FF2B5EF4-FFF2-40B4-BE49-F238E27FC236}">
                      <a16:creationId xmlns:a16="http://schemas.microsoft.com/office/drawing/2014/main" id="{DEF15E29-B928-A37B-B08D-1AFF747DB296}"/>
                    </a:ext>
                  </a:extLst>
                </p:cNvPr>
                <p:cNvSpPr txBox="1"/>
                <p:nvPr/>
              </p:nvSpPr>
              <p:spPr>
                <a:xfrm>
                  <a:off x="8039167" y="2877057"/>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latin typeface="Cambria Math" panose="02040503050406030204" pitchFamily="18" charset="0"/>
                          </a:rPr>
                          <m:t>T</m:t>
                        </m:r>
                        <m:r>
                          <m:rPr>
                            <m:sty m:val="p"/>
                          </m:rPr>
                          <a:rPr lang="nl-NL" sz="700" b="0" i="1" smtClean="0">
                            <a:latin typeface="Cambria Math" panose="02040503050406030204" pitchFamily="18" charset="0"/>
                          </a:rPr>
                          <m:t>C</m:t>
                        </m:r>
                      </m:oMath>
                    </m:oMathPara>
                  </a14:m>
                  <a:endParaRPr lang="en-GB" sz="700" dirty="0"/>
                </a:p>
              </p:txBody>
            </p:sp>
          </mc:Choice>
          <mc:Fallback xmlns="">
            <p:sp>
              <p:nvSpPr>
                <p:cNvPr id="112" name="TextBox 111">
                  <a:extLst>
                    <a:ext uri="{FF2B5EF4-FFF2-40B4-BE49-F238E27FC236}">
                      <a16:creationId xmlns:a16="http://schemas.microsoft.com/office/drawing/2014/main" id="{B1530A8C-524A-47EA-4E00-2E963C1C41CA}"/>
                    </a:ext>
                  </a:extLst>
                </p:cNvPr>
                <p:cNvSpPr txBox="1">
                  <a:spLocks noRot="1" noChangeAspect="1" noMove="1" noResize="1" noEditPoints="1" noAdjustHandles="1" noChangeArrowheads="1" noChangeShapeType="1" noTextEdit="1"/>
                </p:cNvSpPr>
                <p:nvPr/>
              </p:nvSpPr>
              <p:spPr>
                <a:xfrm>
                  <a:off x="8039167" y="2877057"/>
                  <a:ext cx="420512" cy="242476"/>
                </a:xfrm>
                <a:prstGeom prst="rect">
                  <a:avLst/>
                </a:prstGeom>
                <a:blipFill>
                  <a:blip r:embed="rId16"/>
                  <a:stretch>
                    <a:fillRect/>
                  </a:stretch>
                </a:blipFill>
              </p:spPr>
              <p:txBody>
                <a:bodyPr/>
                <a:lstStyle/>
                <a:p>
                  <a:r>
                    <a:rPr lang="en-GB">
                      <a:noFill/>
                    </a:rPr>
                    <a:t> </a:t>
                  </a:r>
                </a:p>
              </p:txBody>
            </p:sp>
          </mc:Fallback>
        </mc:AlternateContent>
        <p:sp>
          <p:nvSpPr>
            <p:cNvPr id="1159" name="Oval 1158">
              <a:extLst>
                <a:ext uri="{FF2B5EF4-FFF2-40B4-BE49-F238E27FC236}">
                  <a16:creationId xmlns:a16="http://schemas.microsoft.com/office/drawing/2014/main" id="{60E11EAF-287B-4A67-B01B-AA895F3D9E74}"/>
                </a:ext>
              </a:extLst>
            </p:cNvPr>
            <p:cNvSpPr/>
            <p:nvPr/>
          </p:nvSpPr>
          <p:spPr>
            <a:xfrm>
              <a:off x="8849492" y="2806742"/>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60" name="TextBox 1159">
                  <a:extLst>
                    <a:ext uri="{FF2B5EF4-FFF2-40B4-BE49-F238E27FC236}">
                      <a16:creationId xmlns:a16="http://schemas.microsoft.com/office/drawing/2014/main" id="{60579CC1-3902-F985-E9F6-154FC8A2C0E2}"/>
                    </a:ext>
                  </a:extLst>
                </p:cNvPr>
                <p:cNvSpPr txBox="1"/>
                <p:nvPr/>
              </p:nvSpPr>
              <p:spPr>
                <a:xfrm>
                  <a:off x="8856939" y="2870766"/>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latin typeface="Cambria Math" panose="02040503050406030204" pitchFamily="18" charset="0"/>
                          </a:rPr>
                          <m:t>H</m:t>
                        </m:r>
                        <m:r>
                          <m:rPr>
                            <m:sty m:val="p"/>
                          </m:rPr>
                          <a:rPr lang="nl-NL" sz="700" b="0" i="1" smtClean="0">
                            <a:latin typeface="Cambria Math" panose="02040503050406030204" pitchFamily="18" charset="0"/>
                          </a:rPr>
                          <m:t>E</m:t>
                        </m:r>
                      </m:oMath>
                    </m:oMathPara>
                  </a14:m>
                  <a:endParaRPr lang="en-GB" sz="700" dirty="0"/>
                </a:p>
              </p:txBody>
            </p:sp>
          </mc:Choice>
          <mc:Fallback xmlns="">
            <p:sp>
              <p:nvSpPr>
                <p:cNvPr id="114" name="TextBox 113">
                  <a:extLst>
                    <a:ext uri="{FF2B5EF4-FFF2-40B4-BE49-F238E27FC236}">
                      <a16:creationId xmlns:a16="http://schemas.microsoft.com/office/drawing/2014/main" id="{A9840FE6-0E49-1F9D-399C-C981F4C5C48F}"/>
                    </a:ext>
                  </a:extLst>
                </p:cNvPr>
                <p:cNvSpPr txBox="1">
                  <a:spLocks noRot="1" noChangeAspect="1" noMove="1" noResize="1" noEditPoints="1" noAdjustHandles="1" noChangeArrowheads="1" noChangeShapeType="1" noTextEdit="1"/>
                </p:cNvSpPr>
                <p:nvPr/>
              </p:nvSpPr>
              <p:spPr>
                <a:xfrm>
                  <a:off x="8856939" y="2870766"/>
                  <a:ext cx="420512" cy="242476"/>
                </a:xfrm>
                <a:prstGeom prst="rect">
                  <a:avLst/>
                </a:prstGeom>
                <a:blipFill>
                  <a:blip r:embed="rId17"/>
                  <a:stretch>
                    <a:fillRect/>
                  </a:stretch>
                </a:blipFill>
              </p:spPr>
              <p:txBody>
                <a:bodyPr/>
                <a:lstStyle/>
                <a:p>
                  <a:r>
                    <a:rPr lang="en-GB">
                      <a:noFill/>
                    </a:rPr>
                    <a:t> </a:t>
                  </a:r>
                </a:p>
              </p:txBody>
            </p:sp>
          </mc:Fallback>
        </mc:AlternateContent>
        <p:cxnSp>
          <p:nvCxnSpPr>
            <p:cNvPr id="1161" name="Straight Connector 1160">
              <a:extLst>
                <a:ext uri="{FF2B5EF4-FFF2-40B4-BE49-F238E27FC236}">
                  <a16:creationId xmlns:a16="http://schemas.microsoft.com/office/drawing/2014/main" id="{5D18A513-BC10-F796-4D68-438C464B2527}"/>
                </a:ext>
              </a:extLst>
            </p:cNvPr>
            <p:cNvCxnSpPr>
              <a:cxnSpLocks/>
              <a:stCxn id="1164" idx="4"/>
              <a:endCxn id="1157" idx="0"/>
            </p:cNvCxnSpPr>
            <p:nvPr/>
          </p:nvCxnSpPr>
          <p:spPr>
            <a:xfrm flipH="1">
              <a:off x="8238972" y="2678248"/>
              <a:ext cx="186" cy="134784"/>
            </a:xfrm>
            <a:prstGeom prst="line">
              <a:avLst/>
            </a:prstGeom>
          </p:spPr>
          <p:style>
            <a:lnRef idx="1">
              <a:schemeClr val="dk1"/>
            </a:lnRef>
            <a:fillRef idx="0">
              <a:schemeClr val="dk1"/>
            </a:fillRef>
            <a:effectRef idx="0">
              <a:schemeClr val="dk1"/>
            </a:effectRef>
            <a:fontRef idx="minor">
              <a:schemeClr val="tx1"/>
            </a:fontRef>
          </p:style>
        </p:cxnSp>
        <p:cxnSp>
          <p:nvCxnSpPr>
            <p:cNvPr id="1162" name="Straight Connector 1161">
              <a:extLst>
                <a:ext uri="{FF2B5EF4-FFF2-40B4-BE49-F238E27FC236}">
                  <a16:creationId xmlns:a16="http://schemas.microsoft.com/office/drawing/2014/main" id="{FFB1EB68-A961-7FE6-3F36-7355BB9D80BD}"/>
                </a:ext>
              </a:extLst>
            </p:cNvPr>
            <p:cNvCxnSpPr>
              <a:cxnSpLocks/>
              <a:stCxn id="1164" idx="4"/>
              <a:endCxn id="1159" idx="0"/>
            </p:cNvCxnSpPr>
            <p:nvPr/>
          </p:nvCxnSpPr>
          <p:spPr>
            <a:xfrm>
              <a:off x="8239158" y="2678248"/>
              <a:ext cx="817587" cy="128494"/>
            </a:xfrm>
            <a:prstGeom prst="line">
              <a:avLst/>
            </a:prstGeom>
          </p:spPr>
          <p:style>
            <a:lnRef idx="1">
              <a:schemeClr val="dk1"/>
            </a:lnRef>
            <a:fillRef idx="0">
              <a:schemeClr val="dk1"/>
            </a:fillRef>
            <a:effectRef idx="0">
              <a:schemeClr val="dk1"/>
            </a:effectRef>
            <a:fontRef idx="minor">
              <a:schemeClr val="tx1"/>
            </a:fontRef>
          </p:style>
        </p:cxnSp>
        <p:cxnSp>
          <p:nvCxnSpPr>
            <p:cNvPr id="1163" name="Straight Connector 1162">
              <a:extLst>
                <a:ext uri="{FF2B5EF4-FFF2-40B4-BE49-F238E27FC236}">
                  <a16:creationId xmlns:a16="http://schemas.microsoft.com/office/drawing/2014/main" id="{B81632CD-27CD-5A21-6C5F-1E50626AE2AE}"/>
                </a:ext>
              </a:extLst>
            </p:cNvPr>
            <p:cNvCxnSpPr>
              <a:cxnSpLocks/>
              <a:stCxn id="1167" idx="0"/>
              <a:endCxn id="1155" idx="4"/>
            </p:cNvCxnSpPr>
            <p:nvPr/>
          </p:nvCxnSpPr>
          <p:spPr>
            <a:xfrm flipV="1">
              <a:off x="7393305" y="3195266"/>
              <a:ext cx="8831" cy="113092"/>
            </a:xfrm>
            <a:prstGeom prst="line">
              <a:avLst/>
            </a:prstGeom>
          </p:spPr>
          <p:style>
            <a:lnRef idx="1">
              <a:schemeClr val="dk1"/>
            </a:lnRef>
            <a:fillRef idx="0">
              <a:schemeClr val="dk1"/>
            </a:fillRef>
            <a:effectRef idx="0">
              <a:schemeClr val="dk1"/>
            </a:effectRef>
            <a:fontRef idx="minor">
              <a:schemeClr val="tx1"/>
            </a:fontRef>
          </p:style>
        </p:cxnSp>
        <p:sp>
          <p:nvSpPr>
            <p:cNvPr id="1164" name="Oval 1163">
              <a:extLst>
                <a:ext uri="{FF2B5EF4-FFF2-40B4-BE49-F238E27FC236}">
                  <a16:creationId xmlns:a16="http://schemas.microsoft.com/office/drawing/2014/main" id="{3A0EBA81-4E88-C98B-2AF1-D26084655EE7}"/>
                </a:ext>
              </a:extLst>
            </p:cNvPr>
            <p:cNvSpPr/>
            <p:nvPr/>
          </p:nvSpPr>
          <p:spPr>
            <a:xfrm>
              <a:off x="8031906" y="2307784"/>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65" name="TextBox 1164">
                  <a:extLst>
                    <a:ext uri="{FF2B5EF4-FFF2-40B4-BE49-F238E27FC236}">
                      <a16:creationId xmlns:a16="http://schemas.microsoft.com/office/drawing/2014/main" id="{7F24C523-4023-7479-2D47-A6D7BE054DF4}"/>
                    </a:ext>
                  </a:extLst>
                </p:cNvPr>
                <p:cNvSpPr txBox="1"/>
                <p:nvPr/>
              </p:nvSpPr>
              <p:spPr>
                <a:xfrm>
                  <a:off x="7926900" y="2381235"/>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nl-NL" sz="700" b="0" i="1" smtClean="0">
                            <a:solidFill>
                              <a:schemeClr val="bg1"/>
                            </a:solidFill>
                            <a:latin typeface="Cambria Math" panose="02040503050406030204" pitchFamily="18" charset="0"/>
                          </a:rPr>
                          <m:t>( )</m:t>
                        </m:r>
                      </m:oMath>
                    </m:oMathPara>
                  </a14:m>
                  <a:endParaRPr/>
                </a:p>
              </p:txBody>
            </p:sp>
          </mc:Choice>
          <mc:Fallback xmlns="">
            <p:sp>
              <p:nvSpPr>
                <p:cNvPr id="119" name="TextBox 118">
                  <a:extLst>
                    <a:ext uri="{FF2B5EF4-FFF2-40B4-BE49-F238E27FC236}">
                      <a16:creationId xmlns:a16="http://schemas.microsoft.com/office/drawing/2014/main" id="{211E10A0-F776-73AC-3955-3C4B8C809BF1}"/>
                    </a:ext>
                  </a:extLst>
                </p:cNvPr>
                <p:cNvSpPr txBox="1">
                  <a:spLocks noRot="1" noChangeAspect="1" noMove="1" noResize="1" noEditPoints="1" noAdjustHandles="1" noChangeArrowheads="1" noChangeShapeType="1" noTextEdit="1"/>
                </p:cNvSpPr>
                <p:nvPr/>
              </p:nvSpPr>
              <p:spPr>
                <a:xfrm>
                  <a:off x="7926900" y="2381235"/>
                  <a:ext cx="648788" cy="242476"/>
                </a:xfrm>
                <a:prstGeom prst="rect">
                  <a:avLst/>
                </a:prstGeom>
                <a:blipFill>
                  <a:blip r:embed="rId18"/>
                  <a:stretch>
                    <a:fillRect b="-12500"/>
                  </a:stretch>
                </a:blipFill>
              </p:spPr>
              <p:txBody>
                <a:bodyPr/>
                <a:lstStyle/>
                <a:p>
                  <a:r>
                    <a:rPr lang="en-GB">
                      <a:noFill/>
                    </a:rPr>
                    <a:t> </a:t>
                  </a:r>
                </a:p>
              </p:txBody>
            </p:sp>
          </mc:Fallback>
        </mc:AlternateContent>
        <p:cxnSp>
          <p:nvCxnSpPr>
            <p:cNvPr id="1166" name="Straight Connector 1165">
              <a:extLst>
                <a:ext uri="{FF2B5EF4-FFF2-40B4-BE49-F238E27FC236}">
                  <a16:creationId xmlns:a16="http://schemas.microsoft.com/office/drawing/2014/main" id="{25843785-E56F-1C4B-B159-58D218AFEE84}"/>
                </a:ext>
              </a:extLst>
            </p:cNvPr>
            <p:cNvCxnSpPr>
              <a:cxnSpLocks/>
              <a:stCxn id="1143" idx="4"/>
              <a:endCxn id="1164" idx="0"/>
            </p:cNvCxnSpPr>
            <p:nvPr/>
          </p:nvCxnSpPr>
          <p:spPr>
            <a:xfrm flipH="1">
              <a:off x="8239158" y="2099121"/>
              <a:ext cx="1340142" cy="208663"/>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67" name="Oval 1166">
                  <a:extLst>
                    <a:ext uri="{FF2B5EF4-FFF2-40B4-BE49-F238E27FC236}">
                      <a16:creationId xmlns:a16="http://schemas.microsoft.com/office/drawing/2014/main" id="{5974B606-E606-D305-4E79-1F541FA5152A}"/>
                    </a:ext>
                  </a:extLst>
                </p:cNvPr>
                <p:cNvSpPr/>
                <p:nvPr/>
              </p:nvSpPr>
              <p:spPr>
                <a:xfrm>
                  <a:off x="7186053" y="3308358"/>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14:m>
                    <m:oMathPara xmlns:m="http://schemas.openxmlformats.org/officeDocument/2006/math">
                      <m:oMathParaPr>
                        <m:jc m:val="center"/>
                      </m:oMathParaPr>
                      <m:oMath xmlns:m="http://schemas.openxmlformats.org/officeDocument/2006/math">
                        <m:r>
                          <a:rPr lang="nl-NL" sz="700" i="1" smtClean="0">
                            <a:latin typeface="Cambria Math" panose="02040503050406030204" pitchFamily="18" charset="0"/>
                          </a:rPr>
                          <m:t>+</m:t>
                        </m:r>
                      </m:oMath>
                    </m:oMathPara>
                  </a14:m>
                  <a:endParaRPr lang="en-GB" sz="700" dirty="0"/>
                </a:p>
              </p:txBody>
            </p:sp>
          </mc:Choice>
          <mc:Fallback xmlns="">
            <p:sp>
              <p:nvSpPr>
                <p:cNvPr id="121" name="Oval 120">
                  <a:extLst>
                    <a:ext uri="{FF2B5EF4-FFF2-40B4-BE49-F238E27FC236}">
                      <a16:creationId xmlns:a16="http://schemas.microsoft.com/office/drawing/2014/main" id="{C00CF082-E1A2-107A-09D0-B955849866F1}"/>
                    </a:ext>
                  </a:extLst>
                </p:cNvPr>
                <p:cNvSpPr>
                  <a:spLocks noRot="1" noChangeAspect="1" noMove="1" noResize="1" noEditPoints="1" noAdjustHandles="1" noChangeArrowheads="1" noChangeShapeType="1" noTextEdit="1"/>
                </p:cNvSpPr>
                <p:nvPr/>
              </p:nvSpPr>
              <p:spPr>
                <a:xfrm>
                  <a:off x="7186053" y="3308358"/>
                  <a:ext cx="414504" cy="370464"/>
                </a:xfrm>
                <a:prstGeom prst="ellipse">
                  <a:avLst/>
                </a:prstGeom>
                <a:blipFill>
                  <a:blip r:embed="rId19"/>
                  <a:stretch>
                    <a:fillRect/>
                  </a:stretch>
                </a:blipFill>
              </p:spPr>
              <p:txBody>
                <a:bodyPr/>
                <a:lstStyle/>
                <a:p>
                  <a:r>
                    <a:rPr lang="en-GB">
                      <a:noFill/>
                    </a:rPr>
                    <a:t> </a:t>
                  </a:r>
                </a:p>
              </p:txBody>
            </p:sp>
          </mc:Fallback>
        </mc:AlternateContent>
        <p:sp>
          <p:nvSpPr>
            <p:cNvPr id="1168" name="Oval 1167">
              <a:extLst>
                <a:ext uri="{FF2B5EF4-FFF2-40B4-BE49-F238E27FC236}">
                  <a16:creationId xmlns:a16="http://schemas.microsoft.com/office/drawing/2014/main" id="{4EC056F6-0C94-A36D-E1F6-C6F641FD5C22}"/>
                </a:ext>
              </a:extLst>
            </p:cNvPr>
            <p:cNvSpPr/>
            <p:nvPr/>
          </p:nvSpPr>
          <p:spPr>
            <a:xfrm>
              <a:off x="6651102" y="3847329"/>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69" name="TextBox 1168">
                  <a:extLst>
                    <a:ext uri="{FF2B5EF4-FFF2-40B4-BE49-F238E27FC236}">
                      <a16:creationId xmlns:a16="http://schemas.microsoft.com/office/drawing/2014/main" id="{4CF67AE4-0FEF-EF6B-B4B8-6112701BF73C}"/>
                    </a:ext>
                  </a:extLst>
                </p:cNvPr>
                <p:cNvSpPr txBox="1"/>
                <p:nvPr/>
              </p:nvSpPr>
              <p:spPr>
                <a:xfrm>
                  <a:off x="6546096" y="3920780"/>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a:latin typeface="Cambria Math" panose="02040503050406030204" pitchFamily="18" charset="0"/>
                          </a:rPr>
                          <m:t>l</m:t>
                        </m:r>
                        <m:r>
                          <m:rPr>
                            <m:sty m:val="p"/>
                          </m:rPr>
                          <a:rPr lang="nl-NL" sz="700" b="0" i="1" smtClean="0">
                            <a:latin typeface="Cambria Math" panose="02040503050406030204" pitchFamily="18" charset="0"/>
                          </a:rPr>
                          <m:t>og</m:t>
                        </m:r>
                        <m:r>
                          <a:rPr lang="nl-NL" sz="700" b="0" i="1" smtClean="0">
                            <a:latin typeface="Cambria Math" panose="02040503050406030204" pitchFamily="18" charset="0"/>
                          </a:rPr>
                          <m:t>( )</m:t>
                        </m:r>
                      </m:oMath>
                    </m:oMathPara>
                  </a14:m>
                  <a:endParaRPr/>
                </a:p>
              </p:txBody>
            </p:sp>
          </mc:Choice>
          <mc:Fallback xmlns="">
            <p:sp>
              <p:nvSpPr>
                <p:cNvPr id="123" name="TextBox 122">
                  <a:extLst>
                    <a:ext uri="{FF2B5EF4-FFF2-40B4-BE49-F238E27FC236}">
                      <a16:creationId xmlns:a16="http://schemas.microsoft.com/office/drawing/2014/main" id="{5689EE29-A720-712F-9972-ABCBBFB1201A}"/>
                    </a:ext>
                  </a:extLst>
                </p:cNvPr>
                <p:cNvSpPr txBox="1">
                  <a:spLocks noRot="1" noChangeAspect="1" noMove="1" noResize="1" noEditPoints="1" noAdjustHandles="1" noChangeArrowheads="1" noChangeShapeType="1" noTextEdit="1"/>
                </p:cNvSpPr>
                <p:nvPr/>
              </p:nvSpPr>
              <p:spPr>
                <a:xfrm>
                  <a:off x="6546096" y="3920780"/>
                  <a:ext cx="648788" cy="242476"/>
                </a:xfrm>
                <a:prstGeom prst="rect">
                  <a:avLst/>
                </a:prstGeom>
                <a:blipFill>
                  <a:blip r:embed="rId20"/>
                  <a:stretch>
                    <a:fillRect/>
                  </a:stretch>
                </a:blipFill>
              </p:spPr>
              <p:txBody>
                <a:bodyPr/>
                <a:lstStyle/>
                <a:p>
                  <a:r>
                    <a:rPr lang="en-GB">
                      <a:noFill/>
                    </a:rPr>
                    <a:t> </a:t>
                  </a:r>
                </a:p>
              </p:txBody>
            </p:sp>
          </mc:Fallback>
        </mc:AlternateContent>
        <p:sp>
          <p:nvSpPr>
            <p:cNvPr id="1170" name="Oval 1169">
              <a:extLst>
                <a:ext uri="{FF2B5EF4-FFF2-40B4-BE49-F238E27FC236}">
                  <a16:creationId xmlns:a16="http://schemas.microsoft.com/office/drawing/2014/main" id="{F17EEB64-6B43-E034-03E4-FACCC33DF726}"/>
                </a:ext>
              </a:extLst>
            </p:cNvPr>
            <p:cNvSpPr/>
            <p:nvPr/>
          </p:nvSpPr>
          <p:spPr>
            <a:xfrm>
              <a:off x="7475975" y="3833766"/>
              <a:ext cx="427958"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71" name="TextBox 1170">
                  <a:extLst>
                    <a:ext uri="{FF2B5EF4-FFF2-40B4-BE49-F238E27FC236}">
                      <a16:creationId xmlns:a16="http://schemas.microsoft.com/office/drawing/2014/main" id="{84FB0117-8734-4EE7-ADBA-58A31BC4D5CA}"/>
                    </a:ext>
                  </a:extLst>
                </p:cNvPr>
                <p:cNvSpPr txBox="1"/>
                <p:nvPr/>
              </p:nvSpPr>
              <p:spPr>
                <a:xfrm>
                  <a:off x="7369283" y="3914620"/>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nl-NL" sz="700" b="0" i="1" smtClean="0">
                                <a:latin typeface="Cambria Math" panose="02040503050406030204" pitchFamily="18" charset="0"/>
                              </a:rPr>
                            </m:ctrlPr>
                          </m:sSupPr>
                          <m:e>
                            <m:r>
                              <a:rPr lang="nl-NL" sz="700" b="0" i="1" smtClean="0">
                                <a:latin typeface="Cambria Math" panose="02040503050406030204" pitchFamily="18" charset="0"/>
                              </a:rPr>
                              <m:t>( )</m:t>
                            </m:r>
                          </m:e>
                          <m:sup>
                            <m:r>
                              <a:rPr lang="nl-NL" sz="700" b="0" i="1" smtClean="0">
                                <a:latin typeface="Cambria Math" panose="02040503050406030204" pitchFamily="18" charset="0"/>
                              </a:rPr>
                              <m:t>2</m:t>
                            </m:r>
                          </m:sup>
                        </m:sSup>
                      </m:oMath>
                    </m:oMathPara>
                  </a14:m>
                  <a:endParaRPr/>
                </a:p>
              </p:txBody>
            </p:sp>
          </mc:Choice>
          <mc:Fallback xmlns="">
            <p:sp>
              <p:nvSpPr>
                <p:cNvPr id="125" name="TextBox 124">
                  <a:extLst>
                    <a:ext uri="{FF2B5EF4-FFF2-40B4-BE49-F238E27FC236}">
                      <a16:creationId xmlns:a16="http://schemas.microsoft.com/office/drawing/2014/main" id="{C72A806C-422B-5C1A-EEB9-C55D8FBD83EE}"/>
                    </a:ext>
                  </a:extLst>
                </p:cNvPr>
                <p:cNvSpPr txBox="1">
                  <a:spLocks noRot="1" noChangeAspect="1" noMove="1" noResize="1" noEditPoints="1" noAdjustHandles="1" noChangeArrowheads="1" noChangeShapeType="1" noTextEdit="1"/>
                </p:cNvSpPr>
                <p:nvPr/>
              </p:nvSpPr>
              <p:spPr>
                <a:xfrm>
                  <a:off x="7369283" y="3914620"/>
                  <a:ext cx="648788" cy="242476"/>
                </a:xfrm>
                <a:prstGeom prst="rect">
                  <a:avLst/>
                </a:prstGeom>
                <a:blipFill>
                  <a:blip r:embed="rId21"/>
                  <a:stretch>
                    <a:fillRect b="-5882"/>
                  </a:stretch>
                </a:blipFill>
              </p:spPr>
              <p:txBody>
                <a:bodyPr/>
                <a:lstStyle/>
                <a:p>
                  <a:r>
                    <a:rPr lang="en-GB">
                      <a:noFill/>
                    </a:rPr>
                    <a:t> </a:t>
                  </a:r>
                </a:p>
              </p:txBody>
            </p:sp>
          </mc:Fallback>
        </mc:AlternateContent>
        <p:sp>
          <p:nvSpPr>
            <p:cNvPr id="1172" name="Oval 1171">
              <a:extLst>
                <a:ext uri="{FF2B5EF4-FFF2-40B4-BE49-F238E27FC236}">
                  <a16:creationId xmlns:a16="http://schemas.microsoft.com/office/drawing/2014/main" id="{CC6A621E-FD7B-2CB0-3B42-6279A9423488}"/>
                </a:ext>
              </a:extLst>
            </p:cNvPr>
            <p:cNvSpPr/>
            <p:nvPr/>
          </p:nvSpPr>
          <p:spPr>
            <a:xfrm>
              <a:off x="8320064" y="3845108"/>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73" name="TextBox 1172">
                  <a:extLst>
                    <a:ext uri="{FF2B5EF4-FFF2-40B4-BE49-F238E27FC236}">
                      <a16:creationId xmlns:a16="http://schemas.microsoft.com/office/drawing/2014/main" id="{E93AA21C-BB46-AB61-A746-03E7E9787193}"/>
                    </a:ext>
                  </a:extLst>
                </p:cNvPr>
                <p:cNvSpPr txBox="1"/>
                <p:nvPr/>
              </p:nvSpPr>
              <p:spPr>
                <a:xfrm>
                  <a:off x="8204888" y="3850969"/>
                  <a:ext cx="648788" cy="37715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GB" sz="700" i="1" dirty="0" smtClean="0">
                                <a:solidFill>
                                  <a:schemeClr val="bg1"/>
                                </a:solidFill>
                                <a:latin typeface="Cambria Math" panose="02040503050406030204" pitchFamily="18" charset="0"/>
                              </a:rPr>
                            </m:ctrlPr>
                          </m:fPr>
                          <m:num>
                            <m:sSup>
                              <m:sSupPr>
                                <m:ctrlPr>
                                  <a:rPr lang="nl-NL" sz="700" i="1">
                                    <a:solidFill>
                                      <a:schemeClr val="bg1"/>
                                    </a:solidFill>
                                    <a:latin typeface="Cambria Math" panose="02040503050406030204" pitchFamily="18" charset="0"/>
                                  </a:rPr>
                                </m:ctrlPr>
                              </m:sSupPr>
                              <m:e>
                                <m:r>
                                  <a:rPr lang="nl-NL" sz="700" i="1">
                                    <a:solidFill>
                                      <a:schemeClr val="bg1"/>
                                    </a:solidFill>
                                    <a:latin typeface="Cambria Math" panose="02040503050406030204" pitchFamily="18" charset="0"/>
                                  </a:rPr>
                                  <m:t>( )</m:t>
                                </m:r>
                              </m:e>
                              <m:sup>
                                <m:r>
                                  <a:rPr lang="nl-NL" sz="700" i="1" smtClean="0">
                                    <a:solidFill>
                                      <a:schemeClr val="bg1"/>
                                    </a:solidFill>
                                    <a:latin typeface="Cambria Math" panose="02040503050406030204" pitchFamily="18" charset="0"/>
                                    <a:ea typeface="Cambria Math" panose="02040503050406030204" pitchFamily="18" charset="0"/>
                                  </a:rPr>
                                  <m:t>𝜆</m:t>
                                </m:r>
                              </m:sup>
                            </m:sSup>
                            <m:r>
                              <a:rPr lang="nl-NL" sz="700" b="0" i="1" smtClean="0">
                                <a:solidFill>
                                  <a:schemeClr val="bg1"/>
                                </a:solidFill>
                                <a:latin typeface="Cambria Math" panose="02040503050406030204" pitchFamily="18" charset="0"/>
                              </a:rPr>
                              <m:t>−1</m:t>
                            </m:r>
                          </m:num>
                          <m:den>
                            <m:r>
                              <a:rPr lang="en-GB" sz="700" i="1" dirty="0" smtClean="0">
                                <a:solidFill>
                                  <a:schemeClr val="bg1"/>
                                </a:solidFill>
                                <a:latin typeface="Cambria Math" panose="02040503050406030204" pitchFamily="18" charset="0"/>
                                <a:ea typeface="Cambria Math" panose="02040503050406030204" pitchFamily="18" charset="0"/>
                              </a:rPr>
                              <m:t>𝜆</m:t>
                            </m:r>
                          </m:den>
                        </m:f>
                      </m:oMath>
                    </m:oMathPara>
                  </a14:m>
                  <a:endParaRPr/>
                </a:p>
              </p:txBody>
            </p:sp>
          </mc:Choice>
          <mc:Fallback xmlns="">
            <p:sp>
              <p:nvSpPr>
                <p:cNvPr id="127" name="TextBox 126">
                  <a:extLst>
                    <a:ext uri="{FF2B5EF4-FFF2-40B4-BE49-F238E27FC236}">
                      <a16:creationId xmlns:a16="http://schemas.microsoft.com/office/drawing/2014/main" id="{FB2A5ECA-7D78-A9A4-E529-340A1DE2E450}"/>
                    </a:ext>
                  </a:extLst>
                </p:cNvPr>
                <p:cNvSpPr txBox="1">
                  <a:spLocks noRot="1" noChangeAspect="1" noMove="1" noResize="1" noEditPoints="1" noAdjustHandles="1" noChangeArrowheads="1" noChangeShapeType="1" noTextEdit="1"/>
                </p:cNvSpPr>
                <p:nvPr/>
              </p:nvSpPr>
              <p:spPr>
                <a:xfrm>
                  <a:off x="8204888" y="3850969"/>
                  <a:ext cx="648788" cy="377155"/>
                </a:xfrm>
                <a:prstGeom prst="rect">
                  <a:avLst/>
                </a:prstGeom>
                <a:blipFill>
                  <a:blip r:embed="rId22"/>
                  <a:stretch>
                    <a:fillRect/>
                  </a:stretch>
                </a:blipFill>
              </p:spPr>
              <p:txBody>
                <a:bodyPr/>
                <a:lstStyle/>
                <a:p>
                  <a:r>
                    <a:rPr lang="en-GB">
                      <a:noFill/>
                    </a:rPr>
                    <a:t> </a:t>
                  </a:r>
                </a:p>
              </p:txBody>
            </p:sp>
          </mc:Fallback>
        </mc:AlternateContent>
        <p:cxnSp>
          <p:nvCxnSpPr>
            <p:cNvPr id="1174" name="Straight Connector 1173">
              <a:extLst>
                <a:ext uri="{FF2B5EF4-FFF2-40B4-BE49-F238E27FC236}">
                  <a16:creationId xmlns:a16="http://schemas.microsoft.com/office/drawing/2014/main" id="{FB389A5B-2F7C-804C-E393-4E1E149EFF2C}"/>
                </a:ext>
              </a:extLst>
            </p:cNvPr>
            <p:cNvCxnSpPr>
              <a:cxnSpLocks/>
              <a:stCxn id="1167" idx="4"/>
              <a:endCxn id="1168" idx="0"/>
            </p:cNvCxnSpPr>
            <p:nvPr/>
          </p:nvCxnSpPr>
          <p:spPr>
            <a:xfrm flipH="1">
              <a:off x="6858354" y="3678823"/>
              <a:ext cx="534951" cy="168506"/>
            </a:xfrm>
            <a:prstGeom prst="line">
              <a:avLst/>
            </a:prstGeom>
          </p:spPr>
          <p:style>
            <a:lnRef idx="1">
              <a:schemeClr val="dk1"/>
            </a:lnRef>
            <a:fillRef idx="0">
              <a:schemeClr val="dk1"/>
            </a:fillRef>
            <a:effectRef idx="0">
              <a:schemeClr val="dk1"/>
            </a:effectRef>
            <a:fontRef idx="minor">
              <a:schemeClr val="tx1"/>
            </a:fontRef>
          </p:style>
        </p:cxnSp>
        <p:cxnSp>
          <p:nvCxnSpPr>
            <p:cNvPr id="1175" name="Straight Connector 1174">
              <a:extLst>
                <a:ext uri="{FF2B5EF4-FFF2-40B4-BE49-F238E27FC236}">
                  <a16:creationId xmlns:a16="http://schemas.microsoft.com/office/drawing/2014/main" id="{BC39F033-2770-89CB-0D73-753EABFAB065}"/>
                </a:ext>
              </a:extLst>
            </p:cNvPr>
            <p:cNvCxnSpPr>
              <a:cxnSpLocks/>
              <a:stCxn id="1167" idx="4"/>
              <a:endCxn id="1170" idx="0"/>
            </p:cNvCxnSpPr>
            <p:nvPr/>
          </p:nvCxnSpPr>
          <p:spPr>
            <a:xfrm>
              <a:off x="7393305" y="3678823"/>
              <a:ext cx="296649" cy="154943"/>
            </a:xfrm>
            <a:prstGeom prst="line">
              <a:avLst/>
            </a:prstGeom>
          </p:spPr>
          <p:style>
            <a:lnRef idx="1">
              <a:schemeClr val="dk1"/>
            </a:lnRef>
            <a:fillRef idx="0">
              <a:schemeClr val="dk1"/>
            </a:fillRef>
            <a:effectRef idx="0">
              <a:schemeClr val="dk1"/>
            </a:effectRef>
            <a:fontRef idx="minor">
              <a:schemeClr val="tx1"/>
            </a:fontRef>
          </p:style>
        </p:cxnSp>
        <p:cxnSp>
          <p:nvCxnSpPr>
            <p:cNvPr id="1176" name="Straight Connector 1175">
              <a:extLst>
                <a:ext uri="{FF2B5EF4-FFF2-40B4-BE49-F238E27FC236}">
                  <a16:creationId xmlns:a16="http://schemas.microsoft.com/office/drawing/2014/main" id="{C5187E0F-7EE8-C7E7-A951-AA290159EC91}"/>
                </a:ext>
              </a:extLst>
            </p:cNvPr>
            <p:cNvCxnSpPr>
              <a:cxnSpLocks/>
              <a:stCxn id="1167" idx="4"/>
              <a:endCxn id="1172" idx="0"/>
            </p:cNvCxnSpPr>
            <p:nvPr/>
          </p:nvCxnSpPr>
          <p:spPr>
            <a:xfrm>
              <a:off x="7393305" y="3678823"/>
              <a:ext cx="1134011" cy="166286"/>
            </a:xfrm>
            <a:prstGeom prst="line">
              <a:avLst/>
            </a:prstGeom>
          </p:spPr>
          <p:style>
            <a:lnRef idx="1">
              <a:schemeClr val="dk1"/>
            </a:lnRef>
            <a:fillRef idx="0">
              <a:schemeClr val="dk1"/>
            </a:fillRef>
            <a:effectRef idx="0">
              <a:schemeClr val="dk1"/>
            </a:effectRef>
            <a:fontRef idx="minor">
              <a:schemeClr val="tx1"/>
            </a:fontRef>
          </p:style>
        </p:cxnSp>
        <p:cxnSp>
          <p:nvCxnSpPr>
            <p:cNvPr id="1177" name="Straight Connector 1176">
              <a:extLst>
                <a:ext uri="{FF2B5EF4-FFF2-40B4-BE49-F238E27FC236}">
                  <a16:creationId xmlns:a16="http://schemas.microsoft.com/office/drawing/2014/main" id="{E1A20092-B200-BA2C-755C-68FA46AF63BD}"/>
                </a:ext>
              </a:extLst>
            </p:cNvPr>
            <p:cNvCxnSpPr>
              <a:cxnSpLocks/>
              <a:stCxn id="1173" idx="2"/>
              <a:endCxn id="1178" idx="0"/>
            </p:cNvCxnSpPr>
            <p:nvPr/>
          </p:nvCxnSpPr>
          <p:spPr>
            <a:xfrm flipH="1">
              <a:off x="7705093" y="4228124"/>
              <a:ext cx="824189" cy="145743"/>
            </a:xfrm>
            <a:prstGeom prst="line">
              <a:avLst/>
            </a:prstGeom>
          </p:spPr>
          <p:style>
            <a:lnRef idx="1">
              <a:schemeClr val="dk1"/>
            </a:lnRef>
            <a:fillRef idx="0">
              <a:schemeClr val="dk1"/>
            </a:fillRef>
            <a:effectRef idx="0">
              <a:schemeClr val="dk1"/>
            </a:effectRef>
            <a:fontRef idx="minor">
              <a:schemeClr val="tx1"/>
            </a:fontRef>
          </p:style>
        </p:cxnSp>
        <p:sp>
          <p:nvSpPr>
            <p:cNvPr id="1178" name="Oval 1177">
              <a:extLst>
                <a:ext uri="{FF2B5EF4-FFF2-40B4-BE49-F238E27FC236}">
                  <a16:creationId xmlns:a16="http://schemas.microsoft.com/office/drawing/2014/main" id="{EB1A9CFC-99DA-413D-6954-80410E092948}"/>
                </a:ext>
              </a:extLst>
            </p:cNvPr>
            <p:cNvSpPr/>
            <p:nvPr/>
          </p:nvSpPr>
          <p:spPr>
            <a:xfrm>
              <a:off x="7497841" y="4373867"/>
              <a:ext cx="414504" cy="370464"/>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79" name="TextBox 1178">
                  <a:extLst>
                    <a:ext uri="{FF2B5EF4-FFF2-40B4-BE49-F238E27FC236}">
                      <a16:creationId xmlns:a16="http://schemas.microsoft.com/office/drawing/2014/main" id="{39F24D0B-B917-3F14-5204-7EB349F41271}"/>
                    </a:ext>
                  </a:extLst>
                </p:cNvPr>
                <p:cNvSpPr txBox="1"/>
                <p:nvPr/>
              </p:nvSpPr>
              <p:spPr>
                <a:xfrm>
                  <a:off x="7491145" y="4450580"/>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solidFill>
                              <a:schemeClr val="tx1"/>
                            </a:solidFill>
                            <a:latin typeface="Cambria Math" panose="02040503050406030204" pitchFamily="18" charset="0"/>
                          </a:rPr>
                          <m:t>T</m:t>
                        </m:r>
                        <m:r>
                          <m:rPr>
                            <m:sty m:val="p"/>
                          </m:rPr>
                          <a:rPr lang="nl-NL" sz="700" b="0" i="1" smtClean="0">
                            <a:solidFill>
                              <a:schemeClr val="tx1"/>
                            </a:solidFill>
                            <a:latin typeface="Cambria Math" panose="02040503050406030204" pitchFamily="18" charset="0"/>
                          </a:rPr>
                          <m:t>T</m:t>
                        </m:r>
                      </m:oMath>
                    </m:oMathPara>
                  </a14:m>
                  <a:endParaRPr lang="en-GB" sz="700" dirty="0">
                    <a:solidFill>
                      <a:schemeClr val="tx1"/>
                    </a:solidFill>
                  </a:endParaRPr>
                </a:p>
              </p:txBody>
            </p:sp>
          </mc:Choice>
          <mc:Fallback xmlns="">
            <p:sp>
              <p:nvSpPr>
                <p:cNvPr id="519" name="TextBox 518">
                  <a:extLst>
                    <a:ext uri="{FF2B5EF4-FFF2-40B4-BE49-F238E27FC236}">
                      <a16:creationId xmlns:a16="http://schemas.microsoft.com/office/drawing/2014/main" id="{7E48A63F-D269-612C-5F46-FA8324EEA334}"/>
                    </a:ext>
                  </a:extLst>
                </p:cNvPr>
                <p:cNvSpPr txBox="1">
                  <a:spLocks noRot="1" noChangeAspect="1" noMove="1" noResize="1" noEditPoints="1" noAdjustHandles="1" noChangeArrowheads="1" noChangeShapeType="1" noTextEdit="1"/>
                </p:cNvSpPr>
                <p:nvPr/>
              </p:nvSpPr>
              <p:spPr>
                <a:xfrm>
                  <a:off x="7491145" y="4450580"/>
                  <a:ext cx="420512" cy="242476"/>
                </a:xfrm>
                <a:prstGeom prst="rect">
                  <a:avLst/>
                </a:prstGeom>
                <a:blipFill>
                  <a:blip r:embed="rId23"/>
                  <a:stretch>
                    <a:fillRect/>
                  </a:stretch>
                </a:blipFill>
              </p:spPr>
              <p:txBody>
                <a:bodyPr/>
                <a:lstStyle/>
                <a:p>
                  <a:r>
                    <a:rPr lang="en-GB">
                      <a:noFill/>
                    </a:rPr>
                    <a:t> </a:t>
                  </a:r>
                </a:p>
              </p:txBody>
            </p:sp>
          </mc:Fallback>
        </mc:AlternateContent>
        <p:sp>
          <p:nvSpPr>
            <p:cNvPr id="1180" name="Oval 1179">
              <a:extLst>
                <a:ext uri="{FF2B5EF4-FFF2-40B4-BE49-F238E27FC236}">
                  <a16:creationId xmlns:a16="http://schemas.microsoft.com/office/drawing/2014/main" id="{04BF4453-DC80-C7A7-03CB-0839CB2A62F5}"/>
                </a:ext>
              </a:extLst>
            </p:cNvPr>
            <p:cNvSpPr/>
            <p:nvPr/>
          </p:nvSpPr>
          <p:spPr>
            <a:xfrm>
              <a:off x="8318810" y="4361345"/>
              <a:ext cx="414504" cy="370464"/>
            </a:xfrm>
            <a:prstGeom prst="ellipse">
              <a:avLst/>
            </a:prstGeom>
            <a:solidFill>
              <a:srgbClr val="00A6D6"/>
            </a:solidFill>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81" name="TextBox 1180">
                  <a:extLst>
                    <a:ext uri="{FF2B5EF4-FFF2-40B4-BE49-F238E27FC236}">
                      <a16:creationId xmlns:a16="http://schemas.microsoft.com/office/drawing/2014/main" id="{D6ACB408-E9E6-EA0E-1ED2-B902C8CDBC38}"/>
                    </a:ext>
                  </a:extLst>
                </p:cNvPr>
                <p:cNvSpPr txBox="1"/>
                <p:nvPr/>
              </p:nvSpPr>
              <p:spPr>
                <a:xfrm>
                  <a:off x="8327921" y="4425880"/>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solidFill>
                              <a:schemeClr val="bg1"/>
                            </a:solidFill>
                            <a:latin typeface="Cambria Math" panose="02040503050406030204" pitchFamily="18" charset="0"/>
                          </a:rPr>
                          <m:t>T</m:t>
                        </m:r>
                        <m:r>
                          <m:rPr>
                            <m:sty m:val="p"/>
                          </m:rPr>
                          <a:rPr lang="nl-NL" sz="700" b="0" i="1" smtClean="0">
                            <a:solidFill>
                              <a:schemeClr val="bg1"/>
                            </a:solidFill>
                            <a:latin typeface="Cambria Math" panose="02040503050406030204" pitchFamily="18" charset="0"/>
                          </a:rPr>
                          <m:t>C</m:t>
                        </m:r>
                      </m:oMath>
                    </m:oMathPara>
                  </a14:m>
                  <a:endParaRPr lang="en-GB" sz="700" dirty="0">
                    <a:solidFill>
                      <a:schemeClr val="bg1"/>
                    </a:solidFill>
                  </a:endParaRPr>
                </a:p>
              </p:txBody>
            </p:sp>
          </mc:Choice>
          <mc:Fallback xmlns="">
            <p:sp>
              <p:nvSpPr>
                <p:cNvPr id="522" name="TextBox 521">
                  <a:extLst>
                    <a:ext uri="{FF2B5EF4-FFF2-40B4-BE49-F238E27FC236}">
                      <a16:creationId xmlns:a16="http://schemas.microsoft.com/office/drawing/2014/main" id="{C76129D2-B37D-78F0-7E2D-9B14CE2D3665}"/>
                    </a:ext>
                  </a:extLst>
                </p:cNvPr>
                <p:cNvSpPr txBox="1">
                  <a:spLocks noRot="1" noChangeAspect="1" noMove="1" noResize="1" noEditPoints="1" noAdjustHandles="1" noChangeArrowheads="1" noChangeShapeType="1" noTextEdit="1"/>
                </p:cNvSpPr>
                <p:nvPr/>
              </p:nvSpPr>
              <p:spPr>
                <a:xfrm>
                  <a:off x="8327921" y="4425880"/>
                  <a:ext cx="420512" cy="242476"/>
                </a:xfrm>
                <a:prstGeom prst="rect">
                  <a:avLst/>
                </a:prstGeom>
                <a:blipFill>
                  <a:blip r:embed="rId24"/>
                  <a:stretch>
                    <a:fillRect/>
                  </a:stretch>
                </a:blipFill>
              </p:spPr>
              <p:txBody>
                <a:bodyPr/>
                <a:lstStyle/>
                <a:p>
                  <a:r>
                    <a:rPr lang="en-GB">
                      <a:noFill/>
                    </a:rPr>
                    <a:t> </a:t>
                  </a:r>
                </a:p>
              </p:txBody>
            </p:sp>
          </mc:Fallback>
        </mc:AlternateContent>
        <p:sp>
          <p:nvSpPr>
            <p:cNvPr id="1182" name="Oval 1181">
              <a:extLst>
                <a:ext uri="{FF2B5EF4-FFF2-40B4-BE49-F238E27FC236}">
                  <a16:creationId xmlns:a16="http://schemas.microsoft.com/office/drawing/2014/main" id="{558EE12A-A6B0-BD2C-0891-1CA8FDBFC939}"/>
                </a:ext>
              </a:extLst>
            </p:cNvPr>
            <p:cNvSpPr/>
            <p:nvPr/>
          </p:nvSpPr>
          <p:spPr>
            <a:xfrm>
              <a:off x="9152449" y="4355807"/>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83" name="TextBox 1182">
                  <a:extLst>
                    <a:ext uri="{FF2B5EF4-FFF2-40B4-BE49-F238E27FC236}">
                      <a16:creationId xmlns:a16="http://schemas.microsoft.com/office/drawing/2014/main" id="{C65AEBE1-83CD-980A-4729-7D3417BAF5F9}"/>
                    </a:ext>
                  </a:extLst>
                </p:cNvPr>
                <p:cNvSpPr txBox="1"/>
                <p:nvPr/>
              </p:nvSpPr>
              <p:spPr>
                <a:xfrm>
                  <a:off x="9159898" y="4419831"/>
                  <a:ext cx="420512"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nl-NL" sz="700" i="1" smtClean="0">
                            <a:latin typeface="Cambria Math" panose="02040503050406030204" pitchFamily="18" charset="0"/>
                          </a:rPr>
                          <m:t>H</m:t>
                        </m:r>
                        <m:r>
                          <m:rPr>
                            <m:sty m:val="p"/>
                          </m:rPr>
                          <a:rPr lang="nl-NL" sz="700" b="0" i="1" smtClean="0">
                            <a:latin typeface="Cambria Math" panose="02040503050406030204" pitchFamily="18" charset="0"/>
                          </a:rPr>
                          <m:t>E</m:t>
                        </m:r>
                      </m:oMath>
                    </m:oMathPara>
                  </a14:m>
                  <a:endParaRPr lang="en-GB" sz="700" dirty="0"/>
                </a:p>
              </p:txBody>
            </p:sp>
          </mc:Choice>
          <mc:Fallback xmlns="">
            <p:sp>
              <p:nvSpPr>
                <p:cNvPr id="524" name="TextBox 523">
                  <a:extLst>
                    <a:ext uri="{FF2B5EF4-FFF2-40B4-BE49-F238E27FC236}">
                      <a16:creationId xmlns:a16="http://schemas.microsoft.com/office/drawing/2014/main" id="{196F1059-7538-3DE6-D67A-36C662F04E04}"/>
                    </a:ext>
                  </a:extLst>
                </p:cNvPr>
                <p:cNvSpPr txBox="1">
                  <a:spLocks noRot="1" noChangeAspect="1" noMove="1" noResize="1" noEditPoints="1" noAdjustHandles="1" noChangeArrowheads="1" noChangeShapeType="1" noTextEdit="1"/>
                </p:cNvSpPr>
                <p:nvPr/>
              </p:nvSpPr>
              <p:spPr>
                <a:xfrm>
                  <a:off x="9159898" y="4419831"/>
                  <a:ext cx="420512" cy="242476"/>
                </a:xfrm>
                <a:prstGeom prst="rect">
                  <a:avLst/>
                </a:prstGeom>
                <a:blipFill>
                  <a:blip r:embed="rId25"/>
                  <a:stretch>
                    <a:fillRect/>
                  </a:stretch>
                </a:blipFill>
              </p:spPr>
              <p:txBody>
                <a:bodyPr/>
                <a:lstStyle/>
                <a:p>
                  <a:r>
                    <a:rPr lang="en-GB">
                      <a:noFill/>
                    </a:rPr>
                    <a:t> </a:t>
                  </a:r>
                </a:p>
              </p:txBody>
            </p:sp>
          </mc:Fallback>
        </mc:AlternateContent>
        <p:cxnSp>
          <p:nvCxnSpPr>
            <p:cNvPr id="1184" name="Straight Connector 1183">
              <a:extLst>
                <a:ext uri="{FF2B5EF4-FFF2-40B4-BE49-F238E27FC236}">
                  <a16:creationId xmlns:a16="http://schemas.microsoft.com/office/drawing/2014/main" id="{1C82D693-8CEF-CA21-A9C4-2337C71155D3}"/>
                </a:ext>
              </a:extLst>
            </p:cNvPr>
            <p:cNvCxnSpPr>
              <a:cxnSpLocks/>
              <a:stCxn id="1173" idx="2"/>
              <a:endCxn id="1180" idx="0"/>
            </p:cNvCxnSpPr>
            <p:nvPr/>
          </p:nvCxnSpPr>
          <p:spPr>
            <a:xfrm flipH="1">
              <a:off x="8526062" y="4228124"/>
              <a:ext cx="3220" cy="133221"/>
            </a:xfrm>
            <a:prstGeom prst="line">
              <a:avLst/>
            </a:prstGeom>
          </p:spPr>
          <p:style>
            <a:lnRef idx="1">
              <a:schemeClr val="dk1"/>
            </a:lnRef>
            <a:fillRef idx="0">
              <a:schemeClr val="dk1"/>
            </a:fillRef>
            <a:effectRef idx="0">
              <a:schemeClr val="dk1"/>
            </a:effectRef>
            <a:fontRef idx="minor">
              <a:schemeClr val="tx1"/>
            </a:fontRef>
          </p:style>
        </p:cxnSp>
        <p:cxnSp>
          <p:nvCxnSpPr>
            <p:cNvPr id="1185" name="Straight Connector 1184">
              <a:extLst>
                <a:ext uri="{FF2B5EF4-FFF2-40B4-BE49-F238E27FC236}">
                  <a16:creationId xmlns:a16="http://schemas.microsoft.com/office/drawing/2014/main" id="{4411DA42-7754-5AB5-E8F0-FB702F31A7CF}"/>
                </a:ext>
              </a:extLst>
            </p:cNvPr>
            <p:cNvCxnSpPr>
              <a:cxnSpLocks/>
              <a:stCxn id="1173" idx="2"/>
              <a:endCxn id="1182" idx="0"/>
            </p:cNvCxnSpPr>
            <p:nvPr/>
          </p:nvCxnSpPr>
          <p:spPr>
            <a:xfrm>
              <a:off x="8529282" y="4228124"/>
              <a:ext cx="830419" cy="127683"/>
            </a:xfrm>
            <a:prstGeom prst="line">
              <a:avLst/>
            </a:prstGeom>
          </p:spPr>
          <p:style>
            <a:lnRef idx="1">
              <a:schemeClr val="dk1"/>
            </a:lnRef>
            <a:fillRef idx="0">
              <a:schemeClr val="dk1"/>
            </a:fillRef>
            <a:effectRef idx="0">
              <a:schemeClr val="dk1"/>
            </a:effectRef>
            <a:fontRef idx="minor">
              <a:schemeClr val="tx1"/>
            </a:fontRef>
          </p:style>
        </p:cxnSp>
        <p:sp>
          <p:nvSpPr>
            <p:cNvPr id="1186" name="Oval 1185">
              <a:extLst>
                <a:ext uri="{FF2B5EF4-FFF2-40B4-BE49-F238E27FC236}">
                  <a16:creationId xmlns:a16="http://schemas.microsoft.com/office/drawing/2014/main" id="{095DD9C2-68EC-6ED9-C1DB-E3FA8657E4EA}"/>
                </a:ext>
              </a:extLst>
            </p:cNvPr>
            <p:cNvSpPr/>
            <p:nvPr/>
          </p:nvSpPr>
          <p:spPr>
            <a:xfrm>
              <a:off x="5854743" y="3846933"/>
              <a:ext cx="414504" cy="3704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endParaRPr lang="en-GB" sz="700" dirty="0"/>
            </a:p>
          </p:txBody>
        </p:sp>
        <mc:AlternateContent xmlns:mc="http://schemas.openxmlformats.org/markup-compatibility/2006" xmlns:a14="http://schemas.microsoft.com/office/drawing/2010/main">
          <mc:Choice Requires="a14">
            <p:sp>
              <p:nvSpPr>
                <p:cNvPr id="1187" name="TextBox 1186">
                  <a:extLst>
                    <a:ext uri="{FF2B5EF4-FFF2-40B4-BE49-F238E27FC236}">
                      <a16:creationId xmlns:a16="http://schemas.microsoft.com/office/drawing/2014/main" id="{9A4011AB-6AE4-78D4-B083-C23898AB9652}"/>
                    </a:ext>
                  </a:extLst>
                </p:cNvPr>
                <p:cNvSpPr txBox="1"/>
                <p:nvPr/>
              </p:nvSpPr>
              <p:spPr>
                <a:xfrm>
                  <a:off x="5749737" y="3920384"/>
                  <a:ext cx="648788" cy="242476"/>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nl-NL" sz="700" b="0" i="1" smtClean="0">
                            <a:latin typeface="Cambria Math" panose="02040503050406030204" pitchFamily="18" charset="0"/>
                          </a:rPr>
                          <m:t>( )</m:t>
                        </m:r>
                      </m:oMath>
                    </m:oMathPara>
                  </a14:m>
                  <a:endParaRPr/>
                </a:p>
              </p:txBody>
            </p:sp>
          </mc:Choice>
          <mc:Fallback xmlns="">
            <p:sp>
              <p:nvSpPr>
                <p:cNvPr id="535" name="TextBox 534">
                  <a:extLst>
                    <a:ext uri="{FF2B5EF4-FFF2-40B4-BE49-F238E27FC236}">
                      <a16:creationId xmlns:a16="http://schemas.microsoft.com/office/drawing/2014/main" id="{D9F47B48-F067-CED6-239C-5AA9B88A6BCD}"/>
                    </a:ext>
                  </a:extLst>
                </p:cNvPr>
                <p:cNvSpPr txBox="1">
                  <a:spLocks noRot="1" noChangeAspect="1" noMove="1" noResize="1" noEditPoints="1" noAdjustHandles="1" noChangeArrowheads="1" noChangeShapeType="1" noTextEdit="1"/>
                </p:cNvSpPr>
                <p:nvPr/>
              </p:nvSpPr>
              <p:spPr>
                <a:xfrm>
                  <a:off x="5749737" y="3920384"/>
                  <a:ext cx="648788" cy="242476"/>
                </a:xfrm>
                <a:prstGeom prst="rect">
                  <a:avLst/>
                </a:prstGeom>
                <a:blipFill>
                  <a:blip r:embed="rId26"/>
                  <a:stretch>
                    <a:fillRect/>
                  </a:stretch>
                </a:blipFill>
              </p:spPr>
              <p:txBody>
                <a:bodyPr/>
                <a:lstStyle/>
                <a:p>
                  <a:r>
                    <a:rPr lang="en-GB">
                      <a:noFill/>
                    </a:rPr>
                    <a:t> </a:t>
                  </a:r>
                </a:p>
              </p:txBody>
            </p:sp>
          </mc:Fallback>
        </mc:AlternateContent>
        <p:cxnSp>
          <p:nvCxnSpPr>
            <p:cNvPr id="1188" name="Straight Connector 1187">
              <a:extLst>
                <a:ext uri="{FF2B5EF4-FFF2-40B4-BE49-F238E27FC236}">
                  <a16:creationId xmlns:a16="http://schemas.microsoft.com/office/drawing/2014/main" id="{AA876E7A-22EA-99A9-783E-824C6EA6B235}"/>
                </a:ext>
              </a:extLst>
            </p:cNvPr>
            <p:cNvCxnSpPr>
              <a:cxnSpLocks/>
              <a:stCxn id="1167" idx="4"/>
              <a:endCxn id="1186" idx="0"/>
            </p:cNvCxnSpPr>
            <p:nvPr/>
          </p:nvCxnSpPr>
          <p:spPr>
            <a:xfrm flipH="1">
              <a:off x="6061994" y="3678823"/>
              <a:ext cx="1331311" cy="16811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497526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975FB-B13D-53D2-6C10-7E0F378D9D0C}"/>
            </a:ext>
          </a:extLst>
        </p:cNvPr>
        <p:cNvGrpSpPr/>
        <p:nvPr/>
      </p:nvGrpSpPr>
      <p:grpSpPr>
        <a:xfrm>
          <a:off x="0" y="0"/>
          <a:ext cx="0" cy="0"/>
          <a:chOff x="0" y="0"/>
          <a:chExt cx="0" cy="0"/>
        </a:xfrm>
      </p:grpSpPr>
      <p:sp>
        <p:nvSpPr>
          <p:cNvPr id="111" name="CustomShape 1">
            <a:extLst>
              <a:ext uri="{FF2B5EF4-FFF2-40B4-BE49-F238E27FC236}">
                <a16:creationId xmlns:a16="http://schemas.microsoft.com/office/drawing/2014/main" id="{0B2D1A3C-5504-29E1-DC4B-BAC8B57D2D41}"/>
              </a:ext>
            </a:extLst>
          </p:cNvPr>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endParaRPr lang="en-US" sz="3800" b="0" strike="noStrike" spc="-1" dirty="0">
              <a:latin typeface="Calibri"/>
            </a:endParaRPr>
          </a:p>
        </p:txBody>
      </p:sp>
      <p:sp>
        <p:nvSpPr>
          <p:cNvPr id="516" name="CustomShape 1">
            <a:extLst>
              <a:ext uri="{FF2B5EF4-FFF2-40B4-BE49-F238E27FC236}">
                <a16:creationId xmlns:a16="http://schemas.microsoft.com/office/drawing/2014/main" id="{74C594A9-7E02-0FE6-C86F-C61E267AAF2D}"/>
              </a:ext>
            </a:extLst>
          </p:cNvPr>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endParaRPr lang="en-US" sz="3800" b="0" strike="noStrike" spc="-1" dirty="0">
              <a:latin typeface="Calibri"/>
            </a:endParaRPr>
          </a:p>
        </p:txBody>
      </p:sp>
      <p:sp>
        <p:nvSpPr>
          <p:cNvPr id="521" name="TextBox 520">
            <a:extLst>
              <a:ext uri="{FF2B5EF4-FFF2-40B4-BE49-F238E27FC236}">
                <a16:creationId xmlns:a16="http://schemas.microsoft.com/office/drawing/2014/main" id="{AC470660-2741-2A77-88B4-2C2DA5DC9600}"/>
              </a:ext>
            </a:extLst>
          </p:cNvPr>
          <p:cNvSpPr txBox="1"/>
          <p:nvPr/>
        </p:nvSpPr>
        <p:spPr>
          <a:xfrm>
            <a:off x="3464430" y="5119068"/>
            <a:ext cx="556485" cy="369332"/>
          </a:xfrm>
          <a:prstGeom prst="rect">
            <a:avLst/>
          </a:prstGeom>
          <a:solidFill>
            <a:schemeClr val="bg1"/>
          </a:solidFill>
          <a:ln>
            <a:solidFill>
              <a:schemeClr val="bg1"/>
            </a:solidFill>
          </a:ln>
        </p:spPr>
        <p:txBody>
          <a:bodyPr wrap="square">
            <a:spAutoFit/>
          </a:bodyPr>
          <a:lstStyle/>
          <a:p>
            <a:endParaRPr lang="en-US" dirty="0"/>
          </a:p>
        </p:txBody>
      </p:sp>
      <p:sp>
        <p:nvSpPr>
          <p:cNvPr id="527" name="Line 2">
            <a:extLst>
              <a:ext uri="{FF2B5EF4-FFF2-40B4-BE49-F238E27FC236}">
                <a16:creationId xmlns:a16="http://schemas.microsoft.com/office/drawing/2014/main" id="{9FAF122D-DCB4-0D32-05DB-054C713A74E6}"/>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528" name="Title 1">
            <a:extLst>
              <a:ext uri="{FF2B5EF4-FFF2-40B4-BE49-F238E27FC236}">
                <a16:creationId xmlns:a16="http://schemas.microsoft.com/office/drawing/2014/main" id="{B15FE148-A907-91E9-EA03-5C1D62874F85}"/>
              </a:ext>
            </a:extLst>
          </p:cNvPr>
          <p:cNvSpPr txBox="1">
            <a:spLocks/>
          </p:cNvSpPr>
          <p:nvPr/>
        </p:nvSpPr>
        <p:spPr>
          <a:xfrm>
            <a:off x="513273" y="350635"/>
            <a:ext cx="10515600" cy="66357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200" dirty="0">
              <a:latin typeface="Times New Roman" panose="02020603050405020304" pitchFamily="18" charset="0"/>
              <a:cs typeface="Times New Roman" panose="02020603050405020304" pitchFamily="18" charset="0"/>
            </a:endParaRPr>
          </a:p>
        </p:txBody>
      </p:sp>
      <p:sp>
        <p:nvSpPr>
          <p:cNvPr id="529" name="Line 2">
            <a:extLst>
              <a:ext uri="{FF2B5EF4-FFF2-40B4-BE49-F238E27FC236}">
                <a16:creationId xmlns:a16="http://schemas.microsoft.com/office/drawing/2014/main" id="{DC6CEAB8-65BD-C8CA-B43F-59113ED057CE}"/>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530" name="TextBox 529">
            <a:extLst>
              <a:ext uri="{FF2B5EF4-FFF2-40B4-BE49-F238E27FC236}">
                <a16:creationId xmlns:a16="http://schemas.microsoft.com/office/drawing/2014/main" id="{BDB65175-5FC7-B161-7B6F-5ED658FF5045}"/>
              </a:ext>
            </a:extLst>
          </p:cNvPr>
          <p:cNvSpPr txBox="1"/>
          <p:nvPr/>
        </p:nvSpPr>
        <p:spPr>
          <a:xfrm>
            <a:off x="2338538" y="6494535"/>
            <a:ext cx="7905392" cy="461665"/>
          </a:xfrm>
          <a:prstGeom prst="rect">
            <a:avLst/>
          </a:prstGeom>
          <a:noFill/>
        </p:spPr>
        <p:txBody>
          <a:bodyPr wrap="square" rtlCol="0">
            <a:spAutoFit/>
          </a:bodyPr>
          <a:lstStyle/>
          <a:p>
            <a:pPr algn="ctr"/>
            <a:r>
              <a:rPr lang="en-US" sz="1200" noProof="0" dirty="0">
                <a:latin typeface="Times New Roman" panose="02020603050405020304" pitchFamily="18" charset="0"/>
                <a:ea typeface="Times New Roman" panose="02020603050405020304" pitchFamily="18" charset="0"/>
              </a:rPr>
              <a:t>Nova et al., (2026)</a:t>
            </a:r>
            <a:r>
              <a:rPr lang="en-US" sz="1200" dirty="0">
                <a:latin typeface="Times New Roman" panose="02020603050405020304" pitchFamily="18" charset="0"/>
                <a:ea typeface="Times New Roman" panose="02020603050405020304" pitchFamily="18" charset="0"/>
              </a:rPr>
              <a:t>. Delphos: A reinforcement learning framework for assisting discrete choice model specification</a:t>
            </a:r>
          </a:p>
          <a:p>
            <a:pPr algn="ctr"/>
            <a:endParaRPr lang="en-US" sz="1200" dirty="0"/>
          </a:p>
        </p:txBody>
      </p:sp>
      <p:sp>
        <p:nvSpPr>
          <p:cNvPr id="70" name="Slide Number Placeholder 3">
            <a:extLst>
              <a:ext uri="{FF2B5EF4-FFF2-40B4-BE49-F238E27FC236}">
                <a16:creationId xmlns:a16="http://schemas.microsoft.com/office/drawing/2014/main" id="{1B59E007-3008-F3BF-B4EA-D229290A680A}"/>
              </a:ext>
            </a:extLst>
          </p:cNvPr>
          <p:cNvSpPr txBox="1">
            <a:spLocks/>
          </p:cNvSpPr>
          <p:nvPr/>
        </p:nvSpPr>
        <p:spPr>
          <a:xfrm>
            <a:off x="9241988" y="636426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4</a:t>
            </a:r>
          </a:p>
        </p:txBody>
      </p:sp>
      <p:sp>
        <p:nvSpPr>
          <p:cNvPr id="2" name="Title 2">
            <a:extLst>
              <a:ext uri="{FF2B5EF4-FFF2-40B4-BE49-F238E27FC236}">
                <a16:creationId xmlns:a16="http://schemas.microsoft.com/office/drawing/2014/main" id="{D6B070E2-3C52-8E2E-F805-4247C6E2D36D}"/>
              </a:ext>
            </a:extLst>
          </p:cNvPr>
          <p:cNvSpPr txBox="1">
            <a:spLocks/>
          </p:cNvSpPr>
          <p:nvPr/>
        </p:nvSpPr>
        <p:spPr>
          <a:xfrm>
            <a:off x="715992" y="321927"/>
            <a:ext cx="10791646" cy="713243"/>
          </a:xfrm>
          <a:prstGeom prst="rect">
            <a:avLst/>
          </a:prstGeom>
        </p:spPr>
        <p:txBody>
          <a:bodyPr/>
          <a:lstStyle>
            <a:lvl1pPr algn="ctr"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GB" dirty="0"/>
              <a:t>Assisted Specification Methods</a:t>
            </a:r>
            <a:endParaRPr lang="en-US" dirty="0"/>
          </a:p>
        </p:txBody>
      </p:sp>
      <p:sp>
        <p:nvSpPr>
          <p:cNvPr id="4" name="TextBox 3">
            <a:extLst>
              <a:ext uri="{FF2B5EF4-FFF2-40B4-BE49-F238E27FC236}">
                <a16:creationId xmlns:a16="http://schemas.microsoft.com/office/drawing/2014/main" id="{92B88940-4858-4033-FCC8-395685B73B3A}"/>
              </a:ext>
            </a:extLst>
          </p:cNvPr>
          <p:cNvSpPr txBox="1"/>
          <p:nvPr/>
        </p:nvSpPr>
        <p:spPr>
          <a:xfrm>
            <a:off x="2871844" y="1818533"/>
            <a:ext cx="5380009" cy="2037063"/>
          </a:xfrm>
          <a:prstGeom prst="rect">
            <a:avLst/>
          </a:prstGeom>
          <a:noFill/>
        </p:spPr>
        <p:txBody>
          <a:bodyPr wrap="square" rtlCol="0">
            <a:noAutofit/>
          </a:bodyPr>
          <a:lstStyle/>
          <a:p>
            <a:pPr marL="285750" marR="0" lvl="0" indent="-285750" algn="l" defTabSz="904875" rtl="0" eaLnBrk="1" fontAlgn="auto" latinLnBrk="0" hangingPunct="1">
              <a:lnSpc>
                <a:spcPct val="100000"/>
              </a:lnSpc>
              <a:spcBef>
                <a:spcPts val="0"/>
              </a:spcBef>
              <a:spcAft>
                <a:spcPts val="0"/>
              </a:spcAft>
              <a:buClrTx/>
              <a:buSzTx/>
              <a:buFont typeface="Arial" panose="020B0604020202020204" pitchFamily="34" charset="0"/>
              <a:buChar char="•"/>
              <a:tabLst>
                <a:tab pos="715963" algn="l"/>
                <a:tab pos="3228975"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7" name="Picture 6">
            <a:extLst>
              <a:ext uri="{FF2B5EF4-FFF2-40B4-BE49-F238E27FC236}">
                <a16:creationId xmlns:a16="http://schemas.microsoft.com/office/drawing/2014/main" id="{6730C448-C17C-D0BF-29F4-958809FC8A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4442" y="1498527"/>
            <a:ext cx="6962155" cy="4612428"/>
          </a:xfrm>
          <a:prstGeom prst="rect">
            <a:avLst/>
          </a:prstGeom>
        </p:spPr>
      </p:pic>
    </p:spTree>
    <p:extLst>
      <p:ext uri="{BB962C8B-B14F-4D97-AF65-F5344CB8AC3E}">
        <p14:creationId xmlns:p14="http://schemas.microsoft.com/office/powerpoint/2010/main" val="3385153136"/>
      </p:ext>
    </p:extLst>
  </p:cSld>
  <p:clrMapOvr>
    <a:masterClrMapping/>
  </p:clrMapOvr>
  <mc:AlternateContent xmlns:mc="http://schemas.openxmlformats.org/markup-compatibility/2006" xmlns:p14="http://schemas.microsoft.com/office/powerpoint/2010/main">
    <mc:Choice Requires="p14">
      <p:transition spd="slow" p14:dur="2000" advTm="405"/>
    </mc:Choice>
    <mc:Fallback xmlns="">
      <p:transition spd="slow" advTm="40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FD2BE-497C-55C9-17E3-C33DBF71A0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3989D4-DBB0-317F-8C85-E783042FEC66}"/>
              </a:ext>
            </a:extLst>
          </p:cNvPr>
          <p:cNvSpPr>
            <a:spLocks noGrp="1"/>
          </p:cNvSpPr>
          <p:nvPr>
            <p:ph type="title"/>
          </p:nvPr>
        </p:nvSpPr>
        <p:spPr>
          <a:xfrm>
            <a:off x="715992" y="245400"/>
            <a:ext cx="10791646" cy="789770"/>
          </a:xfrm>
        </p:spPr>
        <p:txBody>
          <a:bodyPr/>
          <a:lstStyle/>
          <a:p>
            <a:r>
              <a:rPr lang="en-GB" noProof="0" dirty="0"/>
              <a:t>Limitation of theory-based DCM</a:t>
            </a:r>
            <a:endParaRPr lang="en-US" noProof="0" dirty="0"/>
          </a:p>
        </p:txBody>
      </p:sp>
      <p:sp>
        <p:nvSpPr>
          <p:cNvPr id="2" name="Slide Number Placeholder 3">
            <a:extLst>
              <a:ext uri="{FF2B5EF4-FFF2-40B4-BE49-F238E27FC236}">
                <a16:creationId xmlns:a16="http://schemas.microsoft.com/office/drawing/2014/main" id="{7B481105-38EC-9671-4364-C5DAB96408C0}"/>
              </a:ext>
            </a:extLst>
          </p:cNvPr>
          <p:cNvSpPr txBox="1">
            <a:spLocks/>
          </p:cNvSpPr>
          <p:nvPr/>
        </p:nvSpPr>
        <p:spPr>
          <a:xfrm>
            <a:off x="11225348" y="6356351"/>
            <a:ext cx="357051" cy="365125"/>
          </a:xfrm>
          <a:prstGeom prst="rect">
            <a:avLst/>
          </a:prstGeom>
        </p:spPr>
        <p:txBody>
          <a:bodyPr vert="horz" lIns="91440" tIns="45720" rIns="91440" bIns="45720" rtlCol="0" anchor="ct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B4DB3772-C3EA-C531-FFC8-B3EC50B444AB}"/>
              </a:ext>
            </a:extLst>
          </p:cNvPr>
          <p:cNvSpPr txBox="1"/>
          <p:nvPr/>
        </p:nvSpPr>
        <p:spPr>
          <a:xfrm>
            <a:off x="720001" y="1080001"/>
            <a:ext cx="10958727" cy="318027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researcher needs to </a:t>
            </a: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a priori</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specify</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the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functional form</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of the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utility function: V</a:t>
            </a:r>
            <a:r>
              <a:rPr kumimoji="0" lang="en-GB" sz="1800" b="1" i="0" u="none" strike="noStrike" kern="1200" cap="none" spc="0" normalizeH="0" baseline="-25000" noProof="0" dirty="0">
                <a:ln>
                  <a:noFill/>
                </a:ln>
                <a:solidFill>
                  <a:prstClr val="black"/>
                </a:solidFill>
                <a:effectLst/>
                <a:uLnTx/>
                <a:uFillTx/>
                <a:latin typeface="Calibri" panose="020F0502020204030204"/>
                <a:ea typeface="+mn-ea"/>
                <a:cs typeface="+mn-cs"/>
              </a:rPr>
              <a:t>i</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f(x</a:t>
            </a:r>
            <a:r>
              <a:rPr kumimoji="0" lang="en-GB" sz="1800" b="1" i="1" u="none" strike="noStrike" kern="1200" cap="none" spc="0" normalizeH="0" baseline="-25000" noProof="0" dirty="0">
                <a:ln>
                  <a:noFill/>
                </a:ln>
                <a:solidFill>
                  <a:prstClr val="black"/>
                </a:solidFill>
                <a:effectLst/>
                <a:uLnTx/>
                <a:uFillTx/>
                <a:latin typeface="Calibri" panose="020F0502020204030204"/>
                <a:ea typeface="+mn-ea"/>
                <a:cs typeface="+mn-cs"/>
              </a:rPr>
              <a:t>i</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rPr>
              <a:t>But the true DGP is unlikely to be found, considering the large number of potential specifications with interactions, nonlinearities, asymmetries, etc.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sp>
        <p:nvSpPr>
          <p:cNvPr id="1114" name="Line 2">
            <a:extLst>
              <a:ext uri="{FF2B5EF4-FFF2-40B4-BE49-F238E27FC236}">
                <a16:creationId xmlns:a16="http://schemas.microsoft.com/office/drawing/2014/main" id="{4003F33C-7BD4-145B-595B-1397DD374B65}"/>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15" name="Line 2">
            <a:extLst>
              <a:ext uri="{FF2B5EF4-FFF2-40B4-BE49-F238E27FC236}">
                <a16:creationId xmlns:a16="http://schemas.microsoft.com/office/drawing/2014/main" id="{444E2B40-7750-385A-9637-97B636DDB8A1}"/>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18" name="Rounded Rectangle 1117">
            <a:extLst>
              <a:ext uri="{FF2B5EF4-FFF2-40B4-BE49-F238E27FC236}">
                <a16:creationId xmlns:a16="http://schemas.microsoft.com/office/drawing/2014/main" id="{4377836B-B27D-2160-3286-886CFC980DBB}"/>
              </a:ext>
            </a:extLst>
          </p:cNvPr>
          <p:cNvSpPr/>
          <p:nvPr/>
        </p:nvSpPr>
        <p:spPr>
          <a:xfrm>
            <a:off x="1966717" y="3039780"/>
            <a:ext cx="8348321" cy="1102419"/>
          </a:xfrm>
          <a:prstGeom prst="roundRect">
            <a:avLst/>
          </a:prstGeom>
          <a:noFill/>
          <a:ln w="38100">
            <a:solidFill>
              <a:srgbClr val="00A6D6"/>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GB" b="1" noProof="1"/>
              <a:t>Hybrid Choice Models</a:t>
            </a:r>
            <a:endParaRPr lang="en-GB" sz="1500" noProof="1"/>
          </a:p>
          <a:p>
            <a:pPr algn="ctr"/>
            <a:r>
              <a:rPr lang="en-GB" sz="1500" noProof="1"/>
              <a:t>MLPs give no behavioural or economic insight -&gt; Define a set of interpretable parameters</a:t>
            </a:r>
          </a:p>
          <a:p>
            <a:pPr algn="ctr"/>
            <a:r>
              <a:rPr lang="en-GB" sz="1500" noProof="1"/>
              <a:t>MLPs may violate behavioural intuition -&gt; we keep their behavioural interpretation</a:t>
            </a:r>
          </a:p>
          <a:p>
            <a:pPr algn="ctr"/>
            <a:r>
              <a:rPr lang="en-GB" sz="1500" noProof="1"/>
              <a:t>MLPs also involve parameter (ad-hoc-ness) -&gt; Need hyperparameter optimisation</a:t>
            </a:r>
          </a:p>
        </p:txBody>
      </p:sp>
    </p:spTree>
    <p:extLst>
      <p:ext uri="{BB962C8B-B14F-4D97-AF65-F5344CB8AC3E}">
        <p14:creationId xmlns:p14="http://schemas.microsoft.com/office/powerpoint/2010/main" val="1303305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sym typeface="Wingdings" panose="05000000000000000000" pitchFamily="2" charset="2"/>
              </a:rPr>
              <a:t>L-MNL model</a:t>
            </a: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3"/>
          <p:cNvSpPr txBox="1"/>
          <p:nvPr/>
        </p:nvSpPr>
        <p:spPr>
          <a:xfrm>
            <a:off x="720000" y="1260000"/>
            <a:ext cx="5274330"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Idea “</a:t>
            </a:r>
            <a:r>
              <a:rPr kumimoji="0" lang="en-GB" sz="1800" b="1" i="1" u="none" strike="noStrike" kern="1200" cap="none" spc="0" normalizeH="0" baseline="0" noProof="0" dirty="0">
                <a:ln>
                  <a:noFill/>
                </a:ln>
                <a:solidFill>
                  <a:prstClr val="black"/>
                </a:solidFill>
                <a:effectLst/>
                <a:uLnTx/>
                <a:uFillTx/>
                <a:latin typeface="Calibri"/>
                <a:ea typeface="+mn-ea"/>
                <a:cs typeface="+mn-cs"/>
              </a:rPr>
              <a:t>Learning-MNL”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Not all variables (features) are equally of interest to understand and explain choice behaviour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Let’s create a model with 2 parts:</a:t>
            </a:r>
          </a:p>
          <a:p>
            <a:pPr marL="742950" marR="0" lvl="1" indent="-285750" algn="l" defTabSz="771525" rtl="0" eaLnBrk="1" fontAlgn="auto" latinLnBrk="0" hangingPunct="1">
              <a:lnSpc>
                <a:spcPct val="100000"/>
              </a:lnSpc>
              <a:spcBef>
                <a:spcPts val="0"/>
              </a:spcBef>
              <a:spcAft>
                <a:spcPts val="0"/>
              </a:spcAft>
              <a:buClrTx/>
              <a:buSzTx/>
              <a:buFont typeface="Arial" panose="020B0604020202020204" pitchFamily="34" charset="0"/>
              <a:buChar char="•"/>
              <a:tabLst>
                <a:tab pos="4043363"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 ‘restrictive’ but </a:t>
            </a:r>
            <a:r>
              <a:rPr kumimoji="0" lang="en-GB" sz="1800" b="1" i="0" u="none" strike="noStrike" kern="1200" cap="none" spc="0" normalizeH="0" baseline="0" noProof="0" dirty="0">
                <a:ln>
                  <a:noFill/>
                </a:ln>
                <a:solidFill>
                  <a:prstClr val="black"/>
                </a:solidFill>
                <a:effectLst/>
                <a:uLnTx/>
                <a:uFillTx/>
                <a:latin typeface="Calibri"/>
                <a:ea typeface="+mn-ea"/>
                <a:cs typeface="+mn-cs"/>
              </a:rPr>
              <a:t>transparent part</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a:t>
            </a: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RUM-MNL</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043363" algn="l"/>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a fully flexible </a:t>
            </a:r>
            <a:r>
              <a:rPr kumimoji="0" lang="en-GB" sz="1800" b="0" i="0" u="none" strike="noStrike" kern="1200" cap="none" spc="0" normalizeH="0" baseline="0" noProof="0" dirty="0">
                <a:ln>
                  <a:noFill/>
                </a:ln>
                <a:solidFill>
                  <a:prstClr val="black"/>
                </a:solidFill>
                <a:effectLst/>
                <a:uLnTx/>
                <a:uFillTx/>
                <a:latin typeface="Calibri"/>
                <a:ea typeface="+mn-ea"/>
                <a:cs typeface="+mn-cs"/>
              </a:rPr>
              <a:t>but opaque part: </a:t>
            </a: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MLP</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tab pos="4043363"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tab pos="4043363"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Variables of …</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behaviour interest go into the </a:t>
            </a: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RUM-MNL</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not of behavioural interest go into the </a:t>
            </a:r>
            <a:r>
              <a:rPr kumimoji="0" lang="en-GB" sz="18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MLP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7" name="Group 6"/>
          <p:cNvGrpSpPr/>
          <p:nvPr/>
        </p:nvGrpSpPr>
        <p:grpSpPr>
          <a:xfrm>
            <a:off x="5340783" y="1805077"/>
            <a:ext cx="6493364" cy="4916398"/>
            <a:chOff x="5431318" y="1964017"/>
            <a:chExt cx="6493364" cy="4916398"/>
          </a:xfrm>
        </p:grpSpPr>
        <p:cxnSp>
          <p:nvCxnSpPr>
            <p:cNvPr id="43" name="Straight Arrow Connector 42"/>
            <p:cNvCxnSpPr/>
            <p:nvPr/>
          </p:nvCxnSpPr>
          <p:spPr>
            <a:xfrm flipV="1">
              <a:off x="9159529" y="2768298"/>
              <a:ext cx="1108618" cy="2053359"/>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47" name="Straight Arrow Connector 46"/>
            <p:cNvCxnSpPr/>
            <p:nvPr/>
          </p:nvCxnSpPr>
          <p:spPr>
            <a:xfrm flipV="1">
              <a:off x="9159529" y="3314677"/>
              <a:ext cx="1108618" cy="2105236"/>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54" name="Straight Arrow Connector 53"/>
            <p:cNvCxnSpPr/>
            <p:nvPr/>
          </p:nvCxnSpPr>
          <p:spPr>
            <a:xfrm flipV="1">
              <a:off x="9166672" y="3314677"/>
              <a:ext cx="1101475" cy="1506980"/>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55" name="Straight Arrow Connector 54"/>
            <p:cNvCxnSpPr/>
            <p:nvPr/>
          </p:nvCxnSpPr>
          <p:spPr>
            <a:xfrm flipV="1">
              <a:off x="9166672" y="2768298"/>
              <a:ext cx="1101475" cy="2604919"/>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grpSp>
          <p:nvGrpSpPr>
            <p:cNvPr id="74" name="Group 73"/>
            <p:cNvGrpSpPr/>
            <p:nvPr/>
          </p:nvGrpSpPr>
          <p:grpSpPr>
            <a:xfrm>
              <a:off x="6804945" y="4120085"/>
              <a:ext cx="2354584" cy="2019909"/>
              <a:chOff x="6737254" y="4120085"/>
              <a:chExt cx="2354584" cy="2019909"/>
            </a:xfrm>
          </p:grpSpPr>
          <p:grpSp>
            <p:nvGrpSpPr>
              <p:cNvPr id="42" name="Group 41"/>
              <p:cNvGrpSpPr/>
              <p:nvPr/>
            </p:nvGrpSpPr>
            <p:grpSpPr>
              <a:xfrm>
                <a:off x="6737254" y="4120085"/>
                <a:ext cx="2354584" cy="2019909"/>
                <a:chOff x="7687486" y="4073387"/>
                <a:chExt cx="2354584" cy="2019909"/>
              </a:xfrm>
            </p:grpSpPr>
            <p:pic>
              <p:nvPicPr>
                <p:cNvPr id="33" name="Picture 32"/>
                <p:cNvPicPr>
                  <a:picLocks noChangeAspect="1"/>
                </p:cNvPicPr>
                <p:nvPr/>
              </p:nvPicPr>
              <p:blipFill rotWithShape="1">
                <a:blip r:embed="rId3"/>
                <a:srcRect l="-1998" t="1251" r="42493" b="11355"/>
                <a:stretch/>
              </p:blipFill>
              <p:spPr>
                <a:xfrm>
                  <a:off x="7687486" y="4073387"/>
                  <a:ext cx="1713739" cy="2019909"/>
                </a:xfrm>
                <a:prstGeom prst="rect">
                  <a:avLst/>
                </a:prstGeom>
              </p:spPr>
            </p:pic>
            <p:pic>
              <p:nvPicPr>
                <p:cNvPr id="35" name="Picture 34"/>
                <p:cNvPicPr>
                  <a:picLocks noChangeAspect="1"/>
                </p:cNvPicPr>
                <p:nvPr/>
              </p:nvPicPr>
              <p:blipFill rotWithShape="1">
                <a:blip r:embed="rId3"/>
                <a:srcRect l="43004" t="21329" r="42493" b="35054"/>
                <a:stretch/>
              </p:blipFill>
              <p:spPr>
                <a:xfrm>
                  <a:off x="9624392" y="4541056"/>
                  <a:ext cx="417678" cy="1008113"/>
                </a:xfrm>
                <a:prstGeom prst="rect">
                  <a:avLst/>
                </a:prstGeom>
              </p:spPr>
            </p:pic>
            <p:cxnSp>
              <p:nvCxnSpPr>
                <p:cNvPr id="36" name="Straight Arrow Connector 35"/>
                <p:cNvCxnSpPr/>
                <p:nvPr/>
              </p:nvCxnSpPr>
              <p:spPr>
                <a:xfrm flipV="1">
                  <a:off x="9408368" y="4797152"/>
                  <a:ext cx="216024" cy="1"/>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37" name="Straight Arrow Connector 36"/>
                <p:cNvCxnSpPr/>
                <p:nvPr/>
              </p:nvCxnSpPr>
              <p:spPr>
                <a:xfrm flipV="1">
                  <a:off x="9401225" y="5373216"/>
                  <a:ext cx="216024" cy="1"/>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38" name="Straight Arrow Connector 37"/>
                <p:cNvCxnSpPr/>
                <p:nvPr/>
              </p:nvCxnSpPr>
              <p:spPr>
                <a:xfrm>
                  <a:off x="9408368" y="4797152"/>
                  <a:ext cx="208881" cy="576064"/>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flipV="1">
                  <a:off x="9408368" y="4797152"/>
                  <a:ext cx="216024" cy="576063"/>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grpSp>
          <p:sp>
            <p:nvSpPr>
              <p:cNvPr id="65" name="Oval 64"/>
              <p:cNvSpPr/>
              <p:nvPr/>
            </p:nvSpPr>
            <p:spPr>
              <a:xfrm>
                <a:off x="7012949" y="4716541"/>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Oval 65"/>
              <p:cNvSpPr/>
              <p:nvPr/>
            </p:nvSpPr>
            <p:spPr>
              <a:xfrm>
                <a:off x="7020161" y="4149080"/>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Oval 66"/>
              <p:cNvSpPr/>
              <p:nvPr/>
            </p:nvSpPr>
            <p:spPr>
              <a:xfrm>
                <a:off x="7017721" y="5229201"/>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Oval 67"/>
              <p:cNvSpPr/>
              <p:nvPr/>
            </p:nvSpPr>
            <p:spPr>
              <a:xfrm>
                <a:off x="7020161" y="5721074"/>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73" name="Group 72"/>
            <p:cNvGrpSpPr/>
            <p:nvPr/>
          </p:nvGrpSpPr>
          <p:grpSpPr>
            <a:xfrm>
              <a:off x="9044682" y="1964017"/>
              <a:ext cx="2880000" cy="2041047"/>
              <a:chOff x="8976991" y="1964017"/>
              <a:chExt cx="2880000" cy="2041047"/>
            </a:xfrm>
          </p:grpSpPr>
          <p:pic>
            <p:nvPicPr>
              <p:cNvPr id="29" name="Picture 28"/>
              <p:cNvPicPr>
                <a:picLocks noChangeAspect="1"/>
              </p:cNvPicPr>
              <p:nvPr/>
            </p:nvPicPr>
            <p:blipFill rotWithShape="1">
              <a:blip r:embed="rId4"/>
              <a:srcRect b="11691"/>
              <a:stretch/>
            </p:blipFill>
            <p:spPr>
              <a:xfrm>
                <a:off x="8976991" y="1964017"/>
                <a:ext cx="2880000" cy="2041047"/>
              </a:xfrm>
              <a:prstGeom prst="rect">
                <a:avLst/>
              </a:prstGeom>
            </p:spPr>
          </p:pic>
          <p:sp>
            <p:nvSpPr>
              <p:cNvPr id="69" name="Oval 68"/>
              <p:cNvSpPr/>
              <p:nvPr/>
            </p:nvSpPr>
            <p:spPr>
              <a:xfrm>
                <a:off x="9192344" y="2041592"/>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Oval 69"/>
              <p:cNvSpPr/>
              <p:nvPr/>
            </p:nvSpPr>
            <p:spPr>
              <a:xfrm>
                <a:off x="9192344" y="2572405"/>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Oval 70"/>
              <p:cNvSpPr/>
              <p:nvPr/>
            </p:nvSpPr>
            <p:spPr>
              <a:xfrm>
                <a:off x="9192344" y="3137564"/>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Oval 71"/>
              <p:cNvSpPr/>
              <p:nvPr/>
            </p:nvSpPr>
            <p:spPr>
              <a:xfrm>
                <a:off x="9192344" y="3615220"/>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75" name="Left Brace 74"/>
            <p:cNvSpPr/>
            <p:nvPr/>
          </p:nvSpPr>
          <p:spPr>
            <a:xfrm>
              <a:off x="8899995" y="1964017"/>
              <a:ext cx="144687" cy="2041047"/>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Box 75"/>
            <p:cNvSpPr txBox="1"/>
            <p:nvPr/>
          </p:nvSpPr>
          <p:spPr>
            <a:xfrm>
              <a:off x="7527961" y="2482777"/>
              <a:ext cx="143403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Variables of behavioural interest</a:t>
              </a:r>
            </a:p>
          </p:txBody>
        </p:sp>
        <p:sp>
          <p:nvSpPr>
            <p:cNvPr id="77" name="Left Brace 76"/>
            <p:cNvSpPr/>
            <p:nvPr/>
          </p:nvSpPr>
          <p:spPr>
            <a:xfrm>
              <a:off x="6678424" y="4098947"/>
              <a:ext cx="144687" cy="2041047"/>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TextBox 77"/>
            <p:cNvSpPr txBox="1"/>
            <p:nvPr/>
          </p:nvSpPr>
          <p:spPr>
            <a:xfrm>
              <a:off x="5431318" y="4617707"/>
              <a:ext cx="130910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Variables </a:t>
              </a:r>
              <a:r>
                <a:rPr kumimoji="0" lang="en-GB" sz="1800" b="1" i="0" u="none" strike="noStrike" kern="1200" cap="none" spc="0" normalizeH="0" baseline="0" noProof="0" dirty="0">
                  <a:ln>
                    <a:noFill/>
                  </a:ln>
                  <a:solidFill>
                    <a:srgbClr val="0070C0"/>
                  </a:solidFill>
                  <a:effectLst/>
                  <a:uLnTx/>
                  <a:uFillTx/>
                  <a:latin typeface="Calibri"/>
                  <a:ea typeface="+mn-ea"/>
                  <a:cs typeface="+mn-cs"/>
                </a:rPr>
                <a:t>NOT</a:t>
              </a:r>
              <a:r>
                <a:rPr kumimoji="0" lang="en-GB" sz="1800" b="0" i="0" u="none" strike="noStrike" kern="1200" cap="none" spc="0" normalizeH="0" baseline="0" noProof="0" dirty="0">
                  <a:ln>
                    <a:noFill/>
                  </a:ln>
                  <a:solidFill>
                    <a:srgbClr val="0070C0"/>
                  </a:solidFill>
                  <a:effectLst/>
                  <a:uLnTx/>
                  <a:uFillTx/>
                  <a:latin typeface="Calibri"/>
                  <a:ea typeface="+mn-ea"/>
                  <a:cs typeface="+mn-cs"/>
                </a:rPr>
                <a:t> of behavioural interest</a:t>
              </a:r>
            </a:p>
          </p:txBody>
        </p:sp>
        <p:sp>
          <p:nvSpPr>
            <p:cNvPr id="79" name="Left Brace 78"/>
            <p:cNvSpPr/>
            <p:nvPr/>
          </p:nvSpPr>
          <p:spPr>
            <a:xfrm rot="16200000">
              <a:off x="7999948" y="5259841"/>
              <a:ext cx="121794" cy="2197369"/>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79"/>
            <p:cNvSpPr txBox="1"/>
            <p:nvPr/>
          </p:nvSpPr>
          <p:spPr>
            <a:xfrm>
              <a:off x="6595739" y="6511083"/>
              <a:ext cx="31683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Fully connected MLP</a:t>
              </a:r>
            </a:p>
          </p:txBody>
        </p:sp>
        <p:sp>
          <p:nvSpPr>
            <p:cNvPr id="81" name="Left Brace 80"/>
            <p:cNvSpPr/>
            <p:nvPr/>
          </p:nvSpPr>
          <p:spPr>
            <a:xfrm rot="16200000">
              <a:off x="10304204" y="3043162"/>
              <a:ext cx="121794" cy="2197369"/>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TextBox 81"/>
            <p:cNvSpPr txBox="1"/>
            <p:nvPr/>
          </p:nvSpPr>
          <p:spPr>
            <a:xfrm>
              <a:off x="9883030" y="4310424"/>
              <a:ext cx="200142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RUM-MNL model in  MLP form</a:t>
              </a:r>
            </a:p>
          </p:txBody>
        </p:sp>
      </p:grpSp>
      <p:sp>
        <p:nvSpPr>
          <p:cNvPr id="8" name="Line 2">
            <a:extLst>
              <a:ext uri="{FF2B5EF4-FFF2-40B4-BE49-F238E27FC236}">
                <a16:creationId xmlns:a16="http://schemas.microsoft.com/office/drawing/2014/main" id="{CD00B59A-518E-208B-1525-FDF87D53BA77}"/>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2C567E6A-EE28-3A03-B7F5-E7A0C8764D98}"/>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27608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sym typeface="Wingdings" panose="05000000000000000000" pitchFamily="2" charset="2"/>
              </a:rPr>
              <a:t>L-MNL model</a:t>
            </a: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44000" y="5580000"/>
            <a:ext cx="8576121" cy="92333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Use one hidden node per alternative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In MNL part, ensure the same weights are used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Use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softmax</a:t>
            </a:r>
            <a:r>
              <a:rPr kumimoji="0" lang="en-GB" sz="1800" b="0" i="0" u="none" strike="noStrike" kern="1200" cap="none" spc="0" normalizeH="0" baseline="0" noProof="0" dirty="0">
                <a:ln>
                  <a:noFill/>
                </a:ln>
                <a:solidFill>
                  <a:prstClr val="black"/>
                </a:solidFill>
                <a:effectLst/>
                <a:uLnTx/>
                <a:uFillTx/>
                <a:latin typeface="Calibri"/>
                <a:ea typeface="+mn-ea"/>
                <a:cs typeface="+mn-cs"/>
              </a:rPr>
              <a:t> function at output layer</a:t>
            </a:r>
          </a:p>
        </p:txBody>
      </p:sp>
      <p:pic>
        <p:nvPicPr>
          <p:cNvPr id="8" name="Picture 7"/>
          <p:cNvPicPr>
            <a:picLocks noChangeAspect="1"/>
          </p:cNvPicPr>
          <p:nvPr/>
        </p:nvPicPr>
        <p:blipFill>
          <a:blip r:embed="rId3"/>
          <a:stretch>
            <a:fillRect/>
          </a:stretch>
        </p:blipFill>
        <p:spPr>
          <a:xfrm>
            <a:off x="6456040" y="1507610"/>
            <a:ext cx="3228231" cy="2590723"/>
          </a:xfrm>
          <a:prstGeom prst="rect">
            <a:avLst/>
          </a:prstGeom>
        </p:spPr>
      </p:pic>
      <p:sp>
        <p:nvSpPr>
          <p:cNvPr id="14" name="TextBox 13"/>
          <p:cNvSpPr txBox="1"/>
          <p:nvPr/>
        </p:nvSpPr>
        <p:spPr>
          <a:xfrm>
            <a:off x="1044000" y="1260000"/>
            <a:ext cx="81512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Creating the L-MNL architecture</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7" name="Group 6"/>
          <p:cNvGrpSpPr/>
          <p:nvPr/>
        </p:nvGrpSpPr>
        <p:grpSpPr>
          <a:xfrm>
            <a:off x="7349370" y="1973805"/>
            <a:ext cx="143924" cy="1342418"/>
            <a:chOff x="7349370" y="1973805"/>
            <a:chExt cx="143924" cy="1342418"/>
          </a:xfrm>
        </p:grpSpPr>
        <p:cxnSp>
          <p:nvCxnSpPr>
            <p:cNvPr id="15" name="Straight Connector 14"/>
            <p:cNvCxnSpPr/>
            <p:nvPr/>
          </p:nvCxnSpPr>
          <p:spPr>
            <a:xfrm flipH="1">
              <a:off x="7392144" y="1973805"/>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6" name="Straight Connector 15"/>
            <p:cNvCxnSpPr/>
            <p:nvPr/>
          </p:nvCxnSpPr>
          <p:spPr>
            <a:xfrm flipH="1">
              <a:off x="7421286" y="1988840"/>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7" name="Straight Connector 16"/>
            <p:cNvCxnSpPr/>
            <p:nvPr/>
          </p:nvCxnSpPr>
          <p:spPr>
            <a:xfrm flipH="1">
              <a:off x="7392144"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8" name="Straight Connector 17"/>
            <p:cNvCxnSpPr/>
            <p:nvPr/>
          </p:nvCxnSpPr>
          <p:spPr>
            <a:xfrm flipH="1">
              <a:off x="7428148"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9" name="Straight Connector 18"/>
            <p:cNvCxnSpPr/>
            <p:nvPr/>
          </p:nvCxnSpPr>
          <p:spPr>
            <a:xfrm flipH="1">
              <a:off x="7385282"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0" name="Straight Connector 19"/>
            <p:cNvCxnSpPr/>
            <p:nvPr/>
          </p:nvCxnSpPr>
          <p:spPr>
            <a:xfrm flipH="1">
              <a:off x="7421286"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1" name="Straight Connector 20"/>
            <p:cNvCxnSpPr/>
            <p:nvPr/>
          </p:nvCxnSpPr>
          <p:spPr>
            <a:xfrm rot="16200000" flipH="1">
              <a:off x="7356888" y="3236697"/>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2" name="Straight Connector 21"/>
            <p:cNvCxnSpPr/>
            <p:nvPr/>
          </p:nvCxnSpPr>
          <p:spPr>
            <a:xfrm rot="16200000" flipH="1">
              <a:off x="7378512" y="3212340"/>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grpSp>
        <p:nvGrpSpPr>
          <p:cNvPr id="35" name="Group 34"/>
          <p:cNvGrpSpPr/>
          <p:nvPr/>
        </p:nvGrpSpPr>
        <p:grpSpPr>
          <a:xfrm>
            <a:off x="1439625" y="1757750"/>
            <a:ext cx="6960631" cy="4157622"/>
            <a:chOff x="1439625" y="1757750"/>
            <a:chExt cx="6960631" cy="4157622"/>
          </a:xfrm>
        </p:grpSpPr>
        <p:cxnSp>
          <p:nvCxnSpPr>
            <p:cNvPr id="24" name="Straight Arrow Connector 23"/>
            <p:cNvCxnSpPr/>
            <p:nvPr/>
          </p:nvCxnSpPr>
          <p:spPr>
            <a:xfrm flipH="1">
              <a:off x="8184232" y="1757750"/>
              <a:ext cx="216024" cy="318133"/>
            </a:xfrm>
            <a:prstGeom prst="straightConnector1">
              <a:avLst/>
            </a:prstGeom>
            <a:ln w="19050">
              <a:solidFill>
                <a:schemeClr val="tx1"/>
              </a:solidFill>
              <a:prstDash val="sysDot"/>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9" name="Rounded Rectangle 28"/>
            <p:cNvSpPr/>
            <p:nvPr/>
          </p:nvSpPr>
          <p:spPr>
            <a:xfrm>
              <a:off x="1439625" y="5567494"/>
              <a:ext cx="3545826" cy="347878"/>
            </a:xfrm>
            <a:prstGeom prst="round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graphicFrame>
        <p:nvGraphicFramePr>
          <p:cNvPr id="9" name="Object 8"/>
          <p:cNvGraphicFramePr>
            <a:graphicFrameLocks noChangeAspect="1"/>
          </p:cNvGraphicFramePr>
          <p:nvPr/>
        </p:nvGraphicFramePr>
        <p:xfrm>
          <a:off x="2003599" y="1924020"/>
          <a:ext cx="1795752" cy="690674"/>
        </p:xfrm>
        <a:graphic>
          <a:graphicData uri="http://schemas.openxmlformats.org/presentationml/2006/ole">
            <mc:AlternateContent xmlns:mc="http://schemas.openxmlformats.org/markup-compatibility/2006">
              <mc:Choice xmlns:v="urn:schemas-microsoft-com:vml" Requires="v">
                <p:oleObj name="Equation" r:id="rId4" imgW="825480" imgH="317160" progId="Equation.DSMT4">
                  <p:embed/>
                </p:oleObj>
              </mc:Choice>
              <mc:Fallback>
                <p:oleObj name="Equation" r:id="rId4" imgW="825480" imgH="317160" progId="Equation.DSMT4">
                  <p:embed/>
                  <p:pic>
                    <p:nvPicPr>
                      <p:cNvPr id="9" name="Object 8"/>
                      <p:cNvPicPr/>
                      <p:nvPr/>
                    </p:nvPicPr>
                    <p:blipFill>
                      <a:blip r:embed="rId5"/>
                      <a:stretch>
                        <a:fillRect/>
                      </a:stretch>
                    </p:blipFill>
                    <p:spPr>
                      <a:xfrm>
                        <a:off x="2003599" y="1924020"/>
                        <a:ext cx="1795752" cy="690674"/>
                      </a:xfrm>
                      <a:prstGeom prst="rect">
                        <a:avLst/>
                      </a:prstGeom>
                    </p:spPr>
                  </p:pic>
                </p:oleObj>
              </mc:Fallback>
            </mc:AlternateContent>
          </a:graphicData>
        </a:graphic>
      </p:graphicFrame>
      <p:grpSp>
        <p:nvGrpSpPr>
          <p:cNvPr id="41" name="Group 40"/>
          <p:cNvGrpSpPr/>
          <p:nvPr/>
        </p:nvGrpSpPr>
        <p:grpSpPr>
          <a:xfrm>
            <a:off x="2003599" y="2435290"/>
            <a:ext cx="4092401" cy="1947654"/>
            <a:chOff x="1831975" y="2759268"/>
            <a:chExt cx="4092401" cy="1947654"/>
          </a:xfrm>
        </p:grpSpPr>
        <p:sp>
          <p:nvSpPr>
            <p:cNvPr id="37" name="TextBox 36"/>
            <p:cNvSpPr txBox="1"/>
            <p:nvPr/>
          </p:nvSpPr>
          <p:spPr>
            <a:xfrm>
              <a:off x="1831975" y="4389273"/>
              <a:ext cx="4092401" cy="317649"/>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FF"/>
                  </a:solidFill>
                  <a:effectLst/>
                  <a:uLnTx/>
                  <a:uFillTx/>
                  <a:latin typeface="Calibri"/>
                  <a:ea typeface="+mn-ea"/>
                  <a:cs typeface="+mn-cs"/>
                </a:rPr>
                <a:t>There are </a:t>
              </a:r>
              <a:r>
                <a:rPr kumimoji="0" lang="en-GB" sz="1800" b="0" i="1" u="none" strike="noStrike" kern="1200" cap="none" spc="0" normalizeH="0" baseline="0" noProof="0" dirty="0">
                  <a:ln>
                    <a:noFill/>
                  </a:ln>
                  <a:solidFill>
                    <a:srgbClr val="0000FF"/>
                  </a:solidFill>
                  <a:effectLst/>
                  <a:uLnTx/>
                  <a:uFillTx/>
                  <a:latin typeface="Calibri"/>
                  <a:ea typeface="+mn-ea"/>
                  <a:cs typeface="+mn-cs"/>
                </a:rPr>
                <a:t>J</a:t>
              </a:r>
              <a:r>
                <a:rPr kumimoji="0" lang="en-GB" sz="1800" b="0" i="0" u="none" strike="noStrike" kern="1200" cap="none" spc="0" normalizeH="0" baseline="0" noProof="0" dirty="0">
                  <a:ln>
                    <a:noFill/>
                  </a:ln>
                  <a:solidFill>
                    <a:srgbClr val="0000FF"/>
                  </a:solidFill>
                  <a:effectLst/>
                  <a:uLnTx/>
                  <a:uFillTx/>
                  <a:latin typeface="Calibri"/>
                  <a:ea typeface="+mn-ea"/>
                  <a:cs typeface="+mn-cs"/>
                </a:rPr>
                <a:t> alternatives </a:t>
              </a:r>
              <a:r>
                <a:rPr kumimoji="0" lang="en-GB" sz="1800" b="0" i="0" u="none" strike="noStrike" kern="1200" cap="none" spc="0" normalizeH="0" baseline="0" noProof="0" dirty="0">
                  <a:ln>
                    <a:noFill/>
                  </a:ln>
                  <a:solidFill>
                    <a:srgbClr val="0000FF"/>
                  </a:solidFill>
                  <a:effectLst/>
                  <a:uLnTx/>
                  <a:uFillTx/>
                  <a:latin typeface="Calibri"/>
                  <a:ea typeface="+mn-ea"/>
                  <a:cs typeface="+mn-cs"/>
                  <a:sym typeface="Wingdings" panose="05000000000000000000" pitchFamily="2" charset="2"/>
                </a:rPr>
                <a:t> </a:t>
              </a:r>
              <a:r>
                <a:rPr kumimoji="0" lang="en-GB" sz="1800" b="0" i="1" u="none" strike="noStrike" kern="1200" cap="none" spc="0" normalizeH="0" baseline="0" noProof="0" dirty="0">
                  <a:ln>
                    <a:noFill/>
                  </a:ln>
                  <a:solidFill>
                    <a:srgbClr val="0000FF"/>
                  </a:solidFill>
                  <a:effectLst/>
                  <a:uLnTx/>
                  <a:uFillTx/>
                  <a:latin typeface="Calibri"/>
                  <a:ea typeface="+mn-ea"/>
                  <a:cs typeface="+mn-cs"/>
                  <a:sym typeface="Wingdings" panose="05000000000000000000" pitchFamily="2" charset="2"/>
                </a:rPr>
                <a:t>J</a:t>
              </a:r>
              <a:r>
                <a:rPr kumimoji="0" lang="en-GB" sz="1800" b="0" i="0" u="none" strike="noStrike" kern="1200" cap="none" spc="0" normalizeH="0" baseline="0" noProof="0" dirty="0">
                  <a:ln>
                    <a:noFill/>
                  </a:ln>
                  <a:solidFill>
                    <a:srgbClr val="0000FF"/>
                  </a:solidFill>
                  <a:effectLst/>
                  <a:uLnTx/>
                  <a:uFillTx/>
                  <a:latin typeface="Calibri"/>
                  <a:ea typeface="+mn-ea"/>
                  <a:cs typeface="+mn-cs"/>
                  <a:sym typeface="Wingdings" panose="05000000000000000000" pitchFamily="2" charset="2"/>
                </a:rPr>
                <a:t> </a:t>
              </a:r>
              <a:r>
                <a:rPr kumimoji="0" lang="en-GB" sz="1800" b="0" i="0" u="none" strike="noStrike" kern="1200" cap="none" spc="0" normalizeH="0" baseline="0" noProof="0" dirty="0">
                  <a:ln>
                    <a:noFill/>
                  </a:ln>
                  <a:solidFill>
                    <a:srgbClr val="0000FF"/>
                  </a:solidFill>
                  <a:effectLst/>
                  <a:uLnTx/>
                  <a:uFillTx/>
                  <a:latin typeface="Calibri"/>
                  <a:ea typeface="+mn-ea"/>
                  <a:cs typeface="+mn-cs"/>
                </a:rPr>
                <a:t>utility nodes</a:t>
              </a:r>
            </a:p>
          </p:txBody>
        </p:sp>
        <p:cxnSp>
          <p:nvCxnSpPr>
            <p:cNvPr id="39" name="Straight Arrow Connector 38"/>
            <p:cNvCxnSpPr/>
            <p:nvPr/>
          </p:nvCxnSpPr>
          <p:spPr>
            <a:xfrm flipH="1" flipV="1">
              <a:off x="2035944" y="2759268"/>
              <a:ext cx="9100" cy="1569774"/>
            </a:xfrm>
            <a:prstGeom prst="straightConnector1">
              <a:avLst/>
            </a:prstGeom>
            <a:ln w="19050">
              <a:solidFill>
                <a:srgbClr val="0000FF"/>
              </a:solidFill>
              <a:headEnd type="none" w="med" len="med"/>
              <a:tailEnd type="triangle"/>
            </a:ln>
          </p:spPr>
          <p:style>
            <a:lnRef idx="1">
              <a:schemeClr val="accent2"/>
            </a:lnRef>
            <a:fillRef idx="0">
              <a:schemeClr val="accent2"/>
            </a:fillRef>
            <a:effectRef idx="0">
              <a:schemeClr val="accent2"/>
            </a:effectRef>
            <a:fontRef idx="minor">
              <a:schemeClr val="tx1"/>
            </a:fontRef>
          </p:style>
        </p:cxnSp>
      </p:grpSp>
      <p:cxnSp>
        <p:nvCxnSpPr>
          <p:cNvPr id="47" name="Straight Arrow Connector 46"/>
          <p:cNvCxnSpPr/>
          <p:nvPr/>
        </p:nvCxnSpPr>
        <p:spPr>
          <a:xfrm flipH="1">
            <a:off x="8184232" y="1757750"/>
            <a:ext cx="216024" cy="318133"/>
          </a:xfrm>
          <a:prstGeom prst="straightConnector1">
            <a:avLst/>
          </a:prstGeom>
          <a:ln w="19050">
            <a:solidFill>
              <a:schemeClr val="tx1"/>
            </a:solidFill>
            <a:prstDash val="sysDot"/>
            <a:headEnd type="none" w="med" len="med"/>
            <a:tailEnd type="triangle"/>
          </a:ln>
        </p:spPr>
        <p:style>
          <a:lnRef idx="1">
            <a:schemeClr val="accent2"/>
          </a:lnRef>
          <a:fillRef idx="0">
            <a:schemeClr val="accent2"/>
          </a:fillRef>
          <a:effectRef idx="0">
            <a:schemeClr val="accent2"/>
          </a:effectRef>
          <a:fontRef idx="minor">
            <a:schemeClr val="tx1"/>
          </a:fontRef>
        </p:style>
      </p:cxnSp>
      <p:grpSp>
        <p:nvGrpSpPr>
          <p:cNvPr id="48" name="Group 47"/>
          <p:cNvGrpSpPr/>
          <p:nvPr/>
        </p:nvGrpSpPr>
        <p:grpSpPr>
          <a:xfrm>
            <a:off x="8279544" y="1052736"/>
            <a:ext cx="2910131" cy="663867"/>
            <a:chOff x="8279544" y="1052736"/>
            <a:chExt cx="2910131" cy="663867"/>
          </a:xfrm>
        </p:grpSpPr>
        <p:sp>
          <p:nvSpPr>
            <p:cNvPr id="49" name="TextBox 48"/>
            <p:cNvSpPr txBox="1"/>
            <p:nvPr/>
          </p:nvSpPr>
          <p:spPr>
            <a:xfrm>
              <a:off x="8279544" y="1347271"/>
              <a:ext cx="29101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srgbClr val="00B050"/>
                  </a:solidFill>
                  <a:effectLst/>
                  <a:uLnTx/>
                  <a:uFillTx/>
                  <a:latin typeface="Calibri"/>
                  <a:ea typeface="+mn-ea"/>
                  <a:cs typeface="+mn-cs"/>
                </a:rPr>
                <a:t>V</a:t>
              </a:r>
              <a:r>
                <a:rPr kumimoji="0" lang="en-GB" sz="1800" b="0" i="1" u="none" strike="noStrike" kern="1200" cap="none" spc="0" normalizeH="0" baseline="-25000" noProof="0" dirty="0">
                  <a:ln>
                    <a:noFill/>
                  </a:ln>
                  <a:solidFill>
                    <a:srgbClr val="00B050"/>
                  </a:solidFill>
                  <a:effectLst/>
                  <a:uLnTx/>
                  <a:uFillTx/>
                  <a:latin typeface="Calibri"/>
                  <a:ea typeface="+mn-ea"/>
                  <a:cs typeface="+mn-cs"/>
                </a:rPr>
                <a:t>i</a:t>
              </a:r>
            </a:p>
          </p:txBody>
        </p:sp>
        <p:sp>
          <p:nvSpPr>
            <p:cNvPr id="50" name="TextBox 49"/>
            <p:cNvSpPr txBox="1"/>
            <p:nvPr/>
          </p:nvSpPr>
          <p:spPr>
            <a:xfrm>
              <a:off x="8279544" y="1052736"/>
              <a:ext cx="2208944" cy="361977"/>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Calibri"/>
                  <a:ea typeface="+mn-ea"/>
                  <a:cs typeface="+mn-cs"/>
                </a:rPr>
                <a:t>Nodes cast as utility</a:t>
              </a:r>
            </a:p>
          </p:txBody>
        </p:sp>
      </p:grpSp>
      <p:sp>
        <p:nvSpPr>
          <p:cNvPr id="11" name="TextBox 10">
            <a:extLst>
              <a:ext uri="{FF2B5EF4-FFF2-40B4-BE49-F238E27FC236}">
                <a16:creationId xmlns:a16="http://schemas.microsoft.com/office/drawing/2014/main" id="{B49D6747-D4F6-C545-70A1-DC8355AE93E2}"/>
              </a:ext>
            </a:extLst>
          </p:cNvPr>
          <p:cNvSpPr txBox="1"/>
          <p:nvPr/>
        </p:nvSpPr>
        <p:spPr>
          <a:xfrm>
            <a:off x="6444682" y="4213241"/>
            <a:ext cx="3250945" cy="584649"/>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MNL-part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(in MLP form)</a:t>
            </a:r>
          </a:p>
        </p:txBody>
      </p:sp>
      <p:sp>
        <p:nvSpPr>
          <p:cNvPr id="12" name="Line 2">
            <a:extLst>
              <a:ext uri="{FF2B5EF4-FFF2-40B4-BE49-F238E27FC236}">
                <a16:creationId xmlns:a16="http://schemas.microsoft.com/office/drawing/2014/main" id="{A60025FC-8E1D-2894-4354-DE96759FD4B0}"/>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CB6FFDFC-3F68-628C-D977-2AB8AD9AF21A}"/>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62222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sym typeface="Wingdings" panose="05000000000000000000" pitchFamily="2" charset="2"/>
              </a:rPr>
              <a:t>L-MNL model</a:t>
            </a: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44000" y="5580000"/>
            <a:ext cx="8576121" cy="92333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Use one hidden node per alternative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In MNL part, ensure the same weights are used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Use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softmax</a:t>
            </a:r>
            <a:r>
              <a:rPr kumimoji="0" lang="en-GB" sz="1800" b="0" i="0" u="none" strike="noStrike" kern="1200" cap="none" spc="0" normalizeH="0" baseline="0" noProof="0" dirty="0">
                <a:ln>
                  <a:noFill/>
                </a:ln>
                <a:solidFill>
                  <a:prstClr val="black"/>
                </a:solidFill>
                <a:effectLst/>
                <a:uLnTx/>
                <a:uFillTx/>
                <a:latin typeface="Calibri"/>
                <a:ea typeface="+mn-ea"/>
                <a:cs typeface="+mn-cs"/>
              </a:rPr>
              <a:t> function at output layer</a:t>
            </a:r>
          </a:p>
        </p:txBody>
      </p:sp>
      <p:pic>
        <p:nvPicPr>
          <p:cNvPr id="8" name="Picture 7"/>
          <p:cNvPicPr>
            <a:picLocks noChangeAspect="1"/>
          </p:cNvPicPr>
          <p:nvPr/>
        </p:nvPicPr>
        <p:blipFill>
          <a:blip r:embed="rId3"/>
          <a:stretch>
            <a:fillRect/>
          </a:stretch>
        </p:blipFill>
        <p:spPr>
          <a:xfrm>
            <a:off x="6456040" y="1507610"/>
            <a:ext cx="3228231" cy="2590723"/>
          </a:xfrm>
          <a:prstGeom prst="rect">
            <a:avLst/>
          </a:prstGeom>
        </p:spPr>
      </p:pic>
      <p:sp>
        <p:nvSpPr>
          <p:cNvPr id="14" name="TextBox 13"/>
          <p:cNvSpPr txBox="1"/>
          <p:nvPr/>
        </p:nvSpPr>
        <p:spPr>
          <a:xfrm>
            <a:off x="1044000" y="1260000"/>
            <a:ext cx="81512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Creating the L-MNL architecture</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7" name="Group 6"/>
          <p:cNvGrpSpPr/>
          <p:nvPr/>
        </p:nvGrpSpPr>
        <p:grpSpPr>
          <a:xfrm>
            <a:off x="7349370" y="1973805"/>
            <a:ext cx="143924" cy="1342418"/>
            <a:chOff x="7349370" y="1973805"/>
            <a:chExt cx="143924" cy="1342418"/>
          </a:xfrm>
        </p:grpSpPr>
        <p:cxnSp>
          <p:nvCxnSpPr>
            <p:cNvPr id="15" name="Straight Connector 14"/>
            <p:cNvCxnSpPr/>
            <p:nvPr/>
          </p:nvCxnSpPr>
          <p:spPr>
            <a:xfrm flipH="1">
              <a:off x="7392144" y="1973805"/>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6" name="Straight Connector 15"/>
            <p:cNvCxnSpPr/>
            <p:nvPr/>
          </p:nvCxnSpPr>
          <p:spPr>
            <a:xfrm flipH="1">
              <a:off x="7421286" y="1988840"/>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7" name="Straight Connector 16"/>
            <p:cNvCxnSpPr/>
            <p:nvPr/>
          </p:nvCxnSpPr>
          <p:spPr>
            <a:xfrm flipH="1">
              <a:off x="7392144"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8" name="Straight Connector 17"/>
            <p:cNvCxnSpPr/>
            <p:nvPr/>
          </p:nvCxnSpPr>
          <p:spPr>
            <a:xfrm flipH="1">
              <a:off x="7428148"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9" name="Straight Connector 18"/>
            <p:cNvCxnSpPr/>
            <p:nvPr/>
          </p:nvCxnSpPr>
          <p:spPr>
            <a:xfrm flipH="1">
              <a:off x="7385282"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0" name="Straight Connector 19"/>
            <p:cNvCxnSpPr/>
            <p:nvPr/>
          </p:nvCxnSpPr>
          <p:spPr>
            <a:xfrm flipH="1">
              <a:off x="7421286"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1" name="Straight Connector 20"/>
            <p:cNvCxnSpPr/>
            <p:nvPr/>
          </p:nvCxnSpPr>
          <p:spPr>
            <a:xfrm rot="16200000" flipH="1">
              <a:off x="7356888" y="3236697"/>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2" name="Straight Connector 21"/>
            <p:cNvCxnSpPr/>
            <p:nvPr/>
          </p:nvCxnSpPr>
          <p:spPr>
            <a:xfrm rot="16200000" flipH="1">
              <a:off x="7378512" y="3212340"/>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cxnSp>
        <p:nvCxnSpPr>
          <p:cNvPr id="24" name="Straight Arrow Connector 23"/>
          <p:cNvCxnSpPr/>
          <p:nvPr/>
        </p:nvCxnSpPr>
        <p:spPr>
          <a:xfrm flipH="1">
            <a:off x="8184232" y="1757750"/>
            <a:ext cx="216024" cy="318133"/>
          </a:xfrm>
          <a:prstGeom prst="straightConnector1">
            <a:avLst/>
          </a:prstGeom>
          <a:ln w="19050">
            <a:solidFill>
              <a:schemeClr val="tx1"/>
            </a:solidFill>
            <a:prstDash val="sysDot"/>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2" name="TextBox 11"/>
          <p:cNvSpPr txBox="1"/>
          <p:nvPr/>
        </p:nvSpPr>
        <p:spPr>
          <a:xfrm>
            <a:off x="6456040" y="1591172"/>
            <a:ext cx="475634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srgbClr val="00B050"/>
                </a:solidFill>
                <a:effectLst/>
                <a:uLnTx/>
                <a:uFillTx/>
                <a:latin typeface="Calibri"/>
                <a:ea typeface="+mn-ea"/>
                <a:cs typeface="+mn-cs"/>
              </a:rPr>
              <a:t>	V</a:t>
            </a:r>
            <a:r>
              <a:rPr kumimoji="0" lang="en-GB" sz="1800" b="0" i="1" u="none" strike="noStrike" kern="1200" cap="none" spc="0" normalizeH="0" baseline="-25000" noProof="0" dirty="0">
                <a:ln>
                  <a:noFill/>
                </a:ln>
                <a:solidFill>
                  <a:srgbClr val="00B050"/>
                </a:solidFill>
                <a:effectLst/>
                <a:uLnTx/>
                <a:uFillTx/>
                <a:latin typeface="Calibri"/>
                <a:ea typeface="+mn-ea"/>
                <a:cs typeface="+mn-cs"/>
              </a:rPr>
              <a:t>i</a:t>
            </a:r>
            <a:r>
              <a:rPr kumimoji="0" lang="en-GB" sz="1800" b="0" i="1" u="none" strike="noStrike" kern="1200" cap="none" spc="0" normalizeH="0" baseline="0" noProof="0" dirty="0">
                <a:ln>
                  <a:noFill/>
                </a:ln>
                <a:solidFill>
                  <a:srgbClr val="00B050"/>
                </a:solidFill>
                <a:effectLst/>
                <a:uLnTx/>
                <a:uFillTx/>
                <a:latin typeface="Calibri"/>
                <a:ea typeface="+mn-ea"/>
                <a:cs typeface="+mn-cs"/>
              </a:rPr>
              <a:t> = </a:t>
            </a:r>
            <a:r>
              <a:rPr kumimoji="0" lang="en-GB" sz="1800" b="0" i="1" u="none" strike="noStrike" kern="1200" cap="none" spc="0" normalizeH="0" baseline="0" noProof="0" dirty="0" err="1">
                <a:ln>
                  <a:noFill/>
                </a:ln>
                <a:solidFill>
                  <a:srgbClr val="00B050"/>
                </a:solidFill>
                <a:effectLst/>
                <a:uLnTx/>
                <a:uFillTx/>
                <a:latin typeface="Calibri"/>
                <a:ea typeface="+mn-ea"/>
                <a:cs typeface="+mn-cs"/>
              </a:rPr>
              <a:t>B</a:t>
            </a:r>
            <a:r>
              <a:rPr kumimoji="0" lang="en-GB" sz="1800" b="0" i="1" u="none" strike="noStrike" kern="1200" cap="none" spc="0" normalizeH="0" baseline="-25000" noProof="0" dirty="0" err="1">
                <a:ln>
                  <a:noFill/>
                </a:ln>
                <a:solidFill>
                  <a:srgbClr val="00B050"/>
                </a:solidFill>
                <a:effectLst/>
                <a:uLnTx/>
                <a:uFillTx/>
                <a:latin typeface="Calibri"/>
                <a:ea typeface="+mn-ea"/>
                <a:cs typeface="+mn-cs"/>
              </a:rPr>
              <a:t>TT</a:t>
            </a:r>
            <a:r>
              <a:rPr kumimoji="0" lang="en-GB" sz="1800" b="0" i="1" u="none" strike="noStrike" kern="1200" cap="none" spc="0" normalizeH="0" baseline="0" noProof="0" dirty="0" err="1">
                <a:ln>
                  <a:noFill/>
                </a:ln>
                <a:solidFill>
                  <a:srgbClr val="00B050"/>
                </a:solidFill>
                <a:effectLst/>
                <a:uLnTx/>
                <a:uFillTx/>
                <a:latin typeface="Calibri"/>
                <a:ea typeface="+mn-ea"/>
                <a:cs typeface="+mn-cs"/>
              </a:rPr>
              <a:t>TT</a:t>
            </a:r>
            <a:r>
              <a:rPr kumimoji="0" lang="en-GB" sz="1800" b="0" i="1" u="none" strike="noStrike" kern="1200" cap="none" spc="0" normalizeH="0" baseline="-25000" noProof="0" dirty="0" err="1">
                <a:ln>
                  <a:noFill/>
                </a:ln>
                <a:solidFill>
                  <a:srgbClr val="00B050"/>
                </a:solidFill>
                <a:effectLst/>
                <a:uLnTx/>
                <a:uFillTx/>
                <a:latin typeface="Calibri"/>
                <a:ea typeface="+mn-ea"/>
                <a:cs typeface="+mn-cs"/>
              </a:rPr>
              <a:t>i</a:t>
            </a:r>
            <a:r>
              <a:rPr kumimoji="0" lang="en-GB" sz="1800" b="0" i="1" u="none" strike="noStrike" kern="1200" cap="none" spc="0" normalizeH="0" baseline="0" noProof="0" dirty="0" err="1">
                <a:ln>
                  <a:noFill/>
                </a:ln>
                <a:solidFill>
                  <a:srgbClr val="00B050"/>
                </a:solidFill>
                <a:effectLst/>
                <a:uLnTx/>
                <a:uFillTx/>
                <a:latin typeface="Calibri"/>
                <a:ea typeface="+mn-ea"/>
                <a:cs typeface="+mn-cs"/>
              </a:rPr>
              <a:t>+B</a:t>
            </a:r>
            <a:r>
              <a:rPr kumimoji="0" lang="en-GB" sz="1800" b="0" i="1" u="none" strike="noStrike" kern="1200" cap="none" spc="0" normalizeH="0" baseline="-25000" noProof="0" dirty="0" err="1">
                <a:ln>
                  <a:noFill/>
                </a:ln>
                <a:solidFill>
                  <a:srgbClr val="00B050"/>
                </a:solidFill>
                <a:effectLst/>
                <a:uLnTx/>
                <a:uFillTx/>
                <a:latin typeface="Calibri"/>
                <a:ea typeface="+mn-ea"/>
                <a:cs typeface="+mn-cs"/>
              </a:rPr>
              <a:t>TC</a:t>
            </a:r>
            <a:r>
              <a:rPr kumimoji="0" lang="en-GB" sz="1800" b="0" i="1" u="none" strike="noStrike" kern="1200" cap="none" spc="0" normalizeH="0" baseline="0" noProof="0" dirty="0" err="1">
                <a:ln>
                  <a:noFill/>
                </a:ln>
                <a:solidFill>
                  <a:srgbClr val="00B050"/>
                </a:solidFill>
                <a:effectLst/>
                <a:uLnTx/>
                <a:uFillTx/>
                <a:latin typeface="Calibri"/>
                <a:ea typeface="+mn-ea"/>
                <a:cs typeface="+mn-cs"/>
              </a:rPr>
              <a:t>TC</a:t>
            </a:r>
            <a:r>
              <a:rPr kumimoji="0" lang="en-GB" sz="1800" b="0" i="1" u="none" strike="noStrike" kern="1200" cap="none" spc="0" normalizeH="0" baseline="-25000" noProof="0" dirty="0" err="1">
                <a:ln>
                  <a:noFill/>
                </a:ln>
                <a:solidFill>
                  <a:srgbClr val="00B050"/>
                </a:solidFill>
                <a:effectLst/>
                <a:uLnTx/>
                <a:uFillTx/>
                <a:latin typeface="Calibri"/>
                <a:ea typeface="+mn-ea"/>
                <a:cs typeface="+mn-cs"/>
              </a:rPr>
              <a:t>i</a:t>
            </a:r>
            <a:endParaRPr kumimoji="0" lang="en-GB" sz="1800" b="0" i="1" u="none" strike="noStrike" kern="1200" cap="none" spc="0" normalizeH="0" baseline="-25000" noProof="0" dirty="0">
              <a:ln>
                <a:noFill/>
              </a:ln>
              <a:solidFill>
                <a:srgbClr val="00B050"/>
              </a:solidFill>
              <a:effectLst/>
              <a:uLnTx/>
              <a:uFillTx/>
              <a:latin typeface="Calibri"/>
              <a:ea typeface="+mn-ea"/>
              <a:cs typeface="+mn-cs"/>
            </a:endParaRPr>
          </a:p>
        </p:txBody>
      </p:sp>
      <p:sp>
        <p:nvSpPr>
          <p:cNvPr id="25" name="TextBox 24"/>
          <p:cNvSpPr txBox="1"/>
          <p:nvPr/>
        </p:nvSpPr>
        <p:spPr>
          <a:xfrm>
            <a:off x="8302258" y="1296637"/>
            <a:ext cx="2208944" cy="361977"/>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Calibri"/>
                <a:ea typeface="+mn-ea"/>
                <a:cs typeface="+mn-cs"/>
              </a:rPr>
              <a:t>Nodes cast as utility</a:t>
            </a:r>
          </a:p>
        </p:txBody>
      </p:sp>
      <p:sp>
        <p:nvSpPr>
          <p:cNvPr id="30" name="TextBox 29"/>
          <p:cNvSpPr txBox="1"/>
          <p:nvPr/>
        </p:nvSpPr>
        <p:spPr>
          <a:xfrm>
            <a:off x="6444682" y="4213241"/>
            <a:ext cx="3250945" cy="584649"/>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MNL-part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(in MLP form)</a:t>
            </a:r>
          </a:p>
        </p:txBody>
      </p:sp>
      <p:graphicFrame>
        <p:nvGraphicFramePr>
          <p:cNvPr id="9" name="Object 8"/>
          <p:cNvGraphicFramePr>
            <a:graphicFrameLocks noChangeAspect="1"/>
          </p:cNvGraphicFramePr>
          <p:nvPr/>
        </p:nvGraphicFramePr>
        <p:xfrm>
          <a:off x="2003599" y="1924020"/>
          <a:ext cx="1795752" cy="690674"/>
        </p:xfrm>
        <a:graphic>
          <a:graphicData uri="http://schemas.openxmlformats.org/presentationml/2006/ole">
            <mc:AlternateContent xmlns:mc="http://schemas.openxmlformats.org/markup-compatibility/2006">
              <mc:Choice xmlns:v="urn:schemas-microsoft-com:vml" Requires="v">
                <p:oleObj name="Equation" r:id="rId4" imgW="825480" imgH="317160" progId="Equation.DSMT4">
                  <p:embed/>
                </p:oleObj>
              </mc:Choice>
              <mc:Fallback>
                <p:oleObj name="Equation" r:id="rId4" imgW="825480" imgH="317160" progId="Equation.DSMT4">
                  <p:embed/>
                  <p:pic>
                    <p:nvPicPr>
                      <p:cNvPr id="9" name="Object 8"/>
                      <p:cNvPicPr/>
                      <p:nvPr/>
                    </p:nvPicPr>
                    <p:blipFill>
                      <a:blip r:embed="rId5"/>
                      <a:stretch>
                        <a:fillRect/>
                      </a:stretch>
                    </p:blipFill>
                    <p:spPr>
                      <a:xfrm>
                        <a:off x="2003599" y="1924020"/>
                        <a:ext cx="1795752" cy="690674"/>
                      </a:xfrm>
                      <a:prstGeom prst="rect">
                        <a:avLst/>
                      </a:prstGeom>
                    </p:spPr>
                  </p:pic>
                </p:oleObj>
              </mc:Fallback>
            </mc:AlternateContent>
          </a:graphicData>
        </a:graphic>
      </p:graphicFrame>
      <p:grpSp>
        <p:nvGrpSpPr>
          <p:cNvPr id="42" name="Group 41"/>
          <p:cNvGrpSpPr/>
          <p:nvPr/>
        </p:nvGrpSpPr>
        <p:grpSpPr>
          <a:xfrm>
            <a:off x="2336089" y="1732942"/>
            <a:ext cx="5365520" cy="4486122"/>
            <a:chOff x="2336089" y="1732942"/>
            <a:chExt cx="5365520" cy="4486122"/>
          </a:xfrm>
        </p:grpSpPr>
        <p:sp>
          <p:nvSpPr>
            <p:cNvPr id="11" name="Right Brace 10"/>
            <p:cNvSpPr/>
            <p:nvPr/>
          </p:nvSpPr>
          <p:spPr>
            <a:xfrm rot="5400000">
              <a:off x="2957639" y="2067670"/>
              <a:ext cx="379672" cy="1303751"/>
            </a:xfrm>
            <a:prstGeom prst="rightBrace">
              <a:avLst/>
            </a:prstGeom>
            <a:ln w="19050">
              <a:solidFill>
                <a:srgbClr val="0000FF"/>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p:cNvSpPr txBox="1"/>
            <p:nvPr/>
          </p:nvSpPr>
          <p:spPr>
            <a:xfrm>
              <a:off x="2336089" y="2932910"/>
              <a:ext cx="3426634" cy="4971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FF"/>
                  </a:solidFill>
                  <a:effectLst/>
                  <a:uLnTx/>
                  <a:uFillTx/>
                  <a:latin typeface="Calibri"/>
                  <a:ea typeface="+mn-ea"/>
                  <a:cs typeface="+mn-cs"/>
                </a:rPr>
                <a:t>In an RUM-MNL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l-GR" sz="1800" b="0" i="0" u="none" strike="noStrike" kern="1200" cap="none" spc="0" normalizeH="0" baseline="0" noProof="0" dirty="0">
                  <a:ln>
                    <a:noFill/>
                  </a:ln>
                  <a:solidFill>
                    <a:srgbClr val="0000FF"/>
                  </a:solidFill>
                  <a:effectLst/>
                  <a:uLnTx/>
                  <a:uFillTx/>
                  <a:latin typeface="Calibri"/>
                  <a:ea typeface="+mn-ea"/>
                  <a:cs typeface="+mn-cs"/>
                </a:rPr>
                <a:t>β</a:t>
              </a:r>
              <a:r>
                <a:rPr kumimoji="0" lang="en-GB" sz="1800" b="0" i="0" u="none" strike="noStrike" kern="1200" cap="none" spc="0" normalizeH="0" baseline="-25000" noProof="0" dirty="0">
                  <a:ln>
                    <a:noFill/>
                  </a:ln>
                  <a:solidFill>
                    <a:srgbClr val="0000FF"/>
                  </a:solidFill>
                  <a:effectLst/>
                  <a:uLnTx/>
                  <a:uFillTx/>
                  <a:latin typeface="Calibri"/>
                  <a:ea typeface="+mn-ea"/>
                  <a:cs typeface="+mn-cs"/>
                </a:rPr>
                <a:t>m</a:t>
              </a:r>
              <a:r>
                <a:rPr kumimoji="0" lang="en-GB" sz="1800" b="0" i="0" u="none" strike="noStrike" kern="1200" cap="none" spc="0" normalizeH="0" baseline="0" noProof="0" dirty="0">
                  <a:ln>
                    <a:noFill/>
                  </a:ln>
                  <a:solidFill>
                    <a:srgbClr val="0000FF"/>
                  </a:solidFill>
                  <a:effectLst/>
                  <a:uLnTx/>
                  <a:uFillTx/>
                  <a:latin typeface="Calibri"/>
                  <a:ea typeface="+mn-ea"/>
                  <a:cs typeface="+mn-cs"/>
                </a:rPr>
                <a:t> applies to every alternative </a:t>
              </a:r>
              <a:r>
                <a:rPr kumimoji="0" lang="en-GB" sz="1800" b="0" i="1" u="none" strike="noStrike" kern="1200" cap="none" spc="0" normalizeH="0" baseline="0" noProof="0" dirty="0" err="1">
                  <a:ln>
                    <a:noFill/>
                  </a:ln>
                  <a:solidFill>
                    <a:srgbClr val="0000FF"/>
                  </a:solidFill>
                  <a:effectLst/>
                  <a:uLnTx/>
                  <a:uFillTx/>
                  <a:latin typeface="Calibri"/>
                  <a:ea typeface="+mn-ea"/>
                  <a:cs typeface="+mn-cs"/>
                </a:rPr>
                <a:t>i</a:t>
              </a:r>
              <a:endParaRPr kumimoji="0" lang="en-GB" sz="1800" b="0" i="1" u="none" strike="noStrike" kern="1200" cap="none" spc="0" normalizeH="0" baseline="0" noProof="0" dirty="0">
                <a:ln>
                  <a:noFill/>
                </a:ln>
                <a:solidFill>
                  <a:srgbClr val="0000FF"/>
                </a:solidFill>
                <a:effectLst/>
                <a:uLnTx/>
                <a:uFillTx/>
                <a:latin typeface="Calibri"/>
                <a:ea typeface="+mn-ea"/>
                <a:cs typeface="+mn-cs"/>
              </a:endParaRPr>
            </a:p>
          </p:txBody>
        </p:sp>
        <p:sp>
          <p:nvSpPr>
            <p:cNvPr id="23" name="Right Arrow 22"/>
            <p:cNvSpPr/>
            <p:nvPr/>
          </p:nvSpPr>
          <p:spPr>
            <a:xfrm>
              <a:off x="5332060" y="2435289"/>
              <a:ext cx="576064" cy="474093"/>
            </a:xfrm>
            <a:prstGeom prst="rightArrow">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ounded Rectangle 26"/>
            <p:cNvSpPr/>
            <p:nvPr/>
          </p:nvSpPr>
          <p:spPr>
            <a:xfrm>
              <a:off x="2717066" y="5849784"/>
              <a:ext cx="3294093" cy="369280"/>
            </a:xfrm>
            <a:prstGeom prst="round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Oval 30"/>
            <p:cNvSpPr/>
            <p:nvPr/>
          </p:nvSpPr>
          <p:spPr>
            <a:xfrm>
              <a:off x="7226695" y="1732942"/>
              <a:ext cx="474914" cy="1834611"/>
            </a:xfrm>
            <a:prstGeom prst="ellipse">
              <a:avLst/>
            </a:prstGeom>
            <a:noFill/>
            <a:ln w="1905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3" name="Straight Arrow Connector 32"/>
            <p:cNvCxnSpPr>
              <a:cxnSpLocks/>
              <a:stCxn id="27" idx="0"/>
            </p:cNvCxnSpPr>
            <p:nvPr/>
          </p:nvCxnSpPr>
          <p:spPr>
            <a:xfrm flipV="1">
              <a:off x="4364113" y="3567553"/>
              <a:ext cx="2985257" cy="2282231"/>
            </a:xfrm>
            <a:prstGeom prst="straightConnector1">
              <a:avLst/>
            </a:prstGeom>
            <a:ln w="19050">
              <a:solidFill>
                <a:srgbClr val="0000FF"/>
              </a:solidFill>
              <a:headEnd type="none" w="med" len="med"/>
              <a:tailEnd type="triangle"/>
            </a:ln>
          </p:spPr>
          <p:style>
            <a:lnRef idx="1">
              <a:schemeClr val="accent2"/>
            </a:lnRef>
            <a:fillRef idx="0">
              <a:schemeClr val="accent2"/>
            </a:fillRef>
            <a:effectRef idx="0">
              <a:schemeClr val="accent2"/>
            </a:effectRef>
            <a:fontRef idx="minor">
              <a:schemeClr val="tx1"/>
            </a:fontRef>
          </p:style>
        </p:cxnSp>
      </p:grpSp>
      <p:sp>
        <p:nvSpPr>
          <p:cNvPr id="26" name="TextBox 25">
            <a:extLst>
              <a:ext uri="{FF2B5EF4-FFF2-40B4-BE49-F238E27FC236}">
                <a16:creationId xmlns:a16="http://schemas.microsoft.com/office/drawing/2014/main" id="{194D742D-59A3-AE88-E021-F9D9460FD89B}"/>
              </a:ext>
            </a:extLst>
          </p:cNvPr>
          <p:cNvSpPr txBox="1"/>
          <p:nvPr/>
        </p:nvSpPr>
        <p:spPr>
          <a:xfrm>
            <a:off x="7904865" y="663543"/>
            <a:ext cx="3962250" cy="71333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B050"/>
                </a:solidFill>
                <a:effectLst/>
                <a:uLnTx/>
                <a:uFillTx/>
                <a:latin typeface="Calibri"/>
                <a:ea typeface="+mn-ea"/>
                <a:cs typeface="+mn-cs"/>
              </a:rPr>
              <a:t>No arrows </a:t>
            </a:r>
            <a:r>
              <a:rPr kumimoji="0" lang="en-GB" sz="1800" b="0" i="0" u="none" strike="noStrike" kern="1200" cap="none" spc="0" normalizeH="0" baseline="0" noProof="0" dirty="0">
                <a:ln>
                  <a:noFill/>
                </a:ln>
                <a:solidFill>
                  <a:srgbClr val="00B050"/>
                </a:solidFill>
                <a:effectLst/>
                <a:uLnTx/>
                <a:uFillTx/>
                <a:latin typeface="Calibri"/>
                <a:ea typeface="+mn-ea"/>
                <a:cs typeface="+mn-cs"/>
              </a:rPr>
              <a:t>between attributes of alt </a:t>
            </a:r>
            <a:r>
              <a:rPr kumimoji="0" lang="en-GB" sz="1800" b="0" i="1" u="none" strike="noStrike" kern="1200" cap="none" spc="0" normalizeH="0" baseline="0" noProof="0" dirty="0">
                <a:ln>
                  <a:noFill/>
                </a:ln>
                <a:solidFill>
                  <a:srgbClr val="00B050"/>
                </a:solidFill>
                <a:effectLst/>
                <a:uLnTx/>
                <a:uFillTx/>
                <a:latin typeface="Calibri"/>
                <a:ea typeface="+mn-ea"/>
                <a:cs typeface="+mn-cs"/>
              </a:rPr>
              <a:t>j</a:t>
            </a:r>
            <a:r>
              <a:rPr kumimoji="0" lang="en-GB" sz="1800" b="0" i="0" u="none" strike="noStrike" kern="1200" cap="none" spc="0" normalizeH="0" baseline="0" noProof="0" dirty="0">
                <a:ln>
                  <a:noFill/>
                </a:ln>
                <a:solidFill>
                  <a:srgbClr val="00B050"/>
                </a:solidFill>
                <a:effectLst/>
                <a:uLnTx/>
                <a:uFillTx/>
                <a:latin typeface="Calibri"/>
                <a:ea typeface="+mn-ea"/>
                <a:cs typeface="+mn-cs"/>
              </a:rPr>
              <a:t> and the utility of alt </a:t>
            </a:r>
            <a:r>
              <a:rPr kumimoji="0" lang="en-GB" sz="1800" b="0" i="1" u="none" strike="noStrike" kern="1200" cap="none" spc="0" normalizeH="0" baseline="0" noProof="0" dirty="0" err="1">
                <a:ln>
                  <a:noFill/>
                </a:ln>
                <a:solidFill>
                  <a:srgbClr val="00B050"/>
                </a:solidFill>
                <a:effectLst/>
                <a:uLnTx/>
                <a:uFillTx/>
                <a:latin typeface="Calibri"/>
                <a:ea typeface="+mn-ea"/>
                <a:cs typeface="+mn-cs"/>
              </a:rPr>
              <a:t>i</a:t>
            </a:r>
            <a:endParaRPr kumimoji="0" lang="en-GB" sz="1800" b="0" i="1" u="none" strike="noStrike" kern="1200" cap="none" spc="0" normalizeH="0" baseline="0" noProof="0" dirty="0">
              <a:ln>
                <a:noFill/>
              </a:ln>
              <a:solidFill>
                <a:srgbClr val="00B050"/>
              </a:solidFill>
              <a:effectLst/>
              <a:uLnTx/>
              <a:uFillTx/>
              <a:latin typeface="Calibri"/>
              <a:ea typeface="+mn-ea"/>
              <a:cs typeface="+mn-cs"/>
            </a:endParaRPr>
          </a:p>
        </p:txBody>
      </p:sp>
      <p:cxnSp>
        <p:nvCxnSpPr>
          <p:cNvPr id="28" name="Straight Arrow Connector 27">
            <a:extLst>
              <a:ext uri="{FF2B5EF4-FFF2-40B4-BE49-F238E27FC236}">
                <a16:creationId xmlns:a16="http://schemas.microsoft.com/office/drawing/2014/main" id="{8C840480-2776-5C01-3CAE-86C996CA9800}"/>
              </a:ext>
            </a:extLst>
          </p:cNvPr>
          <p:cNvCxnSpPr>
            <a:cxnSpLocks/>
          </p:cNvCxnSpPr>
          <p:nvPr/>
        </p:nvCxnSpPr>
        <p:spPr>
          <a:xfrm flipH="1">
            <a:off x="7739576" y="1260000"/>
            <a:ext cx="330578" cy="632008"/>
          </a:xfrm>
          <a:prstGeom prst="straightConnector1">
            <a:avLst/>
          </a:prstGeom>
          <a:ln w="19050">
            <a:solidFill>
              <a:schemeClr val="tx1"/>
            </a:solidFill>
            <a:prstDash val="sysDot"/>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9" name="Line 2">
            <a:extLst>
              <a:ext uri="{FF2B5EF4-FFF2-40B4-BE49-F238E27FC236}">
                <a16:creationId xmlns:a16="http://schemas.microsoft.com/office/drawing/2014/main" id="{EF564C83-7C2F-E012-6631-3C81BE48EAA1}"/>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32" name="Line 2">
            <a:extLst>
              <a:ext uri="{FF2B5EF4-FFF2-40B4-BE49-F238E27FC236}">
                <a16:creationId xmlns:a16="http://schemas.microsoft.com/office/drawing/2014/main" id="{76D78D94-CFB6-015F-E7C8-43A978BF0006}"/>
              </a:ext>
            </a:extLst>
          </p:cNvPr>
          <p:cNvSpPr/>
          <p:nvPr/>
        </p:nvSpPr>
        <p:spPr>
          <a:xfrm>
            <a:off x="513273" y="1027440"/>
            <a:ext cx="7315200"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3047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42"/>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42"/>
                                        </p:tgtEl>
                                      </p:cBhvr>
                                    </p:animEffect>
                                    <p:set>
                                      <p:cBhvr>
                                        <p:cTn id="16" dur="1" fill="hold">
                                          <p:stCondLst>
                                            <p:cond delay="499"/>
                                          </p:stCondLst>
                                        </p:cTn>
                                        <p:tgtEl>
                                          <p:spTgt spid="42"/>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42"/>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sym typeface="Wingdings" panose="05000000000000000000" pitchFamily="2" charset="2"/>
              </a:rPr>
              <a:t>L-MNL model</a:t>
            </a: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44000" y="5580000"/>
            <a:ext cx="8576121" cy="92333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Use one hidden node per alternative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In MNL part, ensure the same weights are used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Use </a:t>
            </a:r>
            <a:r>
              <a:rPr kumimoji="0" lang="en-GB" sz="1800" b="1" i="0" u="none" strike="noStrike" kern="1200" cap="none" spc="0" normalizeH="0" baseline="0" noProof="0" dirty="0" err="1">
                <a:ln>
                  <a:noFill/>
                </a:ln>
                <a:solidFill>
                  <a:prstClr val="black"/>
                </a:solidFill>
                <a:effectLst/>
                <a:uLnTx/>
                <a:uFillTx/>
                <a:latin typeface="Calibri"/>
                <a:ea typeface="+mn-ea"/>
                <a:cs typeface="+mn-cs"/>
              </a:rPr>
              <a:t>softmax</a:t>
            </a:r>
            <a:r>
              <a:rPr kumimoji="0" lang="en-GB" sz="1800" b="1" i="0" u="none" strike="noStrike" kern="1200" cap="none" spc="0" normalizeH="0" baseline="0" noProof="0" dirty="0">
                <a:ln>
                  <a:noFill/>
                </a:ln>
                <a:solidFill>
                  <a:prstClr val="black"/>
                </a:solidFill>
                <a:effectLst/>
                <a:uLnTx/>
                <a:uFillTx/>
                <a:latin typeface="Calibri"/>
                <a:ea typeface="+mn-ea"/>
                <a:cs typeface="+mn-cs"/>
              </a:rPr>
              <a:t> function at output layer</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7" name="Object 6"/>
          <p:cNvGraphicFramePr>
            <a:graphicFrameLocks noChangeAspect="1"/>
          </p:cNvGraphicFramePr>
          <p:nvPr/>
        </p:nvGraphicFramePr>
        <p:xfrm>
          <a:off x="8597888" y="1047986"/>
          <a:ext cx="1086383" cy="919247"/>
        </p:xfrm>
        <a:graphic>
          <a:graphicData uri="http://schemas.openxmlformats.org/presentationml/2006/ole">
            <mc:AlternateContent xmlns:mc="http://schemas.openxmlformats.org/markup-compatibility/2006">
              <mc:Choice xmlns:v="urn:schemas-microsoft-com:vml" Requires="v">
                <p:oleObj name="Equation" r:id="rId3" imgW="660240" imgH="558720" progId="Equation.DSMT4">
                  <p:embed/>
                </p:oleObj>
              </mc:Choice>
              <mc:Fallback>
                <p:oleObj name="Equation" r:id="rId3" imgW="660240" imgH="558720" progId="Equation.DSMT4">
                  <p:embed/>
                  <p:pic>
                    <p:nvPicPr>
                      <p:cNvPr id="7" name="Object 6"/>
                      <p:cNvPicPr/>
                      <p:nvPr/>
                    </p:nvPicPr>
                    <p:blipFill>
                      <a:blip r:embed="rId4"/>
                      <a:stretch>
                        <a:fillRect/>
                      </a:stretch>
                    </p:blipFill>
                    <p:spPr>
                      <a:xfrm>
                        <a:off x="8597888" y="1047986"/>
                        <a:ext cx="1086383" cy="919247"/>
                      </a:xfrm>
                      <a:prstGeom prst="rect">
                        <a:avLst/>
                      </a:prstGeom>
                    </p:spPr>
                  </p:pic>
                </p:oleObj>
              </mc:Fallback>
            </mc:AlternateContent>
          </a:graphicData>
        </a:graphic>
      </p:graphicFrame>
      <p:pic>
        <p:nvPicPr>
          <p:cNvPr id="14" name="Picture 13"/>
          <p:cNvPicPr>
            <a:picLocks noChangeAspect="1"/>
          </p:cNvPicPr>
          <p:nvPr/>
        </p:nvPicPr>
        <p:blipFill>
          <a:blip r:embed="rId5"/>
          <a:stretch>
            <a:fillRect/>
          </a:stretch>
        </p:blipFill>
        <p:spPr>
          <a:xfrm>
            <a:off x="6456040" y="1507610"/>
            <a:ext cx="3228231" cy="2590723"/>
          </a:xfrm>
          <a:prstGeom prst="rect">
            <a:avLst/>
          </a:prstGeom>
        </p:spPr>
      </p:pic>
      <p:grpSp>
        <p:nvGrpSpPr>
          <p:cNvPr id="17" name="Group 16"/>
          <p:cNvGrpSpPr/>
          <p:nvPr/>
        </p:nvGrpSpPr>
        <p:grpSpPr>
          <a:xfrm>
            <a:off x="7349370" y="1973805"/>
            <a:ext cx="143924" cy="1342418"/>
            <a:chOff x="7349370" y="1973805"/>
            <a:chExt cx="143924" cy="1342418"/>
          </a:xfrm>
        </p:grpSpPr>
        <p:cxnSp>
          <p:nvCxnSpPr>
            <p:cNvPr id="18" name="Straight Connector 17"/>
            <p:cNvCxnSpPr/>
            <p:nvPr/>
          </p:nvCxnSpPr>
          <p:spPr>
            <a:xfrm flipH="1">
              <a:off x="7392144" y="1973805"/>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9" name="Straight Connector 18"/>
            <p:cNvCxnSpPr/>
            <p:nvPr/>
          </p:nvCxnSpPr>
          <p:spPr>
            <a:xfrm flipH="1">
              <a:off x="7421286" y="1988840"/>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0" name="Straight Connector 19"/>
            <p:cNvCxnSpPr/>
            <p:nvPr/>
          </p:nvCxnSpPr>
          <p:spPr>
            <a:xfrm flipH="1">
              <a:off x="7392144"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1" name="Straight Connector 20"/>
            <p:cNvCxnSpPr/>
            <p:nvPr/>
          </p:nvCxnSpPr>
          <p:spPr>
            <a:xfrm flipH="1">
              <a:off x="7428148"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2" name="Straight Connector 21"/>
            <p:cNvCxnSpPr/>
            <p:nvPr/>
          </p:nvCxnSpPr>
          <p:spPr>
            <a:xfrm flipH="1">
              <a:off x="7385282"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3" name="Straight Connector 22"/>
            <p:cNvCxnSpPr/>
            <p:nvPr/>
          </p:nvCxnSpPr>
          <p:spPr>
            <a:xfrm flipH="1">
              <a:off x="7421286"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4" name="Straight Connector 23"/>
            <p:cNvCxnSpPr/>
            <p:nvPr/>
          </p:nvCxnSpPr>
          <p:spPr>
            <a:xfrm rot="16200000" flipH="1">
              <a:off x="7356888" y="3236697"/>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5" name="Straight Connector 24"/>
            <p:cNvCxnSpPr/>
            <p:nvPr/>
          </p:nvCxnSpPr>
          <p:spPr>
            <a:xfrm rot="16200000" flipH="1">
              <a:off x="7378512" y="3212340"/>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26" name="TextBox 25"/>
          <p:cNvSpPr txBox="1"/>
          <p:nvPr/>
        </p:nvSpPr>
        <p:spPr>
          <a:xfrm>
            <a:off x="1044000" y="1260000"/>
            <a:ext cx="81512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Creating the L-MNL architecture</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1F5D4704-BC57-A07D-4807-3E78C07B2087}"/>
              </a:ext>
            </a:extLst>
          </p:cNvPr>
          <p:cNvSpPr txBox="1"/>
          <p:nvPr/>
        </p:nvSpPr>
        <p:spPr>
          <a:xfrm>
            <a:off x="6444682" y="4213241"/>
            <a:ext cx="3250945" cy="584649"/>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MNL-part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(in MLP form)</a:t>
            </a:r>
          </a:p>
        </p:txBody>
      </p:sp>
      <p:sp>
        <p:nvSpPr>
          <p:cNvPr id="9" name="Line 2">
            <a:extLst>
              <a:ext uri="{FF2B5EF4-FFF2-40B4-BE49-F238E27FC236}">
                <a16:creationId xmlns:a16="http://schemas.microsoft.com/office/drawing/2014/main" id="{B3C05A19-3629-CD39-4063-128B9639750D}"/>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2FEBB5B9-A7ED-CE9C-5050-AE82272CD4D8}"/>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109441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sym typeface="Wingdings" panose="05000000000000000000" pitchFamily="2" charset="2"/>
              </a:rPr>
              <a:t>L-MNL model</a:t>
            </a: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44000" y="5580000"/>
            <a:ext cx="8576121" cy="120032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Use one hidden node per alternative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In MNL part, ensure the same weights are used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Use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softmax</a:t>
            </a:r>
            <a:r>
              <a:rPr kumimoji="0" lang="en-GB" sz="1800" b="0" i="0" u="none" strike="noStrike" kern="1200" cap="none" spc="0" normalizeH="0" baseline="0" noProof="0" dirty="0">
                <a:ln>
                  <a:noFill/>
                </a:ln>
                <a:solidFill>
                  <a:prstClr val="black"/>
                </a:solidFill>
                <a:effectLst/>
                <a:uLnTx/>
                <a:uFillTx/>
                <a:latin typeface="Calibri"/>
                <a:ea typeface="+mn-ea"/>
                <a:cs typeface="+mn-cs"/>
              </a:rPr>
              <a:t> function at output layer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Use MLP for variables not of </a:t>
            </a:r>
            <a:r>
              <a:rPr kumimoji="0" lang="en-GB" sz="1800" b="1" i="0" u="none" strike="noStrike" kern="1200" cap="none" spc="0" normalizeH="0" baseline="0" noProof="0" dirty="0" err="1">
                <a:ln>
                  <a:noFill/>
                </a:ln>
                <a:solidFill>
                  <a:prstClr val="black"/>
                </a:solidFill>
                <a:effectLst/>
                <a:uLnTx/>
                <a:uFillTx/>
                <a:latin typeface="Calibri"/>
                <a:ea typeface="+mn-ea"/>
                <a:cs typeface="+mn-cs"/>
              </a:rPr>
              <a:t>beh</a:t>
            </a:r>
            <a:r>
              <a:rPr kumimoji="0" lang="en-GB" sz="1800" b="1" i="0" u="none" strike="noStrike" kern="1200" cap="none" spc="0" normalizeH="0" baseline="0" noProof="0" dirty="0">
                <a:ln>
                  <a:noFill/>
                </a:ln>
                <a:solidFill>
                  <a:prstClr val="black"/>
                </a:solidFill>
                <a:effectLst/>
                <a:uLnTx/>
                <a:uFillTx/>
                <a:latin typeface="Calibri"/>
                <a:ea typeface="+mn-ea"/>
                <a:cs typeface="+mn-cs"/>
              </a:rPr>
              <a:t>. interest and add its outputs to the utility nodes</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7" name="Group 6"/>
          <p:cNvGrpSpPr/>
          <p:nvPr/>
        </p:nvGrpSpPr>
        <p:grpSpPr>
          <a:xfrm>
            <a:off x="2157585" y="2570483"/>
            <a:ext cx="4010424" cy="3058467"/>
            <a:chOff x="3035745" y="3809832"/>
            <a:chExt cx="4010424" cy="3058467"/>
          </a:xfrm>
        </p:grpSpPr>
        <p:grpSp>
          <p:nvGrpSpPr>
            <p:cNvPr id="51" name="Group 50"/>
            <p:cNvGrpSpPr/>
            <p:nvPr/>
          </p:nvGrpSpPr>
          <p:grpSpPr>
            <a:xfrm>
              <a:off x="4375054" y="3830970"/>
              <a:ext cx="2354584" cy="2019909"/>
              <a:chOff x="6737254" y="4120085"/>
              <a:chExt cx="2354584" cy="2019909"/>
            </a:xfrm>
          </p:grpSpPr>
          <p:grpSp>
            <p:nvGrpSpPr>
              <p:cNvPr id="52" name="Group 51"/>
              <p:cNvGrpSpPr/>
              <p:nvPr/>
            </p:nvGrpSpPr>
            <p:grpSpPr>
              <a:xfrm>
                <a:off x="6737254" y="4120085"/>
                <a:ext cx="2354584" cy="2019909"/>
                <a:chOff x="7687486" y="4073387"/>
                <a:chExt cx="2354584" cy="2019909"/>
              </a:xfrm>
            </p:grpSpPr>
            <p:pic>
              <p:nvPicPr>
                <p:cNvPr id="57" name="Picture 56"/>
                <p:cNvPicPr>
                  <a:picLocks noChangeAspect="1"/>
                </p:cNvPicPr>
                <p:nvPr/>
              </p:nvPicPr>
              <p:blipFill rotWithShape="1">
                <a:blip r:embed="rId3"/>
                <a:srcRect l="-1998" t="1251" r="42493" b="11355"/>
                <a:stretch/>
              </p:blipFill>
              <p:spPr>
                <a:xfrm>
                  <a:off x="7687486" y="4073387"/>
                  <a:ext cx="1713739" cy="2019909"/>
                </a:xfrm>
                <a:prstGeom prst="rect">
                  <a:avLst/>
                </a:prstGeom>
              </p:spPr>
            </p:pic>
            <p:pic>
              <p:nvPicPr>
                <p:cNvPr id="58" name="Picture 57"/>
                <p:cNvPicPr>
                  <a:picLocks noChangeAspect="1"/>
                </p:cNvPicPr>
                <p:nvPr/>
              </p:nvPicPr>
              <p:blipFill rotWithShape="1">
                <a:blip r:embed="rId3"/>
                <a:srcRect l="43004" t="21329" r="42493" b="35054"/>
                <a:stretch/>
              </p:blipFill>
              <p:spPr>
                <a:xfrm>
                  <a:off x="9624392" y="4541056"/>
                  <a:ext cx="417678" cy="1008113"/>
                </a:xfrm>
                <a:prstGeom prst="rect">
                  <a:avLst/>
                </a:prstGeom>
              </p:spPr>
            </p:pic>
            <p:cxnSp>
              <p:nvCxnSpPr>
                <p:cNvPr id="59" name="Straight Arrow Connector 58"/>
                <p:cNvCxnSpPr/>
                <p:nvPr/>
              </p:nvCxnSpPr>
              <p:spPr>
                <a:xfrm flipV="1">
                  <a:off x="9408368" y="4797152"/>
                  <a:ext cx="216024" cy="1"/>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60" name="Straight Arrow Connector 59"/>
                <p:cNvCxnSpPr/>
                <p:nvPr/>
              </p:nvCxnSpPr>
              <p:spPr>
                <a:xfrm flipV="1">
                  <a:off x="9401225" y="5373216"/>
                  <a:ext cx="216024" cy="1"/>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61" name="Straight Arrow Connector 60"/>
                <p:cNvCxnSpPr/>
                <p:nvPr/>
              </p:nvCxnSpPr>
              <p:spPr>
                <a:xfrm>
                  <a:off x="9408368" y="4797152"/>
                  <a:ext cx="208881" cy="576064"/>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62" name="Straight Arrow Connector 61"/>
                <p:cNvCxnSpPr/>
                <p:nvPr/>
              </p:nvCxnSpPr>
              <p:spPr>
                <a:xfrm flipV="1">
                  <a:off x="9408368" y="4797152"/>
                  <a:ext cx="216024" cy="576063"/>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grpSp>
          <p:sp>
            <p:nvSpPr>
              <p:cNvPr id="53" name="Oval 52"/>
              <p:cNvSpPr/>
              <p:nvPr/>
            </p:nvSpPr>
            <p:spPr>
              <a:xfrm>
                <a:off x="7012949" y="4716541"/>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Oval 53"/>
              <p:cNvSpPr/>
              <p:nvPr/>
            </p:nvSpPr>
            <p:spPr>
              <a:xfrm>
                <a:off x="7020161" y="4149080"/>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Oval 54"/>
              <p:cNvSpPr/>
              <p:nvPr/>
            </p:nvSpPr>
            <p:spPr>
              <a:xfrm>
                <a:off x="7017721" y="5229201"/>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Oval 55"/>
              <p:cNvSpPr/>
              <p:nvPr/>
            </p:nvSpPr>
            <p:spPr>
              <a:xfrm>
                <a:off x="7020161" y="5721074"/>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63" name="Left Brace 62"/>
            <p:cNvSpPr/>
            <p:nvPr/>
          </p:nvSpPr>
          <p:spPr>
            <a:xfrm>
              <a:off x="4248533" y="3809832"/>
              <a:ext cx="144687" cy="2041047"/>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3"/>
            <p:cNvSpPr txBox="1"/>
            <p:nvPr/>
          </p:nvSpPr>
          <p:spPr>
            <a:xfrm>
              <a:off x="3035745" y="4328592"/>
              <a:ext cx="127478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Variables NOT of behaviour interest</a:t>
              </a:r>
            </a:p>
          </p:txBody>
        </p:sp>
        <p:sp>
          <p:nvSpPr>
            <p:cNvPr id="65" name="Left Brace 64"/>
            <p:cNvSpPr/>
            <p:nvPr/>
          </p:nvSpPr>
          <p:spPr>
            <a:xfrm rot="16200000">
              <a:off x="5570057" y="4970726"/>
              <a:ext cx="121794" cy="2197369"/>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Box 65"/>
            <p:cNvSpPr txBox="1"/>
            <p:nvPr/>
          </p:nvSpPr>
          <p:spPr>
            <a:xfrm>
              <a:off x="4532269" y="6221968"/>
              <a:ext cx="25139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MLP with </a:t>
              </a:r>
              <a:r>
                <a:rPr kumimoji="0" lang="en-GB" sz="1800" b="1" i="0" u="sng" strike="noStrike" kern="1200" cap="none" spc="0" normalizeH="0" baseline="0" noProof="0" dirty="0">
                  <a:ln>
                    <a:noFill/>
                  </a:ln>
                  <a:solidFill>
                    <a:srgbClr val="0070C0"/>
                  </a:solidFill>
                  <a:effectLst/>
                  <a:uLnTx/>
                  <a:uFillTx/>
                  <a:latin typeface="Calibri"/>
                  <a:ea typeface="+mn-ea"/>
                  <a:cs typeface="+mn-cs"/>
                </a:rPr>
                <a:t>any</a:t>
              </a:r>
              <a:r>
                <a:rPr kumimoji="0" lang="en-GB" sz="1800" b="1" i="0" u="none" strike="noStrike" kern="1200" cap="none" spc="0" normalizeH="0" baseline="0" noProof="0" dirty="0">
                  <a:ln>
                    <a:noFill/>
                  </a:ln>
                  <a:solidFill>
                    <a:srgbClr val="0070C0"/>
                  </a:solidFill>
                  <a:effectLst/>
                  <a:uLnTx/>
                  <a:uFillTx/>
                  <a:latin typeface="Calibri"/>
                  <a:ea typeface="+mn-ea"/>
                  <a:cs typeface="+mn-cs"/>
                </a:rPr>
                <a:t> number of nodes and layers</a:t>
              </a:r>
            </a:p>
          </p:txBody>
        </p:sp>
        <p:sp>
          <p:nvSpPr>
            <p:cNvPr id="68" name="TextBox 67"/>
            <p:cNvSpPr txBox="1"/>
            <p:nvPr/>
          </p:nvSpPr>
          <p:spPr>
            <a:xfrm>
              <a:off x="5671115" y="4367432"/>
              <a:ext cx="474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l-GR" sz="1800" b="0" i="1" u="none" strike="noStrike" kern="1200" cap="none" spc="0" normalizeH="0" baseline="0" noProof="0" dirty="0">
                  <a:ln>
                    <a:noFill/>
                  </a:ln>
                  <a:solidFill>
                    <a:prstClr val="black"/>
                  </a:solidFill>
                  <a:effectLst/>
                  <a:uLnTx/>
                  <a:uFillTx/>
                  <a:latin typeface="Calibri"/>
                  <a:ea typeface="+mn-ea"/>
                  <a:cs typeface="+mn-cs"/>
                </a:rPr>
                <a:t>Ψ</a:t>
              </a:r>
              <a:r>
                <a:rPr kumimoji="0" lang="en-GB" sz="1800" b="0" i="1" u="none" strike="noStrike" kern="1200" cap="none" spc="0" normalizeH="0" baseline="-25000" noProof="0" dirty="0">
                  <a:ln>
                    <a:noFill/>
                  </a:ln>
                  <a:solidFill>
                    <a:prstClr val="black"/>
                  </a:solidFill>
                  <a:effectLst/>
                  <a:uLnTx/>
                  <a:uFillTx/>
                  <a:latin typeface="Calibri"/>
                  <a:ea typeface="+mn-ea"/>
                  <a:cs typeface="+mn-cs"/>
                </a:rPr>
                <a:t>1</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9" name="TextBox 68"/>
            <p:cNvSpPr txBox="1"/>
            <p:nvPr/>
          </p:nvSpPr>
          <p:spPr>
            <a:xfrm>
              <a:off x="5671115" y="4858786"/>
              <a:ext cx="474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l-GR" sz="1800" b="0" i="1" u="none" strike="noStrike" kern="1200" cap="none" spc="0" normalizeH="0" baseline="0" noProof="0" dirty="0">
                  <a:ln>
                    <a:noFill/>
                  </a:ln>
                  <a:solidFill>
                    <a:prstClr val="black"/>
                  </a:solidFill>
                  <a:effectLst/>
                  <a:uLnTx/>
                  <a:uFillTx/>
                  <a:latin typeface="Calibri"/>
                  <a:ea typeface="+mn-ea"/>
                  <a:cs typeface="+mn-cs"/>
                </a:rPr>
                <a:t>Ψ</a:t>
              </a:r>
              <a:r>
                <a:rPr kumimoji="0" lang="en-GB" sz="1800" b="0" i="1" u="none" strike="noStrike" kern="1200" cap="none" spc="0" normalizeH="0" baseline="-25000" noProof="0" dirty="0">
                  <a:ln>
                    <a:noFill/>
                  </a:ln>
                  <a:solidFill>
                    <a:prstClr val="black"/>
                  </a:solidFill>
                  <a:effectLst/>
                  <a:uLnTx/>
                  <a:uFillTx/>
                  <a:latin typeface="Calibri"/>
                  <a:ea typeface="+mn-ea"/>
                  <a:cs typeface="+mn-cs"/>
                </a:rPr>
                <a:t>2</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pic>
        <p:nvPicPr>
          <p:cNvPr id="70" name="Picture 69"/>
          <p:cNvPicPr>
            <a:picLocks noChangeAspect="1"/>
          </p:cNvPicPr>
          <p:nvPr/>
        </p:nvPicPr>
        <p:blipFill>
          <a:blip r:embed="rId4"/>
          <a:stretch>
            <a:fillRect/>
          </a:stretch>
        </p:blipFill>
        <p:spPr>
          <a:xfrm>
            <a:off x="6456040" y="1601887"/>
            <a:ext cx="3228231" cy="2590723"/>
          </a:xfrm>
          <a:prstGeom prst="rect">
            <a:avLst/>
          </a:prstGeom>
        </p:spPr>
      </p:pic>
      <p:grpSp>
        <p:nvGrpSpPr>
          <p:cNvPr id="35" name="Group 34"/>
          <p:cNvGrpSpPr/>
          <p:nvPr/>
        </p:nvGrpSpPr>
        <p:grpSpPr>
          <a:xfrm>
            <a:off x="7349370" y="2060848"/>
            <a:ext cx="143924" cy="1342418"/>
            <a:chOff x="7349370" y="1973805"/>
            <a:chExt cx="143924" cy="1342418"/>
          </a:xfrm>
        </p:grpSpPr>
        <p:cxnSp>
          <p:nvCxnSpPr>
            <p:cNvPr id="36" name="Straight Connector 35"/>
            <p:cNvCxnSpPr/>
            <p:nvPr/>
          </p:nvCxnSpPr>
          <p:spPr>
            <a:xfrm flipH="1">
              <a:off x="7392144" y="1973805"/>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7" name="Straight Connector 36"/>
            <p:cNvCxnSpPr/>
            <p:nvPr/>
          </p:nvCxnSpPr>
          <p:spPr>
            <a:xfrm flipH="1">
              <a:off x="7421286" y="1988840"/>
              <a:ext cx="72008" cy="87043"/>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8" name="Straight Connector 37"/>
            <p:cNvCxnSpPr/>
            <p:nvPr/>
          </p:nvCxnSpPr>
          <p:spPr>
            <a:xfrm flipH="1">
              <a:off x="7392144"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9" name="Straight Connector 38"/>
            <p:cNvCxnSpPr/>
            <p:nvPr/>
          </p:nvCxnSpPr>
          <p:spPr>
            <a:xfrm flipH="1">
              <a:off x="7428148" y="2895802"/>
              <a:ext cx="0" cy="108000"/>
            </a:xfrm>
            <a:prstGeom prst="lin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0" name="Straight Connector 39"/>
            <p:cNvCxnSpPr/>
            <p:nvPr/>
          </p:nvCxnSpPr>
          <p:spPr>
            <a:xfrm flipH="1">
              <a:off x="7385282"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1" name="Straight Connector 40"/>
            <p:cNvCxnSpPr/>
            <p:nvPr/>
          </p:nvCxnSpPr>
          <p:spPr>
            <a:xfrm flipH="1">
              <a:off x="7421286" y="2301260"/>
              <a:ext cx="0" cy="108000"/>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2" name="Straight Connector 41"/>
            <p:cNvCxnSpPr/>
            <p:nvPr/>
          </p:nvCxnSpPr>
          <p:spPr>
            <a:xfrm rot="16200000" flipH="1">
              <a:off x="7356888" y="3236697"/>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3" name="Straight Connector 42"/>
            <p:cNvCxnSpPr/>
            <p:nvPr/>
          </p:nvCxnSpPr>
          <p:spPr>
            <a:xfrm rot="16200000" flipH="1">
              <a:off x="7378512" y="3212340"/>
              <a:ext cx="72008" cy="87043"/>
            </a:xfrm>
            <a:prstGeom prst="line">
              <a:avLst/>
            </a:prstGeom>
            <a:ln w="19050">
              <a:solidFill>
                <a:schemeClr val="accent6">
                  <a:lumMod val="75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cxnSp>
        <p:nvCxnSpPr>
          <p:cNvPr id="13" name="Straight Arrow Connector 12"/>
          <p:cNvCxnSpPr/>
          <p:nvPr/>
        </p:nvCxnSpPr>
        <p:spPr>
          <a:xfrm>
            <a:off x="5828822" y="4084709"/>
            <a:ext cx="368296" cy="46189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grpSp>
        <p:nvGrpSpPr>
          <p:cNvPr id="11" name="Group 10"/>
          <p:cNvGrpSpPr/>
          <p:nvPr/>
        </p:nvGrpSpPr>
        <p:grpSpPr>
          <a:xfrm>
            <a:off x="5851478" y="2487381"/>
            <a:ext cx="2000848" cy="1387390"/>
            <a:chOff x="5851478" y="2487381"/>
            <a:chExt cx="2000848" cy="1387390"/>
          </a:xfrm>
        </p:grpSpPr>
        <p:cxnSp>
          <p:nvCxnSpPr>
            <p:cNvPr id="74" name="Straight Arrow Connector 73"/>
            <p:cNvCxnSpPr/>
            <p:nvPr/>
          </p:nvCxnSpPr>
          <p:spPr>
            <a:xfrm flipV="1">
              <a:off x="5851478" y="2487381"/>
              <a:ext cx="2000848" cy="828007"/>
            </a:xfrm>
            <a:prstGeom prst="straightConnector1">
              <a:avLst/>
            </a:prstGeom>
            <a:ln w="12700">
              <a:solidFill>
                <a:schemeClr val="accent1">
                  <a:lumMod val="75000"/>
                </a:schemeClr>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84" name="Straight Arrow Connector 83"/>
            <p:cNvCxnSpPr/>
            <p:nvPr/>
          </p:nvCxnSpPr>
          <p:spPr>
            <a:xfrm flipV="1">
              <a:off x="5876852" y="3110510"/>
              <a:ext cx="1975474" cy="764261"/>
            </a:xfrm>
            <a:prstGeom prst="straightConnector1">
              <a:avLst/>
            </a:prstGeom>
            <a:ln w="12700">
              <a:solidFill>
                <a:schemeClr val="accent1">
                  <a:lumMod val="75000"/>
                </a:schemeClr>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4" name="Oval 13"/>
            <p:cNvSpPr>
              <a:spLocks noChangeAspect="1"/>
            </p:cNvSpPr>
            <p:nvPr/>
          </p:nvSpPr>
          <p:spPr>
            <a:xfrm>
              <a:off x="6224251" y="2879213"/>
              <a:ext cx="216000" cy="216000"/>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a:ea typeface="+mn-ea"/>
                  <a:cs typeface="+mn-cs"/>
                </a:rPr>
                <a:t>+</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67" name="Oval 66"/>
            <p:cNvSpPr>
              <a:spLocks noChangeAspect="1"/>
            </p:cNvSpPr>
            <p:nvPr/>
          </p:nvSpPr>
          <p:spPr>
            <a:xfrm>
              <a:off x="6246333" y="3414665"/>
              <a:ext cx="216000" cy="216000"/>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a:ea typeface="+mn-ea"/>
                  <a:cs typeface="+mn-cs"/>
                </a:rPr>
                <a:t>+</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48" name="TextBox 47"/>
          <p:cNvSpPr txBox="1"/>
          <p:nvPr/>
        </p:nvSpPr>
        <p:spPr>
          <a:xfrm>
            <a:off x="1044000" y="1260000"/>
            <a:ext cx="81512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Creating the L-MNL architecture</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 name="TextBox 48"/>
          <p:cNvSpPr txBox="1"/>
          <p:nvPr/>
        </p:nvSpPr>
        <p:spPr>
          <a:xfrm>
            <a:off x="2893608" y="1820276"/>
            <a:ext cx="3250945" cy="381397"/>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MLP-part</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B5B75FB-9B79-45A6-3D99-2BFD6F6329F6}"/>
                  </a:ext>
                </a:extLst>
              </p:cNvPr>
              <p:cNvSpPr txBox="1"/>
              <p:nvPr/>
            </p:nvSpPr>
            <p:spPr>
              <a:xfrm>
                <a:off x="6168009" y="4288018"/>
                <a:ext cx="2747391" cy="730037"/>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NL"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𝑀𝐿𝑃</m:t>
                          </m:r>
                        </m:sup>
                      </m:sSubSup>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𝑔</m:t>
                      </m:r>
                      <m:d>
                        <m:d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𝑤</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Ψ</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𝑤</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Sub>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Ψ</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Sub>
                        </m:e>
                      </m:d>
                    </m:oMath>
                  </m:oMathPara>
                </a14:m>
                <a:endParaRPr kumimoji="0" lang="en-NL" sz="1800" b="0"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NL"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up>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𝑀𝐿𝑃</m:t>
                          </m:r>
                        </m:sup>
                      </m:sSubSup>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𝑔</m:t>
                      </m:r>
                      <m:d>
                        <m:d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𝑤</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3</m:t>
                              </m:r>
                            </m:sub>
                          </m:sSub>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Ψ</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𝑤</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4</m:t>
                              </m:r>
                            </m:sub>
                          </m:sSub>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Ψ</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Sub>
                        </m:e>
                      </m:d>
                    </m:oMath>
                  </m:oMathPara>
                </a14:m>
                <a:endParaRPr kumimoji="0" lang="en-NL" sz="1800" b="0"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7" name="TextBox 16">
                <a:extLst>
                  <a:ext uri="{FF2B5EF4-FFF2-40B4-BE49-F238E27FC236}">
                    <a16:creationId xmlns:a16="http://schemas.microsoft.com/office/drawing/2014/main" id="{1B5B75FB-9B79-45A6-3D99-2BFD6F6329F6}"/>
                  </a:ext>
                </a:extLst>
              </p:cNvPr>
              <p:cNvSpPr txBox="1">
                <a:spLocks noRot="1" noChangeAspect="1" noMove="1" noResize="1" noEditPoints="1" noAdjustHandles="1" noChangeArrowheads="1" noChangeShapeType="1" noTextEdit="1"/>
              </p:cNvSpPr>
              <p:nvPr/>
            </p:nvSpPr>
            <p:spPr>
              <a:xfrm>
                <a:off x="6168009" y="4288018"/>
                <a:ext cx="2747391" cy="730037"/>
              </a:xfrm>
              <a:prstGeom prst="rect">
                <a:avLst/>
              </a:prstGeom>
              <a:blipFill>
                <a:blip r:embed="rId6"/>
                <a:stretch>
                  <a:fillRect/>
                </a:stretch>
              </a:blipFill>
            </p:spPr>
            <p:txBody>
              <a:bodyPr/>
              <a:lstStyle/>
              <a:p>
                <a:r>
                  <a:rPr lang="en-NL">
                    <a:noFill/>
                  </a:rPr>
                  <a:t> </a:t>
                </a:r>
              </a:p>
            </p:txBody>
          </p:sp>
        </mc:Fallback>
      </mc:AlternateContent>
      <p:grpSp>
        <p:nvGrpSpPr>
          <p:cNvPr id="19" name="Group 18">
            <a:extLst>
              <a:ext uri="{FF2B5EF4-FFF2-40B4-BE49-F238E27FC236}">
                <a16:creationId xmlns:a16="http://schemas.microsoft.com/office/drawing/2014/main" id="{93A4FEDA-4A28-17FE-E2FA-CA6C55DE7179}"/>
              </a:ext>
            </a:extLst>
          </p:cNvPr>
          <p:cNvGrpSpPr/>
          <p:nvPr/>
        </p:nvGrpSpPr>
        <p:grpSpPr>
          <a:xfrm>
            <a:off x="8158191" y="1196752"/>
            <a:ext cx="3283226" cy="836836"/>
            <a:chOff x="8158191" y="1196752"/>
            <a:chExt cx="3283226" cy="836836"/>
          </a:xfrm>
        </p:grpSpPr>
        <p:sp>
          <p:nvSpPr>
            <p:cNvPr id="72" name="Rounded Rectangle 71"/>
            <p:cNvSpPr/>
            <p:nvPr/>
          </p:nvSpPr>
          <p:spPr>
            <a:xfrm>
              <a:off x="10440649" y="1196752"/>
              <a:ext cx="921089" cy="83683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F290470-587B-706B-5763-4B995885939E}"/>
                    </a:ext>
                  </a:extLst>
                </p:cNvPr>
                <p:cNvSpPr txBox="1"/>
                <p:nvPr/>
              </p:nvSpPr>
              <p:spPr>
                <a:xfrm>
                  <a:off x="8158191" y="1284590"/>
                  <a:ext cx="3283226" cy="712787"/>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𝑇𝑇</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𝑇𝐶</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𝐶</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𝑀𝐿𝑃</m:t>
                            </m:r>
                          </m:sup>
                        </m:sSubSup>
                      </m:oMath>
                    </m:oMathPara>
                  </a14:m>
                  <a:endPar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𝑇𝑇</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𝑇𝐶</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𝑇</m:t>
                        </m:r>
                        <m:sSub>
                          <m:sSub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𝐶</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m:t>
                            </m:r>
                          </m:sub>
                          <m:sup>
                            <m:r>
                              <a:rPr kumimoji="0" lang="en-US"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𝑀𝐿𝑃</m:t>
                            </m:r>
                          </m:sup>
                        </m:sSubSup>
                      </m:oMath>
                    </m:oMathPara>
                  </a14:m>
                  <a:endParaRPr kumimoji="0" lang="en-NL"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8" name="TextBox 17">
                  <a:extLst>
                    <a:ext uri="{FF2B5EF4-FFF2-40B4-BE49-F238E27FC236}">
                      <a16:creationId xmlns:a16="http://schemas.microsoft.com/office/drawing/2014/main" id="{DF290470-587B-706B-5763-4B995885939E}"/>
                    </a:ext>
                  </a:extLst>
                </p:cNvPr>
                <p:cNvSpPr txBox="1">
                  <a:spLocks noRot="1" noChangeAspect="1" noMove="1" noResize="1" noEditPoints="1" noAdjustHandles="1" noChangeArrowheads="1" noChangeShapeType="1" noTextEdit="1"/>
                </p:cNvSpPr>
                <p:nvPr/>
              </p:nvSpPr>
              <p:spPr>
                <a:xfrm>
                  <a:off x="8158191" y="1284590"/>
                  <a:ext cx="3283226" cy="712787"/>
                </a:xfrm>
                <a:prstGeom prst="rect">
                  <a:avLst/>
                </a:prstGeom>
                <a:blipFill>
                  <a:blip r:embed="rId7"/>
                  <a:stretch>
                    <a:fillRect/>
                  </a:stretch>
                </a:blipFill>
              </p:spPr>
              <p:txBody>
                <a:bodyPr/>
                <a:lstStyle/>
                <a:p>
                  <a:r>
                    <a:rPr lang="en-NL">
                      <a:noFill/>
                    </a:rPr>
                    <a:t> </a:t>
                  </a:r>
                </a:p>
              </p:txBody>
            </p:sp>
          </mc:Fallback>
        </mc:AlternateContent>
      </p:grpSp>
      <p:grpSp>
        <p:nvGrpSpPr>
          <p:cNvPr id="15" name="Group 14">
            <a:extLst>
              <a:ext uri="{FF2B5EF4-FFF2-40B4-BE49-F238E27FC236}">
                <a16:creationId xmlns:a16="http://schemas.microsoft.com/office/drawing/2014/main" id="{2769B8D9-ACA2-D878-AD64-6A5B0F32D9FB}"/>
              </a:ext>
            </a:extLst>
          </p:cNvPr>
          <p:cNvGrpSpPr/>
          <p:nvPr/>
        </p:nvGrpSpPr>
        <p:grpSpPr>
          <a:xfrm>
            <a:off x="5380625" y="3167032"/>
            <a:ext cx="483540" cy="865904"/>
            <a:chOff x="5380625" y="3167032"/>
            <a:chExt cx="483540" cy="865904"/>
          </a:xfrm>
        </p:grpSpPr>
        <mc:AlternateContent xmlns:mc="http://schemas.openxmlformats.org/markup-compatibility/2006" xmlns:a14="http://schemas.microsoft.com/office/drawing/2010/main">
          <mc:Choice Requires="a14">
            <p:sp>
              <p:nvSpPr>
                <p:cNvPr id="45" name="TextBox 44"/>
                <p:cNvSpPr txBox="1"/>
                <p:nvPr/>
              </p:nvSpPr>
              <p:spPr>
                <a:xfrm>
                  <a:off x="5380625" y="3167032"/>
                  <a:ext cx="474609" cy="34156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GB"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𝑉</m:t>
                            </m:r>
                          </m:e>
                          <m:sub>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𝑀𝐿𝑃</m:t>
                            </m:r>
                          </m:sup>
                        </m:sSubSup>
                      </m:oMath>
                    </m:oMathPara>
                  </a14:m>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5380625" y="3167032"/>
                  <a:ext cx="474609" cy="341568"/>
                </a:xfrm>
                <a:prstGeom prst="rect">
                  <a:avLst/>
                </a:prstGeom>
                <a:blipFill>
                  <a:blip r:embed="rId8"/>
                  <a:stretch>
                    <a:fillRect r="-205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1E245A-4829-3609-D9A9-F42612FD1C6C}"/>
                    </a:ext>
                  </a:extLst>
                </p:cNvPr>
                <p:cNvSpPr txBox="1"/>
                <p:nvPr/>
              </p:nvSpPr>
              <p:spPr>
                <a:xfrm>
                  <a:off x="5389556" y="3691368"/>
                  <a:ext cx="474609" cy="34156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GB"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𝑉</m:t>
                            </m:r>
                          </m:e>
                          <m:sub>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up>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𝑀𝐿𝑃</m:t>
                            </m:r>
                          </m:sup>
                        </m:sSubSup>
                      </m:oMath>
                    </m:oMathPara>
                  </a14:m>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8" name="TextBox 7">
                  <a:extLst>
                    <a:ext uri="{FF2B5EF4-FFF2-40B4-BE49-F238E27FC236}">
                      <a16:creationId xmlns:a16="http://schemas.microsoft.com/office/drawing/2014/main" id="{FF1E245A-4829-3609-D9A9-F42612FD1C6C}"/>
                    </a:ext>
                  </a:extLst>
                </p:cNvPr>
                <p:cNvSpPr txBox="1">
                  <a:spLocks noRot="1" noChangeAspect="1" noMove="1" noResize="1" noEditPoints="1" noAdjustHandles="1" noChangeArrowheads="1" noChangeShapeType="1" noTextEdit="1"/>
                </p:cNvSpPr>
                <p:nvPr/>
              </p:nvSpPr>
              <p:spPr>
                <a:xfrm>
                  <a:off x="5389556" y="3691368"/>
                  <a:ext cx="474609" cy="341568"/>
                </a:xfrm>
                <a:prstGeom prst="rect">
                  <a:avLst/>
                </a:prstGeom>
                <a:blipFill>
                  <a:blip r:embed="rId9"/>
                  <a:stretch>
                    <a:fillRect r="-23684"/>
                  </a:stretch>
                </a:blipFill>
              </p:spPr>
              <p:txBody>
                <a:bodyPr/>
                <a:lstStyle/>
                <a:p>
                  <a:r>
                    <a:rPr lang="en-GB">
                      <a:noFill/>
                    </a:rPr>
                    <a:t> </a:t>
                  </a:r>
                </a:p>
              </p:txBody>
            </p:sp>
          </mc:Fallback>
        </mc:AlternateContent>
      </p:grpSp>
      <p:sp>
        <p:nvSpPr>
          <p:cNvPr id="9" name="TextBox 8">
            <a:extLst>
              <a:ext uri="{FF2B5EF4-FFF2-40B4-BE49-F238E27FC236}">
                <a16:creationId xmlns:a16="http://schemas.microsoft.com/office/drawing/2014/main" id="{0057CE14-6AD2-CA40-C27D-13795389177B}"/>
              </a:ext>
            </a:extLst>
          </p:cNvPr>
          <p:cNvSpPr txBox="1"/>
          <p:nvPr/>
        </p:nvSpPr>
        <p:spPr>
          <a:xfrm>
            <a:off x="9195242" y="5061083"/>
            <a:ext cx="2747392" cy="1200329"/>
          </a:xfrm>
          <a:prstGeom prst="roundRect">
            <a:avLst/>
          </a:prstGeom>
          <a:solidFill>
            <a:schemeClr val="accent4">
              <a:lumMod val="20000"/>
              <a:lumOff val="80000"/>
            </a:schemeClr>
          </a:solidFill>
          <a:ln>
            <a:solidFill>
              <a:srgbClr val="24B5B3"/>
            </a:solidFill>
          </a:ln>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In this example, β</a:t>
            </a:r>
            <a:r>
              <a:rPr kumimoji="0" lang="en-GB" sz="1800" b="0" i="0" u="none" strike="noStrike" kern="1200" cap="none" spc="0" normalizeH="0" baseline="-2500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TT </a:t>
            </a: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and β</a:t>
            </a:r>
            <a:r>
              <a:rPr kumimoji="0" lang="en-GB" sz="1800" b="0" i="0" u="none" strike="noStrike" kern="1200" cap="none" spc="0" normalizeH="0" baseline="-2500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TC</a:t>
            </a: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 can be interpreted as marginal utilities of cost and time</a:t>
            </a:r>
            <a:endParaRPr kumimoji="0" lang="en-GB" sz="1800" b="0" i="0" u="none" strike="noStrike" kern="1200" cap="none" spc="0" normalizeH="0" baseline="-2500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12" name="Picture 2" descr="Image result for understand icon">
            <a:extLst>
              <a:ext uri="{FF2B5EF4-FFF2-40B4-BE49-F238E27FC236}">
                <a16:creationId xmlns:a16="http://schemas.microsoft.com/office/drawing/2014/main" id="{08A58702-116F-C533-495A-5349EED6A57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70155" y="5130167"/>
            <a:ext cx="1062159" cy="1062159"/>
          </a:xfrm>
          <a:prstGeom prst="rect">
            <a:avLst/>
          </a:prstGeom>
          <a:noFill/>
          <a:extLst>
            <a:ext uri="{909E8E84-426E-40DD-AFC4-6F175D3DCCD1}">
              <a14:hiddenFill xmlns:a14="http://schemas.microsoft.com/office/drawing/2010/main">
                <a:solidFill>
                  <a:srgbClr val="FFFFFF"/>
                </a:solidFill>
              </a14:hiddenFill>
            </a:ext>
          </a:extLst>
        </p:spPr>
      </p:pic>
      <p:sp>
        <p:nvSpPr>
          <p:cNvPr id="16" name="Line 2">
            <a:extLst>
              <a:ext uri="{FF2B5EF4-FFF2-40B4-BE49-F238E27FC236}">
                <a16:creationId xmlns:a16="http://schemas.microsoft.com/office/drawing/2014/main" id="{B8E3994F-5A28-6F70-EB4A-BE63FFFD424A}"/>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20" name="Line 2">
            <a:extLst>
              <a:ext uri="{FF2B5EF4-FFF2-40B4-BE49-F238E27FC236}">
                <a16:creationId xmlns:a16="http://schemas.microsoft.com/office/drawing/2014/main" id="{31F4DA93-1C3D-204D-35F0-E1F7703FFDED}"/>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3049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sym typeface="Wingdings" panose="05000000000000000000" pitchFamily="2" charset="2"/>
              </a:rPr>
              <a:t>Hybrid choice models</a:t>
            </a: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44000" y="1367999"/>
            <a:ext cx="7212240" cy="53534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Final observations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Hybrid choice models inevitably involve striking a balance between model fit and behavioural insights</a:t>
            </a:r>
          </a:p>
          <a:p>
            <a:pPr marL="269875" marR="0" lvl="0" indent="0" algn="l" defTabSz="53975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269875" marR="0" lvl="0" indent="0" algn="l" defTabSz="53975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In general</a:t>
            </a:r>
          </a:p>
          <a:p>
            <a:pPr marL="555625" marR="0" lvl="0" indent="-285750" algn="l" defTabSz="53975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A high(er) mode fit means the model </a:t>
            </a:r>
            <a:r>
              <a:rPr kumimoji="0" lang="en-GB" sz="1800" b="0" i="0" u="none" strike="noStrike" kern="1200" cap="none" spc="0" normalizeH="0" baseline="0" noProof="0" dirty="0">
                <a:ln>
                  <a:noFill/>
                </a:ln>
                <a:solidFill>
                  <a:prstClr val="black"/>
                </a:solidFill>
                <a:effectLst/>
                <a:uLnTx/>
                <a:uFillTx/>
                <a:latin typeface="Calibri"/>
                <a:ea typeface="+mn-ea"/>
                <a:cs typeface="+mn-cs"/>
              </a:rPr>
              <a:t>is close(r) to the true DGP</a:t>
            </a:r>
          </a:p>
          <a:p>
            <a:pPr marL="727075" marR="0" lvl="1" indent="0" algn="l" defTabSz="53975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727075" marR="0" lvl="1" indent="0" algn="l" defTabSz="53975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More reliable estimates (at least in theory)</a:t>
            </a:r>
          </a:p>
          <a:p>
            <a:pPr marL="727075" marR="0" lvl="1" indent="0" algn="l" defTabSz="53975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1012825" marR="0" lvl="1" indent="-285750" algn="l" defTabSz="539750" rtl="0" eaLnBrk="1" fontAlgn="auto" latinLnBrk="0" hangingPunct="1">
              <a:lnSpc>
                <a:spcPct val="100000"/>
              </a:lnSpc>
              <a:spcBef>
                <a:spcPts val="0"/>
              </a:spcBef>
              <a:spcAft>
                <a:spcPts val="0"/>
              </a:spcAft>
              <a:buClrTx/>
              <a:buSzTx/>
              <a:buFont typeface="Wingdings" pitchFamily="2" charset="2"/>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Better predictions/forecasts (at least in theory)</a:t>
            </a:r>
          </a:p>
          <a:p>
            <a:pPr marL="555625" marR="0" lvl="0" indent="-285750" algn="l" defTabSz="53975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555625" marR="0" lvl="0" indent="-285750" algn="l" defTabSz="53975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Imposing restrictions onto the model (typically) results in:</a:t>
            </a:r>
          </a:p>
          <a:p>
            <a:pPr marL="1012825" marR="0" lvl="1" indent="-285750" algn="l" defTabSz="539750" rtl="0" eaLnBrk="1" fontAlgn="auto" latinLnBrk="0" hangingPunct="1">
              <a:lnSpc>
                <a:spcPct val="100000"/>
              </a:lnSpc>
              <a:spcBef>
                <a:spcPts val="0"/>
              </a:spcBef>
              <a:spcAft>
                <a:spcPts val="0"/>
              </a:spcAft>
              <a:buClrTx/>
              <a:buSzTx/>
              <a:buFont typeface="Wingdings" pitchFamily="2" charset="2"/>
              <a:buChar char="à"/>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1012825" marR="0" lvl="1" indent="-285750" algn="l" defTabSz="539750" rtl="0" eaLnBrk="1" fontAlgn="auto" latinLnBrk="0" hangingPunct="1">
              <a:lnSpc>
                <a:spcPct val="100000"/>
              </a:lnSpc>
              <a:spcBef>
                <a:spcPts val="0"/>
              </a:spcBef>
              <a:spcAft>
                <a:spcPts val="0"/>
              </a:spcAft>
              <a:buClrTx/>
              <a:buSzTx/>
              <a:buFont typeface="Wingdings" pitchFamily="2" charset="2"/>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Better interpretable models</a:t>
            </a:r>
          </a:p>
          <a:p>
            <a:pPr marL="1012825" marR="0" lvl="1" indent="-285750" algn="l" defTabSz="539750" rtl="0" eaLnBrk="1" fontAlgn="auto" latinLnBrk="0" hangingPunct="1">
              <a:lnSpc>
                <a:spcPct val="100000"/>
              </a:lnSpc>
              <a:spcBef>
                <a:spcPts val="0"/>
              </a:spcBef>
              <a:spcAft>
                <a:spcPts val="0"/>
              </a:spcAft>
              <a:buClrTx/>
              <a:buSzTx/>
              <a:buFont typeface="Wingdings" pitchFamily="2" charset="2"/>
              <a:buChar char="à"/>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1012825" marR="0" lvl="1" indent="-285750" algn="l" defTabSz="539750" rtl="0" eaLnBrk="1" fontAlgn="auto" latinLnBrk="0" hangingPunct="1">
              <a:lnSpc>
                <a:spcPct val="100000"/>
              </a:lnSpc>
              <a:spcBef>
                <a:spcPts val="0"/>
              </a:spcBef>
              <a:spcAft>
                <a:spcPts val="0"/>
              </a:spcAft>
              <a:buClrTx/>
              <a:buSzTx/>
              <a:buFont typeface="Wingdings" pitchFamily="2" charset="2"/>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‘Better behaved’ models</a:t>
            </a:r>
          </a:p>
          <a:p>
            <a:pPr marL="1470025" marR="0" lvl="2" indent="-285750" algn="l" defTabSz="539750" rtl="0" eaLnBrk="1" fontAlgn="auto" latinLnBrk="0" hangingPunct="1">
              <a:lnSpc>
                <a:spcPct val="100000"/>
              </a:lnSpc>
              <a:spcBef>
                <a:spcPts val="0"/>
              </a:spcBef>
              <a:spcAft>
                <a:spcPts val="0"/>
              </a:spcAft>
              <a:buClrTx/>
              <a:buSzTx/>
              <a:buFont typeface="System Font Regular"/>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No violation of fungibility </a:t>
            </a:r>
          </a:p>
          <a:p>
            <a:pPr marL="1470025" marR="0" lvl="2" indent="-285750" algn="l" defTabSz="539750" rtl="0" eaLnBrk="1" fontAlgn="auto" latinLnBrk="0" hangingPunct="1">
              <a:lnSpc>
                <a:spcPct val="100000"/>
              </a:lnSpc>
              <a:spcBef>
                <a:spcPts val="0"/>
              </a:spcBef>
              <a:spcAft>
                <a:spcPts val="0"/>
              </a:spcAft>
              <a:buClrTx/>
              <a:buSzTx/>
              <a:buFont typeface="System Font Regular"/>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No violation of behavioural regularity</a:t>
            </a:r>
          </a:p>
          <a:p>
            <a:pPr marL="1470025" marR="0" lvl="2" indent="-285750" algn="l" defTabSz="539750" rtl="0" eaLnBrk="1" fontAlgn="auto" latinLnBrk="0" hangingPunct="1">
              <a:lnSpc>
                <a:spcPct val="100000"/>
              </a:lnSpc>
              <a:spcBef>
                <a:spcPts val="0"/>
              </a:spcBef>
              <a:spcAft>
                <a:spcPts val="0"/>
              </a:spcAft>
              <a:buClrTx/>
              <a:buSzTx/>
              <a:buFont typeface="System Font Regular"/>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Less erratic predictions</a:t>
            </a:r>
          </a:p>
          <a:p>
            <a:pPr marL="1012825" marR="0" lvl="1" indent="-285750" algn="l" defTabSz="53975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endParaRPr>
          </a:p>
          <a:p>
            <a:pPr marL="269875" marR="0" lvl="0" indent="0" algn="l" defTabSz="53975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7" name="Picture 6"/>
          <p:cNvPicPr>
            <a:picLocks noChangeAspect="1"/>
          </p:cNvPicPr>
          <p:nvPr/>
        </p:nvPicPr>
        <p:blipFill>
          <a:blip r:embed="rId3"/>
          <a:stretch>
            <a:fillRect/>
          </a:stretch>
        </p:blipFill>
        <p:spPr>
          <a:xfrm>
            <a:off x="8571026" y="3568549"/>
            <a:ext cx="3051515" cy="2520280"/>
          </a:xfrm>
          <a:prstGeom prst="rect">
            <a:avLst/>
          </a:prstGeom>
        </p:spPr>
      </p:pic>
      <p:pic>
        <p:nvPicPr>
          <p:cNvPr id="8" name="Picture 4" descr="Too much balance memes busy be balanced out with imbalance memes :  r/thanosdidnothingwrong">
            <a:extLst>
              <a:ext uri="{FF2B5EF4-FFF2-40B4-BE49-F238E27FC236}">
                <a16:creationId xmlns:a16="http://schemas.microsoft.com/office/drawing/2014/main" id="{EA98704A-1D78-9BD9-6825-9CB3926D30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7369" y="1420197"/>
            <a:ext cx="1518827" cy="1763325"/>
          </a:xfrm>
          <a:prstGeom prst="rect">
            <a:avLst/>
          </a:prstGeom>
          <a:noFill/>
          <a:extLst>
            <a:ext uri="{909E8E84-426E-40DD-AFC4-6F175D3DCCD1}">
              <a14:hiddenFill xmlns:a14="http://schemas.microsoft.com/office/drawing/2010/main">
                <a:solidFill>
                  <a:srgbClr val="FFFFFF"/>
                </a:solidFill>
              </a14:hiddenFill>
            </a:ext>
          </a:extLst>
        </p:spPr>
      </p:pic>
      <p:sp>
        <p:nvSpPr>
          <p:cNvPr id="9" name="Line 2">
            <a:extLst>
              <a:ext uri="{FF2B5EF4-FFF2-40B4-BE49-F238E27FC236}">
                <a16:creationId xmlns:a16="http://schemas.microsoft.com/office/drawing/2014/main" id="{F243EB4D-F74D-5B1B-0526-11C306030F2A}"/>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16FB8E3D-40AD-D8E5-B11E-FA28695CE792}"/>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89871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0" end="10"/>
                                            </p:txEl>
                                          </p:spTgt>
                                        </p:tgtEl>
                                        <p:attrNameLst>
                                          <p:attrName>style.visibility</p:attrName>
                                        </p:attrNameLst>
                                      </p:cBhvr>
                                      <p:to>
                                        <p:strVal val="visible"/>
                                      </p:to>
                                    </p:set>
                                    <p:animEffect transition="in" filter="fade">
                                      <p:cBhvr>
                                        <p:cTn id="7" dur="500"/>
                                        <p:tgtEl>
                                          <p:spTgt spid="10">
                                            <p:txEl>
                                              <p:pRg st="10" end="1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12" end="12"/>
                                            </p:txEl>
                                          </p:spTgt>
                                        </p:tgtEl>
                                        <p:attrNameLst>
                                          <p:attrName>style.visibility</p:attrName>
                                        </p:attrNameLst>
                                      </p:cBhvr>
                                      <p:to>
                                        <p:strVal val="visible"/>
                                      </p:to>
                                    </p:set>
                                    <p:animEffect transition="in" filter="fade">
                                      <p:cBhvr>
                                        <p:cTn id="10" dur="500"/>
                                        <p:tgtEl>
                                          <p:spTgt spid="10">
                                            <p:txEl>
                                              <p:pRg st="12" end="1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14" end="14"/>
                                            </p:txEl>
                                          </p:spTgt>
                                        </p:tgtEl>
                                        <p:attrNameLst>
                                          <p:attrName>style.visibility</p:attrName>
                                        </p:attrNameLst>
                                      </p:cBhvr>
                                      <p:to>
                                        <p:strVal val="visible"/>
                                      </p:to>
                                    </p:set>
                                    <p:animEffect transition="in" filter="fade">
                                      <p:cBhvr>
                                        <p:cTn id="13" dur="500"/>
                                        <p:tgtEl>
                                          <p:spTgt spid="10">
                                            <p:txEl>
                                              <p:pRg st="14" end="1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xEl>
                                              <p:pRg st="15" end="15"/>
                                            </p:txEl>
                                          </p:spTgt>
                                        </p:tgtEl>
                                        <p:attrNameLst>
                                          <p:attrName>style.visibility</p:attrName>
                                        </p:attrNameLst>
                                      </p:cBhvr>
                                      <p:to>
                                        <p:strVal val="visible"/>
                                      </p:to>
                                    </p:set>
                                    <p:animEffect transition="in" filter="fade">
                                      <p:cBhvr>
                                        <p:cTn id="16" dur="500"/>
                                        <p:tgtEl>
                                          <p:spTgt spid="10">
                                            <p:txEl>
                                              <p:pRg st="15" end="1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xEl>
                                              <p:pRg st="16" end="16"/>
                                            </p:txEl>
                                          </p:spTgt>
                                        </p:tgtEl>
                                        <p:attrNameLst>
                                          <p:attrName>style.visibility</p:attrName>
                                        </p:attrNameLst>
                                      </p:cBhvr>
                                      <p:to>
                                        <p:strVal val="visible"/>
                                      </p:to>
                                    </p:set>
                                    <p:animEffect transition="in" filter="fade">
                                      <p:cBhvr>
                                        <p:cTn id="19" dur="500"/>
                                        <p:tgtEl>
                                          <p:spTgt spid="10">
                                            <p:txEl>
                                              <p:pRg st="16" end="1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xEl>
                                              <p:pRg st="17" end="17"/>
                                            </p:txEl>
                                          </p:spTgt>
                                        </p:tgtEl>
                                        <p:attrNameLst>
                                          <p:attrName>style.visibility</p:attrName>
                                        </p:attrNameLst>
                                      </p:cBhvr>
                                      <p:to>
                                        <p:strVal val="visible"/>
                                      </p:to>
                                    </p:set>
                                    <p:animEffect transition="in" filter="fade">
                                      <p:cBhvr>
                                        <p:cTn id="22" dur="500"/>
                                        <p:tgtEl>
                                          <p:spTgt spid="10">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0E4E3A4-699B-C4ED-0B23-1FC235AC476E}"/>
              </a:ext>
            </a:extLst>
          </p:cNvPr>
          <p:cNvPicPr>
            <a:picLocks noChangeAspect="1"/>
          </p:cNvPicPr>
          <p:nvPr/>
        </p:nvPicPr>
        <p:blipFill rotWithShape="1">
          <a:blip r:embed="rId3"/>
          <a:srcRect l="40549" t="45781" r="9366" b="-1"/>
          <a:stretch/>
        </p:blipFill>
        <p:spPr>
          <a:xfrm>
            <a:off x="7603546" y="1895952"/>
            <a:ext cx="4248190" cy="2586900"/>
          </a:xfrm>
          <a:custGeom>
            <a:avLst/>
            <a:gdLst>
              <a:gd name="connsiteX0" fmla="*/ 3342038 w 4248190"/>
              <a:gd name="connsiteY0" fmla="*/ 0 h 2586900"/>
              <a:gd name="connsiteX1" fmla="*/ 4248190 w 4248190"/>
              <a:gd name="connsiteY1" fmla="*/ 0 h 2586900"/>
              <a:gd name="connsiteX2" fmla="*/ 4248190 w 4248190"/>
              <a:gd name="connsiteY2" fmla="*/ 2586900 h 2586900"/>
              <a:gd name="connsiteX3" fmla="*/ 0 w 4248190"/>
              <a:gd name="connsiteY3" fmla="*/ 2586900 h 2586900"/>
              <a:gd name="connsiteX4" fmla="*/ 0 w 4248190"/>
              <a:gd name="connsiteY4" fmla="*/ 543406 h 2586900"/>
              <a:gd name="connsiteX5" fmla="*/ 3342038 w 4248190"/>
              <a:gd name="connsiteY5" fmla="*/ 543406 h 258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8190" h="2586900">
                <a:moveTo>
                  <a:pt x="3342038" y="0"/>
                </a:moveTo>
                <a:lnTo>
                  <a:pt x="4248190" y="0"/>
                </a:lnTo>
                <a:lnTo>
                  <a:pt x="4248190" y="2586900"/>
                </a:lnTo>
                <a:lnTo>
                  <a:pt x="0" y="2586900"/>
                </a:lnTo>
                <a:lnTo>
                  <a:pt x="0" y="543406"/>
                </a:lnTo>
                <a:lnTo>
                  <a:pt x="3342038" y="543406"/>
                </a:lnTo>
                <a:close/>
              </a:path>
            </a:pathLst>
          </a:custGeom>
        </p:spPr>
      </p:pic>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1044000" y="1368000"/>
            <a:ext cx="6060112" cy="515734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Final observations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MLP-based hybrid models are </a:t>
            </a:r>
            <a:r>
              <a:rPr kumimoji="0" lang="en-GB" sz="1800" b="1" i="0" u="none" strike="noStrike" kern="1200" cap="none" spc="0" normalizeH="0" baseline="0" noProof="0" dirty="0">
                <a:ln>
                  <a:noFill/>
                </a:ln>
                <a:solidFill>
                  <a:prstClr val="black"/>
                </a:solidFill>
                <a:effectLst/>
                <a:uLnTx/>
                <a:uFillTx/>
                <a:latin typeface="Calibri"/>
                <a:ea typeface="+mn-ea"/>
                <a:cs typeface="+mn-cs"/>
              </a:rPr>
              <a:t>not</a:t>
            </a:r>
            <a:r>
              <a:rPr kumimoji="0" lang="en-GB" sz="1800" b="0" i="0" u="none" strike="noStrike" kern="1200" cap="none" spc="0" normalizeH="0" baseline="0" noProof="0" dirty="0">
                <a:ln>
                  <a:noFill/>
                </a:ln>
                <a:solidFill>
                  <a:prstClr val="black"/>
                </a:solidFill>
                <a:effectLst/>
                <a:uLnTx/>
                <a:uFillTx/>
                <a:latin typeface="Calibri"/>
                <a:ea typeface="+mn-ea"/>
                <a:cs typeface="+mn-cs"/>
              </a:rPr>
              <a:t> uniquely identifiable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Sensitive to local solutions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Sensitive to hyperparameter settings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When covariates (strongly) correlate with attributes used in the MNL-part of behavioural layers, they may get be biased (‘polluted’)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Hybrid models are more challenging to implement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 lot of research into hybrid choice models is going on. </a:t>
            </a:r>
            <a:r>
              <a:rPr kumimoji="0" lang="en-GB" sz="1800" b="1" i="0" u="none" strike="noStrike" kern="1200" cap="none" spc="0" normalizeH="0" baseline="0" noProof="0" dirty="0">
                <a:ln>
                  <a:noFill/>
                </a:ln>
                <a:solidFill>
                  <a:prstClr val="black"/>
                </a:solidFill>
                <a:effectLst/>
                <a:uLnTx/>
                <a:uFillTx/>
                <a:latin typeface="Calibri"/>
                <a:ea typeface="+mn-ea"/>
                <a:cs typeface="+mn-cs"/>
              </a:rPr>
              <a:t>The jury about their added value and use is still out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Hybrid choice models</a:t>
            </a:r>
          </a:p>
        </p:txBody>
      </p:sp>
      <p:sp>
        <p:nvSpPr>
          <p:cNvPr id="2" name="Line 2">
            <a:extLst>
              <a:ext uri="{FF2B5EF4-FFF2-40B4-BE49-F238E27FC236}">
                <a16:creationId xmlns:a16="http://schemas.microsoft.com/office/drawing/2014/main" id="{985875A4-4304-34BB-D7A1-3A4964EE244A}"/>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7" name="Line 2">
            <a:extLst>
              <a:ext uri="{FF2B5EF4-FFF2-40B4-BE49-F238E27FC236}">
                <a16:creationId xmlns:a16="http://schemas.microsoft.com/office/drawing/2014/main" id="{1430F01A-36B7-3537-DABB-CCC4D17A6F77}"/>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3749036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0"/>
            <a:ext cx="10791646" cy="6850061"/>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spTree>
    <p:extLst>
      <p:ext uri="{BB962C8B-B14F-4D97-AF65-F5344CB8AC3E}">
        <p14:creationId xmlns:p14="http://schemas.microsoft.com/office/powerpoint/2010/main" val="1758935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1404000"/>
            <a:ext cx="6060112" cy="515734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Swiss Metro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a:ea typeface="+mn-ea"/>
                <a:cs typeface="+mn-cs"/>
              </a:rPr>
              <a:t>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We use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PyTorch</a:t>
            </a:r>
            <a:r>
              <a:rPr kumimoji="0" lang="en-GB" sz="1800" b="0" i="0" u="none" strike="noStrike" kern="1200" cap="none" spc="0" normalizeH="0" baseline="0" noProof="0" dirty="0">
                <a:ln>
                  <a:noFill/>
                </a:ln>
                <a:solidFill>
                  <a:prstClr val="black"/>
                </a:solidFill>
                <a:effectLst/>
                <a:uLnTx/>
                <a:uFillTx/>
                <a:latin typeface="Calibri"/>
                <a:ea typeface="+mn-ea"/>
                <a:cs typeface="+mn-cs"/>
              </a:rPr>
              <a:t>, which is a more specialised Deep Learning (DL) package developed by Meta AI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GB" sz="1800" b="0" i="0" u="none" strike="noStrike" kern="1200" cap="none" spc="0" normalizeH="0" baseline="0" noProof="0" dirty="0" err="1">
                <a:ln>
                  <a:noFill/>
                </a:ln>
                <a:solidFill>
                  <a:prstClr val="black"/>
                </a:solidFill>
                <a:effectLst/>
                <a:uLnTx/>
                <a:uFillTx/>
                <a:latin typeface="Calibri"/>
                <a:ea typeface="+mn-ea"/>
                <a:cs typeface="+mn-cs"/>
              </a:rPr>
              <a:t>PyTorch</a:t>
            </a:r>
            <a:r>
              <a:rPr kumimoji="0" lang="en-GB" sz="1800" b="0" i="0" u="none" strike="noStrike" kern="1200" cap="none" spc="0" normalizeH="0" baseline="0" noProof="0" dirty="0">
                <a:ln>
                  <a:noFill/>
                </a:ln>
                <a:solidFill>
                  <a:prstClr val="black"/>
                </a:solidFill>
                <a:effectLst/>
                <a:uLnTx/>
                <a:uFillTx/>
                <a:latin typeface="Calibri"/>
                <a:ea typeface="+mn-ea"/>
                <a:cs typeface="+mn-cs"/>
              </a:rPr>
              <a:t> requires a more Pythonic way of coding </a:t>
            </a: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GB" sz="1800" b="0" i="0" u="none" strike="noStrike" kern="1200" cap="none" spc="0" normalizeH="0" baseline="0" noProof="0" dirty="0" err="1">
                <a:ln>
                  <a:noFill/>
                </a:ln>
                <a:solidFill>
                  <a:prstClr val="black"/>
                </a:solidFill>
                <a:effectLst/>
                <a:uLnTx/>
                <a:uFillTx/>
                <a:latin typeface="Calibri"/>
                <a:ea typeface="+mn-ea"/>
                <a:cs typeface="+mn-cs"/>
              </a:rPr>
              <a:t>PyTorch</a:t>
            </a:r>
            <a:r>
              <a:rPr kumimoji="0" lang="en-GB" sz="1800" b="0" i="0" u="none" strike="noStrike" kern="1200" cap="none" spc="0" normalizeH="0" baseline="0" noProof="0" dirty="0">
                <a:ln>
                  <a:noFill/>
                </a:ln>
                <a:solidFill>
                  <a:prstClr val="black"/>
                </a:solidFill>
                <a:effectLst/>
                <a:uLnTx/>
                <a:uFillTx/>
                <a:latin typeface="Calibri"/>
                <a:ea typeface="+mn-ea"/>
                <a:cs typeface="+mn-cs"/>
              </a:rPr>
              <a:t> works uses its own DL datatypes: “tensors”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MNL part identical to RUM-MNL choice model</a:t>
            </a: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Transparent weights: B</a:t>
            </a:r>
            <a:r>
              <a:rPr kumimoji="0" lang="en-GB" sz="1800" b="0" i="0" u="none" strike="noStrike" kern="1200" cap="none" spc="0" normalizeH="0" baseline="-25000" noProof="0" dirty="0">
                <a:ln>
                  <a:noFill/>
                </a:ln>
                <a:solidFill>
                  <a:prstClr val="black"/>
                </a:solidFill>
                <a:effectLst/>
                <a:uLnTx/>
                <a:uFillTx/>
                <a:latin typeface="Calibri"/>
                <a:ea typeface="+mn-ea"/>
                <a:cs typeface="+mn-cs"/>
              </a:rPr>
              <a:t>TT</a:t>
            </a:r>
            <a:r>
              <a:rPr kumimoji="0" lang="en-GB" sz="1800" b="0" i="0" u="none" strike="noStrike" kern="1200" cap="none" spc="0" normalizeH="0" baseline="0" noProof="0" dirty="0">
                <a:ln>
                  <a:noFill/>
                </a:ln>
                <a:solidFill>
                  <a:prstClr val="black"/>
                </a:solidFill>
                <a:effectLst/>
                <a:uLnTx/>
                <a:uFillTx/>
                <a:latin typeface="Calibri"/>
                <a:ea typeface="+mn-ea"/>
                <a:cs typeface="+mn-cs"/>
              </a:rPr>
              <a:t>, B</a:t>
            </a:r>
            <a:r>
              <a:rPr kumimoji="0" lang="en-GB" sz="1800" b="0" i="0" u="none" strike="noStrike" kern="1200" cap="none" spc="0" normalizeH="0" baseline="-25000" noProof="0" dirty="0">
                <a:ln>
                  <a:noFill/>
                </a:ln>
                <a:solidFill>
                  <a:prstClr val="black"/>
                </a:solidFill>
                <a:effectLst/>
                <a:uLnTx/>
                <a:uFillTx/>
                <a:latin typeface="Calibri"/>
                <a:ea typeface="+mn-ea"/>
                <a:cs typeface="+mn-cs"/>
              </a:rPr>
              <a:t>TC</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a:ln>
                  <a:noFill/>
                </a:ln>
                <a:solidFill>
                  <a:prstClr val="white">
                    <a:lumMod val="65000"/>
                  </a:prstClr>
                </a:solidFill>
                <a:effectLst/>
                <a:uLnTx/>
                <a:uFillTx/>
                <a:latin typeface="Calibri"/>
                <a:ea typeface="+mn-ea"/>
                <a:cs typeface="+mn-cs"/>
              </a:rPr>
              <a:t>ASC</a:t>
            </a:r>
            <a:r>
              <a:rPr kumimoji="0" lang="en-GB" sz="1800" b="0" i="0" u="none" strike="noStrike" kern="1200" cap="none" spc="0" normalizeH="0" baseline="-25000" noProof="0" dirty="0">
                <a:ln>
                  <a:noFill/>
                </a:ln>
                <a:solidFill>
                  <a:prstClr val="white">
                    <a:lumMod val="65000"/>
                  </a:prstClr>
                </a:solidFill>
                <a:effectLst/>
                <a:uLnTx/>
                <a:uFillTx/>
                <a:latin typeface="Calibri"/>
                <a:ea typeface="+mn-ea"/>
                <a:cs typeface="+mn-cs"/>
              </a:rPr>
              <a:t>TR</a:t>
            </a:r>
            <a:r>
              <a:rPr kumimoji="0" lang="en-GB" sz="1800" b="0" i="0" u="none" strike="noStrike" kern="1200" cap="none" spc="0" normalizeH="0" baseline="0" noProof="0" dirty="0">
                <a:ln>
                  <a:noFill/>
                </a:ln>
                <a:solidFill>
                  <a:prstClr val="white">
                    <a:lumMod val="65000"/>
                  </a:prstClr>
                </a:solidFill>
                <a:effectLst/>
                <a:uLnTx/>
                <a:uFillTx/>
                <a:latin typeface="Calibri"/>
                <a:ea typeface="+mn-ea"/>
                <a:cs typeface="+mn-cs"/>
              </a:rPr>
              <a:t>, ASC</a:t>
            </a:r>
            <a:r>
              <a:rPr kumimoji="0" lang="en-GB" sz="1800" b="0" i="0" u="none" strike="noStrike" kern="1200" cap="none" spc="0" normalizeH="0" baseline="-25000" noProof="0" dirty="0">
                <a:ln>
                  <a:noFill/>
                </a:ln>
                <a:solidFill>
                  <a:prstClr val="white">
                    <a:lumMod val="65000"/>
                  </a:prstClr>
                </a:solidFill>
                <a:effectLst/>
                <a:uLnTx/>
                <a:uFillTx/>
                <a:latin typeface="Calibri"/>
                <a:ea typeface="+mn-ea"/>
                <a:cs typeface="+mn-cs"/>
              </a:rPr>
              <a:t>SM</a:t>
            </a: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kumimoji="0" lang="en-GB" sz="1800" b="0" i="0" u="none" strike="noStrike" kern="1200" cap="none" spc="0" normalizeH="0" baseline="-2500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Covariates MLP-part: AV Purpose, First class, Gender, Age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grpSp>
        <p:nvGrpSpPr>
          <p:cNvPr id="2" name="Group 1">
            <a:extLst>
              <a:ext uri="{FF2B5EF4-FFF2-40B4-BE49-F238E27FC236}">
                <a16:creationId xmlns:a16="http://schemas.microsoft.com/office/drawing/2014/main" id="{26649E7D-1DE1-D722-A1EB-9889DFB90322}"/>
              </a:ext>
            </a:extLst>
          </p:cNvPr>
          <p:cNvGrpSpPr/>
          <p:nvPr/>
        </p:nvGrpSpPr>
        <p:grpSpPr>
          <a:xfrm>
            <a:off x="807416" y="1808289"/>
            <a:ext cx="3936601" cy="1215735"/>
            <a:chOff x="6999514" y="1339615"/>
            <a:chExt cx="5152369" cy="1591200"/>
          </a:xfrm>
        </p:grpSpPr>
        <p:pic>
          <p:nvPicPr>
            <p:cNvPr id="7" name="Picture 6">
              <a:extLst>
                <a:ext uri="{FF2B5EF4-FFF2-40B4-BE49-F238E27FC236}">
                  <a16:creationId xmlns:a16="http://schemas.microsoft.com/office/drawing/2014/main" id="{77197B92-6DA3-D84D-E272-21D063EE7875}"/>
                </a:ext>
              </a:extLst>
            </p:cNvPr>
            <p:cNvPicPr>
              <a:picLocks noChangeAspect="1"/>
            </p:cNvPicPr>
            <p:nvPr/>
          </p:nvPicPr>
          <p:blipFill rotWithShape="1">
            <a:blip r:embed="rId3"/>
            <a:srcRect r="48807"/>
            <a:stretch/>
          </p:blipFill>
          <p:spPr>
            <a:xfrm>
              <a:off x="6999514" y="1339749"/>
              <a:ext cx="2606449" cy="1591066"/>
            </a:xfrm>
            <a:prstGeom prst="rect">
              <a:avLst/>
            </a:prstGeom>
            <a:ln>
              <a:noFill/>
            </a:ln>
            <a:effectLst>
              <a:outerShdw blurRad="292100" dist="139700" dir="2700000" algn="tl" rotWithShape="0">
                <a:srgbClr val="333333">
                  <a:alpha val="65000"/>
                </a:srgbClr>
              </a:outerShdw>
            </a:effectLst>
          </p:spPr>
        </p:pic>
        <p:grpSp>
          <p:nvGrpSpPr>
            <p:cNvPr id="8" name="Group 7">
              <a:extLst>
                <a:ext uri="{FF2B5EF4-FFF2-40B4-BE49-F238E27FC236}">
                  <a16:creationId xmlns:a16="http://schemas.microsoft.com/office/drawing/2014/main" id="{699BDDF7-D9A9-D363-D46C-14CDBF599871}"/>
                </a:ext>
              </a:extLst>
            </p:cNvPr>
            <p:cNvGrpSpPr/>
            <p:nvPr/>
          </p:nvGrpSpPr>
          <p:grpSpPr>
            <a:xfrm>
              <a:off x="9605963" y="1339615"/>
              <a:ext cx="2545920" cy="1591200"/>
              <a:chOff x="8373120" y="3037357"/>
              <a:chExt cx="2545920" cy="1591200"/>
            </a:xfrm>
          </p:grpSpPr>
          <p:pic>
            <p:nvPicPr>
              <p:cNvPr id="9" name="Picture 8">
                <a:extLst>
                  <a:ext uri="{FF2B5EF4-FFF2-40B4-BE49-F238E27FC236}">
                    <a16:creationId xmlns:a16="http://schemas.microsoft.com/office/drawing/2014/main" id="{CE58DEAB-CEE7-2CED-6CE7-F7164AF62F3F}"/>
                  </a:ext>
                </a:extLst>
              </p:cNvPr>
              <p:cNvPicPr>
                <a:picLocks noChangeAspect="1"/>
              </p:cNvPicPr>
              <p:nvPr/>
            </p:nvPicPr>
            <p:blipFill>
              <a:blip r:embed="rId4"/>
              <a:stretch>
                <a:fillRect/>
              </a:stretch>
            </p:blipFill>
            <p:spPr>
              <a:xfrm>
                <a:off x="8373120" y="3037357"/>
                <a:ext cx="2545920" cy="795600"/>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0D9B45D4-D1BD-9F5B-0236-51FAAD60E7E3}"/>
                  </a:ext>
                </a:extLst>
              </p:cNvPr>
              <p:cNvPicPr>
                <a:picLocks noChangeAspect="1"/>
              </p:cNvPicPr>
              <p:nvPr/>
            </p:nvPicPr>
            <p:blipFill>
              <a:blip r:embed="rId5"/>
              <a:stretch>
                <a:fillRect/>
              </a:stretch>
            </p:blipFill>
            <p:spPr>
              <a:xfrm>
                <a:off x="8373120" y="3832957"/>
                <a:ext cx="2545920" cy="795600"/>
              </a:xfrm>
              <a:prstGeom prst="rect">
                <a:avLst/>
              </a:prstGeom>
              <a:ln>
                <a:noFill/>
              </a:ln>
              <a:effectLst>
                <a:outerShdw blurRad="292100" dist="139700" dir="2700000" algn="tl" rotWithShape="0">
                  <a:srgbClr val="333333">
                    <a:alpha val="65000"/>
                  </a:srgbClr>
                </a:outerShdw>
              </a:effectLst>
            </p:spPr>
          </p:pic>
        </p:grpSp>
      </p:grpSp>
      <p:grpSp>
        <p:nvGrpSpPr>
          <p:cNvPr id="55" name="Group 54">
            <a:extLst>
              <a:ext uri="{FF2B5EF4-FFF2-40B4-BE49-F238E27FC236}">
                <a16:creationId xmlns:a16="http://schemas.microsoft.com/office/drawing/2014/main" id="{2DBFC988-F292-C41E-D7FB-B48578655C68}"/>
              </a:ext>
            </a:extLst>
          </p:cNvPr>
          <p:cNvGrpSpPr/>
          <p:nvPr/>
        </p:nvGrpSpPr>
        <p:grpSpPr>
          <a:xfrm>
            <a:off x="6841060" y="4218691"/>
            <a:ext cx="2897063" cy="2041047"/>
            <a:chOff x="3832575" y="3809832"/>
            <a:chExt cx="2897063" cy="2041047"/>
          </a:xfrm>
        </p:grpSpPr>
        <p:grpSp>
          <p:nvGrpSpPr>
            <p:cNvPr id="56" name="Group 55">
              <a:extLst>
                <a:ext uri="{FF2B5EF4-FFF2-40B4-BE49-F238E27FC236}">
                  <a16:creationId xmlns:a16="http://schemas.microsoft.com/office/drawing/2014/main" id="{61EBC58E-22D4-7A1E-A24F-2810F0503385}"/>
                </a:ext>
              </a:extLst>
            </p:cNvPr>
            <p:cNvGrpSpPr/>
            <p:nvPr/>
          </p:nvGrpSpPr>
          <p:grpSpPr>
            <a:xfrm>
              <a:off x="4375054" y="3830970"/>
              <a:ext cx="2354584" cy="2019909"/>
              <a:chOff x="6737254" y="4120085"/>
              <a:chExt cx="2354584" cy="2019909"/>
            </a:xfrm>
          </p:grpSpPr>
          <p:grpSp>
            <p:nvGrpSpPr>
              <p:cNvPr id="63" name="Group 62">
                <a:extLst>
                  <a:ext uri="{FF2B5EF4-FFF2-40B4-BE49-F238E27FC236}">
                    <a16:creationId xmlns:a16="http://schemas.microsoft.com/office/drawing/2014/main" id="{8B0E49AC-318E-3DAF-E97D-A0694074DBF9}"/>
                  </a:ext>
                </a:extLst>
              </p:cNvPr>
              <p:cNvGrpSpPr/>
              <p:nvPr/>
            </p:nvGrpSpPr>
            <p:grpSpPr>
              <a:xfrm>
                <a:off x="6737254" y="4120085"/>
                <a:ext cx="2354584" cy="2019909"/>
                <a:chOff x="7687486" y="4073387"/>
                <a:chExt cx="2354584" cy="2019909"/>
              </a:xfrm>
            </p:grpSpPr>
            <p:pic>
              <p:nvPicPr>
                <p:cNvPr id="68" name="Picture 67">
                  <a:extLst>
                    <a:ext uri="{FF2B5EF4-FFF2-40B4-BE49-F238E27FC236}">
                      <a16:creationId xmlns:a16="http://schemas.microsoft.com/office/drawing/2014/main" id="{0441516A-4B20-8B33-03F7-4D9EA28E2681}"/>
                    </a:ext>
                  </a:extLst>
                </p:cNvPr>
                <p:cNvPicPr>
                  <a:picLocks noChangeAspect="1"/>
                </p:cNvPicPr>
                <p:nvPr/>
              </p:nvPicPr>
              <p:blipFill rotWithShape="1">
                <a:blip r:embed="rId6"/>
                <a:srcRect l="-1998" t="1251" r="42493" b="11355"/>
                <a:stretch/>
              </p:blipFill>
              <p:spPr>
                <a:xfrm>
                  <a:off x="7687486" y="4073387"/>
                  <a:ext cx="1713739" cy="2019909"/>
                </a:xfrm>
                <a:prstGeom prst="rect">
                  <a:avLst/>
                </a:prstGeom>
              </p:spPr>
            </p:pic>
            <p:pic>
              <p:nvPicPr>
                <p:cNvPr id="69" name="Picture 68">
                  <a:extLst>
                    <a:ext uri="{FF2B5EF4-FFF2-40B4-BE49-F238E27FC236}">
                      <a16:creationId xmlns:a16="http://schemas.microsoft.com/office/drawing/2014/main" id="{C5279659-BBA1-4808-4912-1A79031D1FF5}"/>
                    </a:ext>
                  </a:extLst>
                </p:cNvPr>
                <p:cNvPicPr>
                  <a:picLocks noChangeAspect="1"/>
                </p:cNvPicPr>
                <p:nvPr/>
              </p:nvPicPr>
              <p:blipFill rotWithShape="1">
                <a:blip r:embed="rId6"/>
                <a:srcRect l="43004" t="21329" r="42493" b="35054"/>
                <a:stretch/>
              </p:blipFill>
              <p:spPr>
                <a:xfrm>
                  <a:off x="9624392" y="4541056"/>
                  <a:ext cx="417678" cy="1008113"/>
                </a:xfrm>
                <a:prstGeom prst="rect">
                  <a:avLst/>
                </a:prstGeom>
              </p:spPr>
            </p:pic>
            <p:cxnSp>
              <p:nvCxnSpPr>
                <p:cNvPr id="70" name="Straight Arrow Connector 69">
                  <a:extLst>
                    <a:ext uri="{FF2B5EF4-FFF2-40B4-BE49-F238E27FC236}">
                      <a16:creationId xmlns:a16="http://schemas.microsoft.com/office/drawing/2014/main" id="{00FC116D-EBFD-1AB2-835D-2C3D2192449E}"/>
                    </a:ext>
                  </a:extLst>
                </p:cNvPr>
                <p:cNvCxnSpPr/>
                <p:nvPr/>
              </p:nvCxnSpPr>
              <p:spPr>
                <a:xfrm flipV="1">
                  <a:off x="9408368" y="4797152"/>
                  <a:ext cx="216024" cy="1"/>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71" name="Straight Arrow Connector 70">
                  <a:extLst>
                    <a:ext uri="{FF2B5EF4-FFF2-40B4-BE49-F238E27FC236}">
                      <a16:creationId xmlns:a16="http://schemas.microsoft.com/office/drawing/2014/main" id="{7E5C1663-8A65-2BB0-105D-5E4E14A7B0F6}"/>
                    </a:ext>
                  </a:extLst>
                </p:cNvPr>
                <p:cNvCxnSpPr/>
                <p:nvPr/>
              </p:nvCxnSpPr>
              <p:spPr>
                <a:xfrm flipV="1">
                  <a:off x="9401225" y="5373216"/>
                  <a:ext cx="216024" cy="1"/>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72" name="Straight Arrow Connector 71">
                  <a:extLst>
                    <a:ext uri="{FF2B5EF4-FFF2-40B4-BE49-F238E27FC236}">
                      <a16:creationId xmlns:a16="http://schemas.microsoft.com/office/drawing/2014/main" id="{42460AC8-FB9A-AC6F-B0BF-25645CC66ECE}"/>
                    </a:ext>
                  </a:extLst>
                </p:cNvPr>
                <p:cNvCxnSpPr/>
                <p:nvPr/>
              </p:nvCxnSpPr>
              <p:spPr>
                <a:xfrm>
                  <a:off x="9408368" y="4797152"/>
                  <a:ext cx="208881" cy="576064"/>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cxnSp>
              <p:nvCxnSpPr>
                <p:cNvPr id="73" name="Straight Arrow Connector 72">
                  <a:extLst>
                    <a:ext uri="{FF2B5EF4-FFF2-40B4-BE49-F238E27FC236}">
                      <a16:creationId xmlns:a16="http://schemas.microsoft.com/office/drawing/2014/main" id="{2B780D26-B543-4945-CC4D-2D97573865AE}"/>
                    </a:ext>
                  </a:extLst>
                </p:cNvPr>
                <p:cNvCxnSpPr/>
                <p:nvPr/>
              </p:nvCxnSpPr>
              <p:spPr>
                <a:xfrm flipV="1">
                  <a:off x="9408368" y="4797152"/>
                  <a:ext cx="216024" cy="576063"/>
                </a:xfrm>
                <a:prstGeom prst="straightConnector1">
                  <a:avLst/>
                </a:prstGeom>
                <a:ln w="6350">
                  <a:solidFill>
                    <a:schemeClr val="tx1"/>
                  </a:solidFill>
                  <a:headEnd type="none" w="med" len="med"/>
                  <a:tailEnd type="triangle" w="sm" len="med"/>
                </a:ln>
              </p:spPr>
              <p:style>
                <a:lnRef idx="1">
                  <a:schemeClr val="accent2"/>
                </a:lnRef>
                <a:fillRef idx="0">
                  <a:schemeClr val="accent2"/>
                </a:fillRef>
                <a:effectRef idx="0">
                  <a:schemeClr val="accent2"/>
                </a:effectRef>
                <a:fontRef idx="minor">
                  <a:schemeClr val="tx1"/>
                </a:fontRef>
              </p:style>
            </p:cxnSp>
          </p:grpSp>
          <p:sp>
            <p:nvSpPr>
              <p:cNvPr id="64" name="Oval 63">
                <a:extLst>
                  <a:ext uri="{FF2B5EF4-FFF2-40B4-BE49-F238E27FC236}">
                    <a16:creationId xmlns:a16="http://schemas.microsoft.com/office/drawing/2014/main" id="{2E0583B9-88FB-0054-F5A8-52ED45FF535E}"/>
                  </a:ext>
                </a:extLst>
              </p:cNvPr>
              <p:cNvSpPr/>
              <p:nvPr/>
            </p:nvSpPr>
            <p:spPr>
              <a:xfrm>
                <a:off x="7012949" y="4716541"/>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Oval 64">
                <a:extLst>
                  <a:ext uri="{FF2B5EF4-FFF2-40B4-BE49-F238E27FC236}">
                    <a16:creationId xmlns:a16="http://schemas.microsoft.com/office/drawing/2014/main" id="{073D628F-D37E-8F10-E4BA-E21D66E7EF79}"/>
                  </a:ext>
                </a:extLst>
              </p:cNvPr>
              <p:cNvSpPr/>
              <p:nvPr/>
            </p:nvSpPr>
            <p:spPr>
              <a:xfrm>
                <a:off x="7020161" y="4149080"/>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Oval 65">
                <a:extLst>
                  <a:ext uri="{FF2B5EF4-FFF2-40B4-BE49-F238E27FC236}">
                    <a16:creationId xmlns:a16="http://schemas.microsoft.com/office/drawing/2014/main" id="{9FDFE03F-82E5-5640-39BE-0EC9146EBFCD}"/>
                  </a:ext>
                </a:extLst>
              </p:cNvPr>
              <p:cNvSpPr/>
              <p:nvPr/>
            </p:nvSpPr>
            <p:spPr>
              <a:xfrm>
                <a:off x="7017721" y="5229201"/>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Oval 66">
                <a:extLst>
                  <a:ext uri="{FF2B5EF4-FFF2-40B4-BE49-F238E27FC236}">
                    <a16:creationId xmlns:a16="http://schemas.microsoft.com/office/drawing/2014/main" id="{12DB9AA3-095F-F694-816F-CFD09C6BD4AB}"/>
                  </a:ext>
                </a:extLst>
              </p:cNvPr>
              <p:cNvSpPr/>
              <p:nvPr/>
            </p:nvSpPr>
            <p:spPr>
              <a:xfrm>
                <a:off x="7020161" y="5721074"/>
                <a:ext cx="288032" cy="288032"/>
              </a:xfrm>
              <a:prstGeom prst="ellipse">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57" name="Left Brace 56">
              <a:extLst>
                <a:ext uri="{FF2B5EF4-FFF2-40B4-BE49-F238E27FC236}">
                  <a16:creationId xmlns:a16="http://schemas.microsoft.com/office/drawing/2014/main" id="{6C77710C-5A7E-3E6D-39C0-48C248A407D4}"/>
                </a:ext>
              </a:extLst>
            </p:cNvPr>
            <p:cNvSpPr/>
            <p:nvPr/>
          </p:nvSpPr>
          <p:spPr>
            <a:xfrm>
              <a:off x="4248533" y="3809832"/>
              <a:ext cx="144687" cy="2041047"/>
            </a:xfrm>
            <a:prstGeom prst="leftBrace">
              <a:avLst/>
            </a:prstGeom>
            <a:ln w="19050">
              <a:solidFill>
                <a:srgbClr val="0070C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7">
              <a:extLst>
                <a:ext uri="{FF2B5EF4-FFF2-40B4-BE49-F238E27FC236}">
                  <a16:creationId xmlns:a16="http://schemas.microsoft.com/office/drawing/2014/main" id="{4EB3F651-3F59-B6D8-0D94-A2B0D6FA1595}"/>
                </a:ext>
              </a:extLst>
            </p:cNvPr>
            <p:cNvSpPr txBox="1"/>
            <p:nvPr/>
          </p:nvSpPr>
          <p:spPr>
            <a:xfrm rot="16200000">
              <a:off x="3379846" y="4723478"/>
              <a:ext cx="12747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Calibri"/>
                  <a:ea typeface="+mn-ea"/>
                  <a:cs typeface="+mn-cs"/>
                </a:rPr>
                <a:t>Covariates</a:t>
              </a:r>
            </a:p>
          </p:txBody>
        </p:sp>
        <p:sp>
          <p:nvSpPr>
            <p:cNvPr id="61" name="TextBox 60">
              <a:extLst>
                <a:ext uri="{FF2B5EF4-FFF2-40B4-BE49-F238E27FC236}">
                  <a16:creationId xmlns:a16="http://schemas.microsoft.com/office/drawing/2014/main" id="{93BAB640-F830-0899-4879-14C77DAFB4A6}"/>
                </a:ext>
              </a:extLst>
            </p:cNvPr>
            <p:cNvSpPr txBox="1"/>
            <p:nvPr/>
          </p:nvSpPr>
          <p:spPr>
            <a:xfrm>
              <a:off x="5671115" y="4367432"/>
              <a:ext cx="474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l-GR" sz="1800" b="0" i="1" u="none" strike="noStrike" kern="1200" cap="none" spc="0" normalizeH="0" baseline="0" noProof="0" dirty="0">
                  <a:ln>
                    <a:noFill/>
                  </a:ln>
                  <a:solidFill>
                    <a:prstClr val="black"/>
                  </a:solidFill>
                  <a:effectLst/>
                  <a:uLnTx/>
                  <a:uFillTx/>
                  <a:latin typeface="Calibri"/>
                  <a:ea typeface="+mn-ea"/>
                  <a:cs typeface="+mn-cs"/>
                </a:rPr>
                <a:t>Ψ</a:t>
              </a:r>
              <a:r>
                <a:rPr kumimoji="0" lang="en-GB" sz="1800" b="0" i="1" u="none" strike="noStrike" kern="1200" cap="none" spc="0" normalizeH="0" baseline="-25000" noProof="0" dirty="0">
                  <a:ln>
                    <a:noFill/>
                  </a:ln>
                  <a:solidFill>
                    <a:prstClr val="black"/>
                  </a:solidFill>
                  <a:effectLst/>
                  <a:uLnTx/>
                  <a:uFillTx/>
                  <a:latin typeface="Calibri"/>
                  <a:ea typeface="+mn-ea"/>
                  <a:cs typeface="+mn-cs"/>
                </a:rPr>
                <a:t>1</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2" name="TextBox 61">
              <a:extLst>
                <a:ext uri="{FF2B5EF4-FFF2-40B4-BE49-F238E27FC236}">
                  <a16:creationId xmlns:a16="http://schemas.microsoft.com/office/drawing/2014/main" id="{6DD9A70C-1B11-D4DA-ACDF-33B60D828F6A}"/>
                </a:ext>
              </a:extLst>
            </p:cNvPr>
            <p:cNvSpPr txBox="1"/>
            <p:nvPr/>
          </p:nvSpPr>
          <p:spPr>
            <a:xfrm>
              <a:off x="5671115" y="4858786"/>
              <a:ext cx="474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l-GR" sz="1800" b="0" i="1" u="none" strike="noStrike" kern="1200" cap="none" spc="0" normalizeH="0" baseline="0" noProof="0" dirty="0">
                  <a:ln>
                    <a:noFill/>
                  </a:ln>
                  <a:solidFill>
                    <a:prstClr val="black"/>
                  </a:solidFill>
                  <a:effectLst/>
                  <a:uLnTx/>
                  <a:uFillTx/>
                  <a:latin typeface="Calibri"/>
                  <a:ea typeface="+mn-ea"/>
                  <a:cs typeface="+mn-cs"/>
                </a:rPr>
                <a:t>Ψ</a:t>
              </a:r>
              <a:r>
                <a:rPr kumimoji="0" lang="en-GB" sz="1800" b="0" i="1" u="none" strike="noStrike" kern="1200" cap="none" spc="0" normalizeH="0" baseline="-25000" noProof="0" dirty="0">
                  <a:ln>
                    <a:noFill/>
                  </a:ln>
                  <a:solidFill>
                    <a:prstClr val="black"/>
                  </a:solidFill>
                  <a:effectLst/>
                  <a:uLnTx/>
                  <a:uFillTx/>
                  <a:latin typeface="Calibri"/>
                  <a:ea typeface="+mn-ea"/>
                  <a:cs typeface="+mn-cs"/>
                </a:rPr>
                <a:t>2</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pic>
        <p:nvPicPr>
          <p:cNvPr id="74" name="Picture 73">
            <a:extLst>
              <a:ext uri="{FF2B5EF4-FFF2-40B4-BE49-F238E27FC236}">
                <a16:creationId xmlns:a16="http://schemas.microsoft.com/office/drawing/2014/main" id="{E388118C-B37B-E8C3-39D4-E762FA2C047A}"/>
              </a:ext>
            </a:extLst>
          </p:cNvPr>
          <p:cNvPicPr>
            <a:picLocks noChangeAspect="1"/>
          </p:cNvPicPr>
          <p:nvPr/>
        </p:nvPicPr>
        <p:blipFill>
          <a:blip r:embed="rId7"/>
          <a:stretch>
            <a:fillRect/>
          </a:stretch>
        </p:blipFill>
        <p:spPr>
          <a:xfrm>
            <a:off x="8862284" y="1065510"/>
            <a:ext cx="3228231" cy="2590723"/>
          </a:xfrm>
          <a:prstGeom prst="rect">
            <a:avLst/>
          </a:prstGeom>
        </p:spPr>
      </p:pic>
      <p:grpSp>
        <p:nvGrpSpPr>
          <p:cNvPr id="86" name="Group 85">
            <a:extLst>
              <a:ext uri="{FF2B5EF4-FFF2-40B4-BE49-F238E27FC236}">
                <a16:creationId xmlns:a16="http://schemas.microsoft.com/office/drawing/2014/main" id="{4A082125-009E-254C-B342-33E1C063AD53}"/>
              </a:ext>
            </a:extLst>
          </p:cNvPr>
          <p:cNvGrpSpPr/>
          <p:nvPr/>
        </p:nvGrpSpPr>
        <p:grpSpPr>
          <a:xfrm>
            <a:off x="9637496" y="1960164"/>
            <a:ext cx="662267" cy="3562815"/>
            <a:chOff x="5750851" y="311956"/>
            <a:chExt cx="662267" cy="3562815"/>
          </a:xfrm>
        </p:grpSpPr>
        <p:cxnSp>
          <p:nvCxnSpPr>
            <p:cNvPr id="87" name="Straight Arrow Connector 86">
              <a:extLst>
                <a:ext uri="{FF2B5EF4-FFF2-40B4-BE49-F238E27FC236}">
                  <a16:creationId xmlns:a16="http://schemas.microsoft.com/office/drawing/2014/main" id="{31D57745-8677-54C4-639C-B56A6F4AB656}"/>
                </a:ext>
              </a:extLst>
            </p:cNvPr>
            <p:cNvCxnSpPr>
              <a:cxnSpLocks/>
            </p:cNvCxnSpPr>
            <p:nvPr/>
          </p:nvCxnSpPr>
          <p:spPr>
            <a:xfrm flipV="1">
              <a:off x="5851478" y="311956"/>
              <a:ext cx="491455" cy="3003432"/>
            </a:xfrm>
            <a:prstGeom prst="straightConnector1">
              <a:avLst/>
            </a:prstGeom>
            <a:ln w="12700">
              <a:solidFill>
                <a:schemeClr val="accent1">
                  <a:lumMod val="75000"/>
                </a:schemeClr>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25324051-FCEC-412D-50CC-F88A508A9008}"/>
                </a:ext>
              </a:extLst>
            </p:cNvPr>
            <p:cNvCxnSpPr>
              <a:cxnSpLocks/>
            </p:cNvCxnSpPr>
            <p:nvPr/>
          </p:nvCxnSpPr>
          <p:spPr>
            <a:xfrm flipV="1">
              <a:off x="5876852" y="871339"/>
              <a:ext cx="466081" cy="3003432"/>
            </a:xfrm>
            <a:prstGeom prst="straightConnector1">
              <a:avLst/>
            </a:prstGeom>
            <a:ln w="12700">
              <a:solidFill>
                <a:schemeClr val="accent1">
                  <a:lumMod val="75000"/>
                </a:schemeClr>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89" name="Oval 88">
              <a:extLst>
                <a:ext uri="{FF2B5EF4-FFF2-40B4-BE49-F238E27FC236}">
                  <a16:creationId xmlns:a16="http://schemas.microsoft.com/office/drawing/2014/main" id="{6840491D-8C69-E219-7BFC-6102CBA11118}"/>
                </a:ext>
              </a:extLst>
            </p:cNvPr>
            <p:cNvSpPr>
              <a:spLocks noChangeAspect="1"/>
            </p:cNvSpPr>
            <p:nvPr/>
          </p:nvSpPr>
          <p:spPr>
            <a:xfrm>
              <a:off x="5750851" y="2185333"/>
              <a:ext cx="216000" cy="216000"/>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a:ea typeface="+mn-ea"/>
                  <a:cs typeface="+mn-cs"/>
                </a:rPr>
                <a:t>+</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90" name="Oval 89">
              <a:extLst>
                <a:ext uri="{FF2B5EF4-FFF2-40B4-BE49-F238E27FC236}">
                  <a16:creationId xmlns:a16="http://schemas.microsoft.com/office/drawing/2014/main" id="{8892BDB2-B14D-C08B-8507-342E57BC4E09}"/>
                </a:ext>
              </a:extLst>
            </p:cNvPr>
            <p:cNvSpPr>
              <a:spLocks noChangeAspect="1"/>
            </p:cNvSpPr>
            <p:nvPr/>
          </p:nvSpPr>
          <p:spPr>
            <a:xfrm>
              <a:off x="6197118" y="2171435"/>
              <a:ext cx="216000" cy="216000"/>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a:ea typeface="+mn-ea"/>
                  <a:cs typeface="+mn-cs"/>
                </a:rPr>
                <a:t>+</a:t>
              </a: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91" name="TextBox 90">
            <a:extLst>
              <a:ext uri="{FF2B5EF4-FFF2-40B4-BE49-F238E27FC236}">
                <a16:creationId xmlns:a16="http://schemas.microsoft.com/office/drawing/2014/main" id="{C259DF40-11D3-E618-212B-322159E04725}"/>
              </a:ext>
            </a:extLst>
          </p:cNvPr>
          <p:cNvSpPr txBox="1"/>
          <p:nvPr/>
        </p:nvSpPr>
        <p:spPr>
          <a:xfrm>
            <a:off x="7222357" y="3858730"/>
            <a:ext cx="2774180" cy="381397"/>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MLP-part</a:t>
            </a:r>
          </a:p>
        </p:txBody>
      </p:sp>
      <p:grpSp>
        <p:nvGrpSpPr>
          <p:cNvPr id="11" name="Group 10">
            <a:extLst>
              <a:ext uri="{FF2B5EF4-FFF2-40B4-BE49-F238E27FC236}">
                <a16:creationId xmlns:a16="http://schemas.microsoft.com/office/drawing/2014/main" id="{7FB0C6A7-EBA2-B754-4EBA-3688E11AC8B3}"/>
              </a:ext>
            </a:extLst>
          </p:cNvPr>
          <p:cNvGrpSpPr/>
          <p:nvPr/>
        </p:nvGrpSpPr>
        <p:grpSpPr>
          <a:xfrm>
            <a:off x="9267270" y="4815240"/>
            <a:ext cx="483540" cy="865904"/>
            <a:chOff x="9267270" y="4815240"/>
            <a:chExt cx="483540" cy="865904"/>
          </a:xfrm>
        </p:grpSpPr>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BC93F7F-BB5D-7A1F-50A1-39C25ED65FAC}"/>
                    </a:ext>
                  </a:extLst>
                </p:cNvPr>
                <p:cNvSpPr txBox="1"/>
                <p:nvPr/>
              </p:nvSpPr>
              <p:spPr>
                <a:xfrm>
                  <a:off x="9267270" y="4815240"/>
                  <a:ext cx="474609" cy="34156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GB"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𝑉</m:t>
                            </m:r>
                          </m:e>
                          <m:sub>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𝑀𝐿𝑃</m:t>
                            </m:r>
                          </m:sup>
                        </m:sSubSup>
                      </m:oMath>
                    </m:oMathPara>
                  </a14:m>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84" name="TextBox 83">
                  <a:extLst>
                    <a:ext uri="{FF2B5EF4-FFF2-40B4-BE49-F238E27FC236}">
                      <a16:creationId xmlns:a16="http://schemas.microsoft.com/office/drawing/2014/main" id="{FBC93F7F-BB5D-7A1F-50A1-39C25ED65FAC}"/>
                    </a:ext>
                  </a:extLst>
                </p:cNvPr>
                <p:cNvSpPr txBox="1">
                  <a:spLocks noRot="1" noChangeAspect="1" noMove="1" noResize="1" noEditPoints="1" noAdjustHandles="1" noChangeArrowheads="1" noChangeShapeType="1" noTextEdit="1"/>
                </p:cNvSpPr>
                <p:nvPr/>
              </p:nvSpPr>
              <p:spPr>
                <a:xfrm>
                  <a:off x="9267270" y="4815240"/>
                  <a:ext cx="474609" cy="341568"/>
                </a:xfrm>
                <a:prstGeom prst="rect">
                  <a:avLst/>
                </a:prstGeom>
                <a:blipFill>
                  <a:blip r:embed="rId8"/>
                  <a:stretch>
                    <a:fillRect r="-205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9A889B90-0071-1C0C-5DDD-D6B41D893745}"/>
                    </a:ext>
                  </a:extLst>
                </p:cNvPr>
                <p:cNvSpPr txBox="1"/>
                <p:nvPr/>
              </p:nvSpPr>
              <p:spPr>
                <a:xfrm>
                  <a:off x="9276201" y="5339576"/>
                  <a:ext cx="474609" cy="34156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GB"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𝑉</m:t>
                            </m:r>
                          </m:e>
                          <m:sub>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up>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𝑀𝐿𝑃</m:t>
                            </m:r>
                          </m:sup>
                        </m:sSubSup>
                      </m:oMath>
                    </m:oMathPara>
                  </a14:m>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96" name="TextBox 95">
                  <a:extLst>
                    <a:ext uri="{FF2B5EF4-FFF2-40B4-BE49-F238E27FC236}">
                      <a16:creationId xmlns:a16="http://schemas.microsoft.com/office/drawing/2014/main" id="{9A889B90-0071-1C0C-5DDD-D6B41D893745}"/>
                    </a:ext>
                  </a:extLst>
                </p:cNvPr>
                <p:cNvSpPr txBox="1">
                  <a:spLocks noRot="1" noChangeAspect="1" noMove="1" noResize="1" noEditPoints="1" noAdjustHandles="1" noChangeArrowheads="1" noChangeShapeType="1" noTextEdit="1"/>
                </p:cNvSpPr>
                <p:nvPr/>
              </p:nvSpPr>
              <p:spPr>
                <a:xfrm>
                  <a:off x="9276201" y="5339576"/>
                  <a:ext cx="474609" cy="341568"/>
                </a:xfrm>
                <a:prstGeom prst="rect">
                  <a:avLst/>
                </a:prstGeom>
                <a:blipFill>
                  <a:blip r:embed="rId9"/>
                  <a:stretch>
                    <a:fillRect r="-23684"/>
                  </a:stretch>
                </a:blipFill>
              </p:spPr>
              <p:txBody>
                <a:bodyPr/>
                <a:lstStyle/>
                <a:p>
                  <a:r>
                    <a:rPr lang="en-GB">
                      <a:noFill/>
                    </a:rPr>
                    <a:t> </a:t>
                  </a:r>
                </a:p>
              </p:txBody>
            </p:sp>
          </mc:Fallback>
        </mc:AlternateContent>
      </p:grpSp>
      <p:sp>
        <p:nvSpPr>
          <p:cNvPr id="101" name="TextBox 100">
            <a:extLst>
              <a:ext uri="{FF2B5EF4-FFF2-40B4-BE49-F238E27FC236}">
                <a16:creationId xmlns:a16="http://schemas.microsoft.com/office/drawing/2014/main" id="{44B07B55-BCCB-64E4-4EA0-7B700ED1E7FF}"/>
              </a:ext>
            </a:extLst>
          </p:cNvPr>
          <p:cNvSpPr txBox="1"/>
          <p:nvPr/>
        </p:nvSpPr>
        <p:spPr>
          <a:xfrm>
            <a:off x="9205290" y="966908"/>
            <a:ext cx="2774180" cy="381397"/>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Calibri"/>
                <a:ea typeface="+mn-ea"/>
                <a:cs typeface="+mn-cs"/>
              </a:rPr>
              <a:t>MNL-part</a:t>
            </a:r>
          </a:p>
        </p:txBody>
      </p:sp>
      <p:sp>
        <p:nvSpPr>
          <p:cNvPr id="16" name="Line 2">
            <a:extLst>
              <a:ext uri="{FF2B5EF4-FFF2-40B4-BE49-F238E27FC236}">
                <a16:creationId xmlns:a16="http://schemas.microsoft.com/office/drawing/2014/main" id="{C12BE6B0-7BCE-742D-2359-EF2D28BA4E8D}"/>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7" name="Line 2">
            <a:extLst>
              <a:ext uri="{FF2B5EF4-FFF2-40B4-BE49-F238E27FC236}">
                <a16:creationId xmlns:a16="http://schemas.microsoft.com/office/drawing/2014/main" id="{AA132EF7-745E-0CD0-FE54-69704C5ACCC4}"/>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813731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1404000"/>
            <a:ext cx="6060112"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Steps</a:t>
            </a: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Split data in a training and test set  </a:t>
            </a: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Estimate linear-RUM MNL on the train data</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 Compute the Log-likelihood of the </a:t>
            </a: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test data</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given the model</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Scale the data</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We scale the variables going into the MLP-part </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We do not scale the variables going into the MNL-part </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Dummy code the choices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sp>
        <p:nvSpPr>
          <p:cNvPr id="14" name="TextBox 13">
            <a:extLst>
              <a:ext uri="{FF2B5EF4-FFF2-40B4-BE49-F238E27FC236}">
                <a16:creationId xmlns:a16="http://schemas.microsoft.com/office/drawing/2014/main" id="{3048A208-26FD-8788-6BAF-39B74983AFD1}"/>
              </a:ext>
            </a:extLst>
          </p:cNvPr>
          <p:cNvSpPr txBox="1"/>
          <p:nvPr/>
        </p:nvSpPr>
        <p:spPr>
          <a:xfrm>
            <a:off x="6434074" y="2499500"/>
            <a:ext cx="1973766" cy="423746"/>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 Same as before</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sym typeface="Wingdings" panose="05000000000000000000" pitchFamily="2" charset="2"/>
            </a:endParaRPr>
          </a:p>
        </p:txBody>
      </p:sp>
      <p:pic>
        <p:nvPicPr>
          <p:cNvPr id="2" name="Picture 1">
            <a:extLst>
              <a:ext uri="{FF2B5EF4-FFF2-40B4-BE49-F238E27FC236}">
                <a16:creationId xmlns:a16="http://schemas.microsoft.com/office/drawing/2014/main" id="{81DF1274-C0F5-46F6-94DB-8ED348601597}"/>
              </a:ext>
            </a:extLst>
          </p:cNvPr>
          <p:cNvPicPr>
            <a:picLocks noChangeAspect="1"/>
          </p:cNvPicPr>
          <p:nvPr/>
        </p:nvPicPr>
        <p:blipFill>
          <a:blip r:embed="rId3"/>
          <a:stretch>
            <a:fillRect/>
          </a:stretch>
        </p:blipFill>
        <p:spPr>
          <a:xfrm>
            <a:off x="6590370" y="1742132"/>
            <a:ext cx="5400000" cy="1104361"/>
          </a:xfrm>
          <a:prstGeom prst="rect">
            <a:avLst/>
          </a:prstGeom>
        </p:spPr>
      </p:pic>
      <p:pic>
        <p:nvPicPr>
          <p:cNvPr id="7" name="Picture 6">
            <a:extLst>
              <a:ext uri="{FF2B5EF4-FFF2-40B4-BE49-F238E27FC236}">
                <a16:creationId xmlns:a16="http://schemas.microsoft.com/office/drawing/2014/main" id="{58C7F0F4-FB6F-4BEE-CE74-370E3DFB11C8}"/>
              </a:ext>
            </a:extLst>
          </p:cNvPr>
          <p:cNvPicPr>
            <a:picLocks noChangeAspect="1"/>
          </p:cNvPicPr>
          <p:nvPr/>
        </p:nvPicPr>
        <p:blipFill>
          <a:blip r:embed="rId4"/>
          <a:stretch>
            <a:fillRect/>
          </a:stretch>
        </p:blipFill>
        <p:spPr>
          <a:xfrm>
            <a:off x="6590370" y="3011019"/>
            <a:ext cx="5400000" cy="1773913"/>
          </a:xfrm>
          <a:prstGeom prst="rect">
            <a:avLst/>
          </a:prstGeom>
        </p:spPr>
      </p:pic>
      <p:sp>
        <p:nvSpPr>
          <p:cNvPr id="8" name="Line 2">
            <a:extLst>
              <a:ext uri="{FF2B5EF4-FFF2-40B4-BE49-F238E27FC236}">
                <a16:creationId xmlns:a16="http://schemas.microsoft.com/office/drawing/2014/main" id="{CE5AEB44-8A32-1CD2-3370-F050640089F9}"/>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9" name="Line 2">
            <a:extLst>
              <a:ext uri="{FF2B5EF4-FFF2-40B4-BE49-F238E27FC236}">
                <a16:creationId xmlns:a16="http://schemas.microsoft.com/office/drawing/2014/main" id="{0D3FCE05-9CEB-A72C-7F0C-40C19C3784A5}"/>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16864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1404000"/>
            <a:ext cx="6060112"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Steps</a:t>
            </a: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Split data in a training and test set</a:t>
            </a: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Estimate linear-RUM MNL on the train data</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 Compute the Log-likelihood of the </a:t>
            </a: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test data</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given the model</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Scale the data</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We scale the variables going into the MLP-part </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1" i="0" u="none" strike="noStrike" kern="1200" cap="none" spc="0" normalizeH="0" baseline="0" noProof="0" dirty="0">
                <a:ln>
                  <a:noFill/>
                </a:ln>
                <a:solidFill>
                  <a:srgbClr val="00B050"/>
                </a:solidFill>
                <a:effectLst/>
                <a:uLnTx/>
                <a:uFillTx/>
                <a:latin typeface="Calibri" panose="020F0502020204030204"/>
                <a:ea typeface="+mn-ea"/>
                <a:cs typeface="+mn-cs"/>
              </a:rPr>
              <a:t>We do not scale the variables going into the MNL-part </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Dummy code the choices</a:t>
            </a: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Create convert data into tensors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2" name="Picture 1">
            <a:extLst>
              <a:ext uri="{FF2B5EF4-FFF2-40B4-BE49-F238E27FC236}">
                <a16:creationId xmlns:a16="http://schemas.microsoft.com/office/drawing/2014/main" id="{80C42AD6-CE52-85E8-1A87-346E0ADBCB00}"/>
              </a:ext>
            </a:extLst>
          </p:cNvPr>
          <p:cNvPicPr>
            <a:picLocks noChangeAspect="1"/>
          </p:cNvPicPr>
          <p:nvPr/>
        </p:nvPicPr>
        <p:blipFill>
          <a:blip r:embed="rId3"/>
          <a:stretch>
            <a:fillRect/>
          </a:stretch>
        </p:blipFill>
        <p:spPr>
          <a:xfrm>
            <a:off x="6590370" y="1742132"/>
            <a:ext cx="5400000" cy="1104361"/>
          </a:xfrm>
          <a:prstGeom prst="rect">
            <a:avLst/>
          </a:prstGeom>
        </p:spPr>
      </p:pic>
      <p:pic>
        <p:nvPicPr>
          <p:cNvPr id="7" name="Picture 6">
            <a:extLst>
              <a:ext uri="{FF2B5EF4-FFF2-40B4-BE49-F238E27FC236}">
                <a16:creationId xmlns:a16="http://schemas.microsoft.com/office/drawing/2014/main" id="{3E987589-585C-B1BF-2F17-F17DF95328DB}"/>
              </a:ext>
            </a:extLst>
          </p:cNvPr>
          <p:cNvPicPr>
            <a:picLocks noChangeAspect="1"/>
          </p:cNvPicPr>
          <p:nvPr/>
        </p:nvPicPr>
        <p:blipFill>
          <a:blip r:embed="rId4"/>
          <a:stretch>
            <a:fillRect/>
          </a:stretch>
        </p:blipFill>
        <p:spPr>
          <a:xfrm>
            <a:off x="6590370" y="3011019"/>
            <a:ext cx="5400000" cy="1773913"/>
          </a:xfrm>
          <a:prstGeom prst="rect">
            <a:avLst/>
          </a:prstGeom>
        </p:spPr>
      </p:pic>
      <p:pic>
        <p:nvPicPr>
          <p:cNvPr id="9" name="Picture 8">
            <a:extLst>
              <a:ext uri="{FF2B5EF4-FFF2-40B4-BE49-F238E27FC236}">
                <a16:creationId xmlns:a16="http://schemas.microsoft.com/office/drawing/2014/main" id="{F93F6A1E-0B36-1681-EEB3-CBED9C2824EF}"/>
              </a:ext>
            </a:extLst>
          </p:cNvPr>
          <p:cNvPicPr>
            <a:picLocks noChangeAspect="1"/>
          </p:cNvPicPr>
          <p:nvPr/>
        </p:nvPicPr>
        <p:blipFill>
          <a:blip r:embed="rId5"/>
          <a:stretch>
            <a:fillRect/>
          </a:stretch>
        </p:blipFill>
        <p:spPr>
          <a:xfrm>
            <a:off x="6590370" y="4949458"/>
            <a:ext cx="5400000" cy="1523311"/>
          </a:xfrm>
          <a:prstGeom prst="rect">
            <a:avLst/>
          </a:prstGeom>
        </p:spPr>
      </p:pic>
      <p:sp>
        <p:nvSpPr>
          <p:cNvPr id="8" name="Line 2">
            <a:extLst>
              <a:ext uri="{FF2B5EF4-FFF2-40B4-BE49-F238E27FC236}">
                <a16:creationId xmlns:a16="http://schemas.microsoft.com/office/drawing/2014/main" id="{ABBB3359-B134-F9E1-2382-7A67627A7BEA}"/>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1" name="Line 2">
            <a:extLst>
              <a:ext uri="{FF2B5EF4-FFF2-40B4-BE49-F238E27FC236}">
                <a16:creationId xmlns:a16="http://schemas.microsoft.com/office/drawing/2014/main" id="{EEEADAE3-EA86-A7F0-5600-94F73F8E206A}"/>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703821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1404000"/>
            <a:ext cx="6060112"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Steps</a:t>
            </a: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Split data in a training and test set</a:t>
            </a:r>
            <a:endPar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endParaRP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Estimate linear-RUM MNL on the train data</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 Compute the Log-likelihood of the </a:t>
            </a:r>
            <a:r>
              <a:rPr kumimoji="0" lang="en-GB" sz="1800" b="1" i="0" u="sng" strike="noStrike" kern="1200" cap="none" spc="0" normalizeH="0" baseline="0" noProof="0" dirty="0">
                <a:ln>
                  <a:noFill/>
                </a:ln>
                <a:solidFill>
                  <a:prstClr val="black"/>
                </a:solidFill>
                <a:effectLst/>
                <a:uLnTx/>
                <a:uFillTx/>
                <a:latin typeface="Calibri" panose="020F0502020204030204"/>
                <a:ea typeface="+mn-ea"/>
                <a:cs typeface="+mn-cs"/>
              </a:rPr>
              <a:t>test data</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given the model</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Scale the data</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We scale the variables going into the MLP-part </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srgbClr val="00B050"/>
                </a:solidFill>
                <a:effectLst/>
                <a:uLnTx/>
                <a:uFillTx/>
                <a:latin typeface="Calibri" panose="020F0502020204030204"/>
                <a:ea typeface="+mn-ea"/>
                <a:cs typeface="+mn-cs"/>
              </a:rPr>
              <a:t>We do not scale the variables going into the MNL-part </a:t>
            </a:r>
          </a:p>
          <a:p>
            <a:pPr marL="36195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Dummy code the choices</a:t>
            </a: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Create convert data into tensors </a:t>
            </a: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47650" marR="0" lvl="1" indent="-342900" algn="l" defTabSz="914400" rtl="0" eaLnBrk="1" fontAlgn="auto" latinLnBrk="0" hangingPunct="1">
              <a:lnSpc>
                <a:spcPct val="100000"/>
              </a:lnSpc>
              <a:spcBef>
                <a:spcPts val="0"/>
              </a:spcBef>
              <a:spcAft>
                <a:spcPts val="0"/>
              </a:spcAft>
              <a:buClrTx/>
              <a:buSzTx/>
              <a:buFont typeface="+mj-lt"/>
              <a:buAutoNum type="arabicPeriod"/>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Put data train and test data in a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DataLoader</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11" name="Picture 10">
            <a:extLst>
              <a:ext uri="{FF2B5EF4-FFF2-40B4-BE49-F238E27FC236}">
                <a16:creationId xmlns:a16="http://schemas.microsoft.com/office/drawing/2014/main" id="{489B235C-DBBF-3880-207B-F8BD6C866CD4}"/>
              </a:ext>
            </a:extLst>
          </p:cNvPr>
          <p:cNvPicPr>
            <a:picLocks noChangeAspect="1"/>
          </p:cNvPicPr>
          <p:nvPr/>
        </p:nvPicPr>
        <p:blipFill>
          <a:blip r:embed="rId3"/>
          <a:stretch>
            <a:fillRect/>
          </a:stretch>
        </p:blipFill>
        <p:spPr>
          <a:xfrm>
            <a:off x="6622585" y="1481678"/>
            <a:ext cx="5400000" cy="3126838"/>
          </a:xfrm>
          <a:prstGeom prst="rect">
            <a:avLst/>
          </a:prstGeom>
        </p:spPr>
      </p:pic>
      <p:sp>
        <p:nvSpPr>
          <p:cNvPr id="2" name="Line 2">
            <a:extLst>
              <a:ext uri="{FF2B5EF4-FFF2-40B4-BE49-F238E27FC236}">
                <a16:creationId xmlns:a16="http://schemas.microsoft.com/office/drawing/2014/main" id="{A85F10C9-1FC7-C56C-EB13-6864835E1194}"/>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7" name="Line 2">
            <a:extLst>
              <a:ext uri="{FF2B5EF4-FFF2-40B4-BE49-F238E27FC236}">
                <a16:creationId xmlns:a16="http://schemas.microsoft.com/office/drawing/2014/main" id="{F7623606-9359-76B7-ECA2-1C066C58CDC0}"/>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837974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1404000"/>
            <a:ext cx="3818546"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Steps</a:t>
            </a:r>
          </a:p>
          <a:p>
            <a:pPr marL="247650" marR="0" lvl="1" indent="-342900" algn="l" defTabSz="914400" rtl="0" eaLnBrk="1" fontAlgn="auto" latinLnBrk="0" hangingPunct="1">
              <a:lnSpc>
                <a:spcPct val="100000"/>
              </a:lnSpc>
              <a:spcBef>
                <a:spcPts val="0"/>
              </a:spcBef>
              <a:spcAft>
                <a:spcPts val="0"/>
              </a:spcAft>
              <a:buClrTx/>
              <a:buSzTx/>
              <a:buFont typeface="+mj-lt"/>
              <a:buAutoNum type="arabicPeriod" startAt="7"/>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Create the model!</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A new model class is created</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For MNL-part:</a:t>
            </a:r>
          </a:p>
          <a:p>
            <a:pPr marL="1162050" marR="0" lvl="3" indent="-342900" algn="l" defTabSz="914400" rtl="0" eaLnBrk="1" fontAlgn="auto" latinLnBrk="0" hangingPunct="1">
              <a:lnSpc>
                <a:spcPct val="100000"/>
              </a:lnSpc>
              <a:spcBef>
                <a:spcPts val="0"/>
              </a:spcBef>
              <a:spcAft>
                <a:spcPts val="0"/>
              </a:spcAft>
              <a:buClrTx/>
              <a:buSzTx/>
              <a:buFont typeface="Wingdings" pitchFamily="2"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Linear function for βs</a:t>
            </a:r>
          </a:p>
          <a:p>
            <a:pPr marL="1162050" marR="0" lvl="3" indent="-342900" algn="l" defTabSz="914400" rtl="0" eaLnBrk="1" fontAlgn="auto" latinLnBrk="0" hangingPunct="1">
              <a:lnSpc>
                <a:spcPct val="100000"/>
              </a:lnSpc>
              <a:spcBef>
                <a:spcPts val="0"/>
              </a:spcBef>
              <a:spcAft>
                <a:spcPts val="0"/>
              </a:spcAft>
              <a:buClrTx/>
              <a:buSzTx/>
              <a:buFont typeface="Wingdings" pitchFamily="2"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Separate params for ASCs</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For MLP-part:</a:t>
            </a:r>
          </a:p>
          <a:p>
            <a:pPr marL="1162050" marR="0" lvl="3" indent="-342900" algn="l" defTabSz="914400" rtl="0" eaLnBrk="1" fontAlgn="auto" latinLnBrk="0" hangingPunct="1">
              <a:lnSpc>
                <a:spcPct val="100000"/>
              </a:lnSpc>
              <a:spcBef>
                <a:spcPts val="0"/>
              </a:spcBef>
              <a:spcAft>
                <a:spcPts val="0"/>
              </a:spcAft>
              <a:buClrTx/>
              <a:buSzTx/>
              <a:buFont typeface="Wingdings" pitchFamily="2"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3 fully Connected layers</a:t>
            </a:r>
          </a:p>
          <a:p>
            <a:pPr marL="1162050" marR="0" lvl="3" indent="-342900" algn="l" defTabSz="914400" rtl="0" eaLnBrk="1" fontAlgn="auto" latinLnBrk="0" hangingPunct="1">
              <a:lnSpc>
                <a:spcPct val="100000"/>
              </a:lnSpc>
              <a:spcBef>
                <a:spcPts val="0"/>
              </a:spcBef>
              <a:spcAft>
                <a:spcPts val="0"/>
              </a:spcAft>
              <a:buClrTx/>
              <a:buSzTx/>
              <a:buFont typeface="Wingdings" pitchFamily="2" charset="2"/>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Output size last layer = 3</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In the Forward function, the “utilities” are computed using the initialised building blocks</a:t>
            </a: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704850" marR="0" lvl="2" indent="-34290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Utilities are summed and returned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7" name="Picture 6">
            <a:extLst>
              <a:ext uri="{FF2B5EF4-FFF2-40B4-BE49-F238E27FC236}">
                <a16:creationId xmlns:a16="http://schemas.microsoft.com/office/drawing/2014/main" id="{4AD38AA5-4641-4710-9894-4E413300CEE1}"/>
              </a:ext>
            </a:extLst>
          </p:cNvPr>
          <p:cNvPicPr>
            <a:picLocks noChangeAspect="1"/>
          </p:cNvPicPr>
          <p:nvPr/>
        </p:nvPicPr>
        <p:blipFill>
          <a:blip r:embed="rId3"/>
          <a:stretch>
            <a:fillRect/>
          </a:stretch>
        </p:blipFill>
        <p:spPr>
          <a:xfrm>
            <a:off x="4661209" y="1163756"/>
            <a:ext cx="7095422" cy="5494120"/>
          </a:xfrm>
          <a:prstGeom prst="rect">
            <a:avLst/>
          </a:prstGeom>
        </p:spPr>
      </p:pic>
      <p:sp>
        <p:nvSpPr>
          <p:cNvPr id="2" name="Rounded Rectangle 1">
            <a:extLst>
              <a:ext uri="{FF2B5EF4-FFF2-40B4-BE49-F238E27FC236}">
                <a16:creationId xmlns:a16="http://schemas.microsoft.com/office/drawing/2014/main" id="{E1618CA7-4FDA-A97F-F188-91762A9B560F}"/>
              </a:ext>
            </a:extLst>
          </p:cNvPr>
          <p:cNvSpPr/>
          <p:nvPr/>
        </p:nvSpPr>
        <p:spPr>
          <a:xfrm>
            <a:off x="5175504" y="1746504"/>
            <a:ext cx="5989320" cy="1005840"/>
          </a:xfrm>
          <a:prstGeom prst="roundRect">
            <a:avLst/>
          </a:prstGeom>
          <a:noFill/>
          <a:ln w="19050">
            <a:solidFill>
              <a:srgbClr val="24B5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a:extLst>
              <a:ext uri="{FF2B5EF4-FFF2-40B4-BE49-F238E27FC236}">
                <a16:creationId xmlns:a16="http://schemas.microsoft.com/office/drawing/2014/main" id="{C2C8B5AD-A5E5-F807-EBE6-8F0B253ECFEF}"/>
              </a:ext>
            </a:extLst>
          </p:cNvPr>
          <p:cNvSpPr/>
          <p:nvPr/>
        </p:nvSpPr>
        <p:spPr>
          <a:xfrm>
            <a:off x="5175504" y="2816352"/>
            <a:ext cx="5989320" cy="704088"/>
          </a:xfrm>
          <a:prstGeom prst="roundRect">
            <a:avLst/>
          </a:prstGeom>
          <a:noFill/>
          <a:ln w="19050">
            <a:solidFill>
              <a:srgbClr val="24B5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a:extLst>
              <a:ext uri="{FF2B5EF4-FFF2-40B4-BE49-F238E27FC236}">
                <a16:creationId xmlns:a16="http://schemas.microsoft.com/office/drawing/2014/main" id="{BAA8170E-73F6-F546-2A11-03F98EB49F60}"/>
              </a:ext>
            </a:extLst>
          </p:cNvPr>
          <p:cNvSpPr/>
          <p:nvPr/>
        </p:nvSpPr>
        <p:spPr>
          <a:xfrm>
            <a:off x="4809744" y="3616974"/>
            <a:ext cx="6876288" cy="3040902"/>
          </a:xfrm>
          <a:prstGeom prst="roundRect">
            <a:avLst/>
          </a:prstGeom>
          <a:noFill/>
          <a:ln w="19050">
            <a:solidFill>
              <a:srgbClr val="24B5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Line 2">
            <a:extLst>
              <a:ext uri="{FF2B5EF4-FFF2-40B4-BE49-F238E27FC236}">
                <a16:creationId xmlns:a16="http://schemas.microsoft.com/office/drawing/2014/main" id="{F98CFA92-9282-90F6-0F99-1EBD5A3A0812}"/>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3" name="Line 2">
            <a:extLst>
              <a:ext uri="{FF2B5EF4-FFF2-40B4-BE49-F238E27FC236}">
                <a16:creationId xmlns:a16="http://schemas.microsoft.com/office/drawing/2014/main" id="{789B8643-0ED3-9BB6-FD97-91AAB637414E}"/>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03508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animEffect transition="in" filter="fade">
                                      <p:cBhvr>
                                        <p:cTn id="7" dur="500"/>
                                        <p:tgtEl>
                                          <p:spTgt spid="10">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5" end="5"/>
                                            </p:txEl>
                                          </p:spTgt>
                                        </p:tgtEl>
                                        <p:attrNameLst>
                                          <p:attrName>style.visibility</p:attrName>
                                        </p:attrNameLst>
                                      </p:cBhvr>
                                      <p:to>
                                        <p:strVal val="visible"/>
                                      </p:to>
                                    </p:set>
                                    <p:animEffect transition="in" filter="fade">
                                      <p:cBhvr>
                                        <p:cTn id="10" dur="500"/>
                                        <p:tgtEl>
                                          <p:spTgt spid="10">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6" end="6"/>
                                            </p:txEl>
                                          </p:spTgt>
                                        </p:tgtEl>
                                        <p:attrNameLst>
                                          <p:attrName>style.visibility</p:attrName>
                                        </p:attrNameLst>
                                      </p:cBhvr>
                                      <p:to>
                                        <p:strVal val="visible"/>
                                      </p:to>
                                    </p:set>
                                    <p:animEffect transition="in" filter="fade">
                                      <p:cBhvr>
                                        <p:cTn id="13" dur="500"/>
                                        <p:tgtEl>
                                          <p:spTgt spid="10">
                                            <p:txEl>
                                              <p:pRg st="6" end="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xEl>
                                              <p:pRg st="8" end="8"/>
                                            </p:txEl>
                                          </p:spTgt>
                                        </p:tgtEl>
                                        <p:attrNameLst>
                                          <p:attrName>style.visibility</p:attrName>
                                        </p:attrNameLst>
                                      </p:cBhvr>
                                      <p:to>
                                        <p:strVal val="visible"/>
                                      </p:to>
                                    </p:set>
                                    <p:animEffect transition="in" filter="fade">
                                      <p:cBhvr>
                                        <p:cTn id="21" dur="500"/>
                                        <p:tgtEl>
                                          <p:spTgt spid="10">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xEl>
                                              <p:pRg st="9" end="9"/>
                                            </p:txEl>
                                          </p:spTgt>
                                        </p:tgtEl>
                                        <p:attrNameLst>
                                          <p:attrName>style.visibility</p:attrName>
                                        </p:attrNameLst>
                                      </p:cBhvr>
                                      <p:to>
                                        <p:strVal val="visible"/>
                                      </p:to>
                                    </p:set>
                                    <p:animEffect transition="in" filter="fade">
                                      <p:cBhvr>
                                        <p:cTn id="24" dur="500"/>
                                        <p:tgtEl>
                                          <p:spTgt spid="10">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animEffect transition="in" filter="fade">
                                      <p:cBhvr>
                                        <p:cTn id="27" dur="500"/>
                                        <p:tgtEl>
                                          <p:spTgt spid="10">
                                            <p:txEl>
                                              <p:pRg st="10" end="1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
                                            <p:txEl>
                                              <p:pRg st="12" end="12"/>
                                            </p:txEl>
                                          </p:spTgt>
                                        </p:tgtEl>
                                        <p:attrNameLst>
                                          <p:attrName>style.visibility</p:attrName>
                                        </p:attrNameLst>
                                      </p:cBhvr>
                                      <p:to>
                                        <p:strVal val="visible"/>
                                      </p:to>
                                    </p:set>
                                    <p:animEffect transition="in" filter="fade">
                                      <p:cBhvr>
                                        <p:cTn id="35" dur="500"/>
                                        <p:tgtEl>
                                          <p:spTgt spid="10">
                                            <p:txEl>
                                              <p:pRg st="12" end="12"/>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xEl>
                                              <p:pRg st="14" end="14"/>
                                            </p:txEl>
                                          </p:spTgt>
                                        </p:tgtEl>
                                        <p:attrNameLst>
                                          <p:attrName>style.visibility</p:attrName>
                                        </p:attrNameLst>
                                      </p:cBhvr>
                                      <p:to>
                                        <p:strVal val="visible"/>
                                      </p:to>
                                    </p:set>
                                    <p:animEffect transition="in" filter="fade">
                                      <p:cBhvr>
                                        <p:cTn id="41" dur="500"/>
                                        <p:tgtEl>
                                          <p:spTgt spid="10">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20000" y="1404000"/>
            <a:ext cx="3818546"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Steps</a:t>
            </a:r>
          </a:p>
          <a:p>
            <a:pPr marL="247650" marR="0" lvl="1" indent="-342900" algn="l" defTabSz="914400" rtl="0" eaLnBrk="1" fontAlgn="auto" latinLnBrk="0" hangingPunct="1">
              <a:lnSpc>
                <a:spcPct val="100000"/>
              </a:lnSpc>
              <a:spcBef>
                <a:spcPts val="0"/>
              </a:spcBef>
              <a:spcAft>
                <a:spcPts val="0"/>
              </a:spcAft>
              <a:buClrTx/>
              <a:buSzTx/>
              <a:buFont typeface="+mj-lt"/>
              <a:buAutoNum type="arabicPeriod" startAt="7"/>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Training!</a:t>
            </a:r>
          </a:p>
          <a:p>
            <a:pPr marL="247650" marR="0" lvl="1" indent="-342900" algn="l" defTabSz="914400" rtl="0" eaLnBrk="1" fontAlgn="auto" latinLnBrk="0" hangingPunct="1">
              <a:lnSpc>
                <a:spcPct val="100000"/>
              </a:lnSpc>
              <a:spcBef>
                <a:spcPts val="0"/>
              </a:spcBef>
              <a:spcAft>
                <a:spcPts val="0"/>
              </a:spcAft>
              <a:buClrTx/>
              <a:buSzTx/>
              <a:buFont typeface="+mj-lt"/>
              <a:buAutoNum type="arabicPeriod" startAt="7"/>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The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optimisatio</a:t>
            </a:r>
            <a:r>
              <a:rPr kumimoji="0" lang="en-GB" sz="1800" b="0" i="0" u="none" strike="noStrike" kern="1200" cap="none" spc="0" normalizeH="0" baseline="0" noProof="0" dirty="0">
                <a:ln>
                  <a:noFill/>
                </a:ln>
                <a:solidFill>
                  <a:prstClr val="black"/>
                </a:solidFill>
                <a:effectLst/>
                <a:uLnTx/>
                <a:uFillTx/>
                <a:latin typeface="Calibri"/>
                <a:ea typeface="+mn-ea"/>
                <a:cs typeface="+mn-cs"/>
              </a:rPr>
              <a:t>n is more manually coded, compared to e.g. training an MLP in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sk</a:t>
            </a:r>
            <a:r>
              <a:rPr kumimoji="0" lang="en-GB" sz="1800" b="0" i="0" u="none" strike="noStrike" kern="1200" cap="none" spc="0" normalizeH="0" baseline="0" noProof="0" dirty="0">
                <a:ln>
                  <a:noFill/>
                </a:ln>
                <a:solidFill>
                  <a:prstClr val="black"/>
                </a:solidFill>
                <a:effectLst/>
                <a:uLnTx/>
                <a:uFillTx/>
                <a:latin typeface="Calibri"/>
                <a:ea typeface="+mn-ea"/>
                <a:cs typeface="+mn-cs"/>
              </a:rPr>
              <a:t>-learn or estimating a theory-driven choice model using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biogeme</a:t>
            </a: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Performance on the test set is evaluated after each epoch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2" name="Picture 1">
            <a:extLst>
              <a:ext uri="{FF2B5EF4-FFF2-40B4-BE49-F238E27FC236}">
                <a16:creationId xmlns:a16="http://schemas.microsoft.com/office/drawing/2014/main" id="{13233E0F-63B6-02EE-1673-B524012A5E50}"/>
              </a:ext>
            </a:extLst>
          </p:cNvPr>
          <p:cNvPicPr>
            <a:picLocks noChangeAspect="1"/>
          </p:cNvPicPr>
          <p:nvPr/>
        </p:nvPicPr>
        <p:blipFill>
          <a:blip r:embed="rId3"/>
          <a:stretch>
            <a:fillRect/>
          </a:stretch>
        </p:blipFill>
        <p:spPr>
          <a:xfrm>
            <a:off x="6096000" y="1163756"/>
            <a:ext cx="4888625" cy="5473433"/>
          </a:xfrm>
          <a:prstGeom prst="rect">
            <a:avLst/>
          </a:prstGeom>
        </p:spPr>
      </p:pic>
      <p:grpSp>
        <p:nvGrpSpPr>
          <p:cNvPr id="9" name="Group 8">
            <a:extLst>
              <a:ext uri="{FF2B5EF4-FFF2-40B4-BE49-F238E27FC236}">
                <a16:creationId xmlns:a16="http://schemas.microsoft.com/office/drawing/2014/main" id="{015EBABA-81CA-19B3-7A07-454071C11935}"/>
              </a:ext>
            </a:extLst>
          </p:cNvPr>
          <p:cNvGrpSpPr/>
          <p:nvPr/>
        </p:nvGrpSpPr>
        <p:grpSpPr>
          <a:xfrm>
            <a:off x="6172200" y="1481328"/>
            <a:ext cx="4812425" cy="3026664"/>
            <a:chOff x="6172200" y="1481328"/>
            <a:chExt cx="4812425" cy="3026664"/>
          </a:xfrm>
        </p:grpSpPr>
        <p:sp>
          <p:nvSpPr>
            <p:cNvPr id="7" name="Rounded Rectangle 6">
              <a:extLst>
                <a:ext uri="{FF2B5EF4-FFF2-40B4-BE49-F238E27FC236}">
                  <a16:creationId xmlns:a16="http://schemas.microsoft.com/office/drawing/2014/main" id="{E628E096-97CD-AF39-7733-4D92328D90B7}"/>
                </a:ext>
              </a:extLst>
            </p:cNvPr>
            <p:cNvSpPr/>
            <p:nvPr/>
          </p:nvSpPr>
          <p:spPr>
            <a:xfrm>
              <a:off x="6172200" y="1682496"/>
              <a:ext cx="2834640" cy="2825496"/>
            </a:xfrm>
            <a:prstGeom prst="roundRect">
              <a:avLst/>
            </a:prstGeom>
            <a:noFill/>
            <a:ln w="19050">
              <a:solidFill>
                <a:srgbClr val="24B5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AB57A02-3440-5C43-B37A-93D372CB2168}"/>
                </a:ext>
              </a:extLst>
            </p:cNvPr>
            <p:cNvSpPr txBox="1"/>
            <p:nvPr/>
          </p:nvSpPr>
          <p:spPr>
            <a:xfrm>
              <a:off x="9390888" y="1481328"/>
              <a:ext cx="1593737" cy="932688"/>
            </a:xfrm>
            <a:prstGeom prst="rect">
              <a:avLst/>
            </a:prstGeom>
            <a:noFill/>
          </p:spPr>
          <p:txBody>
            <a:bodyPr wrap="square" rtlCol="0">
              <a:noAutofit/>
            </a:bodyPr>
            <a:lstStyle/>
            <a:p>
              <a:pPr marL="0" marR="0" lvl="0" indent="0" algn="l" defTabSz="904875" rtl="0" eaLnBrk="1" fontAlgn="auto" latinLnBrk="0" hangingPunct="1">
                <a:lnSpc>
                  <a:spcPct val="100000"/>
                </a:lnSpc>
                <a:spcBef>
                  <a:spcPts val="0"/>
                </a:spcBef>
                <a:spcAft>
                  <a:spcPts val="0"/>
                </a:spcAft>
                <a:buClrTx/>
                <a:buSzTx/>
                <a:buFontTx/>
                <a:buNone/>
                <a:tabLst>
                  <a:tab pos="715963" algn="l"/>
                  <a:tab pos="3228975" algn="l"/>
                </a:tabLst>
                <a:defRPr/>
              </a:pPr>
              <a:r>
                <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Mini batches are taken from the </a:t>
              </a:r>
              <a:r>
                <a:rPr kumimoji="0" lang="en-GB" sz="1800" b="0" i="0" u="none" strike="noStrike" kern="1200" cap="none" spc="0" normalizeH="0" baseline="0" noProof="0" dirty="0" err="1">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rPr>
                <a:t>dataloader</a:t>
              </a:r>
              <a:endParaRPr kumimoji="0" lang="en-GB" sz="1800" b="0" i="0" u="none" strike="noStrike" kern="1200" cap="none" spc="0" normalizeH="0" baseline="0" noProof="0" dirty="0">
                <a:ln>
                  <a:noFill/>
                </a:ln>
                <a:solidFill>
                  <a:srgbClr val="24B5B3"/>
                </a:solidFill>
                <a:effectLst/>
                <a:uLnTx/>
                <a:uFillTx/>
                <a:latin typeface="Calibri" panose="020F0502020204030204"/>
                <a:ea typeface="+mn-ea"/>
                <a:cs typeface="Calibri" panose="020F0502020204030204" pitchFamily="34" charset="0"/>
                <a:sym typeface="Wingdings" panose="05000000000000000000" pitchFamily="2" charset="2"/>
              </a:endParaRPr>
            </a:p>
          </p:txBody>
        </p:sp>
      </p:grpSp>
      <p:sp>
        <p:nvSpPr>
          <p:cNvPr id="11" name="Rounded Rectangle 10">
            <a:extLst>
              <a:ext uri="{FF2B5EF4-FFF2-40B4-BE49-F238E27FC236}">
                <a16:creationId xmlns:a16="http://schemas.microsoft.com/office/drawing/2014/main" id="{80C93A69-83C6-C55E-5D1C-BD60A7A69923}"/>
              </a:ext>
            </a:extLst>
          </p:cNvPr>
          <p:cNvSpPr/>
          <p:nvPr/>
        </p:nvSpPr>
        <p:spPr>
          <a:xfrm>
            <a:off x="6172200" y="4636578"/>
            <a:ext cx="4507992" cy="1416750"/>
          </a:xfrm>
          <a:prstGeom prst="roundRect">
            <a:avLst/>
          </a:prstGeom>
          <a:noFill/>
          <a:ln w="19050">
            <a:solidFill>
              <a:srgbClr val="24B5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Line 2">
            <a:extLst>
              <a:ext uri="{FF2B5EF4-FFF2-40B4-BE49-F238E27FC236}">
                <a16:creationId xmlns:a16="http://schemas.microsoft.com/office/drawing/2014/main" id="{88C3B0F5-A48A-A192-5C0A-823E677DA7F1}"/>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14" name="Line 2">
            <a:extLst>
              <a:ext uri="{FF2B5EF4-FFF2-40B4-BE49-F238E27FC236}">
                <a16:creationId xmlns:a16="http://schemas.microsoft.com/office/drawing/2014/main" id="{343537B6-0F38-F791-9C56-64655D3F3238}"/>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105127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500"/>
                                        <p:tgtEl>
                                          <p:spTgt spid="10">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animEffect transition="in" filter="fade">
                                      <p:cBhvr>
                                        <p:cTn id="15" dur="500"/>
                                        <p:tgtEl>
                                          <p:spTgt spid="10">
                                            <p:txEl>
                                              <p:pRg st="5" end="5"/>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0" name="TextBox 9"/>
              <p:cNvSpPr txBox="1"/>
              <p:nvPr/>
            </p:nvSpPr>
            <p:spPr>
              <a:xfrm>
                <a:off x="720000" y="1404000"/>
                <a:ext cx="5376000"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Results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model performance of the L-MNL model is in line with expectations: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lvl="2">
                  <a:tabLst>
                    <a:tab pos="3138488" algn="l"/>
                  </a:tabLst>
                  <a:defRPr/>
                </a:pPr>
                <a14:m>
                  <m:oMathPara xmlns:m="http://schemas.openxmlformats.org/officeDocument/2006/math">
                    <m:oMathParaPr>
                      <m:jc m:val="centerGroup"/>
                    </m:oMathParaPr>
                    <m:oMath xmlns:m="http://schemas.openxmlformats.org/officeDocument/2006/math">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𝑀𝐿𝑃</m:t>
                          </m:r>
                        </m:sup>
                      </m:sSubSup>
                      <m:r>
                        <a:rPr lang="nl-NL" b="0" i="1" smtClean="0">
                          <a:solidFill>
                            <a:prstClr val="black"/>
                          </a:solidFill>
                          <a:latin typeface="Cambria Math" panose="02040503050406030204" pitchFamily="18" charset="0"/>
                        </a:rPr>
                        <m:t>&gt;</m:t>
                      </m:r>
                      <m:sSubSup>
                        <m:sSub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𝐿𝐿</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𝑡𝑒𝑠𝑡</m:t>
                          </m:r>
                        </m:sub>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𝐿</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𝑀𝑁𝐿</m:t>
                          </m:r>
                        </m:sup>
                      </m:sSub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m:t>
                      </m:r>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𝐿𝐿</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𝑡𝑒𝑠𝑡</m:t>
                          </m:r>
                        </m:sub>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𝑀𝑁𝐿</m:t>
                          </m:r>
                        </m:sup>
                      </m:sSub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20000" y="1404000"/>
                <a:ext cx="5376000" cy="5157344"/>
              </a:xfrm>
              <a:prstGeom prst="rect">
                <a:avLst/>
              </a:prstGeom>
              <a:blipFill>
                <a:blip r:embed="rId3"/>
                <a:stretch>
                  <a:fillRect l="-941" t="-491"/>
                </a:stretch>
              </a:blipFill>
            </p:spPr>
            <p:txBody>
              <a:bodyPr/>
              <a:lstStyle/>
              <a:p>
                <a:r>
                  <a:rPr lang="en-GB">
                    <a:noFill/>
                  </a:rPr>
                  <a:t> </a:t>
                </a:r>
              </a:p>
            </p:txBody>
          </p:sp>
        </mc:Fallback>
      </mc:AlternateContent>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8" name="Picture 7">
            <a:extLst>
              <a:ext uri="{FF2B5EF4-FFF2-40B4-BE49-F238E27FC236}">
                <a16:creationId xmlns:a16="http://schemas.microsoft.com/office/drawing/2014/main" id="{29EB2510-9AB5-7F60-9303-A3C0D38F99B4}"/>
              </a:ext>
            </a:extLst>
          </p:cNvPr>
          <p:cNvPicPr>
            <a:picLocks noChangeAspect="1"/>
          </p:cNvPicPr>
          <p:nvPr/>
        </p:nvPicPr>
        <p:blipFill>
          <a:blip r:embed="rId4"/>
          <a:stretch>
            <a:fillRect/>
          </a:stretch>
        </p:blipFill>
        <p:spPr>
          <a:xfrm>
            <a:off x="6357564" y="1035170"/>
            <a:ext cx="5114436" cy="2639019"/>
          </a:xfrm>
          <a:prstGeom prst="rect">
            <a:avLst/>
          </a:prstGeom>
        </p:spPr>
      </p:pic>
      <p:pic>
        <p:nvPicPr>
          <p:cNvPr id="13" name="Picture 12">
            <a:extLst>
              <a:ext uri="{FF2B5EF4-FFF2-40B4-BE49-F238E27FC236}">
                <a16:creationId xmlns:a16="http://schemas.microsoft.com/office/drawing/2014/main" id="{68E3046C-8740-D2E8-6BA8-98BD34383DF4}"/>
              </a:ext>
            </a:extLst>
          </p:cNvPr>
          <p:cNvPicPr>
            <a:picLocks noChangeAspect="1"/>
          </p:cNvPicPr>
          <p:nvPr/>
        </p:nvPicPr>
        <p:blipFill>
          <a:blip r:embed="rId5"/>
          <a:stretch>
            <a:fillRect/>
          </a:stretch>
        </p:blipFill>
        <p:spPr>
          <a:xfrm>
            <a:off x="6393202" y="3664924"/>
            <a:ext cx="5114436" cy="2691426"/>
          </a:xfrm>
          <a:prstGeom prst="rect">
            <a:avLst/>
          </a:prstGeom>
        </p:spPr>
      </p:pic>
      <p:sp>
        <p:nvSpPr>
          <p:cNvPr id="2" name="Line 2">
            <a:extLst>
              <a:ext uri="{FF2B5EF4-FFF2-40B4-BE49-F238E27FC236}">
                <a16:creationId xmlns:a16="http://schemas.microsoft.com/office/drawing/2014/main" id="{002D32E1-BED3-DA52-5FF3-3F69A4BA713E}"/>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7" name="Line 2">
            <a:extLst>
              <a:ext uri="{FF2B5EF4-FFF2-40B4-BE49-F238E27FC236}">
                <a16:creationId xmlns:a16="http://schemas.microsoft.com/office/drawing/2014/main" id="{E1CAD1CA-0AA5-EB10-A33C-DF7CB3B8FC7C}"/>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052034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0" name="TextBox 9"/>
              <p:cNvSpPr txBox="1"/>
              <p:nvPr/>
            </p:nvSpPr>
            <p:spPr>
              <a:xfrm>
                <a:off x="720000" y="1404000"/>
                <a:ext cx="5376000"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Results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model performance of the L-MNL model is in line with expectations: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lvl="2">
                  <a:tabLst>
                    <a:tab pos="3138488" algn="l"/>
                  </a:tabLst>
                  <a:defRPr/>
                </a:pPr>
                <a14:m>
                  <m:oMathPara xmlns:m="http://schemas.openxmlformats.org/officeDocument/2006/math">
                    <m:oMathParaPr>
                      <m:jc m:val="centerGroup"/>
                    </m:oMathParaPr>
                    <m:oMath xmlns:m="http://schemas.openxmlformats.org/officeDocument/2006/math">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𝑀𝐿𝑃</m:t>
                          </m:r>
                        </m:sup>
                      </m:sSubSup>
                      <m:r>
                        <a:rPr lang="nl-NL" i="1">
                          <a:solidFill>
                            <a:prstClr val="black"/>
                          </a:solidFill>
                          <a:latin typeface="Cambria Math" panose="02040503050406030204" pitchFamily="18" charset="0"/>
                        </a:rPr>
                        <m:t>&gt;</m:t>
                      </m:r>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𝐿</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𝑀𝑁𝐿</m:t>
                          </m:r>
                        </m:sup>
                      </m:sSubSup>
                      <m:r>
                        <a:rPr lang="en-US" i="1">
                          <a:solidFill>
                            <a:prstClr val="black"/>
                          </a:solidFill>
                          <a:latin typeface="Cambria Math" panose="02040503050406030204" pitchFamily="18" charset="0"/>
                        </a:rPr>
                        <m:t>&gt;</m:t>
                      </m:r>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𝑀𝑁𝐿</m:t>
                          </m:r>
                        </m:sup>
                      </m:sSubSup>
                      <m:r>
                        <a:rPr lang="en-US" i="1">
                          <a:solidFill>
                            <a:prstClr val="black"/>
                          </a:solidFill>
                          <a:latin typeface="Cambria Math" panose="02040503050406030204" pitchFamily="18" charset="0"/>
                        </a:rPr>
                        <m:t> </m:t>
                      </m:r>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Marginal utilities vary across model runs</a:t>
                </a:r>
              </a:p>
              <a:p>
                <a:pPr marL="457200" marR="0" lvl="2"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taste heterogeneity!</a:t>
                </a:r>
              </a:p>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Marginal utilities have the expected signs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20000" y="1404000"/>
                <a:ext cx="5376000" cy="5157344"/>
              </a:xfrm>
              <a:prstGeom prst="rect">
                <a:avLst/>
              </a:prstGeom>
              <a:blipFill>
                <a:blip r:embed="rId3"/>
                <a:stretch>
                  <a:fillRect l="-941" t="-491"/>
                </a:stretch>
              </a:blipFill>
            </p:spPr>
            <p:txBody>
              <a:bodyPr/>
              <a:lstStyle/>
              <a:p>
                <a:r>
                  <a:rPr lang="en-GB">
                    <a:noFill/>
                  </a:rPr>
                  <a:t> </a:t>
                </a:r>
              </a:p>
            </p:txBody>
          </p:sp>
        </mc:Fallback>
      </mc:AlternateContent>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2" name="Picture 1">
            <a:extLst>
              <a:ext uri="{FF2B5EF4-FFF2-40B4-BE49-F238E27FC236}">
                <a16:creationId xmlns:a16="http://schemas.microsoft.com/office/drawing/2014/main" id="{E9112718-E1FC-D1F3-0408-607BA90D2003}"/>
              </a:ext>
            </a:extLst>
          </p:cNvPr>
          <p:cNvPicPr>
            <a:picLocks noChangeAspect="1"/>
          </p:cNvPicPr>
          <p:nvPr/>
        </p:nvPicPr>
        <p:blipFill>
          <a:blip r:embed="rId4"/>
          <a:stretch>
            <a:fillRect/>
          </a:stretch>
        </p:blipFill>
        <p:spPr>
          <a:xfrm>
            <a:off x="6111815" y="1106527"/>
            <a:ext cx="5864669" cy="5614948"/>
          </a:xfrm>
          <a:prstGeom prst="rect">
            <a:avLst/>
          </a:prstGeom>
        </p:spPr>
      </p:pic>
      <p:sp>
        <p:nvSpPr>
          <p:cNvPr id="7" name="Line 2">
            <a:extLst>
              <a:ext uri="{FF2B5EF4-FFF2-40B4-BE49-F238E27FC236}">
                <a16:creationId xmlns:a16="http://schemas.microsoft.com/office/drawing/2014/main" id="{1D37ECBD-0FC4-EE8F-F301-1FA54398BF71}"/>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8" name="Line 2">
            <a:extLst>
              <a:ext uri="{FF2B5EF4-FFF2-40B4-BE49-F238E27FC236}">
                <a16:creationId xmlns:a16="http://schemas.microsoft.com/office/drawing/2014/main" id="{4676F605-69AF-4B5B-0BBC-4EFD23BD459B}"/>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427928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4D4017-CCFE-46C6-A9FB-0EFAE082C1AD}"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nl-NL"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0" name="TextBox 9"/>
              <p:cNvSpPr txBox="1"/>
              <p:nvPr/>
            </p:nvSpPr>
            <p:spPr>
              <a:xfrm>
                <a:off x="720000" y="1404000"/>
                <a:ext cx="5376000" cy="5157344"/>
              </a:xfrm>
              <a:prstGeom prst="rect">
                <a:avLst/>
              </a:prstGeom>
              <a:noFill/>
            </p:spPr>
            <p:txBody>
              <a:bodyPr wrap="square" rtlCol="0">
                <a:noAutofit/>
              </a:bodyPr>
              <a:lstStyle/>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Results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model performance of the L-MNL model is in line with expectations: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lvl="2">
                  <a:tabLst>
                    <a:tab pos="3138488" algn="l"/>
                  </a:tabLst>
                  <a:defRPr/>
                </a:pPr>
                <a14:m>
                  <m:oMathPara xmlns:m="http://schemas.openxmlformats.org/officeDocument/2006/math">
                    <m:oMathParaPr>
                      <m:jc m:val="centerGroup"/>
                    </m:oMathParaPr>
                    <m:oMath xmlns:m="http://schemas.openxmlformats.org/officeDocument/2006/math">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𝑀𝐿𝑃</m:t>
                          </m:r>
                        </m:sup>
                      </m:sSubSup>
                      <m:r>
                        <a:rPr lang="nl-NL" i="1">
                          <a:solidFill>
                            <a:prstClr val="black"/>
                          </a:solidFill>
                          <a:latin typeface="Cambria Math" panose="02040503050406030204" pitchFamily="18" charset="0"/>
                        </a:rPr>
                        <m:t>&gt;</m:t>
                      </m:r>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𝐿</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𝑀𝑁𝐿</m:t>
                          </m:r>
                        </m:sup>
                      </m:sSubSup>
                      <m:r>
                        <a:rPr lang="en-US" i="1">
                          <a:solidFill>
                            <a:prstClr val="black"/>
                          </a:solidFill>
                          <a:latin typeface="Cambria Math" panose="02040503050406030204" pitchFamily="18" charset="0"/>
                        </a:rPr>
                        <m:t>&gt;</m:t>
                      </m:r>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𝐿𝐿</m:t>
                          </m:r>
                        </m:e>
                        <m:sub>
                          <m:r>
                            <a:rPr lang="en-US" i="1">
                              <a:solidFill>
                                <a:prstClr val="black"/>
                              </a:solidFill>
                              <a:latin typeface="Cambria Math" panose="02040503050406030204" pitchFamily="18" charset="0"/>
                            </a:rPr>
                            <m:t>𝑡𝑒𝑠𝑡</m:t>
                          </m:r>
                        </m:sub>
                        <m:sup>
                          <m:r>
                            <a:rPr lang="en-US" i="1">
                              <a:solidFill>
                                <a:prstClr val="black"/>
                              </a:solidFill>
                              <a:latin typeface="Cambria Math" panose="02040503050406030204" pitchFamily="18" charset="0"/>
                            </a:rPr>
                            <m:t>𝑀𝑁𝐿</m:t>
                          </m:r>
                        </m:sup>
                      </m:sSubSup>
                      <m:r>
                        <a:rPr lang="en-US" i="1">
                          <a:solidFill>
                            <a:prstClr val="black"/>
                          </a:solidFill>
                          <a:latin typeface="Cambria Math" panose="02040503050406030204" pitchFamily="18" charset="0"/>
                        </a:rPr>
                        <m:t> </m:t>
                      </m:r>
                    </m:oMath>
                  </m:oMathPara>
                </a14:m>
                <a:endParaRPr lang="en-GB" dirty="0">
                  <a:solidFill>
                    <a:prstClr val="black"/>
                  </a:solidFill>
                </a:endParaRPr>
              </a:p>
              <a:p>
                <a:pPr marL="457200" marR="0" lvl="2"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1" i="0" u="none" strike="noStrike" kern="1200" cap="none" spc="0" normalizeH="0" baseline="0" noProof="0" dirty="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Marginal utilities vary across model runs</a:t>
                </a:r>
              </a:p>
              <a:p>
                <a:pPr marL="457200" marR="0" lvl="2" indent="0" algn="l" defTabSz="914400" rtl="0" eaLnBrk="1" fontAlgn="auto" latinLnBrk="0" hangingPunct="1">
                  <a:lnSpc>
                    <a:spcPct val="100000"/>
                  </a:lnSpc>
                  <a:spcBef>
                    <a:spcPts val="0"/>
                  </a:spcBef>
                  <a:spcAft>
                    <a:spcPts val="0"/>
                  </a:spcAft>
                  <a:buClrTx/>
                  <a:buSzTx/>
                  <a:buFontTx/>
                  <a:buNone/>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taste heterogeneity!</a:t>
                </a:r>
              </a:p>
              <a:p>
                <a:pPr marL="0" marR="0" lvl="1" indent="0" algn="l" defTabSz="914400" rtl="0" eaLnBrk="1" fontAlgn="auto" latinLnBrk="0" hangingPunct="1">
                  <a:lnSpc>
                    <a:spcPct val="100000"/>
                  </a:lnSpc>
                  <a:spcBef>
                    <a:spcPts val="0"/>
                  </a:spcBef>
                  <a:spcAft>
                    <a:spcPts val="0"/>
                  </a:spcAft>
                  <a:buClrTx/>
                  <a:buSzTx/>
                  <a:buFontTx/>
                  <a:buNone/>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Marginal utilities have the expected signs</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The VTT varies considerably across runs as well</a:t>
                </a:r>
              </a:p>
              <a:p>
                <a:pPr marL="742950" marR="0" lvl="2" indent="-28575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2" indent="-285750" algn="l" defTabSz="914400" rtl="0" eaLnBrk="1" fontAlgn="auto" latinLnBrk="0" hangingPunct="1">
                  <a:lnSpc>
                    <a:spcPct val="100000"/>
                  </a:lnSpc>
                  <a:spcBef>
                    <a:spcPts val="0"/>
                  </a:spcBef>
                  <a:spcAft>
                    <a:spcPts val="0"/>
                  </a:spcAft>
                  <a:buClrTx/>
                  <a:buSzTx/>
                  <a:buFont typeface="Wingdings" pitchFamily="2" charset="2"/>
                  <a:buChar char="Ø"/>
                  <a:tabLst>
                    <a:tab pos="3138488" algn="l"/>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Which VTT should be used for appraisal? Mean?</a:t>
                </a: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138488" algn="l"/>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20000" y="1404000"/>
                <a:ext cx="5376000" cy="5157344"/>
              </a:xfrm>
              <a:prstGeom prst="rect">
                <a:avLst/>
              </a:prstGeom>
              <a:blipFill>
                <a:blip r:embed="rId3"/>
                <a:stretch>
                  <a:fillRect l="-941" t="-491"/>
                </a:stretch>
              </a:blipFill>
            </p:spPr>
            <p:txBody>
              <a:bodyPr/>
              <a:lstStyle/>
              <a:p>
                <a:r>
                  <a:rPr lang="en-GB">
                    <a:noFill/>
                  </a:rPr>
                  <a:t> </a:t>
                </a:r>
              </a:p>
            </p:txBody>
          </p:sp>
        </mc:Fallback>
      </mc:AlternateContent>
      <p:sp>
        <p:nvSpPr>
          <p:cNvPr id="12" name="Title 1">
            <a:extLst>
              <a:ext uri="{FF2B5EF4-FFF2-40B4-BE49-F238E27FC236}">
                <a16:creationId xmlns:a16="http://schemas.microsoft.com/office/drawing/2014/main" id="{43E7F5C2-03C4-1855-ACC2-148BF6C467C2}"/>
              </a:ext>
            </a:extLst>
          </p:cNvPr>
          <p:cNvSpPr>
            <a:spLocks noGrp="1"/>
          </p:cNvSpPr>
          <p:nvPr>
            <p:ph type="title"/>
          </p:nvPr>
        </p:nvSpPr>
        <p:spPr>
          <a:xfrm>
            <a:off x="715992" y="136525"/>
            <a:ext cx="10791646" cy="898645"/>
          </a:xfrm>
        </p:spPr>
        <p:txBody>
          <a:bodyPr>
            <a:normAutofit/>
          </a:bodyPr>
          <a:lstStyle/>
          <a:p>
            <a:r>
              <a:rPr lang="en-US" sz="4000" dirty="0">
                <a:cs typeface="Times New Roman" panose="02020603050405020304" pitchFamily="18" charset="0"/>
                <a:sym typeface="Wingdings" panose="05000000000000000000" pitchFamily="2" charset="2"/>
              </a:rPr>
              <a:t>Empirical example L-MNL model</a:t>
            </a:r>
          </a:p>
        </p:txBody>
      </p:sp>
      <p:pic>
        <p:nvPicPr>
          <p:cNvPr id="7" name="Picture 6">
            <a:extLst>
              <a:ext uri="{FF2B5EF4-FFF2-40B4-BE49-F238E27FC236}">
                <a16:creationId xmlns:a16="http://schemas.microsoft.com/office/drawing/2014/main" id="{2418B027-A31A-07B0-CC83-A432B8AA5557}"/>
              </a:ext>
            </a:extLst>
          </p:cNvPr>
          <p:cNvPicPr>
            <a:picLocks noChangeAspect="1"/>
          </p:cNvPicPr>
          <p:nvPr/>
        </p:nvPicPr>
        <p:blipFill>
          <a:blip r:embed="rId4"/>
          <a:stretch>
            <a:fillRect/>
          </a:stretch>
        </p:blipFill>
        <p:spPr>
          <a:xfrm>
            <a:off x="6444716" y="1720157"/>
            <a:ext cx="5556407" cy="4508627"/>
          </a:xfrm>
          <a:prstGeom prst="rect">
            <a:avLst/>
          </a:prstGeom>
        </p:spPr>
      </p:pic>
      <p:sp>
        <p:nvSpPr>
          <p:cNvPr id="2" name="Line 2">
            <a:extLst>
              <a:ext uri="{FF2B5EF4-FFF2-40B4-BE49-F238E27FC236}">
                <a16:creationId xmlns:a16="http://schemas.microsoft.com/office/drawing/2014/main" id="{B5C17B11-80BB-5E88-3EF4-4BCB21CFEA69}"/>
              </a:ext>
            </a:extLst>
          </p:cNvPr>
          <p:cNvSpPr/>
          <p:nvPr/>
        </p:nvSpPr>
        <p:spPr>
          <a:xfrm>
            <a:off x="513273" y="21466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
        <p:nvSpPr>
          <p:cNvPr id="8" name="Line 2">
            <a:extLst>
              <a:ext uri="{FF2B5EF4-FFF2-40B4-BE49-F238E27FC236}">
                <a16:creationId xmlns:a16="http://schemas.microsoft.com/office/drawing/2014/main" id="{3D07405F-7AD0-F6FD-3646-43B17986B39B}"/>
              </a:ext>
            </a:extLst>
          </p:cNvPr>
          <p:cNvSpPr/>
          <p:nvPr/>
        </p:nvSpPr>
        <p:spPr>
          <a:xfrm>
            <a:off x="513273" y="1027440"/>
            <a:ext cx="11165455" cy="0"/>
          </a:xfrm>
          <a:prstGeom prst="line">
            <a:avLst/>
          </a:prstGeom>
          <a:ln w="38160">
            <a:solidFill>
              <a:srgbClr val="16ABE3"/>
            </a:solidFill>
          </a:ln>
        </p:spPr>
        <p:style>
          <a:lnRef idx="1">
            <a:schemeClr val="accent1"/>
          </a:lnRef>
          <a:fillRef idx="0">
            <a:schemeClr val="accent1"/>
          </a:fillRef>
          <a:effectRef idx="0">
            <a:schemeClr val="accent1"/>
          </a:effectRef>
          <a:fontRef idx="minor"/>
        </p:style>
        <p:txBody>
          <a:bodyPr anchor="ctr"/>
          <a:lstStyle/>
          <a:p>
            <a:endParaRPr lang="en-GB"/>
          </a:p>
        </p:txBody>
      </p:sp>
    </p:spTree>
    <p:extLst>
      <p:ext uri="{BB962C8B-B14F-4D97-AF65-F5344CB8AC3E}">
        <p14:creationId xmlns:p14="http://schemas.microsoft.com/office/powerpoint/2010/main" val="2760069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Lab session 2</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38A88-BFD1-4DDE-9255-0657B8D83B52}" type="slidenum">
              <a:rPr kumimoji="0" lang="nl-NL"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nl-NL"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Content Placeholder 4"/>
          <p:cNvSpPr>
            <a:spLocks noGrp="1"/>
          </p:cNvSpPr>
          <p:nvPr>
            <p:ph idx="1"/>
          </p:nvPr>
        </p:nvSpPr>
        <p:spPr>
          <a:xfrm>
            <a:off x="715991" y="1600201"/>
            <a:ext cx="8468349" cy="4525963"/>
          </a:xfrm>
        </p:spPr>
        <p:txBody>
          <a:bodyPr>
            <a:normAutofit/>
          </a:bodyPr>
          <a:lstStyle/>
          <a:p>
            <a:pPr marL="0" indent="0">
              <a:buNone/>
            </a:pPr>
            <a:r>
              <a:rPr lang="en-GB" sz="1800" b="1" dirty="0"/>
              <a:t>Data</a:t>
            </a:r>
          </a:p>
          <a:p>
            <a:r>
              <a:rPr lang="en-US" sz="1800" dirty="0" err="1"/>
              <a:t>Neighbourhood</a:t>
            </a:r>
            <a:r>
              <a:rPr lang="en-US" sz="1800" dirty="0"/>
              <a:t> location choices, collected in Hanover, Mainz, Bern, and Zurich</a:t>
            </a:r>
          </a:p>
          <a:p>
            <a:endParaRPr lang="en-US" sz="1800" dirty="0"/>
          </a:p>
          <a:p>
            <a:r>
              <a:rPr lang="en-US" sz="1800" dirty="0"/>
              <a:t>Stated Choice data</a:t>
            </a:r>
          </a:p>
          <a:p>
            <a:endParaRPr lang="en-US" sz="1800" dirty="0"/>
          </a:p>
          <a:p>
            <a:r>
              <a:rPr lang="en-US" sz="1800" dirty="0"/>
              <a:t>Straightforward experimental design</a:t>
            </a:r>
          </a:p>
          <a:p>
            <a:pPr lvl="1"/>
            <a:r>
              <a:rPr lang="en-US" sz="1900" dirty="0"/>
              <a:t>3 </a:t>
            </a:r>
            <a:r>
              <a:rPr lang="en-US" sz="1900" dirty="0" err="1"/>
              <a:t>unlabelled</a:t>
            </a:r>
            <a:r>
              <a:rPr lang="en-US" sz="1900" dirty="0"/>
              <a:t> alternatives</a:t>
            </a:r>
          </a:p>
          <a:p>
            <a:pPr lvl="1"/>
            <a:r>
              <a:rPr lang="en-US" sz="1900" dirty="0"/>
              <a:t>6 generic attributes</a:t>
            </a:r>
          </a:p>
          <a:p>
            <a:pPr lvl="1"/>
            <a:endParaRPr lang="en-US" sz="1900" dirty="0"/>
          </a:p>
          <a:p>
            <a:pPr lvl="1"/>
            <a:endParaRPr lang="en-GB" sz="1900" dirty="0"/>
          </a:p>
          <a:p>
            <a:endParaRPr lang="en-US" sz="1800" b="1" dirty="0"/>
          </a:p>
          <a:p>
            <a:endParaRPr lang="en-US" sz="1800" b="1" dirty="0"/>
          </a:p>
          <a:p>
            <a:endParaRPr lang="en-US" sz="1800" b="1" dirty="0"/>
          </a:p>
          <a:p>
            <a:pPr marL="0" indent="0">
              <a:buNone/>
            </a:pPr>
            <a:endParaRPr lang="en-GB" sz="1800" b="1" dirty="0"/>
          </a:p>
          <a:p>
            <a:endParaRPr lang="en-GB" sz="1800" dirty="0"/>
          </a:p>
        </p:txBody>
      </p:sp>
      <p:pic>
        <p:nvPicPr>
          <p:cNvPr id="7" name="Picture 6">
            <a:extLst>
              <a:ext uri="{FF2B5EF4-FFF2-40B4-BE49-F238E27FC236}">
                <a16:creationId xmlns:a16="http://schemas.microsoft.com/office/drawing/2014/main" id="{8226F2D9-7E0F-CE0B-075B-4BF48607AAB1}"/>
              </a:ext>
            </a:extLst>
          </p:cNvPr>
          <p:cNvPicPr>
            <a:picLocks noChangeAspect="1"/>
          </p:cNvPicPr>
          <p:nvPr/>
        </p:nvPicPr>
        <p:blipFill>
          <a:blip r:embed="rId2"/>
          <a:stretch>
            <a:fillRect/>
          </a:stretch>
        </p:blipFill>
        <p:spPr>
          <a:xfrm>
            <a:off x="4753497" y="2850776"/>
            <a:ext cx="6975950" cy="3505573"/>
          </a:xfrm>
          <a:prstGeom prst="rect">
            <a:avLst/>
          </a:prstGeom>
        </p:spPr>
      </p:pic>
    </p:spTree>
    <p:extLst>
      <p:ext uri="{BB962C8B-B14F-4D97-AF65-F5344CB8AC3E}">
        <p14:creationId xmlns:p14="http://schemas.microsoft.com/office/powerpoint/2010/main" val="2835584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84374" y="1340768"/>
            <a:ext cx="7640018" cy="5632311"/>
          </a:xfrm>
          <a:prstGeom prst="rect">
            <a:avLst/>
          </a:prstGeom>
        </p:spPr>
        <p:txBody>
          <a:bodyPr wrap="square">
            <a:spAutoFit/>
          </a:bodyPr>
          <a:lstStyle/>
          <a:p>
            <a:pPr marL="342900" indent="-342900">
              <a:buFont typeface="+mj-lt"/>
              <a:buAutoNum type="arabicPeriod"/>
            </a:pPr>
            <a:r>
              <a:rPr lang="en-GB" b="1" dirty="0">
                <a:solidFill>
                  <a:schemeClr val="tx2"/>
                </a:solidFill>
              </a:rPr>
              <a:t>Choice behaviour can be studied from theory-driven AND data driven perspectives</a:t>
            </a:r>
          </a:p>
          <a:p>
            <a:pPr marL="342900" indent="-342900">
              <a:buFont typeface="+mj-lt"/>
              <a:buAutoNum type="arabicPeriod"/>
            </a:pPr>
            <a:endParaRPr lang="en-GB" b="1" dirty="0">
              <a:solidFill>
                <a:schemeClr val="tx2"/>
              </a:solidFill>
            </a:endParaRPr>
          </a:p>
          <a:p>
            <a:pPr marL="342900" indent="-342900">
              <a:buFont typeface="+mj-lt"/>
              <a:buAutoNum type="arabicPeriod"/>
            </a:pPr>
            <a:r>
              <a:rPr lang="en-GB" b="1" dirty="0">
                <a:solidFill>
                  <a:schemeClr val="tx2"/>
                </a:solidFill>
              </a:rPr>
              <a:t>Theory-driven and data-driven models both have strength and weaknesses</a:t>
            </a:r>
          </a:p>
          <a:p>
            <a:pPr marL="800100" lvl="1" indent="-342900">
              <a:buFont typeface="Arial" panose="020B0604020202020204" pitchFamily="34" charset="0"/>
              <a:buChar char="•"/>
            </a:pPr>
            <a:r>
              <a:rPr lang="en-GB" b="1" dirty="0">
                <a:solidFill>
                  <a:schemeClr val="tx2"/>
                </a:solidFill>
              </a:rPr>
              <a:t>Field can learn a lot from ML</a:t>
            </a:r>
          </a:p>
          <a:p>
            <a:pPr marL="342900" indent="-342900">
              <a:buFont typeface="+mj-lt"/>
              <a:buAutoNum type="arabicPeriod"/>
            </a:pPr>
            <a:endParaRPr lang="en-GB" b="1" dirty="0">
              <a:solidFill>
                <a:schemeClr val="tx2"/>
              </a:solidFill>
            </a:endParaRPr>
          </a:p>
          <a:p>
            <a:pPr marL="342900" indent="-342900">
              <a:buFont typeface="+mj-lt"/>
              <a:buAutoNum type="arabicPeriod"/>
            </a:pPr>
            <a:r>
              <a:rPr lang="en-GB" b="1" dirty="0">
                <a:solidFill>
                  <a:schemeClr val="tx2"/>
                </a:solidFill>
              </a:rPr>
              <a:t>Data-driven discrete choice analysis is a new emerging field. Key challenges:</a:t>
            </a:r>
          </a:p>
          <a:p>
            <a:pPr marL="800100" lvl="1" indent="-342900">
              <a:buFont typeface="Arial" panose="020B0604020202020204" pitchFamily="34" charset="0"/>
              <a:buChar char="•"/>
            </a:pPr>
            <a:r>
              <a:rPr lang="en-GB" b="1" dirty="0">
                <a:solidFill>
                  <a:schemeClr val="tx2"/>
                </a:solidFill>
              </a:rPr>
              <a:t>Transparency</a:t>
            </a:r>
          </a:p>
          <a:p>
            <a:pPr marL="800100" lvl="1" indent="-342900">
              <a:buFont typeface="Arial" panose="020B0604020202020204" pitchFamily="34" charset="0"/>
              <a:buChar char="•"/>
            </a:pPr>
            <a:r>
              <a:rPr lang="en-GB" b="1" dirty="0">
                <a:solidFill>
                  <a:schemeClr val="tx2"/>
                </a:solidFill>
              </a:rPr>
              <a:t>Economic outputs</a:t>
            </a:r>
          </a:p>
          <a:p>
            <a:pPr marL="800100" lvl="1" indent="-342900">
              <a:buFont typeface="Arial" panose="020B0604020202020204" pitchFamily="34" charset="0"/>
              <a:buChar char="•"/>
            </a:pPr>
            <a:r>
              <a:rPr lang="en-GB" b="1" dirty="0">
                <a:solidFill>
                  <a:schemeClr val="tx2"/>
                </a:solidFill>
              </a:rPr>
              <a:t>Rigorous long-term prediction (out-of-distribution generalisation)</a:t>
            </a:r>
          </a:p>
          <a:p>
            <a:pPr marL="800100" lvl="1" indent="-342900">
              <a:buFont typeface="Arial" panose="020B0604020202020204" pitchFamily="34" charset="0"/>
              <a:buChar char="•"/>
            </a:pPr>
            <a:endParaRPr lang="en-GB" b="1" dirty="0">
              <a:solidFill>
                <a:schemeClr val="tx2"/>
              </a:solidFill>
            </a:endParaRPr>
          </a:p>
          <a:p>
            <a:pPr marL="342900" indent="-342900">
              <a:buFont typeface="+mj-lt"/>
              <a:buAutoNum type="arabicPeriod"/>
            </a:pPr>
            <a:r>
              <a:rPr lang="en-GB" b="1" dirty="0">
                <a:solidFill>
                  <a:schemeClr val="tx2"/>
                </a:solidFill>
              </a:rPr>
              <a:t>Machine learning models are not only capable of predicting choices, but can -when cleverly used- also provide behavioural insights (e.g. through XAI)</a:t>
            </a:r>
          </a:p>
          <a:p>
            <a:pPr marL="342900" indent="-342900">
              <a:buFont typeface="+mj-lt"/>
              <a:buAutoNum type="arabicPeriod"/>
            </a:pPr>
            <a:endParaRPr lang="en-GB" b="1" dirty="0">
              <a:solidFill>
                <a:schemeClr val="tx2"/>
              </a:solidFill>
            </a:endParaRPr>
          </a:p>
          <a:p>
            <a:pPr marL="342900" indent="-342900">
              <a:buFont typeface="+mj-lt"/>
              <a:buAutoNum type="arabicPeriod"/>
            </a:pPr>
            <a:r>
              <a:rPr lang="en-GB" b="1" dirty="0">
                <a:solidFill>
                  <a:schemeClr val="tx2"/>
                </a:solidFill>
              </a:rPr>
              <a:t>Machine learning is not confined to very large RP data sets, but can also be applied to small SP data sets</a:t>
            </a:r>
          </a:p>
          <a:p>
            <a:endParaRPr lang="en-GB" dirty="0">
              <a:solidFill>
                <a:prstClr val="black"/>
              </a:solidFill>
            </a:endParaRPr>
          </a:p>
          <a:p>
            <a:endParaRPr lang="en-GB" dirty="0">
              <a:solidFill>
                <a:prstClr val="black"/>
              </a:solidFill>
            </a:endParaRPr>
          </a:p>
        </p:txBody>
      </p:sp>
      <p:sp>
        <p:nvSpPr>
          <p:cNvPr id="5" name="AutoShape 2" descr="Image result for zip file icon"/>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solidFill>
                <a:prstClr val="black"/>
              </a:solidFill>
            </a:endParaRPr>
          </a:p>
        </p:txBody>
      </p:sp>
      <p:sp>
        <p:nvSpPr>
          <p:cNvPr id="6" name="AutoShape 4" descr="Image result for zip file icon"/>
          <p:cNvSpPr>
            <a:spLocks noChangeAspect="1" noChangeArrowheads="1"/>
          </p:cNvSpPr>
          <p:nvPr/>
        </p:nvSpPr>
        <p:spPr bwMode="auto">
          <a:xfrm>
            <a:off x="1831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solidFill>
                <a:prstClr val="black"/>
              </a:solidFill>
            </a:endParaRPr>
          </a:p>
        </p:txBody>
      </p:sp>
      <p:sp>
        <p:nvSpPr>
          <p:cNvPr id="2" name="Slide Number Placeholder 1"/>
          <p:cNvSpPr>
            <a:spLocks noGrp="1"/>
          </p:cNvSpPr>
          <p:nvPr>
            <p:ph type="sldNum" sz="quarter" idx="12"/>
          </p:nvPr>
        </p:nvSpPr>
        <p:spPr/>
        <p:txBody>
          <a:bodyPr/>
          <a:lstStyle/>
          <a:p>
            <a:fld id="{324D4017-CCFE-46C6-A9FB-0EFAE082C1AD}" type="slidenum">
              <a:rPr lang="nl-NL" smtClean="0">
                <a:solidFill>
                  <a:prstClr val="black">
                    <a:tint val="75000"/>
                  </a:prstClr>
                </a:solidFill>
              </a:rPr>
              <a:pPr/>
              <a:t>23</a:t>
            </a:fld>
            <a:endParaRPr lang="nl-NL" dirty="0">
              <a:solidFill>
                <a:prstClr val="black">
                  <a:tint val="75000"/>
                </a:prstClr>
              </a:solidFill>
            </a:endParaRPr>
          </a:p>
        </p:txBody>
      </p:sp>
      <p:sp>
        <p:nvSpPr>
          <p:cNvPr id="10" name="Title 1"/>
          <p:cNvSpPr>
            <a:spLocks noGrp="1"/>
          </p:cNvSpPr>
          <p:nvPr>
            <p:ph type="title"/>
          </p:nvPr>
        </p:nvSpPr>
        <p:spPr>
          <a:xfrm>
            <a:off x="2001422" y="204734"/>
            <a:ext cx="8229600" cy="1143000"/>
          </a:xfrm>
        </p:spPr>
        <p:txBody>
          <a:bodyPr/>
          <a:lstStyle/>
          <a:p>
            <a:pPr marL="0" indent="0">
              <a:buNone/>
            </a:pPr>
            <a:r>
              <a:rPr lang="en-GB" b="1" dirty="0"/>
              <a:t>Take-</a:t>
            </a:r>
            <a:r>
              <a:rPr lang="en-GB" b="1" dirty="0" err="1"/>
              <a:t>aways</a:t>
            </a:r>
            <a:endParaRPr lang="en-GB" b="1" dirty="0"/>
          </a:p>
          <a:p>
            <a:pPr marL="0" indent="0">
              <a:buNone/>
            </a:pPr>
            <a:endParaRPr lang="en-GB" sz="1800" dirty="0"/>
          </a:p>
        </p:txBody>
      </p:sp>
      <p:sp>
        <p:nvSpPr>
          <p:cNvPr id="3"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solidFill>
                <a:prstClr val="black"/>
              </a:solidFill>
            </a:endParaRPr>
          </a:p>
        </p:txBody>
      </p:sp>
      <p:sp>
        <p:nvSpPr>
          <p:cNvPr id="13"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solidFill>
                <a:prstClr val="black"/>
              </a:solidFill>
            </a:endParaRPr>
          </a:p>
        </p:txBody>
      </p:sp>
      <p:pic>
        <p:nvPicPr>
          <p:cNvPr id="4" name="Picture 3"/>
          <p:cNvPicPr>
            <a:picLocks noChangeAspect="1"/>
          </p:cNvPicPr>
          <p:nvPr/>
        </p:nvPicPr>
        <p:blipFill rotWithShape="1">
          <a:blip r:embed="rId3"/>
          <a:srcRect l="29546" r="12835"/>
          <a:stretch/>
        </p:blipFill>
        <p:spPr>
          <a:xfrm>
            <a:off x="9552384" y="2564904"/>
            <a:ext cx="2520280" cy="2808312"/>
          </a:xfrm>
          <a:prstGeom prst="rect">
            <a:avLst/>
          </a:prstGeom>
        </p:spPr>
      </p:pic>
    </p:spTree>
    <p:extLst>
      <p:ext uri="{BB962C8B-B14F-4D97-AF65-F5344CB8AC3E}">
        <p14:creationId xmlns:p14="http://schemas.microsoft.com/office/powerpoint/2010/main" val="113767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Effect transition="in" filter="fade">
                                      <p:cBhvr>
                                        <p:cTn id="21" dur="500"/>
                                        <p:tgtEl>
                                          <p:spTgt spid="7">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fade">
                                      <p:cBhvr>
                                        <p:cTn id="24" dur="500"/>
                                        <p:tgtEl>
                                          <p:spTgt spid="7">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animEffect transition="in" filter="fade">
                                      <p:cBhvr>
                                        <p:cTn id="29" dur="500"/>
                                        <p:tgtEl>
                                          <p:spTgt spid="7">
                                            <p:txEl>
                                              <p:pRg st="10" end="1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
                                            <p:txEl>
                                              <p:pRg st="12" end="12"/>
                                            </p:txEl>
                                          </p:spTgt>
                                        </p:tgtEl>
                                        <p:attrNameLst>
                                          <p:attrName>style.visibility</p:attrName>
                                        </p:attrNameLst>
                                      </p:cBhvr>
                                      <p:to>
                                        <p:strVal val="visible"/>
                                      </p:to>
                                    </p:set>
                                    <p:animEffect transition="in" filter="fade">
                                      <p:cBhvr>
                                        <p:cTn id="34"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524001" y="4393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solidFill>
                <a:prstClr val="black"/>
              </a:solidFill>
            </a:endParaRPr>
          </a:p>
        </p:txBody>
      </p:sp>
      <p:sp>
        <p:nvSpPr>
          <p:cNvPr id="6" name="Rectangle 4"/>
          <p:cNvSpPr>
            <a:spLocks noChangeArrowheads="1"/>
          </p:cNvSpPr>
          <p:nvPr/>
        </p:nvSpPr>
        <p:spPr bwMode="auto">
          <a:xfrm>
            <a:off x="1524001"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solidFill>
                <a:prstClr val="black"/>
              </a:solidFill>
            </a:endParaRPr>
          </a:p>
        </p:txBody>
      </p:sp>
      <p:sp>
        <p:nvSpPr>
          <p:cNvPr id="8" name="Rectangle 4"/>
          <p:cNvSpPr>
            <a:spLocks noChangeArrowheads="1"/>
          </p:cNvSpPr>
          <p:nvPr/>
        </p:nvSpPr>
        <p:spPr bwMode="auto">
          <a:xfrm>
            <a:off x="1524001"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solidFill>
                <a:prstClr val="black"/>
              </a:solidFill>
            </a:endParaRPr>
          </a:p>
        </p:txBody>
      </p:sp>
      <p:sp>
        <p:nvSpPr>
          <p:cNvPr id="12" name="Rectangle 9"/>
          <p:cNvSpPr>
            <a:spLocks noChangeArrowheads="1"/>
          </p:cNvSpPr>
          <p:nvPr/>
        </p:nvSpPr>
        <p:spPr bwMode="auto">
          <a:xfrm>
            <a:off x="1524001"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solidFill>
                <a:prstClr val="black"/>
              </a:solidFill>
            </a:endParaRPr>
          </a:p>
        </p:txBody>
      </p:sp>
      <p:sp>
        <p:nvSpPr>
          <p:cNvPr id="13" name="Title 1"/>
          <p:cNvSpPr>
            <a:spLocks noGrp="1"/>
          </p:cNvSpPr>
          <p:nvPr>
            <p:ph type="title"/>
          </p:nvPr>
        </p:nvSpPr>
        <p:spPr>
          <a:xfrm>
            <a:off x="1524000" y="1520788"/>
            <a:ext cx="9144000" cy="3132348"/>
          </a:xfrm>
        </p:spPr>
        <p:txBody>
          <a:bodyPr>
            <a:normAutofit fontScale="90000"/>
          </a:bodyPr>
          <a:lstStyle/>
          <a:p>
            <a:pPr marL="0" indent="0" algn="ctr">
              <a:buNone/>
            </a:pPr>
            <a:br>
              <a:rPr lang="en-GB" sz="4400" b="1" dirty="0">
                <a:solidFill>
                  <a:schemeClr val="tx1"/>
                </a:solidFill>
                <a:latin typeface="Times" pitchFamily="18" charset="0"/>
              </a:rPr>
            </a:br>
            <a:r>
              <a:rPr lang="en-GB" sz="4400" b="1" dirty="0">
                <a:solidFill>
                  <a:schemeClr val="tx1"/>
                </a:solidFill>
                <a:latin typeface="Times" pitchFamily="18" charset="0"/>
              </a:rPr>
              <a:t>Thank you for your attention!</a:t>
            </a:r>
            <a:br>
              <a:rPr lang="en-GB" sz="4400" b="1" dirty="0">
                <a:solidFill>
                  <a:schemeClr val="tx1"/>
                </a:solidFill>
                <a:latin typeface="Times" pitchFamily="18" charset="0"/>
              </a:rPr>
            </a:br>
            <a:br>
              <a:rPr lang="en-GB" sz="4400" b="1" dirty="0">
                <a:solidFill>
                  <a:schemeClr val="tx1"/>
                </a:solidFill>
                <a:latin typeface="Times" pitchFamily="18" charset="0"/>
              </a:rPr>
            </a:br>
            <a:br>
              <a:rPr lang="en-GB" sz="3600" b="1" dirty="0">
                <a:solidFill>
                  <a:schemeClr val="tx1"/>
                </a:solidFill>
                <a:latin typeface="Times" pitchFamily="18" charset="0"/>
              </a:rPr>
            </a:br>
            <a:br>
              <a:rPr lang="en-GB" sz="3600" b="1" dirty="0">
                <a:solidFill>
                  <a:schemeClr val="tx1"/>
                </a:solidFill>
                <a:latin typeface="Times" pitchFamily="18" charset="0"/>
              </a:rPr>
            </a:br>
            <a:r>
              <a:rPr lang="en-GB" sz="2800" dirty="0">
                <a:solidFill>
                  <a:schemeClr val="tx1"/>
                </a:solidFill>
                <a:latin typeface="Times" pitchFamily="18" charset="0"/>
                <a:hlinkClick r:id="rId3"/>
              </a:rPr>
              <a:t>g.nova@tudelft.nl</a:t>
            </a:r>
            <a:br>
              <a:rPr lang="en-GB" sz="5400" dirty="0">
                <a:latin typeface="Times" pitchFamily="18" charset="0"/>
              </a:rPr>
            </a:br>
            <a:endParaRPr lang="en-GB" sz="1800" dirty="0">
              <a:latin typeface="Times" pitchFamily="18" charset="0"/>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1505" y="5601387"/>
            <a:ext cx="3647281" cy="1716047"/>
          </a:xfrm>
          <a:prstGeom prst="rect">
            <a:avLst/>
          </a:prstGeom>
        </p:spPr>
      </p:pic>
      <p:sp>
        <p:nvSpPr>
          <p:cNvPr id="3" name="Slide Number Placeholder 2"/>
          <p:cNvSpPr>
            <a:spLocks noGrp="1"/>
          </p:cNvSpPr>
          <p:nvPr>
            <p:ph type="sldNum" sz="quarter" idx="12"/>
          </p:nvPr>
        </p:nvSpPr>
        <p:spPr/>
        <p:txBody>
          <a:bodyPr/>
          <a:lstStyle/>
          <a:p>
            <a:fld id="{324D4017-CCFE-46C6-A9FB-0EFAE082C1AD}" type="slidenum">
              <a:rPr lang="nl-NL" smtClean="0">
                <a:solidFill>
                  <a:prstClr val="black">
                    <a:tint val="75000"/>
                  </a:prstClr>
                </a:solidFill>
              </a:rPr>
              <a:pPr/>
              <a:t>24</a:t>
            </a:fld>
            <a:endParaRPr lang="nl-NL">
              <a:solidFill>
                <a:prstClr val="black">
                  <a:tint val="75000"/>
                </a:prstClr>
              </a:solidFill>
            </a:endParaRPr>
          </a:p>
        </p:txBody>
      </p:sp>
    </p:spTree>
    <p:extLst>
      <p:ext uri="{BB962C8B-B14F-4D97-AF65-F5344CB8AC3E}">
        <p14:creationId xmlns:p14="http://schemas.microsoft.com/office/powerpoint/2010/main" val="1105724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24B5B3"/>
          </a:solidFill>
          <a:prstDash val="dash"/>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a:noAutofit/>
      </a:bodyPr>
      <a:lstStyle>
        <a:defPPr marL="285750" indent="-285750" algn="l" defTabSz="904875">
          <a:buFont typeface="Arial" panose="020B0604020202020204" pitchFamily="34" charset="0"/>
          <a:buChar char="•"/>
          <a:tabLst>
            <a:tab pos="715963" algn="l"/>
            <a:tab pos="3228975" algn="l"/>
          </a:tabLst>
          <a:defRPr dirty="0" smtClean="0">
            <a:cs typeface="Calibri" panose="020F0502020204030204" pitchFamily="34" charset="0"/>
            <a:sym typeface="Wingdings" panose="05000000000000000000" pitchFamily="2" charset="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1229</TotalTime>
  <Words>1546</Words>
  <Application>Microsoft Macintosh PowerPoint</Application>
  <PresentationFormat>Widescreen</PresentationFormat>
  <Paragraphs>430</Paragraphs>
  <Slides>24</Slides>
  <Notes>23</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7" baseType="lpstr">
      <vt:lpstr>-webkit-standard</vt:lpstr>
      <vt:lpstr>Arial</vt:lpstr>
      <vt:lpstr>Calibri</vt:lpstr>
      <vt:lpstr>Calibri Light</vt:lpstr>
      <vt:lpstr>Cambria Math</vt:lpstr>
      <vt:lpstr>Courier New</vt:lpstr>
      <vt:lpstr>System Font Regular</vt:lpstr>
      <vt:lpstr>Times</vt:lpstr>
      <vt:lpstr>Times New Roman</vt:lpstr>
      <vt:lpstr>Wingdings</vt:lpstr>
      <vt:lpstr>Office Theme</vt:lpstr>
      <vt:lpstr>Custom Design</vt:lpstr>
      <vt:lpstr>Equation</vt:lpstr>
      <vt:lpstr>Learning- Multinomial Logit model</vt:lpstr>
      <vt:lpstr>Limitation of theory-based DCM</vt:lpstr>
      <vt:lpstr>PowerPoint Presentation</vt:lpstr>
      <vt:lpstr>Limitation of theory-based DCM</vt:lpstr>
      <vt:lpstr>L-MNL model</vt:lpstr>
      <vt:lpstr>L-MNL model</vt:lpstr>
      <vt:lpstr>L-MNL model</vt:lpstr>
      <vt:lpstr>L-MNL model</vt:lpstr>
      <vt:lpstr>L-MNL model</vt:lpstr>
      <vt:lpstr>Hybrid choice models</vt:lpstr>
      <vt:lpstr>Hybrid choice models</vt:lpstr>
      <vt:lpstr>Empirical example L-MNL model</vt:lpstr>
      <vt:lpstr>Empirical example L-MNL model</vt:lpstr>
      <vt:lpstr>Empirical example L-MNL model</vt:lpstr>
      <vt:lpstr>Empirical example L-MNL model</vt:lpstr>
      <vt:lpstr>Empirical example L-MNL model</vt:lpstr>
      <vt:lpstr>Empirical example L-MNL model</vt:lpstr>
      <vt:lpstr>Empirical example L-MNL model</vt:lpstr>
      <vt:lpstr>Empirical example L-MNL model</vt:lpstr>
      <vt:lpstr>Empirical example L-MNL model</vt:lpstr>
      <vt:lpstr>Empirical example L-MNL model</vt:lpstr>
      <vt:lpstr>Lab session 2</vt:lpstr>
      <vt:lpstr>Take-aways </vt:lpstr>
      <vt:lpstr> Thank you for your attention!    g.nova@tudelft.nl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Choice Analysis: micro-econometrics and machine learning approaches   Machine learning approaches for discrete choice analysis   Sander van Cranenburgh  Associate Professor  CityAI lab Section of Transport and Logistics Faculty of Technology, Policy and Management Delft University of Technology</dc:title>
  <dc:creator>Sander van Cranenburgh</dc:creator>
  <cp:lastModifiedBy>Gabriel Nova</cp:lastModifiedBy>
  <cp:revision>14</cp:revision>
  <dcterms:created xsi:type="dcterms:W3CDTF">2024-01-30T10:56:06Z</dcterms:created>
  <dcterms:modified xsi:type="dcterms:W3CDTF">2026-06-09T15:46:14Z</dcterms:modified>
</cp:coreProperties>
</file>