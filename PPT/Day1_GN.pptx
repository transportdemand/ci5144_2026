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tmp" ContentType="image/p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86" r:id="rId2"/>
    <p:sldMasterId id="2147483689" r:id="rId3"/>
    <p:sldMasterId id="2147483692" r:id="rId4"/>
  </p:sldMasterIdLst>
  <p:notesMasterIdLst>
    <p:notesMasterId r:id="rId85"/>
  </p:notesMasterIdLst>
  <p:sldIdLst>
    <p:sldId id="4319" r:id="rId5"/>
    <p:sldId id="259" r:id="rId6"/>
    <p:sldId id="978" r:id="rId7"/>
    <p:sldId id="457" r:id="rId8"/>
    <p:sldId id="458" r:id="rId9"/>
    <p:sldId id="648" r:id="rId10"/>
    <p:sldId id="611" r:id="rId11"/>
    <p:sldId id="629" r:id="rId12"/>
    <p:sldId id="617" r:id="rId13"/>
    <p:sldId id="4501" r:id="rId14"/>
    <p:sldId id="4431" r:id="rId15"/>
    <p:sldId id="4502" r:id="rId16"/>
    <p:sldId id="459" r:id="rId17"/>
    <p:sldId id="986" r:id="rId18"/>
    <p:sldId id="4416" r:id="rId19"/>
    <p:sldId id="4419" r:id="rId20"/>
    <p:sldId id="979" r:id="rId21"/>
    <p:sldId id="480" r:id="rId22"/>
    <p:sldId id="481" r:id="rId23"/>
    <p:sldId id="482" r:id="rId24"/>
    <p:sldId id="484" r:id="rId25"/>
    <p:sldId id="483" r:id="rId26"/>
    <p:sldId id="485" r:id="rId27"/>
    <p:sldId id="486" r:id="rId28"/>
    <p:sldId id="487" r:id="rId29"/>
    <p:sldId id="4503" r:id="rId30"/>
    <p:sldId id="307" r:id="rId31"/>
    <p:sldId id="501" r:id="rId32"/>
    <p:sldId id="645" r:id="rId33"/>
    <p:sldId id="488" r:id="rId34"/>
    <p:sldId id="550" r:id="rId35"/>
    <p:sldId id="551" r:id="rId36"/>
    <p:sldId id="4504" r:id="rId37"/>
    <p:sldId id="649" r:id="rId38"/>
    <p:sldId id="491" r:id="rId39"/>
    <p:sldId id="492" r:id="rId40"/>
    <p:sldId id="493" r:id="rId41"/>
    <p:sldId id="490" r:id="rId42"/>
    <p:sldId id="494" r:id="rId43"/>
    <p:sldId id="514" r:id="rId44"/>
    <p:sldId id="540" r:id="rId45"/>
    <p:sldId id="541" r:id="rId46"/>
    <p:sldId id="515" r:id="rId47"/>
    <p:sldId id="557" r:id="rId48"/>
    <p:sldId id="558" r:id="rId49"/>
    <p:sldId id="559" r:id="rId50"/>
    <p:sldId id="560" r:id="rId51"/>
    <p:sldId id="561" r:id="rId52"/>
    <p:sldId id="562" r:id="rId53"/>
    <p:sldId id="563" r:id="rId54"/>
    <p:sldId id="564" r:id="rId55"/>
    <p:sldId id="565" r:id="rId56"/>
    <p:sldId id="566" r:id="rId57"/>
    <p:sldId id="569" r:id="rId58"/>
    <p:sldId id="570" r:id="rId59"/>
    <p:sldId id="571" r:id="rId60"/>
    <p:sldId id="572" r:id="rId61"/>
    <p:sldId id="630" r:id="rId62"/>
    <p:sldId id="984" r:id="rId63"/>
    <p:sldId id="646" r:id="rId64"/>
    <p:sldId id="666" r:id="rId65"/>
    <p:sldId id="647" r:id="rId66"/>
    <p:sldId id="980" r:id="rId67"/>
    <p:sldId id="655" r:id="rId68"/>
    <p:sldId id="654" r:id="rId69"/>
    <p:sldId id="653" r:id="rId70"/>
    <p:sldId id="652" r:id="rId71"/>
    <p:sldId id="650" r:id="rId72"/>
    <p:sldId id="651" r:id="rId73"/>
    <p:sldId id="656" r:id="rId74"/>
    <p:sldId id="657" r:id="rId75"/>
    <p:sldId id="658" r:id="rId76"/>
    <p:sldId id="659" r:id="rId77"/>
    <p:sldId id="661" r:id="rId78"/>
    <p:sldId id="662" r:id="rId79"/>
    <p:sldId id="981" r:id="rId80"/>
    <p:sldId id="664" r:id="rId81"/>
    <p:sldId id="960" r:id="rId82"/>
    <p:sldId id="665" r:id="rId83"/>
    <p:sldId id="983" r:id="rId84"/>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5452028-2121-4E49-B336-7942A1FEFD4F}">
          <p14:sldIdLst>
            <p14:sldId id="4319"/>
            <p14:sldId id="259"/>
          </p14:sldIdLst>
        </p14:section>
        <p14:section name="Limitations RUM-MNL" id="{217DE301-D1CF-784E-BC95-71CE262FA7D3}">
          <p14:sldIdLst>
            <p14:sldId id="978"/>
            <p14:sldId id="457"/>
            <p14:sldId id="458"/>
            <p14:sldId id="648"/>
            <p14:sldId id="611"/>
            <p14:sldId id="629"/>
            <p14:sldId id="617"/>
            <p14:sldId id="4501"/>
            <p14:sldId id="4431"/>
          </p14:sldIdLst>
        </p14:section>
        <p14:section name="Data-driven" id="{26C54A09-7B7A-584E-A5AF-41C4A6967A2B}">
          <p14:sldIdLst>
            <p14:sldId id="4502"/>
            <p14:sldId id="459"/>
          </p14:sldIdLst>
        </p14:section>
        <p14:section name="Machine learning" id="{79A8B3B4-0A9C-1A4C-9538-BFCB118262BF}">
          <p14:sldIdLst>
            <p14:sldId id="986"/>
            <p14:sldId id="4416"/>
            <p14:sldId id="4419"/>
          </p14:sldIdLst>
        </p14:section>
        <p14:section name="ANNs" id="{164AD8BA-23C0-4447-83B6-478E9D074CFB}">
          <p14:sldIdLst>
            <p14:sldId id="979"/>
            <p14:sldId id="480"/>
            <p14:sldId id="481"/>
            <p14:sldId id="482"/>
            <p14:sldId id="484"/>
            <p14:sldId id="483"/>
            <p14:sldId id="485"/>
            <p14:sldId id="486"/>
            <p14:sldId id="487"/>
            <p14:sldId id="4503"/>
            <p14:sldId id="307"/>
            <p14:sldId id="501"/>
            <p14:sldId id="645"/>
            <p14:sldId id="488"/>
            <p14:sldId id="550"/>
            <p14:sldId id="551"/>
            <p14:sldId id="4504"/>
            <p14:sldId id="649"/>
            <p14:sldId id="491"/>
            <p14:sldId id="492"/>
            <p14:sldId id="493"/>
            <p14:sldId id="490"/>
            <p14:sldId id="494"/>
            <p14:sldId id="514"/>
            <p14:sldId id="540"/>
            <p14:sldId id="541"/>
            <p14:sldId id="515"/>
          </p14:sldIdLst>
        </p14:section>
        <p14:section name="Performance metrics" id="{5CEB2287-7846-3042-87DB-206A401F67C6}">
          <p14:sldIdLst>
            <p14:sldId id="557"/>
            <p14:sldId id="558"/>
            <p14:sldId id="559"/>
            <p14:sldId id="560"/>
            <p14:sldId id="561"/>
            <p14:sldId id="562"/>
            <p14:sldId id="563"/>
            <p14:sldId id="564"/>
            <p14:sldId id="565"/>
            <p14:sldId id="566"/>
            <p14:sldId id="569"/>
            <p14:sldId id="570"/>
            <p14:sldId id="571"/>
            <p14:sldId id="572"/>
          </p14:sldIdLst>
        </p14:section>
        <p14:section name="Empirical example" id="{B86494E5-D8E6-9449-8130-DE252326B49B}">
          <p14:sldIdLst>
            <p14:sldId id="630"/>
            <p14:sldId id="984"/>
            <p14:sldId id="646"/>
            <p14:sldId id="666"/>
            <p14:sldId id="647"/>
            <p14:sldId id="980"/>
            <p14:sldId id="655"/>
            <p14:sldId id="654"/>
            <p14:sldId id="653"/>
            <p14:sldId id="652"/>
            <p14:sldId id="650"/>
            <p14:sldId id="651"/>
            <p14:sldId id="656"/>
            <p14:sldId id="657"/>
            <p14:sldId id="658"/>
            <p14:sldId id="659"/>
            <p14:sldId id="661"/>
            <p14:sldId id="662"/>
            <p14:sldId id="981"/>
            <p14:sldId id="664"/>
            <p14:sldId id="960"/>
            <p14:sldId id="665"/>
            <p14:sldId id="983"/>
          </p14:sldIdLst>
        </p14:section>
        <p14:section name="Lab session 1" id="{B5100C27-16CA-4A05-9155-4B87B661EE1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00FF"/>
    <a:srgbClr val="3AB5B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480"/>
    <p:restoredTop sz="69247" autoAdjust="0"/>
  </p:normalViewPr>
  <p:slideViewPr>
    <p:cSldViewPr snapToGrid="0">
      <p:cViewPr varScale="1">
        <p:scale>
          <a:sx n="81" d="100"/>
          <a:sy n="81" d="100"/>
        </p:scale>
        <p:origin x="215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tableStyles" Target="tableStyle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viewProps" Target="view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AC97CB-A4CC-CC4D-A3F0-B49FE72F9AC4}" type="datetimeFigureOut">
              <a:rPr lang="en-GB" smtClean="0"/>
              <a:t>09/06/2026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B6DF17-24B9-C246-AFBD-A6645EA30728}" type="slidenum">
              <a:rPr lang="en-GB" smtClean="0"/>
              <a:t>‹#›</a:t>
            </a:fld>
            <a:endParaRPr lang="en-GB"/>
          </a:p>
        </p:txBody>
      </p:sp>
    </p:spTree>
    <p:extLst>
      <p:ext uri="{BB962C8B-B14F-4D97-AF65-F5344CB8AC3E}">
        <p14:creationId xmlns:p14="http://schemas.microsoft.com/office/powerpoint/2010/main" val="1478937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indent="0">
              <a:buFontTx/>
              <a:buNone/>
            </a:pPr>
            <a:endParaRPr lang="en-GB" noProof="1"/>
          </a:p>
        </p:txBody>
      </p:sp>
      <p:sp>
        <p:nvSpPr>
          <p:cNvPr id="4" name="Slide Number Placeholder 3"/>
          <p:cNvSpPr>
            <a:spLocks noGrp="1"/>
          </p:cNvSpPr>
          <p:nvPr>
            <p:ph type="sldNum" sz="quarter" idx="5"/>
          </p:nvPr>
        </p:nvSpPr>
        <p:spPr/>
        <p:txBody>
          <a:bodyPr/>
          <a:lstStyle/>
          <a:p>
            <a:fld id="{3B9F644A-22D0-0E41-9CB7-0D833FE0D1B3}" type="slidenum">
              <a:rPr lang="es-ES_tradnl" smtClean="0"/>
              <a:t>1</a:t>
            </a:fld>
            <a:endParaRPr lang="es-ES_tradnl"/>
          </a:p>
        </p:txBody>
      </p:sp>
    </p:spTree>
    <p:extLst>
      <p:ext uri="{BB962C8B-B14F-4D97-AF65-F5344CB8AC3E}">
        <p14:creationId xmlns:p14="http://schemas.microsoft.com/office/powerpoint/2010/main" val="84643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BB6DF17-24B9-C246-AFBD-A6645EA30728}" type="slidenum">
              <a:rPr lang="en-GB" smtClean="0"/>
              <a:t>3</a:t>
            </a:fld>
            <a:endParaRPr lang="en-GB"/>
          </a:p>
        </p:txBody>
      </p:sp>
    </p:spTree>
    <p:extLst>
      <p:ext uri="{BB962C8B-B14F-4D97-AF65-F5344CB8AC3E}">
        <p14:creationId xmlns:p14="http://schemas.microsoft.com/office/powerpoint/2010/main" val="17258157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462354-8E3A-4216-9DBC-0E5E936618E1}"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26379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462354-8E3A-4216-9DBC-0E5E936618E1}"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42421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BB6DF17-24B9-C246-AFBD-A6645EA30728}" type="slidenum">
              <a:rPr lang="en-GB" smtClean="0"/>
              <a:t>6</a:t>
            </a:fld>
            <a:endParaRPr lang="en-GB"/>
          </a:p>
        </p:txBody>
      </p:sp>
    </p:spTree>
    <p:extLst>
      <p:ext uri="{BB962C8B-B14F-4D97-AF65-F5344CB8AC3E}">
        <p14:creationId xmlns:p14="http://schemas.microsoft.com/office/powerpoint/2010/main" val="21902116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GB" b="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9366A6-7DC8-4C2E-B969-7A593BD97F4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88455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1"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9366A6-7DC8-4C2E-B969-7A593BD97F4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92833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1"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9366A6-7DC8-4C2E-B969-7A593BD97F4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62519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E5A55-E388-5870-6F6C-293F152B9814}"/>
            </a:ext>
          </a:extLst>
        </p:cNvPr>
        <p:cNvGrpSpPr/>
        <p:nvPr/>
      </p:nvGrpSpPr>
      <p:grpSpPr>
        <a:xfrm>
          <a:off x="0" y="0"/>
          <a:ext cx="0" cy="0"/>
          <a:chOff x="0" y="0"/>
          <a:chExt cx="0" cy="0"/>
        </a:xfrm>
      </p:grpSpPr>
      <p:sp>
        <p:nvSpPr>
          <p:cNvPr id="520" name="PlaceHolder 1">
            <a:extLst>
              <a:ext uri="{FF2B5EF4-FFF2-40B4-BE49-F238E27FC236}">
                <a16:creationId xmlns:a16="http://schemas.microsoft.com/office/drawing/2014/main" id="{3AC22BE1-2338-B138-398A-75B9AB96C35F}"/>
              </a:ext>
            </a:extLst>
          </p:cNvPr>
          <p:cNvSpPr>
            <a:spLocks noGrp="1" noRot="1" noChangeAspect="1"/>
          </p:cNvSpPr>
          <p:nvPr>
            <p:ph type="sldImg"/>
          </p:nvPr>
        </p:nvSpPr>
        <p:spPr>
          <a:xfrm>
            <a:off x="685800" y="1143000"/>
            <a:ext cx="5486400" cy="3086100"/>
          </a:xfrm>
          <a:prstGeom prst="rect">
            <a:avLst/>
          </a:prstGeom>
        </p:spPr>
      </p:sp>
      <p:sp>
        <p:nvSpPr>
          <p:cNvPr id="521" name="PlaceHolder 2">
            <a:extLst>
              <a:ext uri="{FF2B5EF4-FFF2-40B4-BE49-F238E27FC236}">
                <a16:creationId xmlns:a16="http://schemas.microsoft.com/office/drawing/2014/main" id="{CF78A470-2EBD-44A6-9DBB-64BEBA744F9C}"/>
              </a:ext>
            </a:extLst>
          </p:cNvPr>
          <p:cNvSpPr>
            <a:spLocks noGrp="1"/>
          </p:cNvSpPr>
          <p:nvPr>
            <p:ph type="body"/>
          </p:nvPr>
        </p:nvSpPr>
        <p:spPr>
          <a:xfrm>
            <a:off x="685800" y="4400640"/>
            <a:ext cx="5485680" cy="3599640"/>
          </a:xfrm>
          <a:prstGeom prst="rect">
            <a:avLst/>
          </a:prstGeom>
        </p:spPr>
        <p:txBody>
          <a:bodyPr lIns="0" tIns="0" rIns="0" bIns="0">
            <a:noAutofit/>
          </a:bodyPr>
          <a:lstStyle/>
          <a:p>
            <a:pPr>
              <a:lnSpc>
                <a:spcPts val="1175"/>
              </a:lnSpc>
              <a:spcAft>
                <a:spcPts val="800"/>
              </a:spcAft>
            </a:pPr>
            <a:endParaRPr lang="en-US" sz="2000" b="0" strike="noStrike" spc="-1" dirty="0">
              <a:latin typeface="Calibri"/>
            </a:endParaRPr>
          </a:p>
        </p:txBody>
      </p:sp>
      <p:sp>
        <p:nvSpPr>
          <p:cNvPr id="522" name="CustomShape 3">
            <a:extLst>
              <a:ext uri="{FF2B5EF4-FFF2-40B4-BE49-F238E27FC236}">
                <a16:creationId xmlns:a16="http://schemas.microsoft.com/office/drawing/2014/main" id="{7EC1CFD7-2B24-D126-74A0-2FF5F19CABE4}"/>
              </a:ext>
            </a:extLst>
          </p:cNvPr>
          <p:cNvSpPr/>
          <p:nvPr/>
        </p:nvSpPr>
        <p:spPr>
          <a:xfrm>
            <a:off x="3884760" y="8685360"/>
            <a:ext cx="2971080" cy="457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C4AD8394-06F2-4437-950A-2024FD027C4D}" type="slidenum">
              <a:rPr lang="es-ES_tradnl" sz="1200" b="0" strike="noStrike" spc="-1">
                <a:latin typeface="Calibri"/>
              </a:rPr>
              <a:t>10</a:t>
            </a:fld>
            <a:endParaRPr lang="en-US" sz="1200" b="0" strike="noStrike" spc="-1">
              <a:latin typeface="Calibri"/>
            </a:endParaRPr>
          </a:p>
        </p:txBody>
      </p:sp>
    </p:spTree>
    <p:extLst>
      <p:ext uri="{BB962C8B-B14F-4D97-AF65-F5344CB8AC3E}">
        <p14:creationId xmlns:p14="http://schemas.microsoft.com/office/powerpoint/2010/main" val="17278773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C54F4-DE35-17FF-3212-48121CDE06EB}"/>
            </a:ext>
          </a:extLst>
        </p:cNvPr>
        <p:cNvGrpSpPr/>
        <p:nvPr/>
      </p:nvGrpSpPr>
      <p:grpSpPr>
        <a:xfrm>
          <a:off x="0" y="0"/>
          <a:ext cx="0" cy="0"/>
          <a:chOff x="0" y="0"/>
          <a:chExt cx="0" cy="0"/>
        </a:xfrm>
      </p:grpSpPr>
      <p:sp>
        <p:nvSpPr>
          <p:cNvPr id="520" name="PlaceHolder 1">
            <a:extLst>
              <a:ext uri="{FF2B5EF4-FFF2-40B4-BE49-F238E27FC236}">
                <a16:creationId xmlns:a16="http://schemas.microsoft.com/office/drawing/2014/main" id="{7C366A78-25B7-7D9A-60E0-ED30DC16B0D3}"/>
              </a:ext>
            </a:extLst>
          </p:cNvPr>
          <p:cNvSpPr>
            <a:spLocks noGrp="1" noRot="1" noChangeAspect="1"/>
          </p:cNvSpPr>
          <p:nvPr>
            <p:ph type="sldImg"/>
          </p:nvPr>
        </p:nvSpPr>
        <p:spPr>
          <a:xfrm>
            <a:off x="685800" y="1143000"/>
            <a:ext cx="5486400" cy="3086100"/>
          </a:xfrm>
          <a:prstGeom prst="rect">
            <a:avLst/>
          </a:prstGeom>
        </p:spPr>
      </p:sp>
      <p:sp>
        <p:nvSpPr>
          <p:cNvPr id="521" name="PlaceHolder 2">
            <a:extLst>
              <a:ext uri="{FF2B5EF4-FFF2-40B4-BE49-F238E27FC236}">
                <a16:creationId xmlns:a16="http://schemas.microsoft.com/office/drawing/2014/main" id="{606A057C-8EF0-AC85-03D8-90F4FDBD67B6}"/>
              </a:ext>
            </a:extLst>
          </p:cNvPr>
          <p:cNvSpPr>
            <a:spLocks noGrp="1"/>
          </p:cNvSpPr>
          <p:nvPr>
            <p:ph type="body"/>
          </p:nvPr>
        </p:nvSpPr>
        <p:spPr>
          <a:xfrm>
            <a:off x="685800" y="4400640"/>
            <a:ext cx="5485680" cy="3599640"/>
          </a:xfrm>
          <a:prstGeom prst="rect">
            <a:avLst/>
          </a:prstGeom>
        </p:spPr>
        <p:txBody>
          <a:bodyPr lIns="0" tIns="0" rIns="0" bIns="0">
            <a:noAutofit/>
          </a:bodyPr>
          <a:lstStyle/>
          <a:p>
            <a:endParaRPr lang="en-US" sz="4400" dirty="0"/>
          </a:p>
        </p:txBody>
      </p:sp>
      <p:sp>
        <p:nvSpPr>
          <p:cNvPr id="522" name="CustomShape 3">
            <a:extLst>
              <a:ext uri="{FF2B5EF4-FFF2-40B4-BE49-F238E27FC236}">
                <a16:creationId xmlns:a16="http://schemas.microsoft.com/office/drawing/2014/main" id="{5A2F2951-C7DE-D08F-5024-8C0AE6D193F5}"/>
              </a:ext>
            </a:extLst>
          </p:cNvPr>
          <p:cNvSpPr/>
          <p:nvPr/>
        </p:nvSpPr>
        <p:spPr>
          <a:xfrm>
            <a:off x="3884760" y="8685360"/>
            <a:ext cx="2971080" cy="457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C4AD8394-06F2-4437-950A-2024FD027C4D}" type="slidenum">
              <a:rPr lang="es-ES_tradnl" sz="1200" b="0" strike="noStrike" spc="-1">
                <a:latin typeface="Calibri"/>
              </a:rPr>
              <a:t>11</a:t>
            </a:fld>
            <a:endParaRPr lang="en-US" sz="1200" b="0" strike="noStrike" spc="-1">
              <a:latin typeface="Calibri"/>
            </a:endParaRPr>
          </a:p>
        </p:txBody>
      </p:sp>
    </p:spTree>
    <p:extLst>
      <p:ext uri="{BB962C8B-B14F-4D97-AF65-F5344CB8AC3E}">
        <p14:creationId xmlns:p14="http://schemas.microsoft.com/office/powerpoint/2010/main" val="4213748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5FF03-FE3D-27E2-AA17-384D0D354A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0EECE5-A30B-0298-4539-E0F9D2335C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7BF02F-FE79-F44F-A8FE-52B22EFF3E7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626644A-0D5B-766A-A1A1-BF7FE22FB8BD}"/>
              </a:ext>
            </a:extLst>
          </p:cNvPr>
          <p:cNvSpPr>
            <a:spLocks noGrp="1"/>
          </p:cNvSpPr>
          <p:nvPr>
            <p:ph type="sldNum" sz="quarter" idx="5"/>
          </p:nvPr>
        </p:nvSpPr>
        <p:spPr/>
        <p:txBody>
          <a:bodyPr/>
          <a:lstStyle/>
          <a:p>
            <a:fld id="{8BB6DF17-24B9-C246-AFBD-A6645EA30728}" type="slidenum">
              <a:rPr lang="en-GB" smtClean="0"/>
              <a:t>12</a:t>
            </a:fld>
            <a:endParaRPr lang="en-GB"/>
          </a:p>
        </p:txBody>
      </p:sp>
    </p:spTree>
    <p:extLst>
      <p:ext uri="{BB962C8B-B14F-4D97-AF65-F5344CB8AC3E}">
        <p14:creationId xmlns:p14="http://schemas.microsoft.com/office/powerpoint/2010/main" val="29195543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462354-8E3A-4216-9DBC-0E5E936618E1}"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27479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89268-1383-6417-BFDD-39093D0A52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C418BC-18FF-2164-32BF-0C9EB3B408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623057-DE1A-7336-BD67-2B1A27B8387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F099031-728C-820F-ECFD-FE1A3837B854}"/>
              </a:ext>
            </a:extLst>
          </p:cNvPr>
          <p:cNvSpPr>
            <a:spLocks noGrp="1"/>
          </p:cNvSpPr>
          <p:nvPr>
            <p:ph type="sldNum" sz="quarter" idx="5"/>
          </p:nvPr>
        </p:nvSpPr>
        <p:spPr/>
        <p:txBody>
          <a:bodyPr/>
          <a:lstStyle/>
          <a:p>
            <a:fld id="{8BB6DF17-24B9-C246-AFBD-A6645EA30728}" type="slidenum">
              <a:rPr lang="en-GB" smtClean="0"/>
              <a:t>14</a:t>
            </a:fld>
            <a:endParaRPr lang="en-GB"/>
          </a:p>
        </p:txBody>
      </p:sp>
    </p:spTree>
    <p:extLst>
      <p:ext uri="{BB962C8B-B14F-4D97-AF65-F5344CB8AC3E}">
        <p14:creationId xmlns:p14="http://schemas.microsoft.com/office/powerpoint/2010/main" val="20523450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9B798-B83A-5836-3830-2C0B6124951C}"/>
            </a:ext>
          </a:extLst>
        </p:cNvPr>
        <p:cNvGrpSpPr/>
        <p:nvPr/>
      </p:nvGrpSpPr>
      <p:grpSpPr>
        <a:xfrm>
          <a:off x="0" y="0"/>
          <a:ext cx="0" cy="0"/>
          <a:chOff x="0" y="0"/>
          <a:chExt cx="0" cy="0"/>
        </a:xfrm>
      </p:grpSpPr>
      <p:sp>
        <p:nvSpPr>
          <p:cNvPr id="520" name="PlaceHolder 1">
            <a:extLst>
              <a:ext uri="{FF2B5EF4-FFF2-40B4-BE49-F238E27FC236}">
                <a16:creationId xmlns:a16="http://schemas.microsoft.com/office/drawing/2014/main" id="{211F56CA-7D12-61C7-D825-87409AC99F06}"/>
              </a:ext>
            </a:extLst>
          </p:cNvPr>
          <p:cNvSpPr>
            <a:spLocks noGrp="1" noRot="1" noChangeAspect="1"/>
          </p:cNvSpPr>
          <p:nvPr>
            <p:ph type="sldImg"/>
          </p:nvPr>
        </p:nvSpPr>
        <p:spPr>
          <a:xfrm>
            <a:off x="685800" y="1143000"/>
            <a:ext cx="5486400" cy="3086100"/>
          </a:xfrm>
          <a:prstGeom prst="rect">
            <a:avLst/>
          </a:prstGeom>
        </p:spPr>
      </p:sp>
      <p:sp>
        <p:nvSpPr>
          <p:cNvPr id="521" name="PlaceHolder 2">
            <a:extLst>
              <a:ext uri="{FF2B5EF4-FFF2-40B4-BE49-F238E27FC236}">
                <a16:creationId xmlns:a16="http://schemas.microsoft.com/office/drawing/2014/main" id="{7EB9A16E-CD7E-A8DF-106B-1F12B65A215C}"/>
              </a:ext>
            </a:extLst>
          </p:cNvPr>
          <p:cNvSpPr>
            <a:spLocks noGrp="1"/>
          </p:cNvSpPr>
          <p:nvPr>
            <p:ph type="body"/>
          </p:nvPr>
        </p:nvSpPr>
        <p:spPr>
          <a:xfrm>
            <a:off x="685800" y="4400640"/>
            <a:ext cx="5485680" cy="3599640"/>
          </a:xfrm>
          <a:prstGeom prst="rect">
            <a:avLst/>
          </a:prstGeom>
        </p:spPr>
        <p:txBody>
          <a:bodyPr lIns="0" tIns="0" rIns="0" bIns="0">
            <a:noAutofit/>
          </a:bodyPr>
          <a:lstStyle/>
          <a:p>
            <a:pPr algn="just"/>
            <a:endParaRPr lang="en-US" sz="2000" dirty="0"/>
          </a:p>
        </p:txBody>
      </p:sp>
      <p:sp>
        <p:nvSpPr>
          <p:cNvPr id="522" name="CustomShape 3">
            <a:extLst>
              <a:ext uri="{FF2B5EF4-FFF2-40B4-BE49-F238E27FC236}">
                <a16:creationId xmlns:a16="http://schemas.microsoft.com/office/drawing/2014/main" id="{68E9B35A-AE47-E77F-F09D-936A8BBBF6FC}"/>
              </a:ext>
            </a:extLst>
          </p:cNvPr>
          <p:cNvSpPr/>
          <p:nvPr/>
        </p:nvSpPr>
        <p:spPr>
          <a:xfrm>
            <a:off x="3884760" y="8685360"/>
            <a:ext cx="2971080" cy="457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C4AD8394-06F2-4437-950A-2024FD027C4D}" type="slidenum">
              <a:rPr lang="es-ES_tradnl" sz="1200" b="0" strike="noStrike" spc="-1">
                <a:latin typeface="Calibri"/>
              </a:rPr>
              <a:t>15</a:t>
            </a:fld>
            <a:endParaRPr lang="en-US" sz="1200" b="0" strike="noStrike" spc="-1">
              <a:latin typeface="Calibri"/>
            </a:endParaRPr>
          </a:p>
        </p:txBody>
      </p:sp>
    </p:spTree>
    <p:extLst>
      <p:ext uri="{BB962C8B-B14F-4D97-AF65-F5344CB8AC3E}">
        <p14:creationId xmlns:p14="http://schemas.microsoft.com/office/powerpoint/2010/main" val="234168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69F44-C2EE-D6CA-DE7F-77979EC1E3A0}"/>
            </a:ext>
          </a:extLst>
        </p:cNvPr>
        <p:cNvGrpSpPr/>
        <p:nvPr/>
      </p:nvGrpSpPr>
      <p:grpSpPr>
        <a:xfrm>
          <a:off x="0" y="0"/>
          <a:ext cx="0" cy="0"/>
          <a:chOff x="0" y="0"/>
          <a:chExt cx="0" cy="0"/>
        </a:xfrm>
      </p:grpSpPr>
      <p:sp>
        <p:nvSpPr>
          <p:cNvPr id="520" name="PlaceHolder 1">
            <a:extLst>
              <a:ext uri="{FF2B5EF4-FFF2-40B4-BE49-F238E27FC236}">
                <a16:creationId xmlns:a16="http://schemas.microsoft.com/office/drawing/2014/main" id="{85763431-309A-7915-B961-3D6B9BD97243}"/>
              </a:ext>
            </a:extLst>
          </p:cNvPr>
          <p:cNvSpPr>
            <a:spLocks noGrp="1" noRot="1" noChangeAspect="1"/>
          </p:cNvSpPr>
          <p:nvPr>
            <p:ph type="sldImg"/>
          </p:nvPr>
        </p:nvSpPr>
        <p:spPr>
          <a:xfrm>
            <a:off x="685800" y="1143000"/>
            <a:ext cx="5486400" cy="3086100"/>
          </a:xfrm>
          <a:prstGeom prst="rect">
            <a:avLst/>
          </a:prstGeom>
        </p:spPr>
      </p:sp>
      <p:sp>
        <p:nvSpPr>
          <p:cNvPr id="521" name="PlaceHolder 2">
            <a:extLst>
              <a:ext uri="{FF2B5EF4-FFF2-40B4-BE49-F238E27FC236}">
                <a16:creationId xmlns:a16="http://schemas.microsoft.com/office/drawing/2014/main" id="{2B96EC9C-67AD-5318-3C8F-9DE5D4A231FA}"/>
              </a:ext>
            </a:extLst>
          </p:cNvPr>
          <p:cNvSpPr>
            <a:spLocks noGrp="1"/>
          </p:cNvSpPr>
          <p:nvPr>
            <p:ph type="body"/>
          </p:nvPr>
        </p:nvSpPr>
        <p:spPr>
          <a:xfrm>
            <a:off x="685800" y="4400640"/>
            <a:ext cx="5485680" cy="3599640"/>
          </a:xfrm>
          <a:prstGeom prst="rect">
            <a:avLst/>
          </a:prstGeom>
        </p:spPr>
        <p:txBody>
          <a:bodyPr lIns="0" tIns="0" rIns="0" bIns="0">
            <a:noAutofit/>
          </a:bodyPr>
          <a:lstStyle/>
          <a:p>
            <a:pPr algn="just"/>
            <a:endParaRPr lang="en-US" sz="2000" dirty="0"/>
          </a:p>
        </p:txBody>
      </p:sp>
      <p:sp>
        <p:nvSpPr>
          <p:cNvPr id="522" name="CustomShape 3">
            <a:extLst>
              <a:ext uri="{FF2B5EF4-FFF2-40B4-BE49-F238E27FC236}">
                <a16:creationId xmlns:a16="http://schemas.microsoft.com/office/drawing/2014/main" id="{462A7CE9-A172-63E0-82A7-93ECEEC09349}"/>
              </a:ext>
            </a:extLst>
          </p:cNvPr>
          <p:cNvSpPr/>
          <p:nvPr/>
        </p:nvSpPr>
        <p:spPr>
          <a:xfrm>
            <a:off x="3884760" y="8685360"/>
            <a:ext cx="2971080" cy="457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C4AD8394-06F2-4437-950A-2024FD027C4D}" type="slidenum">
              <a:rPr lang="es-ES_tradnl" sz="1200" b="0" strike="noStrike" spc="-1">
                <a:latin typeface="Calibri"/>
              </a:rPr>
              <a:t>16</a:t>
            </a:fld>
            <a:endParaRPr lang="en-US" sz="1200" b="0" strike="noStrike" spc="-1">
              <a:latin typeface="Calibri"/>
            </a:endParaRPr>
          </a:p>
        </p:txBody>
      </p:sp>
    </p:spTree>
    <p:extLst>
      <p:ext uri="{BB962C8B-B14F-4D97-AF65-F5344CB8AC3E}">
        <p14:creationId xmlns:p14="http://schemas.microsoft.com/office/powerpoint/2010/main" val="32721420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BB6DF17-24B9-C246-AFBD-A6645EA30728}" type="slidenum">
              <a:rPr lang="en-GB" smtClean="0"/>
              <a:t>17</a:t>
            </a:fld>
            <a:endParaRPr lang="en-GB"/>
          </a:p>
        </p:txBody>
      </p:sp>
    </p:spTree>
    <p:extLst>
      <p:ext uri="{BB962C8B-B14F-4D97-AF65-F5344CB8AC3E}">
        <p14:creationId xmlns:p14="http://schemas.microsoft.com/office/powerpoint/2010/main" val="9618422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327A93-E22C-4B73-A065-EE978B3C7250}"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894573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327A93-E22C-4B73-A065-EE978B3C7250}"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8482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327A93-E22C-4B73-A065-EE978B3C7250}"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65765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327A93-E22C-4B73-A065-EE978B3C7250}"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322513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327A93-E22C-4B73-A065-EE978B3C7250}"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434902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327A93-E22C-4B73-A065-EE978B3C7250}"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718898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327A93-E22C-4B73-A065-EE978B3C7250}"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99040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327A93-E22C-4B73-A065-EE978B3C7250}"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976595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D5134-CA82-28DF-E813-83D5E306C2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8D82B6-B415-AFB6-174A-05FE3D5ACF01}"/>
              </a:ext>
            </a:extLst>
          </p:cNvPr>
          <p:cNvSpPr>
            <a:spLocks noGrp="1" noRot="1" noChangeAspect="1"/>
          </p:cNvSpPr>
          <p:nvPr>
            <p:ph type="sldImg"/>
          </p:nvPr>
        </p:nvSpPr>
        <p:spPr>
          <a:xfrm>
            <a:off x="88900" y="746125"/>
            <a:ext cx="6629400" cy="3729038"/>
          </a:xfrm>
        </p:spPr>
      </p:sp>
      <p:sp>
        <p:nvSpPr>
          <p:cNvPr id="3" name="Notes Placeholder 2">
            <a:extLst>
              <a:ext uri="{FF2B5EF4-FFF2-40B4-BE49-F238E27FC236}">
                <a16:creationId xmlns:a16="http://schemas.microsoft.com/office/drawing/2014/main" id="{D6570773-AF37-5656-C31D-6AF2DED066E4}"/>
              </a:ext>
            </a:extLst>
          </p:cNvPr>
          <p:cNvSpPr>
            <a:spLocks noGrp="1"/>
          </p:cNvSpPr>
          <p:nvPr>
            <p:ph type="body" idx="1"/>
          </p:nvPr>
        </p:nvSpPr>
        <p:spPr/>
        <p:txBody>
          <a:bodyPr/>
          <a:lstStyle/>
          <a:p>
            <a:endParaRPr lang="en-GB" baseline="0" dirty="0"/>
          </a:p>
        </p:txBody>
      </p:sp>
      <p:sp>
        <p:nvSpPr>
          <p:cNvPr id="4" name="Slide Number Placeholder 3">
            <a:extLst>
              <a:ext uri="{FF2B5EF4-FFF2-40B4-BE49-F238E27FC236}">
                <a16:creationId xmlns:a16="http://schemas.microsoft.com/office/drawing/2014/main" id="{068476F7-D648-0CD6-2D90-BBFC086FB4C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327A93-E22C-4B73-A065-EE978B3C7250}"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752252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605302F-B75A-46D5-9490-49AFD4B57BE2}"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00865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605302F-B75A-46D5-9490-49AFD4B57BE2}"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533168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BB6DF17-24B9-C246-AFBD-A6645EA30728}" type="slidenum">
              <a:rPr lang="en-GB" smtClean="0"/>
              <a:t>30</a:t>
            </a:fld>
            <a:endParaRPr lang="en-GB"/>
          </a:p>
        </p:txBody>
      </p:sp>
    </p:spTree>
    <p:extLst>
      <p:ext uri="{BB962C8B-B14F-4D97-AF65-F5344CB8AC3E}">
        <p14:creationId xmlns:p14="http://schemas.microsoft.com/office/powerpoint/2010/main" val="6708027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605302F-B75A-46D5-9490-49AFD4B57BE2}"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819788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605302F-B75A-46D5-9490-49AFD4B57BE2}"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496686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FEC3B-5B3F-4D28-8525-80791FAB33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24ADC3-2883-D392-DCD1-D691933F00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9843BC-886E-B150-C25E-1D5E1E7DDCA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942E4DF-9957-42E4-0F8A-B26F02853BC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605302F-B75A-46D5-9490-49AFD4B57BE2}"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76476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BB6DF17-24B9-C246-AFBD-A6645EA30728}" type="slidenum">
              <a:rPr lang="en-GB" smtClean="0"/>
              <a:t>35</a:t>
            </a:fld>
            <a:endParaRPr lang="en-GB"/>
          </a:p>
        </p:txBody>
      </p:sp>
    </p:spTree>
    <p:extLst>
      <p:ext uri="{BB962C8B-B14F-4D97-AF65-F5344CB8AC3E}">
        <p14:creationId xmlns:p14="http://schemas.microsoft.com/office/powerpoint/2010/main" val="16544037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462354-8E3A-4216-9DBC-0E5E936618E1}"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72133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F5EF1-DB2F-B550-0E22-E9FF2B02D73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CC6F0CB8-F802-E707-E1E3-CE6342AAD1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6895E065-DE0C-43F0-8A6C-A1086E90A960}"/>
              </a:ext>
            </a:extLst>
          </p:cNvPr>
          <p:cNvSpPr>
            <a:spLocks noGrp="1"/>
          </p:cNvSpPr>
          <p:nvPr>
            <p:ph type="dt" sz="half" idx="10"/>
          </p:nvPr>
        </p:nvSpPr>
        <p:spPr/>
        <p:txBody>
          <a:bodyPr/>
          <a:lstStyle/>
          <a:p>
            <a:fld id="{231C7901-746D-E847-A4FB-2AC7E2637AD6}" type="datetimeFigureOut">
              <a:rPr lang="en-GB" smtClean="0"/>
              <a:t>09/06/2026</a:t>
            </a:fld>
            <a:endParaRPr lang="en-GB"/>
          </a:p>
        </p:txBody>
      </p:sp>
      <p:sp>
        <p:nvSpPr>
          <p:cNvPr id="5" name="Footer Placeholder 4">
            <a:extLst>
              <a:ext uri="{FF2B5EF4-FFF2-40B4-BE49-F238E27FC236}">
                <a16:creationId xmlns:a16="http://schemas.microsoft.com/office/drawing/2014/main" id="{494EAA22-8581-82EF-7783-E19FD868ABF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6C9999A-3083-47D9-8238-52D6FEC48B46}"/>
              </a:ext>
            </a:extLst>
          </p:cNvPr>
          <p:cNvSpPr>
            <a:spLocks noGrp="1"/>
          </p:cNvSpPr>
          <p:nvPr>
            <p:ph type="sldNum" sz="quarter" idx="12"/>
          </p:nvPr>
        </p:nvSpPr>
        <p:spPr/>
        <p:txBody>
          <a:bodyPr/>
          <a:lstStyle/>
          <a:p>
            <a:fld id="{D69C9FE5-60B3-8E46-BD00-AB2C941A6A6D}" type="slidenum">
              <a:rPr lang="en-GB" smtClean="0"/>
              <a:t>‹#›</a:t>
            </a:fld>
            <a:endParaRPr lang="en-GB"/>
          </a:p>
        </p:txBody>
      </p:sp>
    </p:spTree>
    <p:extLst>
      <p:ext uri="{BB962C8B-B14F-4D97-AF65-F5344CB8AC3E}">
        <p14:creationId xmlns:p14="http://schemas.microsoft.com/office/powerpoint/2010/main" val="56313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9A7C2-DC8D-8216-5E01-1F88391D8BCF}"/>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485F2AE5-0F68-2FC9-21BE-7EF5B96538B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EA85368-DF28-CA56-A1C8-673C16DAE641}"/>
              </a:ext>
            </a:extLst>
          </p:cNvPr>
          <p:cNvSpPr>
            <a:spLocks noGrp="1"/>
          </p:cNvSpPr>
          <p:nvPr>
            <p:ph type="dt" sz="half" idx="10"/>
          </p:nvPr>
        </p:nvSpPr>
        <p:spPr/>
        <p:txBody>
          <a:bodyPr/>
          <a:lstStyle/>
          <a:p>
            <a:fld id="{231C7901-746D-E847-A4FB-2AC7E2637AD6}" type="datetimeFigureOut">
              <a:rPr lang="en-GB" smtClean="0"/>
              <a:t>09/06/2026</a:t>
            </a:fld>
            <a:endParaRPr lang="en-GB"/>
          </a:p>
        </p:txBody>
      </p:sp>
      <p:sp>
        <p:nvSpPr>
          <p:cNvPr id="5" name="Footer Placeholder 4">
            <a:extLst>
              <a:ext uri="{FF2B5EF4-FFF2-40B4-BE49-F238E27FC236}">
                <a16:creationId xmlns:a16="http://schemas.microsoft.com/office/drawing/2014/main" id="{DB780FCB-7077-57AF-FE85-713B5E92C44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3D0D42A-C555-5544-E928-55A79DE2929D}"/>
              </a:ext>
            </a:extLst>
          </p:cNvPr>
          <p:cNvSpPr>
            <a:spLocks noGrp="1"/>
          </p:cNvSpPr>
          <p:nvPr>
            <p:ph type="sldNum" sz="quarter" idx="12"/>
          </p:nvPr>
        </p:nvSpPr>
        <p:spPr/>
        <p:txBody>
          <a:bodyPr/>
          <a:lstStyle/>
          <a:p>
            <a:fld id="{D69C9FE5-60B3-8E46-BD00-AB2C941A6A6D}" type="slidenum">
              <a:rPr lang="en-GB" smtClean="0"/>
              <a:t>‹#›</a:t>
            </a:fld>
            <a:endParaRPr lang="en-GB"/>
          </a:p>
        </p:txBody>
      </p:sp>
    </p:spTree>
    <p:extLst>
      <p:ext uri="{BB962C8B-B14F-4D97-AF65-F5344CB8AC3E}">
        <p14:creationId xmlns:p14="http://schemas.microsoft.com/office/powerpoint/2010/main" val="663747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4B71F-687F-8BCD-2B08-B10699AE84F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D9B6A825-F8AE-1A15-A97E-48870640A4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31FCD5C-FFF5-E5ED-745B-0DECE872D22A}"/>
              </a:ext>
            </a:extLst>
          </p:cNvPr>
          <p:cNvSpPr>
            <a:spLocks noGrp="1"/>
          </p:cNvSpPr>
          <p:nvPr>
            <p:ph type="dt" sz="half" idx="10"/>
          </p:nvPr>
        </p:nvSpPr>
        <p:spPr/>
        <p:txBody>
          <a:bodyPr/>
          <a:lstStyle/>
          <a:p>
            <a:fld id="{231C7901-746D-E847-A4FB-2AC7E2637AD6}" type="datetimeFigureOut">
              <a:rPr lang="en-GB" smtClean="0"/>
              <a:t>09/06/2026</a:t>
            </a:fld>
            <a:endParaRPr lang="en-GB"/>
          </a:p>
        </p:txBody>
      </p:sp>
      <p:sp>
        <p:nvSpPr>
          <p:cNvPr id="5" name="Footer Placeholder 4">
            <a:extLst>
              <a:ext uri="{FF2B5EF4-FFF2-40B4-BE49-F238E27FC236}">
                <a16:creationId xmlns:a16="http://schemas.microsoft.com/office/drawing/2014/main" id="{2BBF4B34-07A2-4831-37A5-5544F81AC60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3BEBE38-BC8E-7BB5-672B-8DE509EB649F}"/>
              </a:ext>
            </a:extLst>
          </p:cNvPr>
          <p:cNvSpPr>
            <a:spLocks noGrp="1"/>
          </p:cNvSpPr>
          <p:nvPr>
            <p:ph type="sldNum" sz="quarter" idx="12"/>
          </p:nvPr>
        </p:nvSpPr>
        <p:spPr/>
        <p:txBody>
          <a:bodyPr/>
          <a:lstStyle/>
          <a:p>
            <a:fld id="{D69C9FE5-60B3-8E46-BD00-AB2C941A6A6D}" type="slidenum">
              <a:rPr lang="en-GB" smtClean="0"/>
              <a:t>‹#›</a:t>
            </a:fld>
            <a:endParaRPr lang="en-GB"/>
          </a:p>
        </p:txBody>
      </p:sp>
    </p:spTree>
    <p:extLst>
      <p:ext uri="{BB962C8B-B14F-4D97-AF65-F5344CB8AC3E}">
        <p14:creationId xmlns:p14="http://schemas.microsoft.com/office/powerpoint/2010/main" val="7486333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10BB5-FDA4-B73F-E678-C67371126EF9}"/>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FCEDBC7F-4C31-0019-6F22-2BD23544F0F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19B8F770-66D0-A3AE-DB91-2CD280D4B52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B708B9BB-0941-5411-FC96-F4ED298193E1}"/>
              </a:ext>
            </a:extLst>
          </p:cNvPr>
          <p:cNvSpPr>
            <a:spLocks noGrp="1"/>
          </p:cNvSpPr>
          <p:nvPr>
            <p:ph type="dt" sz="half" idx="10"/>
          </p:nvPr>
        </p:nvSpPr>
        <p:spPr/>
        <p:txBody>
          <a:bodyPr/>
          <a:lstStyle/>
          <a:p>
            <a:fld id="{231C7901-746D-E847-A4FB-2AC7E2637AD6}" type="datetimeFigureOut">
              <a:rPr lang="en-GB" smtClean="0"/>
              <a:t>09/06/2026</a:t>
            </a:fld>
            <a:endParaRPr lang="en-GB"/>
          </a:p>
        </p:txBody>
      </p:sp>
      <p:sp>
        <p:nvSpPr>
          <p:cNvPr id="6" name="Footer Placeholder 5">
            <a:extLst>
              <a:ext uri="{FF2B5EF4-FFF2-40B4-BE49-F238E27FC236}">
                <a16:creationId xmlns:a16="http://schemas.microsoft.com/office/drawing/2014/main" id="{2A78980E-AB4F-0775-14E7-809CD6F0BFE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A6559CA-F414-465A-E60E-6C2879F1AF0A}"/>
              </a:ext>
            </a:extLst>
          </p:cNvPr>
          <p:cNvSpPr>
            <a:spLocks noGrp="1"/>
          </p:cNvSpPr>
          <p:nvPr>
            <p:ph type="sldNum" sz="quarter" idx="12"/>
          </p:nvPr>
        </p:nvSpPr>
        <p:spPr/>
        <p:txBody>
          <a:bodyPr/>
          <a:lstStyle/>
          <a:p>
            <a:fld id="{D69C9FE5-60B3-8E46-BD00-AB2C941A6A6D}" type="slidenum">
              <a:rPr lang="en-GB" smtClean="0"/>
              <a:t>‹#›</a:t>
            </a:fld>
            <a:endParaRPr lang="en-GB"/>
          </a:p>
        </p:txBody>
      </p:sp>
    </p:spTree>
    <p:extLst>
      <p:ext uri="{BB962C8B-B14F-4D97-AF65-F5344CB8AC3E}">
        <p14:creationId xmlns:p14="http://schemas.microsoft.com/office/powerpoint/2010/main" val="2642992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4A699-7700-9056-E7FD-3D8D4414A08B}"/>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68088FB3-C14E-86F0-5205-9CA38CC770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9D515F8-4A17-3D36-88E4-554ED2E8052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0EE3B6A7-ED80-BDE4-38FF-A6C9313D0B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E0EADE1-282E-F27F-9368-062F62ED976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6E3821CA-6258-5467-D16B-CA2CD0876427}"/>
              </a:ext>
            </a:extLst>
          </p:cNvPr>
          <p:cNvSpPr>
            <a:spLocks noGrp="1"/>
          </p:cNvSpPr>
          <p:nvPr>
            <p:ph type="dt" sz="half" idx="10"/>
          </p:nvPr>
        </p:nvSpPr>
        <p:spPr/>
        <p:txBody>
          <a:bodyPr/>
          <a:lstStyle/>
          <a:p>
            <a:fld id="{231C7901-746D-E847-A4FB-2AC7E2637AD6}" type="datetimeFigureOut">
              <a:rPr lang="en-GB" smtClean="0"/>
              <a:t>09/06/2026</a:t>
            </a:fld>
            <a:endParaRPr lang="en-GB"/>
          </a:p>
        </p:txBody>
      </p:sp>
      <p:sp>
        <p:nvSpPr>
          <p:cNvPr id="8" name="Footer Placeholder 7">
            <a:extLst>
              <a:ext uri="{FF2B5EF4-FFF2-40B4-BE49-F238E27FC236}">
                <a16:creationId xmlns:a16="http://schemas.microsoft.com/office/drawing/2014/main" id="{16842E57-32C9-1727-807E-C715E9E3AA9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D67673E-2AD5-139A-8099-0260BC0ED879}"/>
              </a:ext>
            </a:extLst>
          </p:cNvPr>
          <p:cNvSpPr>
            <a:spLocks noGrp="1"/>
          </p:cNvSpPr>
          <p:nvPr>
            <p:ph type="sldNum" sz="quarter" idx="12"/>
          </p:nvPr>
        </p:nvSpPr>
        <p:spPr/>
        <p:txBody>
          <a:bodyPr/>
          <a:lstStyle/>
          <a:p>
            <a:fld id="{D69C9FE5-60B3-8E46-BD00-AB2C941A6A6D}" type="slidenum">
              <a:rPr lang="en-GB" smtClean="0"/>
              <a:t>‹#›</a:t>
            </a:fld>
            <a:endParaRPr lang="en-GB"/>
          </a:p>
        </p:txBody>
      </p:sp>
    </p:spTree>
    <p:extLst>
      <p:ext uri="{BB962C8B-B14F-4D97-AF65-F5344CB8AC3E}">
        <p14:creationId xmlns:p14="http://schemas.microsoft.com/office/powerpoint/2010/main" val="2399944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86D81-0CA5-24B8-C175-A47CDA728CCC}"/>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4B97FF9A-57A0-C337-9096-3385E9C825C2}"/>
              </a:ext>
            </a:extLst>
          </p:cNvPr>
          <p:cNvSpPr>
            <a:spLocks noGrp="1"/>
          </p:cNvSpPr>
          <p:nvPr>
            <p:ph type="dt" sz="half" idx="10"/>
          </p:nvPr>
        </p:nvSpPr>
        <p:spPr/>
        <p:txBody>
          <a:bodyPr/>
          <a:lstStyle/>
          <a:p>
            <a:fld id="{231C7901-746D-E847-A4FB-2AC7E2637AD6}" type="datetimeFigureOut">
              <a:rPr lang="en-GB" smtClean="0"/>
              <a:t>09/06/2026</a:t>
            </a:fld>
            <a:endParaRPr lang="en-GB"/>
          </a:p>
        </p:txBody>
      </p:sp>
      <p:sp>
        <p:nvSpPr>
          <p:cNvPr id="4" name="Footer Placeholder 3">
            <a:extLst>
              <a:ext uri="{FF2B5EF4-FFF2-40B4-BE49-F238E27FC236}">
                <a16:creationId xmlns:a16="http://schemas.microsoft.com/office/drawing/2014/main" id="{E38B7B73-7F33-B0E3-7858-3A220D44351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DDD5C68-E9B6-BD2E-76F1-8725DB898875}"/>
              </a:ext>
            </a:extLst>
          </p:cNvPr>
          <p:cNvSpPr>
            <a:spLocks noGrp="1"/>
          </p:cNvSpPr>
          <p:nvPr>
            <p:ph type="sldNum" sz="quarter" idx="12"/>
          </p:nvPr>
        </p:nvSpPr>
        <p:spPr/>
        <p:txBody>
          <a:bodyPr/>
          <a:lstStyle/>
          <a:p>
            <a:fld id="{D69C9FE5-60B3-8E46-BD00-AB2C941A6A6D}" type="slidenum">
              <a:rPr lang="en-GB" smtClean="0"/>
              <a:t>‹#›</a:t>
            </a:fld>
            <a:endParaRPr lang="en-GB"/>
          </a:p>
        </p:txBody>
      </p:sp>
    </p:spTree>
    <p:extLst>
      <p:ext uri="{BB962C8B-B14F-4D97-AF65-F5344CB8AC3E}">
        <p14:creationId xmlns:p14="http://schemas.microsoft.com/office/powerpoint/2010/main" val="2295663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7442FD-1237-7CC4-0C23-7330BA14AA48}"/>
              </a:ext>
            </a:extLst>
          </p:cNvPr>
          <p:cNvSpPr>
            <a:spLocks noGrp="1"/>
          </p:cNvSpPr>
          <p:nvPr>
            <p:ph type="dt" sz="half" idx="10"/>
          </p:nvPr>
        </p:nvSpPr>
        <p:spPr/>
        <p:txBody>
          <a:bodyPr/>
          <a:lstStyle/>
          <a:p>
            <a:fld id="{231C7901-746D-E847-A4FB-2AC7E2637AD6}" type="datetimeFigureOut">
              <a:rPr lang="en-GB" smtClean="0"/>
              <a:t>09/06/2026</a:t>
            </a:fld>
            <a:endParaRPr lang="en-GB"/>
          </a:p>
        </p:txBody>
      </p:sp>
      <p:sp>
        <p:nvSpPr>
          <p:cNvPr id="3" name="Footer Placeholder 2">
            <a:extLst>
              <a:ext uri="{FF2B5EF4-FFF2-40B4-BE49-F238E27FC236}">
                <a16:creationId xmlns:a16="http://schemas.microsoft.com/office/drawing/2014/main" id="{A9A74FD6-6DE0-72EB-61C2-357760C20B5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F374C31-BBEE-3E9C-4296-57A1D8EAFFF1}"/>
              </a:ext>
            </a:extLst>
          </p:cNvPr>
          <p:cNvSpPr>
            <a:spLocks noGrp="1"/>
          </p:cNvSpPr>
          <p:nvPr>
            <p:ph type="sldNum" sz="quarter" idx="12"/>
          </p:nvPr>
        </p:nvSpPr>
        <p:spPr/>
        <p:txBody>
          <a:bodyPr/>
          <a:lstStyle/>
          <a:p>
            <a:fld id="{D69C9FE5-60B3-8E46-BD00-AB2C941A6A6D}" type="slidenum">
              <a:rPr lang="en-GB" smtClean="0"/>
              <a:t>‹#›</a:t>
            </a:fld>
            <a:endParaRPr lang="en-GB"/>
          </a:p>
        </p:txBody>
      </p:sp>
    </p:spTree>
    <p:extLst>
      <p:ext uri="{BB962C8B-B14F-4D97-AF65-F5344CB8AC3E}">
        <p14:creationId xmlns:p14="http://schemas.microsoft.com/office/powerpoint/2010/main" val="337780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148F1-48BC-DC45-9E02-E4E8740DCDD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1706719F-D21F-898B-8856-BE0D3B068B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97D00702-F311-F127-02C9-1D8C582782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4C3A065-4876-02E2-8F37-EA59EE84B5A7}"/>
              </a:ext>
            </a:extLst>
          </p:cNvPr>
          <p:cNvSpPr>
            <a:spLocks noGrp="1"/>
          </p:cNvSpPr>
          <p:nvPr>
            <p:ph type="dt" sz="half" idx="10"/>
          </p:nvPr>
        </p:nvSpPr>
        <p:spPr/>
        <p:txBody>
          <a:bodyPr/>
          <a:lstStyle/>
          <a:p>
            <a:fld id="{231C7901-746D-E847-A4FB-2AC7E2637AD6}" type="datetimeFigureOut">
              <a:rPr lang="en-GB" smtClean="0"/>
              <a:t>09/06/2026</a:t>
            </a:fld>
            <a:endParaRPr lang="en-GB"/>
          </a:p>
        </p:txBody>
      </p:sp>
      <p:sp>
        <p:nvSpPr>
          <p:cNvPr id="6" name="Footer Placeholder 5">
            <a:extLst>
              <a:ext uri="{FF2B5EF4-FFF2-40B4-BE49-F238E27FC236}">
                <a16:creationId xmlns:a16="http://schemas.microsoft.com/office/drawing/2014/main" id="{4F49F898-71D6-4115-F550-662A1246985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633FACD-6545-80D1-8718-1B38C610B284}"/>
              </a:ext>
            </a:extLst>
          </p:cNvPr>
          <p:cNvSpPr>
            <a:spLocks noGrp="1"/>
          </p:cNvSpPr>
          <p:nvPr>
            <p:ph type="sldNum" sz="quarter" idx="12"/>
          </p:nvPr>
        </p:nvSpPr>
        <p:spPr/>
        <p:txBody>
          <a:bodyPr/>
          <a:lstStyle/>
          <a:p>
            <a:fld id="{D69C9FE5-60B3-8E46-BD00-AB2C941A6A6D}" type="slidenum">
              <a:rPr lang="en-GB" smtClean="0"/>
              <a:t>‹#›</a:t>
            </a:fld>
            <a:endParaRPr lang="en-GB"/>
          </a:p>
        </p:txBody>
      </p:sp>
    </p:spTree>
    <p:extLst>
      <p:ext uri="{BB962C8B-B14F-4D97-AF65-F5344CB8AC3E}">
        <p14:creationId xmlns:p14="http://schemas.microsoft.com/office/powerpoint/2010/main" val="17328898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0352E-F06B-B21A-F20E-04BD14D9EBB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D7F512C0-D19D-B830-302D-472DFD35FA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AE2110E-02C9-C3CB-B14E-EAA15D3B37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ADB3FD7-AC91-5CA3-693F-6C357D7CF477}"/>
              </a:ext>
            </a:extLst>
          </p:cNvPr>
          <p:cNvSpPr>
            <a:spLocks noGrp="1"/>
          </p:cNvSpPr>
          <p:nvPr>
            <p:ph type="dt" sz="half" idx="10"/>
          </p:nvPr>
        </p:nvSpPr>
        <p:spPr/>
        <p:txBody>
          <a:bodyPr/>
          <a:lstStyle/>
          <a:p>
            <a:fld id="{231C7901-746D-E847-A4FB-2AC7E2637AD6}" type="datetimeFigureOut">
              <a:rPr lang="en-GB" smtClean="0"/>
              <a:t>09/06/2026</a:t>
            </a:fld>
            <a:endParaRPr lang="en-GB"/>
          </a:p>
        </p:txBody>
      </p:sp>
      <p:sp>
        <p:nvSpPr>
          <p:cNvPr id="6" name="Footer Placeholder 5">
            <a:extLst>
              <a:ext uri="{FF2B5EF4-FFF2-40B4-BE49-F238E27FC236}">
                <a16:creationId xmlns:a16="http://schemas.microsoft.com/office/drawing/2014/main" id="{11623C49-126F-D1B8-2457-51998B850B8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F45DF3B-08E5-E9CC-B33F-23712D249BD8}"/>
              </a:ext>
            </a:extLst>
          </p:cNvPr>
          <p:cNvSpPr>
            <a:spLocks noGrp="1"/>
          </p:cNvSpPr>
          <p:nvPr>
            <p:ph type="sldNum" sz="quarter" idx="12"/>
          </p:nvPr>
        </p:nvSpPr>
        <p:spPr/>
        <p:txBody>
          <a:bodyPr/>
          <a:lstStyle/>
          <a:p>
            <a:fld id="{D69C9FE5-60B3-8E46-BD00-AB2C941A6A6D}" type="slidenum">
              <a:rPr lang="en-GB" smtClean="0"/>
              <a:t>‹#›</a:t>
            </a:fld>
            <a:endParaRPr lang="en-GB"/>
          </a:p>
        </p:txBody>
      </p:sp>
    </p:spTree>
    <p:extLst>
      <p:ext uri="{BB962C8B-B14F-4D97-AF65-F5344CB8AC3E}">
        <p14:creationId xmlns:p14="http://schemas.microsoft.com/office/powerpoint/2010/main" val="749685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845E1-5E8F-472C-F532-2D5CD17F6BE3}"/>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BE76D231-75AD-71A9-2934-602C7377277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B9E76CD-C9B4-3D08-1F56-D96F08D0B514}"/>
              </a:ext>
            </a:extLst>
          </p:cNvPr>
          <p:cNvSpPr>
            <a:spLocks noGrp="1"/>
          </p:cNvSpPr>
          <p:nvPr>
            <p:ph type="dt" sz="half" idx="10"/>
          </p:nvPr>
        </p:nvSpPr>
        <p:spPr/>
        <p:txBody>
          <a:bodyPr/>
          <a:lstStyle/>
          <a:p>
            <a:fld id="{231C7901-746D-E847-A4FB-2AC7E2637AD6}" type="datetimeFigureOut">
              <a:rPr lang="en-GB" smtClean="0"/>
              <a:t>09/06/2026</a:t>
            </a:fld>
            <a:endParaRPr lang="en-GB"/>
          </a:p>
        </p:txBody>
      </p:sp>
      <p:sp>
        <p:nvSpPr>
          <p:cNvPr id="5" name="Footer Placeholder 4">
            <a:extLst>
              <a:ext uri="{FF2B5EF4-FFF2-40B4-BE49-F238E27FC236}">
                <a16:creationId xmlns:a16="http://schemas.microsoft.com/office/drawing/2014/main" id="{C5F64D43-9F65-F392-C8F9-FF1F550443F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0974F65-26E5-47E7-783D-5022E036E6FD}"/>
              </a:ext>
            </a:extLst>
          </p:cNvPr>
          <p:cNvSpPr>
            <a:spLocks noGrp="1"/>
          </p:cNvSpPr>
          <p:nvPr>
            <p:ph type="sldNum" sz="quarter" idx="12"/>
          </p:nvPr>
        </p:nvSpPr>
        <p:spPr/>
        <p:txBody>
          <a:bodyPr/>
          <a:lstStyle/>
          <a:p>
            <a:fld id="{D69C9FE5-60B3-8E46-BD00-AB2C941A6A6D}" type="slidenum">
              <a:rPr lang="en-GB" smtClean="0"/>
              <a:t>‹#›</a:t>
            </a:fld>
            <a:endParaRPr lang="en-GB"/>
          </a:p>
        </p:txBody>
      </p:sp>
    </p:spTree>
    <p:extLst>
      <p:ext uri="{BB962C8B-B14F-4D97-AF65-F5344CB8AC3E}">
        <p14:creationId xmlns:p14="http://schemas.microsoft.com/office/powerpoint/2010/main" val="1960333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D7E99DE-57AA-76D8-F4AA-05FFFB06DA15}"/>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51B4D27E-F0DB-7897-8DAE-F718EE21FE4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D31AA70-E396-9871-2515-743A2D612C25}"/>
              </a:ext>
            </a:extLst>
          </p:cNvPr>
          <p:cNvSpPr>
            <a:spLocks noGrp="1"/>
          </p:cNvSpPr>
          <p:nvPr>
            <p:ph type="dt" sz="half" idx="10"/>
          </p:nvPr>
        </p:nvSpPr>
        <p:spPr/>
        <p:txBody>
          <a:bodyPr/>
          <a:lstStyle/>
          <a:p>
            <a:fld id="{231C7901-746D-E847-A4FB-2AC7E2637AD6}" type="datetimeFigureOut">
              <a:rPr lang="en-GB" smtClean="0"/>
              <a:t>09/06/2026</a:t>
            </a:fld>
            <a:endParaRPr lang="en-GB"/>
          </a:p>
        </p:txBody>
      </p:sp>
      <p:sp>
        <p:nvSpPr>
          <p:cNvPr id="5" name="Footer Placeholder 4">
            <a:extLst>
              <a:ext uri="{FF2B5EF4-FFF2-40B4-BE49-F238E27FC236}">
                <a16:creationId xmlns:a16="http://schemas.microsoft.com/office/drawing/2014/main" id="{79D9EEA6-2C9F-A0A4-1671-BC1CF6F8D0F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6C6A8FF-B321-6F05-7C51-F4869E75CF3B}"/>
              </a:ext>
            </a:extLst>
          </p:cNvPr>
          <p:cNvSpPr>
            <a:spLocks noGrp="1"/>
          </p:cNvSpPr>
          <p:nvPr>
            <p:ph type="sldNum" sz="quarter" idx="12"/>
          </p:nvPr>
        </p:nvSpPr>
        <p:spPr/>
        <p:txBody>
          <a:bodyPr/>
          <a:lstStyle/>
          <a:p>
            <a:fld id="{D69C9FE5-60B3-8E46-BD00-AB2C941A6A6D}" type="slidenum">
              <a:rPr lang="en-GB" smtClean="0"/>
              <a:t>‹#›</a:t>
            </a:fld>
            <a:endParaRPr lang="en-GB"/>
          </a:p>
        </p:txBody>
      </p:sp>
    </p:spTree>
    <p:extLst>
      <p:ext uri="{BB962C8B-B14F-4D97-AF65-F5344CB8AC3E}">
        <p14:creationId xmlns:p14="http://schemas.microsoft.com/office/powerpoint/2010/main" val="33319926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BF3A0-E321-6D51-BD9A-3F62634FA6B1}"/>
              </a:ext>
            </a:extLst>
          </p:cNvPr>
          <p:cNvSpPr>
            <a:spLocks noGrp="1"/>
          </p:cNvSpPr>
          <p:nvPr>
            <p:ph type="title"/>
          </p:nvPr>
        </p:nvSpPr>
        <p:spPr>
          <a:xfrm>
            <a:off x="715992" y="136525"/>
            <a:ext cx="10853708" cy="6099175"/>
          </a:xfrm>
        </p:spPr>
        <p:txBody>
          <a:bodyPr/>
          <a:lstStyle/>
          <a:p>
            <a:r>
              <a:rPr lang="en-GB" noProof="0" dirty="0"/>
              <a:t>Click to edit Master title style</a:t>
            </a:r>
          </a:p>
        </p:txBody>
      </p:sp>
      <p:sp>
        <p:nvSpPr>
          <p:cNvPr id="3" name="Slide Number Placeholder 2">
            <a:extLst>
              <a:ext uri="{FF2B5EF4-FFF2-40B4-BE49-F238E27FC236}">
                <a16:creationId xmlns:a16="http://schemas.microsoft.com/office/drawing/2014/main" id="{DCC2DC0C-EE15-1EC5-4B11-3BF0B83E7055}"/>
              </a:ext>
            </a:extLst>
          </p:cNvPr>
          <p:cNvSpPr>
            <a:spLocks noGrp="1"/>
          </p:cNvSpPr>
          <p:nvPr>
            <p:ph type="sldNum" sz="quarter" idx="10"/>
          </p:nvPr>
        </p:nvSpPr>
        <p:spPr/>
        <p:txBody>
          <a:bodyPr/>
          <a:lstStyle/>
          <a:p>
            <a:fld id="{01F60780-9D08-400B-AB0B-A1DD33AEF2DB}" type="slidenum">
              <a:rPr lang="en-GB" smtClean="0"/>
              <a:t>‹#›</a:t>
            </a:fld>
            <a:endParaRPr lang="en-GB"/>
          </a:p>
        </p:txBody>
      </p:sp>
    </p:spTree>
    <p:extLst>
      <p:ext uri="{BB962C8B-B14F-4D97-AF65-F5344CB8AC3E}">
        <p14:creationId xmlns:p14="http://schemas.microsoft.com/office/powerpoint/2010/main" val="10060183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Click to edit Master title style</a:t>
            </a:r>
          </a:p>
        </p:txBody>
      </p:sp>
      <p:sp>
        <p:nvSpPr>
          <p:cNvPr id="3" name="Content Placeholder 2"/>
          <p:cNvSpPr>
            <a:spLocks noGrp="1"/>
          </p:cNvSpPr>
          <p:nvPr>
            <p:ph idx="1"/>
          </p:nvPr>
        </p:nvSpPr>
        <p:spPr>
          <a:xfrm>
            <a:off x="715992" y="1216324"/>
            <a:ext cx="10791646" cy="5641675"/>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5910415-8276-4E7F-AECA-B589B021D3EC}" type="datetime1">
              <a:rPr kumimoji="0" lang="en-GB" sz="18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09/06/2026</a:t>
            </a:fld>
            <a:endParaRPr kumimoji="0" lang="en-GB" sz="18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20803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Click to edit Master title style</a:t>
            </a:r>
          </a:p>
        </p:txBody>
      </p:sp>
      <p:sp>
        <p:nvSpPr>
          <p:cNvPr id="3" name="Content Placeholder 2"/>
          <p:cNvSpPr>
            <a:spLocks noGrp="1"/>
          </p:cNvSpPr>
          <p:nvPr>
            <p:ph idx="1"/>
          </p:nvPr>
        </p:nvSpPr>
        <p:spPr>
          <a:xfrm>
            <a:off x="715992" y="1216324"/>
            <a:ext cx="10791646" cy="5641675"/>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 name="Date Placeholder 3"/>
          <p:cNvSpPr>
            <a:spLocks noGrp="1"/>
          </p:cNvSpPr>
          <p:nvPr>
            <p:ph type="dt" sz="half" idx="10"/>
          </p:nvPr>
        </p:nvSpPr>
        <p:spPr/>
        <p:txBody>
          <a:bodyPr/>
          <a:lstStyle/>
          <a:p>
            <a:fld id="{A5910415-8276-4E7F-AECA-B589B021D3EC}" type="datetime1">
              <a:rPr lang="en-GB" noProof="0" smtClean="0">
                <a:solidFill>
                  <a:prstClr val="black">
                    <a:tint val="75000"/>
                  </a:prstClr>
                </a:solidFill>
              </a:rPr>
              <a:pPr/>
              <a:t>09/06/2026</a:t>
            </a:fld>
            <a:endParaRPr lang="en-GB" noProof="0"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GB" noProof="0"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8038A88-BFD1-4DDE-9255-0657B8D83B52}" type="slidenum">
              <a:rPr lang="en-GB" noProof="0" smtClean="0">
                <a:solidFill>
                  <a:prstClr val="black">
                    <a:tint val="75000"/>
                  </a:prstClr>
                </a:solidFill>
              </a:rPr>
              <a:pPr/>
              <a:t>‹#›</a:t>
            </a:fld>
            <a:endParaRPr lang="en-GB" noProof="0" dirty="0">
              <a:solidFill>
                <a:prstClr val="black">
                  <a:tint val="75000"/>
                </a:prstClr>
              </a:solidFill>
            </a:endParaRPr>
          </a:p>
        </p:txBody>
      </p:sp>
    </p:spTree>
    <p:extLst>
      <p:ext uri="{BB962C8B-B14F-4D97-AF65-F5344CB8AC3E}">
        <p14:creationId xmlns:p14="http://schemas.microsoft.com/office/powerpoint/2010/main" val="2795016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BF3A0-E321-6D51-BD9A-3F62634FA6B1}"/>
              </a:ext>
            </a:extLst>
          </p:cNvPr>
          <p:cNvSpPr>
            <a:spLocks noGrp="1"/>
          </p:cNvSpPr>
          <p:nvPr>
            <p:ph type="title"/>
          </p:nvPr>
        </p:nvSpPr>
        <p:spPr>
          <a:xfrm>
            <a:off x="715992" y="136525"/>
            <a:ext cx="10853708" cy="6099175"/>
          </a:xfrm>
        </p:spPr>
        <p:txBody>
          <a:bodyPr/>
          <a:lstStyle/>
          <a:p>
            <a:r>
              <a:rPr lang="en-GB" noProof="0"/>
              <a:t>Click to edit Master title style</a:t>
            </a:r>
          </a:p>
        </p:txBody>
      </p:sp>
      <p:sp>
        <p:nvSpPr>
          <p:cNvPr id="3" name="Slide Number Placeholder 2">
            <a:extLst>
              <a:ext uri="{FF2B5EF4-FFF2-40B4-BE49-F238E27FC236}">
                <a16:creationId xmlns:a16="http://schemas.microsoft.com/office/drawing/2014/main" id="{DCC2DC0C-EE15-1EC5-4B11-3BF0B83E7055}"/>
              </a:ext>
            </a:extLst>
          </p:cNvPr>
          <p:cNvSpPr>
            <a:spLocks noGrp="1"/>
          </p:cNvSpPr>
          <p:nvPr>
            <p:ph type="sldNum" sz="quarter" idx="10"/>
          </p:nvPr>
        </p:nvSpPr>
        <p:spPr/>
        <p:txBody>
          <a:bodyPr/>
          <a:lstStyle/>
          <a:p>
            <a:fld id="{01F60780-9D08-400B-AB0B-A1DD33AEF2DB}" type="slidenum">
              <a:rPr lang="en-GB" smtClean="0"/>
              <a:t>‹#›</a:t>
            </a:fld>
            <a:endParaRPr lang="en-GB"/>
          </a:p>
        </p:txBody>
      </p:sp>
    </p:spTree>
    <p:extLst>
      <p:ext uri="{BB962C8B-B14F-4D97-AF65-F5344CB8AC3E}">
        <p14:creationId xmlns:p14="http://schemas.microsoft.com/office/powerpoint/2010/main" val="3269811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5269C4-1359-204D-A1B3-DCA47AA7C8A0}"/>
              </a:ext>
            </a:extLst>
          </p:cNvPr>
          <p:cNvSpPr>
            <a:spLocks noGrp="1"/>
          </p:cNvSpPr>
          <p:nvPr>
            <p:ph type="dt" sz="half" idx="10"/>
          </p:nvPr>
        </p:nvSpPr>
        <p:spPr/>
        <p:txBody>
          <a:bodyPr/>
          <a:lstStyle/>
          <a:p>
            <a:fld id="{B2C86080-8904-4BDD-A6D0-0A6F4DD66E1A}" type="datetimeFigureOut">
              <a:rPr lang="en-GB" smtClean="0"/>
              <a:t>09/06/2026</a:t>
            </a:fld>
            <a:endParaRPr lang="en-GB"/>
          </a:p>
        </p:txBody>
      </p:sp>
      <p:sp>
        <p:nvSpPr>
          <p:cNvPr id="3" name="Footer Placeholder 2">
            <a:extLst>
              <a:ext uri="{FF2B5EF4-FFF2-40B4-BE49-F238E27FC236}">
                <a16:creationId xmlns:a16="http://schemas.microsoft.com/office/drawing/2014/main" id="{A24E4F5D-DC93-F6AB-7D30-01F90E1FC81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ABA667A-C37A-172B-97FC-9AD8858FCC7A}"/>
              </a:ext>
            </a:extLst>
          </p:cNvPr>
          <p:cNvSpPr>
            <a:spLocks noGrp="1"/>
          </p:cNvSpPr>
          <p:nvPr>
            <p:ph type="sldNum" sz="quarter" idx="12"/>
          </p:nvPr>
        </p:nvSpPr>
        <p:spPr/>
        <p:txBody>
          <a:bodyPr/>
          <a:lstStyle/>
          <a:p>
            <a:fld id="{388BC78A-A539-4550-9801-40B5036F063D}" type="slidenum">
              <a:rPr lang="en-GB" smtClean="0"/>
              <a:t>‹#›</a:t>
            </a:fld>
            <a:endParaRPr lang="en-GB"/>
          </a:p>
        </p:txBody>
      </p:sp>
    </p:spTree>
    <p:extLst>
      <p:ext uri="{BB962C8B-B14F-4D97-AF65-F5344CB8AC3E}">
        <p14:creationId xmlns:p14="http://schemas.microsoft.com/office/powerpoint/2010/main" val="4994837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Click to edit Master title style</a:t>
            </a:r>
          </a:p>
        </p:txBody>
      </p:sp>
      <p:sp>
        <p:nvSpPr>
          <p:cNvPr id="3" name="Content Placeholder 2"/>
          <p:cNvSpPr>
            <a:spLocks noGrp="1"/>
          </p:cNvSpPr>
          <p:nvPr>
            <p:ph idx="1"/>
          </p:nvPr>
        </p:nvSpPr>
        <p:spPr>
          <a:xfrm>
            <a:off x="715992" y="1216324"/>
            <a:ext cx="10791646" cy="5641675"/>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 name="Date Placeholder 3"/>
          <p:cNvSpPr>
            <a:spLocks noGrp="1"/>
          </p:cNvSpPr>
          <p:nvPr>
            <p:ph type="dt" sz="half" idx="10"/>
          </p:nvPr>
        </p:nvSpPr>
        <p:spPr/>
        <p:txBody>
          <a:bodyPr/>
          <a:lstStyle/>
          <a:p>
            <a:fld id="{A5910415-8276-4E7F-AECA-B589B021D3EC}" type="datetime1">
              <a:rPr lang="en-GB" noProof="0" smtClean="0">
                <a:solidFill>
                  <a:prstClr val="black">
                    <a:tint val="75000"/>
                  </a:prstClr>
                </a:solidFill>
              </a:rPr>
              <a:pPr/>
              <a:t>09/06/2026</a:t>
            </a:fld>
            <a:endParaRPr lang="en-GB" noProof="0"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GB" noProof="0"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8038A88-BFD1-4DDE-9255-0657B8D83B52}" type="slidenum">
              <a:rPr lang="en-GB" noProof="0" smtClean="0">
                <a:solidFill>
                  <a:prstClr val="black">
                    <a:tint val="75000"/>
                  </a:prstClr>
                </a:solidFill>
              </a:rPr>
              <a:pPr/>
              <a:t>‹#›</a:t>
            </a:fld>
            <a:endParaRPr lang="en-GB" noProof="0" dirty="0">
              <a:solidFill>
                <a:prstClr val="black">
                  <a:tint val="75000"/>
                </a:prstClr>
              </a:solidFill>
            </a:endParaRPr>
          </a:p>
        </p:txBody>
      </p:sp>
    </p:spTree>
    <p:extLst>
      <p:ext uri="{BB962C8B-B14F-4D97-AF65-F5344CB8AC3E}">
        <p14:creationId xmlns:p14="http://schemas.microsoft.com/office/powerpoint/2010/main" val="9976454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BF3A0-E321-6D51-BD9A-3F62634FA6B1}"/>
              </a:ext>
            </a:extLst>
          </p:cNvPr>
          <p:cNvSpPr>
            <a:spLocks noGrp="1"/>
          </p:cNvSpPr>
          <p:nvPr>
            <p:ph type="title"/>
          </p:nvPr>
        </p:nvSpPr>
        <p:spPr>
          <a:xfrm>
            <a:off x="715992" y="136525"/>
            <a:ext cx="10853708" cy="6099175"/>
          </a:xfrm>
        </p:spPr>
        <p:txBody>
          <a:bodyPr/>
          <a:lstStyle/>
          <a:p>
            <a:r>
              <a:rPr lang="en-GB" noProof="0" dirty="0"/>
              <a:t>Click to edit Master title style</a:t>
            </a:r>
          </a:p>
        </p:txBody>
      </p:sp>
      <p:sp>
        <p:nvSpPr>
          <p:cNvPr id="3" name="Slide Number Placeholder 2">
            <a:extLst>
              <a:ext uri="{FF2B5EF4-FFF2-40B4-BE49-F238E27FC236}">
                <a16:creationId xmlns:a16="http://schemas.microsoft.com/office/drawing/2014/main" id="{DCC2DC0C-EE15-1EC5-4B11-3BF0B83E7055}"/>
              </a:ext>
            </a:extLst>
          </p:cNvPr>
          <p:cNvSpPr>
            <a:spLocks noGrp="1"/>
          </p:cNvSpPr>
          <p:nvPr>
            <p:ph type="sldNum" sz="quarter" idx="10"/>
          </p:nvPr>
        </p:nvSpPr>
        <p:spPr/>
        <p:txBody>
          <a:bodyPr/>
          <a:lstStyle/>
          <a:p>
            <a:fld id="{01F60780-9D08-400B-AB0B-A1DD33AEF2DB}" type="slidenum">
              <a:rPr lang="en-GB" smtClean="0"/>
              <a:t>‹#›</a:t>
            </a:fld>
            <a:endParaRPr lang="en-GB"/>
          </a:p>
        </p:txBody>
      </p:sp>
    </p:spTree>
    <p:extLst>
      <p:ext uri="{BB962C8B-B14F-4D97-AF65-F5344CB8AC3E}">
        <p14:creationId xmlns:p14="http://schemas.microsoft.com/office/powerpoint/2010/main" val="2686587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5269C4-1359-204D-A1B3-DCA47AA7C8A0}"/>
              </a:ext>
            </a:extLst>
          </p:cNvPr>
          <p:cNvSpPr>
            <a:spLocks noGrp="1"/>
          </p:cNvSpPr>
          <p:nvPr>
            <p:ph type="dt" sz="half" idx="10"/>
          </p:nvPr>
        </p:nvSpPr>
        <p:spPr/>
        <p:txBody>
          <a:bodyPr/>
          <a:lstStyle/>
          <a:p>
            <a:fld id="{B2C86080-8904-4BDD-A6D0-0A6F4DD66E1A}" type="datetimeFigureOut">
              <a:rPr lang="en-GB" smtClean="0"/>
              <a:t>09/06/2026</a:t>
            </a:fld>
            <a:endParaRPr lang="en-GB"/>
          </a:p>
        </p:txBody>
      </p:sp>
      <p:sp>
        <p:nvSpPr>
          <p:cNvPr id="3" name="Footer Placeholder 2">
            <a:extLst>
              <a:ext uri="{FF2B5EF4-FFF2-40B4-BE49-F238E27FC236}">
                <a16:creationId xmlns:a16="http://schemas.microsoft.com/office/drawing/2014/main" id="{A24E4F5D-DC93-F6AB-7D30-01F90E1FC81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ABA667A-C37A-172B-97FC-9AD8858FCC7A}"/>
              </a:ext>
            </a:extLst>
          </p:cNvPr>
          <p:cNvSpPr>
            <a:spLocks noGrp="1"/>
          </p:cNvSpPr>
          <p:nvPr>
            <p:ph type="sldNum" sz="quarter" idx="12"/>
          </p:nvPr>
        </p:nvSpPr>
        <p:spPr/>
        <p:txBody>
          <a:bodyPr/>
          <a:lstStyle/>
          <a:p>
            <a:fld id="{388BC78A-A539-4550-9801-40B5036F063D}" type="slidenum">
              <a:rPr lang="en-GB" smtClean="0"/>
              <a:t>‹#›</a:t>
            </a:fld>
            <a:endParaRPr lang="en-GB"/>
          </a:p>
        </p:txBody>
      </p:sp>
    </p:spTree>
    <p:extLst>
      <p:ext uri="{BB962C8B-B14F-4D97-AF65-F5344CB8AC3E}">
        <p14:creationId xmlns:p14="http://schemas.microsoft.com/office/powerpoint/2010/main" val="9760381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2EA104-C82C-66A4-E8FC-B669D5B5DB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7849223D-7475-130D-B53E-0C9F660D55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9FCAF772-58B6-3C26-4069-3715627D8C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1C7901-746D-E847-A4FB-2AC7E2637AD6}" type="datetimeFigureOut">
              <a:rPr lang="en-GB" smtClean="0"/>
              <a:t>09/06/2026</a:t>
            </a:fld>
            <a:endParaRPr lang="en-GB"/>
          </a:p>
        </p:txBody>
      </p:sp>
      <p:sp>
        <p:nvSpPr>
          <p:cNvPr id="5" name="Footer Placeholder 4">
            <a:extLst>
              <a:ext uri="{FF2B5EF4-FFF2-40B4-BE49-F238E27FC236}">
                <a16:creationId xmlns:a16="http://schemas.microsoft.com/office/drawing/2014/main" id="{49F238B4-63B2-DE28-C5E5-635BC3CF41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E76C41B2-21A0-2A65-BD0D-AFCCB68412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9C9FE5-60B3-8E46-BD00-AB2C941A6A6D}" type="slidenum">
              <a:rPr lang="en-GB" smtClean="0"/>
              <a:t>‹#›</a:t>
            </a:fld>
            <a:endParaRPr lang="en-GB"/>
          </a:p>
        </p:txBody>
      </p:sp>
    </p:spTree>
    <p:extLst>
      <p:ext uri="{BB962C8B-B14F-4D97-AF65-F5344CB8AC3E}">
        <p14:creationId xmlns:p14="http://schemas.microsoft.com/office/powerpoint/2010/main" val="33450924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CA20D4-431B-F797-0747-841E231FFFBC}"/>
              </a:ext>
            </a:extLst>
          </p:cNvPr>
          <p:cNvSpPr>
            <a:spLocks noGrp="1"/>
          </p:cNvSpPr>
          <p:nvPr>
            <p:ph type="title"/>
          </p:nvPr>
        </p:nvSpPr>
        <p:spPr>
          <a:xfrm>
            <a:off x="715992" y="136525"/>
            <a:ext cx="10791646" cy="898645"/>
          </a:xfrm>
          <a:prstGeom prst="rect">
            <a:avLst/>
          </a:prstGeom>
        </p:spPr>
        <p:txBody>
          <a:bodyPr vert="horz" lIns="91440" tIns="45720" rIns="91440" bIns="45720" rtlCol="0" anchor="ctr">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0067E53F-6D0D-C8D1-3747-6448C08EE0C0}"/>
              </a:ext>
            </a:extLst>
          </p:cNvPr>
          <p:cNvSpPr>
            <a:spLocks noGrp="1"/>
          </p:cNvSpPr>
          <p:nvPr>
            <p:ph type="body" idx="1"/>
          </p:nvPr>
        </p:nvSpPr>
        <p:spPr>
          <a:xfrm>
            <a:off x="715992" y="1216324"/>
            <a:ext cx="10791646" cy="5641675"/>
          </a:xfrm>
          <a:prstGeom prst="rect">
            <a:avLst/>
          </a:prstGeom>
        </p:spPr>
        <p:txBody>
          <a:bodyPr vert="horz" lIns="91440" tIns="45720" rIns="91440" bIns="45720" rtlCol="0">
            <a:noAutofit/>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Slide Number Placeholder 5">
            <a:extLst>
              <a:ext uri="{FF2B5EF4-FFF2-40B4-BE49-F238E27FC236}">
                <a16:creationId xmlns:a16="http://schemas.microsoft.com/office/drawing/2014/main" id="{499AA5CE-5ABB-08FC-C1DB-98A1B0B5639C}"/>
              </a:ext>
            </a:extLst>
          </p:cNvPr>
          <p:cNvSpPr>
            <a:spLocks noGrp="1"/>
          </p:cNvSpPr>
          <p:nvPr>
            <p:ph type="sldNum" sz="quarter" idx="4"/>
          </p:nvPr>
        </p:nvSpPr>
        <p:spPr>
          <a:xfrm>
            <a:off x="10308566" y="6356350"/>
            <a:ext cx="119907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F60780-9D08-400B-AB0B-A1DD33AEF2DB}" type="slidenum">
              <a:rPr lang="en-GB" smtClean="0"/>
              <a:t>‹#›</a:t>
            </a:fld>
            <a:endParaRPr lang="en-GB"/>
          </a:p>
        </p:txBody>
      </p:sp>
    </p:spTree>
    <p:extLst>
      <p:ext uri="{BB962C8B-B14F-4D97-AF65-F5344CB8AC3E}">
        <p14:creationId xmlns:p14="http://schemas.microsoft.com/office/powerpoint/2010/main" val="3930050908"/>
      </p:ext>
    </p:extLst>
  </p:cSld>
  <p:clrMap bg1="lt1" tx1="dk1" bg2="lt2" tx2="dk2" accent1="accent1" accent2="accent2" accent3="accent3" accent4="accent4" accent5="accent5" accent6="accent6" hlink="hlink" folHlink="folHlink"/>
  <p:sldLayoutIdLst>
    <p:sldLayoutId id="2147483688" r:id="rId1"/>
    <p:sldLayoutId id="2147483707" r:id="rId2"/>
  </p:sldLayoutIdLst>
  <p:txStyles>
    <p:titleStyle>
      <a:lvl1pPr algn="ctr"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CA20D4-431B-F797-0747-841E231FFFBC}"/>
              </a:ext>
            </a:extLst>
          </p:cNvPr>
          <p:cNvSpPr>
            <a:spLocks noGrp="1"/>
          </p:cNvSpPr>
          <p:nvPr>
            <p:ph type="title"/>
          </p:nvPr>
        </p:nvSpPr>
        <p:spPr>
          <a:xfrm>
            <a:off x="715992" y="136525"/>
            <a:ext cx="10791646" cy="898645"/>
          </a:xfrm>
          <a:prstGeom prst="rect">
            <a:avLst/>
          </a:prstGeom>
        </p:spPr>
        <p:txBody>
          <a:bodyPr vert="horz" lIns="91440" tIns="45720" rIns="91440" bIns="45720" rtlCol="0" anchor="ctr">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0067E53F-6D0D-C8D1-3747-6448C08EE0C0}"/>
              </a:ext>
            </a:extLst>
          </p:cNvPr>
          <p:cNvSpPr>
            <a:spLocks noGrp="1"/>
          </p:cNvSpPr>
          <p:nvPr>
            <p:ph type="body" idx="1"/>
          </p:nvPr>
        </p:nvSpPr>
        <p:spPr>
          <a:xfrm>
            <a:off x="715992" y="1216324"/>
            <a:ext cx="10791646" cy="5641675"/>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a:extLst>
              <a:ext uri="{FF2B5EF4-FFF2-40B4-BE49-F238E27FC236}">
                <a16:creationId xmlns:a16="http://schemas.microsoft.com/office/drawing/2014/main" id="{499AA5CE-5ABB-08FC-C1DB-98A1B0B5639C}"/>
              </a:ext>
            </a:extLst>
          </p:cNvPr>
          <p:cNvSpPr>
            <a:spLocks noGrp="1"/>
          </p:cNvSpPr>
          <p:nvPr>
            <p:ph type="sldNum" sz="quarter" idx="4"/>
          </p:nvPr>
        </p:nvSpPr>
        <p:spPr>
          <a:xfrm>
            <a:off x="10308566" y="6356350"/>
            <a:ext cx="119907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F60780-9D08-400B-AB0B-A1DD33AEF2DB}" type="slidenum">
              <a:rPr lang="en-GB" smtClean="0"/>
              <a:t>‹#›</a:t>
            </a:fld>
            <a:endParaRPr lang="en-GB"/>
          </a:p>
        </p:txBody>
      </p:sp>
    </p:spTree>
    <p:extLst>
      <p:ext uri="{BB962C8B-B14F-4D97-AF65-F5344CB8AC3E}">
        <p14:creationId xmlns:p14="http://schemas.microsoft.com/office/powerpoint/2010/main" val="1306380561"/>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721" r:id="rId3"/>
  </p:sldLayoutIdLst>
  <p:txStyles>
    <p:titleStyle>
      <a:lvl1pPr algn="ctr"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CA20D4-431B-F797-0747-841E231FFFBC}"/>
              </a:ext>
            </a:extLst>
          </p:cNvPr>
          <p:cNvSpPr>
            <a:spLocks noGrp="1"/>
          </p:cNvSpPr>
          <p:nvPr>
            <p:ph type="title"/>
          </p:nvPr>
        </p:nvSpPr>
        <p:spPr>
          <a:xfrm>
            <a:off x="715992" y="136525"/>
            <a:ext cx="10791646" cy="898645"/>
          </a:xfrm>
          <a:prstGeom prst="rect">
            <a:avLst/>
          </a:prstGeom>
        </p:spPr>
        <p:txBody>
          <a:bodyPr vert="horz" lIns="91440" tIns="45720" rIns="91440" bIns="45720" rtlCol="0" anchor="ctr">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0067E53F-6D0D-C8D1-3747-6448C08EE0C0}"/>
              </a:ext>
            </a:extLst>
          </p:cNvPr>
          <p:cNvSpPr>
            <a:spLocks noGrp="1"/>
          </p:cNvSpPr>
          <p:nvPr>
            <p:ph type="body" idx="1"/>
          </p:nvPr>
        </p:nvSpPr>
        <p:spPr>
          <a:xfrm>
            <a:off x="715992" y="1216324"/>
            <a:ext cx="10791646" cy="5641675"/>
          </a:xfrm>
          <a:prstGeom prst="rect">
            <a:avLst/>
          </a:prstGeom>
        </p:spPr>
        <p:txBody>
          <a:bodyPr vert="horz" lIns="91440" tIns="45720" rIns="91440" bIns="45720" rtlCol="0">
            <a:noAutofit/>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Slide Number Placeholder 5">
            <a:extLst>
              <a:ext uri="{FF2B5EF4-FFF2-40B4-BE49-F238E27FC236}">
                <a16:creationId xmlns:a16="http://schemas.microsoft.com/office/drawing/2014/main" id="{499AA5CE-5ABB-08FC-C1DB-98A1B0B5639C}"/>
              </a:ext>
            </a:extLst>
          </p:cNvPr>
          <p:cNvSpPr>
            <a:spLocks noGrp="1"/>
          </p:cNvSpPr>
          <p:nvPr>
            <p:ph type="sldNum" sz="quarter" idx="4"/>
          </p:nvPr>
        </p:nvSpPr>
        <p:spPr>
          <a:xfrm>
            <a:off x="10308566" y="6356350"/>
            <a:ext cx="119907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F60780-9D08-400B-AB0B-A1DD33AEF2DB}" type="slidenum">
              <a:rPr lang="en-GB" smtClean="0"/>
              <a:t>‹#›</a:t>
            </a:fld>
            <a:endParaRPr lang="en-GB"/>
          </a:p>
        </p:txBody>
      </p:sp>
    </p:spTree>
    <p:extLst>
      <p:ext uri="{BB962C8B-B14F-4D97-AF65-F5344CB8AC3E}">
        <p14:creationId xmlns:p14="http://schemas.microsoft.com/office/powerpoint/2010/main" val="2963900140"/>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720" r:id="rId3"/>
  </p:sldLayoutIdLst>
  <p:txStyles>
    <p:titleStyle>
      <a:lvl1pPr algn="ctr"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7.xml"/><Relationship Id="rId6" Type="http://schemas.openxmlformats.org/officeDocument/2006/relationships/image" Target="../media/image6.wmf"/><Relationship Id="rId5" Type="http://schemas.openxmlformats.org/officeDocument/2006/relationships/oleObject" Target="../embeddings/oleObject1.bin"/><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9.tmp"/></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0.xml"/><Relationship Id="rId1" Type="http://schemas.openxmlformats.org/officeDocument/2006/relationships/slideLayout" Target="../slideLayouts/slideLayout16.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9.xml"/><Relationship Id="rId5" Type="http://schemas.openxmlformats.org/officeDocument/2006/relationships/image" Target="../media/image14.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9.xml"/><Relationship Id="rId11" Type="http://schemas.openxmlformats.org/officeDocument/2006/relationships/image" Target="../media/image160.png"/><Relationship Id="rId5" Type="http://schemas.openxmlformats.org/officeDocument/2006/relationships/image" Target="../media/image16.svg"/><Relationship Id="rId10" Type="http://schemas.openxmlformats.org/officeDocument/2006/relationships/image" Target="../media/image23.png"/><Relationship Id="rId4" Type="http://schemas.openxmlformats.org/officeDocument/2006/relationships/image" Target="../media/image15.svg"/><Relationship Id="rId9" Type="http://schemas.openxmlformats.org/officeDocument/2006/relationships/image" Target="../media/image2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7.xml"/><Relationship Id="rId1" Type="http://schemas.openxmlformats.org/officeDocument/2006/relationships/slideLayout" Target="../slideLayouts/slideLayout17.xml"/><Relationship Id="rId4" Type="http://schemas.openxmlformats.org/officeDocument/2006/relationships/image" Target="../media/image17.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8.xml"/><Relationship Id="rId1" Type="http://schemas.openxmlformats.org/officeDocument/2006/relationships/slideLayout" Target="../slideLayouts/slideLayout17.xml"/><Relationship Id="rId4" Type="http://schemas.openxmlformats.org/officeDocument/2006/relationships/image" Target="../media/image18.e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oleObject" Target="../embeddings/oleObject2.bin"/><Relationship Id="rId7" Type="http://schemas.openxmlformats.org/officeDocument/2006/relationships/image" Target="../media/image21.wmf"/><Relationship Id="rId2" Type="http://schemas.openxmlformats.org/officeDocument/2006/relationships/notesSlide" Target="../notesSlides/notesSlide19.xml"/><Relationship Id="rId1" Type="http://schemas.openxmlformats.org/officeDocument/2006/relationships/slideLayout" Target="../slideLayouts/slideLayout17.xml"/><Relationship Id="rId6" Type="http://schemas.openxmlformats.org/officeDocument/2006/relationships/oleObject" Target="../embeddings/oleObject3.bin"/><Relationship Id="rId5" Type="http://schemas.openxmlformats.org/officeDocument/2006/relationships/image" Target="../media/image20.png"/><Relationship Id="rId4" Type="http://schemas.openxmlformats.org/officeDocument/2006/relationships/image" Target="../media/image19.emf"/><Relationship Id="rId9" Type="http://schemas.openxmlformats.org/officeDocument/2006/relationships/image" Target="../media/image22.wmf"/></Relationships>
</file>

<file path=ppt/slides/_rels/slide21.xml.rels><?xml version="1.0" encoding="UTF-8" standalone="yes"?>
<Relationships xmlns="http://schemas.openxmlformats.org/package/2006/relationships"><Relationship Id="rId3" Type="http://schemas.openxmlformats.org/officeDocument/2006/relationships/image" Target="../media/image23.tmp"/><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1.xml"/><Relationship Id="rId1" Type="http://schemas.openxmlformats.org/officeDocument/2006/relationships/slideLayout" Target="../slideLayouts/slideLayout17.xml"/><Relationship Id="rId4" Type="http://schemas.openxmlformats.org/officeDocument/2006/relationships/image" Target="../media/image24.emf"/></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7.xml"/><Relationship Id="rId4" Type="http://schemas.openxmlformats.org/officeDocument/2006/relationships/image" Target="../media/image7.jpeg"/></Relationships>
</file>

<file path=ppt/slides/_rels/slide2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7.jpeg"/><Relationship Id="rId7" Type="http://schemas.openxmlformats.org/officeDocument/2006/relationships/image" Target="../media/image26.wmf"/><Relationship Id="rId2" Type="http://schemas.openxmlformats.org/officeDocument/2006/relationships/notesSlide" Target="../notesSlides/notesSlide23.xml"/><Relationship Id="rId1" Type="http://schemas.openxmlformats.org/officeDocument/2006/relationships/slideLayout" Target="../slideLayouts/slideLayout17.xml"/><Relationship Id="rId6" Type="http://schemas.openxmlformats.org/officeDocument/2006/relationships/oleObject" Target="../embeddings/oleObject60.bin"/><Relationship Id="rId5" Type="http://schemas.openxmlformats.org/officeDocument/2006/relationships/image" Target="../media/image26.wmf"/><Relationship Id="rId4" Type="http://schemas.openxmlformats.org/officeDocument/2006/relationships/oleObject" Target="../embeddings/oleObject6.bin"/></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17.xml"/><Relationship Id="rId5" Type="http://schemas.openxmlformats.org/officeDocument/2006/relationships/image" Target="../media/image29.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17.xml"/><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32.tmp"/><Relationship Id="rId2" Type="http://schemas.openxmlformats.org/officeDocument/2006/relationships/notesSlide" Target="../notesSlides/notesSlide27.xml"/><Relationship Id="rId1" Type="http://schemas.openxmlformats.org/officeDocument/2006/relationships/slideLayout" Target="../slideLayouts/slideLayout17.xml"/><Relationship Id="rId5" Type="http://schemas.openxmlformats.org/officeDocument/2006/relationships/image" Target="../media/image35.png"/><Relationship Id="rId4" Type="http://schemas.openxmlformats.org/officeDocument/2006/relationships/image" Target="../media/image33.tmp"/></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28.xml"/><Relationship Id="rId1" Type="http://schemas.openxmlformats.org/officeDocument/2006/relationships/slideLayout" Target="../slideLayouts/slideLayout17.xml"/><Relationship Id="rId4" Type="http://schemas.openxmlformats.org/officeDocument/2006/relationships/image" Target="../media/image36.wmf"/></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17.xml"/><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1.xml"/><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2.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image" Target="../media/image43.gif"/><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7.xml"/><Relationship Id="rId4" Type="http://schemas.openxmlformats.org/officeDocument/2006/relationships/image" Target="../media/image46.png"/></Relationships>
</file>

<file path=ppt/slides/_rels/slide3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gif"/><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3" Type="http://schemas.openxmlformats.org/officeDocument/2006/relationships/image" Target="../media/image49.wmf"/><Relationship Id="rId7" Type="http://schemas.openxmlformats.org/officeDocument/2006/relationships/image" Target="../media/image51.wmf"/><Relationship Id="rId2" Type="http://schemas.openxmlformats.org/officeDocument/2006/relationships/oleObject" Target="../embeddings/oleObject7.bin"/><Relationship Id="rId1" Type="http://schemas.openxmlformats.org/officeDocument/2006/relationships/slideLayout" Target="../slideLayouts/slideLayout17.xml"/><Relationship Id="rId6" Type="http://schemas.openxmlformats.org/officeDocument/2006/relationships/oleObject" Target="../embeddings/oleObject9.bin"/><Relationship Id="rId5" Type="http://schemas.openxmlformats.org/officeDocument/2006/relationships/image" Target="../media/image50.wmf"/><Relationship Id="rId4" Type="http://schemas.openxmlformats.org/officeDocument/2006/relationships/oleObject" Target="../embeddings/oleObject8.bin"/></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52.tmp"/><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oleObject" Target="../embeddings/oleObject10.bin"/><Relationship Id="rId1" Type="http://schemas.openxmlformats.org/officeDocument/2006/relationships/slideLayout" Target="../slideLayouts/slideLayout2.xml"/><Relationship Id="rId5" Type="http://schemas.openxmlformats.org/officeDocument/2006/relationships/image" Target="../media/image56.wmf"/><Relationship Id="rId4" Type="http://schemas.openxmlformats.org/officeDocument/2006/relationships/oleObject" Target="../embeddings/oleObject11.bin"/></Relationships>
</file>

<file path=ppt/slides/_rels/slide50.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oleObject" Target="../embeddings/oleObject12.bin"/><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oleObject" Target="../embeddings/oleObject12.bin"/><Relationship Id="rId1" Type="http://schemas.openxmlformats.org/officeDocument/2006/relationships/slideLayout" Target="../slideLayouts/slideLayout2.xml"/><Relationship Id="rId5" Type="http://schemas.openxmlformats.org/officeDocument/2006/relationships/image" Target="../media/image58.wmf"/><Relationship Id="rId4" Type="http://schemas.openxmlformats.org/officeDocument/2006/relationships/oleObject" Target="../embeddings/oleObject13.bin"/></Relationships>
</file>

<file path=ppt/slides/_rels/slide52.x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oleObject" Target="../embeddings/oleObject14.bin"/><Relationship Id="rId1" Type="http://schemas.openxmlformats.org/officeDocument/2006/relationships/slideLayout" Target="../slideLayouts/slideLayout2.xml"/><Relationship Id="rId5" Type="http://schemas.openxmlformats.org/officeDocument/2006/relationships/image" Target="../media/image60.wmf"/><Relationship Id="rId4" Type="http://schemas.openxmlformats.org/officeDocument/2006/relationships/oleObject" Target="../embeddings/oleObject15.bin"/></Relationships>
</file>

<file path=ppt/slides/_rels/slide54.x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oleObject" Target="../embeddings/oleObject16.bin"/><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oleObject" Target="../embeddings/oleObject17.bin"/><Relationship Id="rId1" Type="http://schemas.openxmlformats.org/officeDocument/2006/relationships/slideLayout" Target="../slideLayouts/slideLayout2.xml"/><Relationship Id="rId5" Type="http://schemas.openxmlformats.org/officeDocument/2006/relationships/image" Target="../media/image61.wmf"/><Relationship Id="rId4" Type="http://schemas.openxmlformats.org/officeDocument/2006/relationships/oleObject" Target="../embeddings/oleObject16.bin"/></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1.wmf"/></Relationships>
</file>

<file path=ppt/slides/_rels/slide57.xml.rels><?xml version="1.0" encoding="UTF-8" standalone="yes"?>
<Relationships xmlns="http://schemas.openxmlformats.org/package/2006/relationships"><Relationship Id="rId3" Type="http://schemas.openxmlformats.org/officeDocument/2006/relationships/image" Target="../media/image64.wmf"/><Relationship Id="rId7" Type="http://schemas.openxmlformats.org/officeDocument/2006/relationships/image" Target="../media/image66.wmf"/><Relationship Id="rId2" Type="http://schemas.openxmlformats.org/officeDocument/2006/relationships/oleObject" Target="../embeddings/oleObject18.bin"/><Relationship Id="rId1" Type="http://schemas.openxmlformats.org/officeDocument/2006/relationships/slideLayout" Target="../slideLayouts/slideLayout2.xml"/><Relationship Id="rId6" Type="http://schemas.openxmlformats.org/officeDocument/2006/relationships/oleObject" Target="../embeddings/oleObject20.bin"/><Relationship Id="rId5" Type="http://schemas.openxmlformats.org/officeDocument/2006/relationships/image" Target="../media/image65.wmf"/><Relationship Id="rId4" Type="http://schemas.openxmlformats.org/officeDocument/2006/relationships/oleObject" Target="../embeddings/oleObject19.bin"/></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notesSlide" Target="../notesSlides/notesSlide33.xml"/><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13.xml"/><Relationship Id="rId5" Type="http://schemas.openxmlformats.org/officeDocument/2006/relationships/image" Target="../media/image71.png"/><Relationship Id="rId4" Type="http://schemas.openxmlformats.org/officeDocument/2006/relationships/image" Target="../media/image70.png"/></Relationships>
</file>

<file path=ppt/slides/_rels/slide6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3.xml"/><Relationship Id="rId5" Type="http://schemas.openxmlformats.org/officeDocument/2006/relationships/image" Target="../media/image72.png"/><Relationship Id="rId4" Type="http://schemas.openxmlformats.org/officeDocument/2006/relationships/image" Target="../media/image71.png"/></Relationships>
</file>

<file path=ppt/slides/_rels/slide62.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13.xml"/><Relationship Id="rId4" Type="http://schemas.openxmlformats.org/officeDocument/2006/relationships/image" Target="../media/image7.jpeg"/></Relationships>
</file>

<file path=ppt/slides/_rels/slide73.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image" Target="../media/image7.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53834-B31D-7A4D-9536-ACDDD53296F5}"/>
              </a:ext>
            </a:extLst>
          </p:cNvPr>
          <p:cNvSpPr>
            <a:spLocks noGrp="1"/>
          </p:cNvSpPr>
          <p:nvPr>
            <p:ph type="ctrTitle"/>
          </p:nvPr>
        </p:nvSpPr>
        <p:spPr>
          <a:xfrm>
            <a:off x="732673" y="2287559"/>
            <a:ext cx="10964220" cy="1713533"/>
          </a:xfrm>
          <a:solidFill>
            <a:srgbClr val="1CADE4"/>
          </a:solidFill>
          <a:ln>
            <a:solidFill>
              <a:srgbClr val="1CADE4"/>
            </a:solidFill>
          </a:ln>
          <a:effectLst>
            <a:outerShdw blurRad="50800" dist="38100" dir="13500000" algn="br"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anchor="ctr">
            <a:noAutofit/>
          </a:bodyPr>
          <a:lstStyle/>
          <a:p>
            <a:r>
              <a:rPr lang="en-GB" sz="3200" b="1" dirty="0">
                <a:latin typeface="Calibri" panose="020F0502020204030204" pitchFamily="34" charset="0"/>
              </a:rPr>
              <a:t>Machine learning approaches for discrete choice analysis</a:t>
            </a:r>
            <a:endParaRPr lang="en-GB" sz="2800" b="1" noProof="0" dirty="0"/>
          </a:p>
        </p:txBody>
      </p:sp>
      <p:sp>
        <p:nvSpPr>
          <p:cNvPr id="3" name="Subtitle 2">
            <a:extLst>
              <a:ext uri="{FF2B5EF4-FFF2-40B4-BE49-F238E27FC236}">
                <a16:creationId xmlns:a16="http://schemas.microsoft.com/office/drawing/2014/main" id="{5CCAFFE7-8548-674D-95EE-B2F39067BE4F}"/>
              </a:ext>
            </a:extLst>
          </p:cNvPr>
          <p:cNvSpPr>
            <a:spLocks noGrp="1"/>
          </p:cNvSpPr>
          <p:nvPr>
            <p:ph type="subTitle" idx="1"/>
          </p:nvPr>
        </p:nvSpPr>
        <p:spPr>
          <a:xfrm>
            <a:off x="1642783" y="4337491"/>
            <a:ext cx="9144000" cy="1938618"/>
          </a:xfrm>
        </p:spPr>
        <p:txBody>
          <a:bodyPr>
            <a:normAutofit/>
          </a:bodyPr>
          <a:lstStyle/>
          <a:p>
            <a:pPr marL="360045">
              <a:spcBef>
                <a:spcPts val="1200"/>
              </a:spcBef>
            </a:pPr>
            <a:r>
              <a:rPr lang="en-GB" sz="1800" b="0" spc="20" dirty="0">
                <a:effectLst/>
                <a:latin typeface="Times New Roman" panose="02020603050405020304" pitchFamily="18" charset="0"/>
                <a:ea typeface="Times New Roman" panose="02020603050405020304" pitchFamily="18" charset="0"/>
              </a:rPr>
              <a:t>Gabriel Nova*</a:t>
            </a:r>
            <a:r>
              <a:rPr lang="en-GB" sz="1800" b="0" spc="20" baseline="30000" dirty="0">
                <a:effectLst/>
                <a:latin typeface="Times New Roman" panose="02020603050405020304" pitchFamily="18" charset="0"/>
                <a:ea typeface="Times New Roman" panose="02020603050405020304" pitchFamily="18" charset="0"/>
              </a:rPr>
              <a:t>1</a:t>
            </a:r>
            <a:r>
              <a:rPr lang="en-GB" sz="1800" spc="20" dirty="0">
                <a:latin typeface="Times New Roman" panose="02020603050405020304" pitchFamily="18" charset="0"/>
                <a:ea typeface="Times New Roman" panose="02020603050405020304" pitchFamily="18" charset="0"/>
              </a:rPr>
              <a:t>, Sander van Cranenburgh</a:t>
            </a:r>
            <a:r>
              <a:rPr lang="en-GB" sz="1800" spc="20" baseline="30000" dirty="0">
                <a:latin typeface="Times New Roman" panose="02020603050405020304" pitchFamily="18" charset="0"/>
                <a:ea typeface="Times New Roman" panose="02020603050405020304" pitchFamily="18" charset="0"/>
              </a:rPr>
              <a:t>1</a:t>
            </a:r>
            <a:endParaRPr lang="en-GB" sz="1800" b="0" spc="20" baseline="30000" dirty="0">
              <a:effectLst/>
              <a:latin typeface="Times New Roman" panose="02020603050405020304" pitchFamily="18" charset="0"/>
              <a:ea typeface="Times New Roman" panose="02020603050405020304" pitchFamily="18" charset="0"/>
            </a:endParaRPr>
          </a:p>
          <a:p>
            <a:pPr marL="360045" marR="0" algn="ctr">
              <a:spcBef>
                <a:spcPts val="1200"/>
              </a:spcBef>
            </a:pPr>
            <a:endParaRPr lang="en-US" sz="1800" b="1" dirty="0">
              <a:effectLst/>
              <a:latin typeface="Times New Roman" panose="02020603050405020304" pitchFamily="18" charset="0"/>
              <a:ea typeface="Times New Roman" panose="02020603050405020304" pitchFamily="18" charset="0"/>
            </a:endParaRPr>
          </a:p>
          <a:p>
            <a:pPr>
              <a:lnSpc>
                <a:spcPct val="100000"/>
              </a:lnSpc>
              <a:spcBef>
                <a:spcPts val="0"/>
              </a:spcBef>
            </a:pPr>
            <a:r>
              <a:rPr lang="en-GB" b="0" spc="20" baseline="30000" dirty="0">
                <a:effectLst/>
                <a:latin typeface="Times New Roman" panose="02020603050405020304" pitchFamily="18" charset="0"/>
                <a:ea typeface="Times New Roman" panose="02020603050405020304" pitchFamily="18" charset="0"/>
              </a:rPr>
              <a:t>City </a:t>
            </a:r>
            <a:r>
              <a:rPr lang="en-GB" spc="20" baseline="30000" dirty="0">
                <a:latin typeface="Times New Roman" panose="02020603050405020304" pitchFamily="18" charset="0"/>
                <a:ea typeface="Times New Roman" panose="02020603050405020304" pitchFamily="18" charset="0"/>
              </a:rPr>
              <a:t>AI Lab, </a:t>
            </a:r>
            <a:r>
              <a:rPr lang="en-GB" b="0" spc="20" baseline="30000" dirty="0">
                <a:effectLst/>
                <a:latin typeface="Times New Roman" panose="02020603050405020304" pitchFamily="18" charset="0"/>
                <a:ea typeface="Times New Roman" panose="02020603050405020304" pitchFamily="18" charset="0"/>
              </a:rPr>
              <a:t>Transport and Logistics</a:t>
            </a:r>
            <a:br>
              <a:rPr lang="en-GB" b="0" spc="20" baseline="30000" dirty="0">
                <a:effectLst/>
                <a:latin typeface="Times New Roman" panose="02020603050405020304" pitchFamily="18" charset="0"/>
                <a:ea typeface="Times New Roman" panose="02020603050405020304" pitchFamily="18" charset="0"/>
              </a:rPr>
            </a:br>
            <a:r>
              <a:rPr lang="en-GB" b="0" spc="20" baseline="30000" dirty="0">
                <a:effectLst/>
                <a:latin typeface="Times New Roman" panose="02020603050405020304" pitchFamily="18" charset="0"/>
                <a:ea typeface="Times New Roman" panose="02020603050405020304" pitchFamily="18" charset="0"/>
              </a:rPr>
              <a:t>Faculty of Technology, Policy and Management, Delft University of Technology</a:t>
            </a:r>
            <a:endParaRPr lang="en-US" sz="3600" i="1" dirty="0"/>
          </a:p>
        </p:txBody>
      </p:sp>
      <p:pic>
        <p:nvPicPr>
          <p:cNvPr id="1026" name="Picture 2" descr="Zigzag DNA">
            <a:extLst>
              <a:ext uri="{FF2B5EF4-FFF2-40B4-BE49-F238E27FC236}">
                <a16:creationId xmlns:a16="http://schemas.microsoft.com/office/drawing/2014/main" id="{9F7BC26A-A130-8E47-9C60-6C375A43F2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840" y="0"/>
            <a:ext cx="1818415" cy="884583"/>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D76EC1F7-F969-E74B-9294-1C2AC70CA8FD}"/>
              </a:ext>
            </a:extLst>
          </p:cNvPr>
          <p:cNvSpPr/>
          <p:nvPr/>
        </p:nvSpPr>
        <p:spPr>
          <a:xfrm>
            <a:off x="5977217" y="3624899"/>
            <a:ext cx="237566" cy="369332"/>
          </a:xfrm>
          <a:prstGeom prst="rect">
            <a:avLst/>
          </a:prstGeom>
        </p:spPr>
        <p:txBody>
          <a:bodyPr wrap="none">
            <a:spAutoFit/>
          </a:bodyPr>
          <a:lstStyle/>
          <a:p>
            <a:r>
              <a:rPr lang="en-US" dirty="0">
                <a:solidFill>
                  <a:srgbClr val="000000"/>
                </a:solidFill>
                <a:latin typeface="-webkit-standard"/>
              </a:rPr>
              <a:t> </a:t>
            </a:r>
            <a:endParaRPr lang="en-US" dirty="0"/>
          </a:p>
        </p:txBody>
      </p:sp>
      <p:sp>
        <p:nvSpPr>
          <p:cNvPr id="8" name="Rectangle 7">
            <a:extLst>
              <a:ext uri="{FF2B5EF4-FFF2-40B4-BE49-F238E27FC236}">
                <a16:creationId xmlns:a16="http://schemas.microsoft.com/office/drawing/2014/main" id="{9DE97810-3C4A-7D43-BEB5-A91B7F3F6A29}"/>
              </a:ext>
            </a:extLst>
          </p:cNvPr>
          <p:cNvSpPr/>
          <p:nvPr/>
        </p:nvSpPr>
        <p:spPr>
          <a:xfrm>
            <a:off x="5977217" y="3624899"/>
            <a:ext cx="237566" cy="369332"/>
          </a:xfrm>
          <a:prstGeom prst="rect">
            <a:avLst/>
          </a:prstGeom>
        </p:spPr>
        <p:txBody>
          <a:bodyPr wrap="none">
            <a:spAutoFit/>
          </a:bodyPr>
          <a:lstStyle/>
          <a:p>
            <a:r>
              <a:rPr lang="en-US" dirty="0">
                <a:solidFill>
                  <a:srgbClr val="000000"/>
                </a:solidFill>
                <a:latin typeface="-webkit-standard"/>
              </a:rPr>
              <a:t> </a:t>
            </a:r>
            <a:endParaRPr lang="en-US" dirty="0"/>
          </a:p>
        </p:txBody>
      </p:sp>
      <p:pic>
        <p:nvPicPr>
          <p:cNvPr id="11" name="Picture 10">
            <a:extLst>
              <a:ext uri="{FF2B5EF4-FFF2-40B4-BE49-F238E27FC236}">
                <a16:creationId xmlns:a16="http://schemas.microsoft.com/office/drawing/2014/main" id="{432A65C9-B905-8818-6F37-DE48035B9A9C}"/>
              </a:ext>
            </a:extLst>
          </p:cNvPr>
          <p:cNvPicPr>
            <a:picLocks noChangeAspect="1"/>
          </p:cNvPicPr>
          <p:nvPr/>
        </p:nvPicPr>
        <p:blipFill rotWithShape="1">
          <a:blip r:embed="rId4"/>
          <a:srcRect l="2060" t="2010" r="75448" b="78706"/>
          <a:stretch/>
        </p:blipFill>
        <p:spPr>
          <a:xfrm>
            <a:off x="9991142" y="128155"/>
            <a:ext cx="1983235" cy="1107256"/>
          </a:xfrm>
          <a:prstGeom prst="rect">
            <a:avLst/>
          </a:prstGeom>
        </p:spPr>
      </p:pic>
      <p:pic>
        <p:nvPicPr>
          <p:cNvPr id="5" name="Picture 2" descr="qr-code for edu.nl/6tb4y">
            <a:extLst>
              <a:ext uri="{FF2B5EF4-FFF2-40B4-BE49-F238E27FC236}">
                <a16:creationId xmlns:a16="http://schemas.microsoft.com/office/drawing/2014/main" id="{6D34E571-7D34-C874-78EF-9A9A70A64E5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96690" y="5456471"/>
            <a:ext cx="1177687" cy="1273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828704"/>
      </p:ext>
    </p:extLst>
  </p:cSld>
  <p:clrMapOvr>
    <a:masterClrMapping/>
  </p:clrMapOvr>
  <mc:AlternateContent xmlns:mc="http://schemas.openxmlformats.org/markup-compatibility/2006" xmlns:p14="http://schemas.microsoft.com/office/powerpoint/2010/main">
    <mc:Choice Requires="p14">
      <p:transition spd="slow" p14:dur="2000" advTm="1159"/>
    </mc:Choice>
    <mc:Fallback xmlns="">
      <p:transition spd="slow" advTm="115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0" y="5949950"/>
            <a:ext cx="12192000" cy="90805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a:ln>
                <a:noFill/>
              </a:ln>
              <a:solidFill>
                <a:srgbClr val="000000"/>
              </a:solidFill>
              <a:effectLst/>
              <a:uLnTx/>
              <a:uFillTx/>
              <a:latin typeface="Tahoma"/>
              <a:ea typeface="+mn-ea"/>
              <a:cs typeface="+mn-cs"/>
            </a:endParaRPr>
          </a:p>
        </p:txBody>
      </p:sp>
      <p:sp>
        <p:nvSpPr>
          <p:cNvPr id="6" name="Title 1"/>
          <p:cNvSpPr>
            <a:spLocks noGrp="1"/>
          </p:cNvSpPr>
          <p:nvPr>
            <p:ph type="title"/>
          </p:nvPr>
        </p:nvSpPr>
        <p:spPr>
          <a:xfrm>
            <a:off x="1055441" y="457200"/>
            <a:ext cx="9045824" cy="451520"/>
          </a:xfrm>
        </p:spPr>
        <p:txBody>
          <a:bodyPr/>
          <a:lstStyle/>
          <a:p>
            <a:pPr lvl="0">
              <a:defRPr/>
            </a:pPr>
            <a:r>
              <a:rPr lang="en-GB" sz="2600" dirty="0">
                <a:solidFill>
                  <a:srgbClr val="000000"/>
                </a:solidFill>
              </a:rPr>
              <a:t>Course set-up</a:t>
            </a:r>
          </a:p>
        </p:txBody>
      </p:sp>
      <p:sp>
        <p:nvSpPr>
          <p:cNvPr id="3" name="Content Placeholder 2"/>
          <p:cNvSpPr>
            <a:spLocks noGrp="1"/>
          </p:cNvSpPr>
          <p:nvPr>
            <p:ph idx="1"/>
          </p:nvPr>
        </p:nvSpPr>
        <p:spPr>
          <a:xfrm>
            <a:off x="1055440" y="1484784"/>
            <a:ext cx="8064896" cy="5236692"/>
          </a:xfrm>
        </p:spPr>
        <p:txBody>
          <a:bodyPr/>
          <a:lstStyle/>
          <a:p>
            <a:pPr marL="0" indent="0" defTabSz="904875">
              <a:buNone/>
              <a:tabLst>
                <a:tab pos="1257300" algn="l"/>
                <a:tab pos="3228975" algn="l"/>
              </a:tabLst>
            </a:pPr>
            <a:r>
              <a:rPr lang="en-GB" sz="1800" dirty="0">
                <a:solidFill>
                  <a:srgbClr val="0070C0"/>
                </a:solidFill>
                <a:latin typeface="Calibri" panose="020F0502020204030204" pitchFamily="34" charset="0"/>
                <a:cs typeface="Times New Roman" panose="02020603050405020304" pitchFamily="18" charset="0"/>
              </a:rPr>
              <a:t>Course material</a:t>
            </a:r>
          </a:p>
          <a:p>
            <a:pPr marL="0" indent="0" defTabSz="904875">
              <a:buNone/>
              <a:tabLst>
                <a:tab pos="1257300" algn="l"/>
                <a:tab pos="3228975" algn="l"/>
              </a:tabLst>
            </a:pPr>
            <a:endParaRPr lang="en-GB" sz="1800" dirty="0">
              <a:solidFill>
                <a:srgbClr val="0070C0"/>
              </a:solidFill>
              <a:latin typeface="Calibri" panose="020F0502020204030204" pitchFamily="34" charset="0"/>
              <a:cs typeface="Times New Roman" panose="02020603050405020304" pitchFamily="18" charset="0"/>
            </a:endParaRPr>
          </a:p>
          <a:p>
            <a:pPr marL="342900" indent="-342900" defTabSz="904875">
              <a:lnSpc>
                <a:spcPct val="114000"/>
              </a:lnSpc>
              <a:buFont typeface="+mj-lt"/>
              <a:buAutoNum type="arabicPeriod"/>
              <a:tabLst>
                <a:tab pos="1257300" algn="l"/>
                <a:tab pos="3228975" algn="l"/>
              </a:tabLst>
            </a:pPr>
            <a:r>
              <a:rPr lang="en-US" sz="1400" dirty="0"/>
              <a:t>Van Cranenburgh, S., Wang, S., Vij, A., Pereira, F., &amp; Walker, J. (2022). Choice modelling in the age of machine learning-discussion paper. </a:t>
            </a:r>
            <a:r>
              <a:rPr lang="en-US" sz="1400" i="1" dirty="0"/>
              <a:t>Journal of Choice Modelling</a:t>
            </a:r>
            <a:r>
              <a:rPr lang="en-US" sz="1400" dirty="0"/>
              <a:t>, </a:t>
            </a:r>
            <a:r>
              <a:rPr lang="en-US" sz="1400" i="1" dirty="0"/>
              <a:t>42</a:t>
            </a:r>
            <a:r>
              <a:rPr lang="en-US" sz="1400" dirty="0"/>
              <a:t>, 100340.</a:t>
            </a:r>
          </a:p>
          <a:p>
            <a:pPr marL="342900" indent="-342900" defTabSz="904875">
              <a:lnSpc>
                <a:spcPct val="114000"/>
              </a:lnSpc>
              <a:buFont typeface="+mj-lt"/>
              <a:buAutoNum type="arabicPeriod"/>
              <a:tabLst>
                <a:tab pos="1257300" algn="l"/>
                <a:tab pos="3228975" algn="l"/>
              </a:tabLst>
            </a:pPr>
            <a:endParaRPr lang="en-US" sz="1400" dirty="0"/>
          </a:p>
          <a:p>
            <a:pPr marL="342900" indent="-342900" defTabSz="904875">
              <a:lnSpc>
                <a:spcPct val="114000"/>
              </a:lnSpc>
              <a:buFont typeface="+mj-lt"/>
              <a:buAutoNum type="arabicPeriod"/>
              <a:tabLst>
                <a:tab pos="1257300" algn="l"/>
                <a:tab pos="3228975" algn="l"/>
              </a:tabLst>
            </a:pPr>
            <a:r>
              <a:rPr lang="en-US" sz="1400" dirty="0" err="1"/>
              <a:t>Géron</a:t>
            </a:r>
            <a:r>
              <a:rPr lang="en-US" sz="1400" dirty="0"/>
              <a:t>, A. (2019). </a:t>
            </a:r>
            <a:r>
              <a:rPr lang="en-US" sz="1400" i="1" dirty="0"/>
              <a:t>Hands-on machine learning with </a:t>
            </a:r>
            <a:r>
              <a:rPr lang="en-US" sz="1400" i="1" dirty="0" err="1"/>
              <a:t>Scikit</a:t>
            </a:r>
            <a:r>
              <a:rPr lang="en-US" sz="1400" i="1" dirty="0"/>
              <a:t>-Learn, </a:t>
            </a:r>
            <a:r>
              <a:rPr lang="en-US" sz="1400" i="1" dirty="0" err="1"/>
              <a:t>Keras</a:t>
            </a:r>
            <a:r>
              <a:rPr lang="en-US" sz="1400" i="1" dirty="0"/>
              <a:t>, and </a:t>
            </a:r>
            <a:r>
              <a:rPr lang="en-US" sz="1400" i="1" dirty="0" err="1"/>
              <a:t>TensorFlow</a:t>
            </a:r>
            <a:r>
              <a:rPr lang="en-US" sz="1400" i="1" dirty="0"/>
              <a:t>: Concepts, tools, and techniques to build intelligent systems</a:t>
            </a:r>
            <a:r>
              <a:rPr lang="en-US" sz="1400" dirty="0"/>
              <a:t>. " O'Reilly Media, Inc.".</a:t>
            </a:r>
          </a:p>
          <a:p>
            <a:pPr marL="342900" indent="-342900" defTabSz="904875">
              <a:lnSpc>
                <a:spcPct val="114000"/>
              </a:lnSpc>
              <a:buFont typeface="+mj-lt"/>
              <a:buAutoNum type="arabicPeriod"/>
              <a:tabLst>
                <a:tab pos="1257300" algn="l"/>
                <a:tab pos="3228975" algn="l"/>
              </a:tabLst>
            </a:pPr>
            <a:endParaRPr lang="en-GB" sz="1400" dirty="0">
              <a:solidFill>
                <a:srgbClr val="0070C0"/>
              </a:solidFill>
              <a:cs typeface="Times New Roman" panose="02020603050405020304" pitchFamily="18" charset="0"/>
            </a:endParaRPr>
          </a:p>
          <a:p>
            <a:pPr marL="342900" indent="-342900" defTabSz="904875">
              <a:lnSpc>
                <a:spcPct val="114000"/>
              </a:lnSpc>
              <a:buFont typeface="+mj-lt"/>
              <a:buAutoNum type="arabicPeriod"/>
              <a:tabLst>
                <a:tab pos="1257300" algn="l"/>
                <a:tab pos="3228975" algn="l"/>
              </a:tabLst>
            </a:pPr>
            <a:r>
              <a:rPr lang="en-US" sz="1400" dirty="0" err="1"/>
              <a:t>Sifringer</a:t>
            </a:r>
            <a:r>
              <a:rPr lang="en-US" sz="1400" dirty="0"/>
              <a:t>, B., </a:t>
            </a:r>
            <a:r>
              <a:rPr lang="en-US" sz="1400" dirty="0" err="1"/>
              <a:t>Lurkin</a:t>
            </a:r>
            <a:r>
              <a:rPr lang="en-US" sz="1400" dirty="0"/>
              <a:t>, V., &amp; </a:t>
            </a:r>
            <a:r>
              <a:rPr lang="en-US" sz="1400" dirty="0" err="1"/>
              <a:t>Alahi</a:t>
            </a:r>
            <a:r>
              <a:rPr lang="en-US" sz="1400" dirty="0"/>
              <a:t>, A. (2020). Enhancing discrete choice models with representation learning. </a:t>
            </a:r>
            <a:r>
              <a:rPr lang="en-US" sz="1400" i="1" dirty="0"/>
              <a:t>Transportation Research Part B: Methodological</a:t>
            </a:r>
            <a:r>
              <a:rPr lang="en-US" sz="1400" dirty="0"/>
              <a:t>, </a:t>
            </a:r>
            <a:r>
              <a:rPr lang="en-US" sz="1400" i="1" dirty="0"/>
              <a:t>140</a:t>
            </a:r>
            <a:r>
              <a:rPr lang="en-US" sz="1400" dirty="0"/>
              <a:t>, 236-261.</a:t>
            </a:r>
          </a:p>
          <a:p>
            <a:pPr marL="342900" indent="-342900" defTabSz="904875">
              <a:lnSpc>
                <a:spcPct val="114000"/>
              </a:lnSpc>
              <a:buFont typeface="+mj-lt"/>
              <a:buAutoNum type="arabicPeriod"/>
              <a:tabLst>
                <a:tab pos="1257300" algn="l"/>
                <a:tab pos="3228975" algn="l"/>
              </a:tabLst>
            </a:pPr>
            <a:endParaRPr lang="en-US" sz="1400" dirty="0"/>
          </a:p>
          <a:p>
            <a:pPr marL="342900" indent="-342900" defTabSz="904875">
              <a:lnSpc>
                <a:spcPct val="114000"/>
              </a:lnSpc>
              <a:buFont typeface="+mj-lt"/>
              <a:buAutoNum type="arabicPeriod"/>
              <a:tabLst>
                <a:tab pos="1257300" algn="l"/>
                <a:tab pos="3228975" algn="l"/>
              </a:tabLst>
            </a:pPr>
            <a:r>
              <a:rPr lang="en-GB" sz="1400" dirty="0"/>
              <a:t>Molnar, C. (2020). </a:t>
            </a:r>
            <a:r>
              <a:rPr lang="en-GB" sz="1400" i="1" dirty="0"/>
              <a:t>Interpretable machine learning</a:t>
            </a:r>
            <a:r>
              <a:rPr lang="en-GB" sz="1400" dirty="0"/>
              <a:t>. Lulu. com</a:t>
            </a:r>
            <a:endParaRPr lang="en-US" sz="1400" dirty="0"/>
          </a:p>
          <a:p>
            <a:pPr marL="0" indent="0">
              <a:buNone/>
            </a:pPr>
            <a:endParaRPr lang="en-GB" sz="1800" dirty="0">
              <a:cs typeface="Times New Roman" panose="02020603050405020304" pitchFamily="18" charset="0"/>
            </a:endParaRPr>
          </a:p>
          <a:p>
            <a:pPr marL="0" indent="0">
              <a:buNone/>
            </a:pPr>
            <a:endParaRPr lang="en-GB" sz="1800" dirty="0">
              <a:cs typeface="Times New Roman" panose="02020603050405020304" pitchFamily="18" charset="0"/>
            </a:endParaRPr>
          </a:p>
          <a:p>
            <a:endParaRPr lang="en-GB" sz="1800" dirty="0">
              <a:cs typeface="Times New Roman" panose="02020603050405020304" pitchFamily="18" charset="0"/>
            </a:endParaRPr>
          </a:p>
        </p:txBody>
      </p:sp>
      <p:sp>
        <p:nvSpPr>
          <p:cNvPr id="7" name="Slide Number Placeholder 3"/>
          <p:cNvSpPr txBox="1">
            <a:spLocks/>
          </p:cNvSpPr>
          <p:nvPr/>
        </p:nvSpPr>
        <p:spPr>
          <a:xfrm>
            <a:off x="8737600" y="6356351"/>
            <a:ext cx="2844800" cy="365125"/>
          </a:xfrm>
          <a:prstGeom prst="rect">
            <a:avLst/>
          </a:prstGeom>
        </p:spPr>
        <p:txBody>
          <a:bodyPr vert="horz" lIns="91440" tIns="45720" rIns="91440" bIns="45720" rtlCol="0" anchor="ctr"/>
          <a:lstStyle>
            <a:defPPr>
              <a:defRPr lang="nl-NL"/>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158959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6466730"/>
          </a:xfrm>
        </p:spPr>
        <p:txBody>
          <a:bodyPr/>
          <a:lstStyle/>
          <a:p>
            <a:r>
              <a:rPr lang="en-GB" sz="4000" dirty="0"/>
              <a:t>Theory-driven Models (RUM-MNL)</a:t>
            </a:r>
            <a:br>
              <a:rPr lang="en-GB" sz="4000" dirty="0"/>
            </a:br>
            <a:endParaRPr lang="en-GB" sz="40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nl-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68218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sz="4000" dirty="0"/>
              <a:t>Theory-driven vs data-driven</a:t>
            </a:r>
          </a:p>
        </p:txBody>
      </p:sp>
      <p:sp>
        <p:nvSpPr>
          <p:cNvPr id="7" name="Rounded Rectangle 6"/>
          <p:cNvSpPr/>
          <p:nvPr/>
        </p:nvSpPr>
        <p:spPr>
          <a:xfrm>
            <a:off x="2118284" y="1556792"/>
            <a:ext cx="3545667" cy="5184576"/>
          </a:xfrm>
          <a:prstGeom prst="roundRect">
            <a:avLst/>
          </a:prstGeom>
          <a:solidFill>
            <a:schemeClr val="bg1">
              <a:lumMod val="8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2118283" y="1556793"/>
            <a:ext cx="3517110"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Theory-driven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3" name="TextBox 12"/>
          <p:cNvSpPr txBox="1"/>
          <p:nvPr/>
        </p:nvSpPr>
        <p:spPr>
          <a:xfrm>
            <a:off x="2120255" y="2217054"/>
            <a:ext cx="3515139" cy="424731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1" u="none" strike="noStrike" kern="1200" cap="none" spc="0" normalizeH="0" baseline="0" noProof="0" dirty="0">
                <a:ln>
                  <a:noFill/>
                </a:ln>
                <a:solidFill>
                  <a:prstClr val="black"/>
                </a:solidFill>
                <a:effectLst/>
                <a:uLnTx/>
                <a:uFillTx/>
                <a:latin typeface="Calibri"/>
                <a:ea typeface="+mn-ea"/>
                <a:cs typeface="+mn-cs"/>
              </a:rPr>
              <a:t>Guiding principle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Data generating process is a stochastic model</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a:buChar char="à"/>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Analyst imposes </a:t>
            </a:r>
            <a:r>
              <a:rPr kumimoji="0" lang="en-GB" sz="1800" b="0" i="0" u="none" strike="noStrike" kern="1200" cap="none" spc="0" normalizeH="0" baseline="0" noProof="0" dirty="0">
                <a:ln>
                  <a:noFill/>
                </a:ln>
                <a:solidFill>
                  <a:prstClr val="black"/>
                </a:solidFill>
                <a:effectLst/>
                <a:uLnTx/>
                <a:uFillTx/>
                <a:latin typeface="Calibri"/>
                <a:ea typeface="+mn-ea"/>
                <a:cs typeface="+mn-cs"/>
              </a:rPr>
              <a:t>structure </a:t>
            </a:r>
            <a:r>
              <a:rPr kumimoji="0" lang="en-GB" sz="1800" b="1" i="0" u="none" strike="noStrike" kern="1200" cap="none" spc="0" normalizeH="0" baseline="0" noProof="0" dirty="0">
                <a:ln>
                  <a:noFill/>
                </a:ln>
                <a:solidFill>
                  <a:prstClr val="black"/>
                </a:solidFill>
                <a:effectLst/>
                <a:uLnTx/>
                <a:uFillTx/>
                <a:latin typeface="Calibri"/>
                <a:ea typeface="+mn-ea"/>
                <a:cs typeface="+mn-cs"/>
              </a:rPr>
              <a:t>based on theory</a:t>
            </a:r>
            <a:endParaRPr kumimoji="0" lang="en-GB" sz="18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Wingdings"/>
              <a:buChar char="à"/>
              <a:tabLst/>
              <a:defRPr/>
            </a:pPr>
            <a:endParaRPr kumimoji="0" lang="en-GB"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Wingdings"/>
              <a:buChar char="à"/>
              <a:tabLst/>
              <a:defRPr/>
            </a:pPr>
            <a:endParaRPr kumimoji="0" lang="en-GB"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Wingdings"/>
              <a:buChar char="à"/>
              <a:tabLst/>
              <a:defRPr/>
            </a:pPr>
            <a:endParaRPr kumimoji="0" lang="en-GB"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Wingdings"/>
              <a:buChar char="à"/>
              <a:tabLst/>
              <a:defRPr/>
            </a:pPr>
            <a:r>
              <a:rPr kumimoji="0" lang="en-GB" sz="1800" b="0" i="0" u="none" strike="noStrike" kern="1200" cap="none" spc="0" normalizeH="0" baseline="0" noProof="0" dirty="0">
                <a:ln>
                  <a:noFill/>
                </a:ln>
                <a:solidFill>
                  <a:prstClr val="black"/>
                </a:solidFill>
                <a:effectLst/>
                <a:uLnTx/>
                <a:uFillTx/>
                <a:latin typeface="Calibri"/>
                <a:ea typeface="+mn-ea"/>
                <a:cs typeface="Times New Roman" panose="02020603050405020304" pitchFamily="18" charset="0"/>
              </a:rPr>
              <a:t>Set of parameters, sign. levels</a:t>
            </a:r>
          </a:p>
        </p:txBody>
      </p:sp>
      <p:grpSp>
        <p:nvGrpSpPr>
          <p:cNvPr id="14" name="Group 13"/>
          <p:cNvGrpSpPr/>
          <p:nvPr/>
        </p:nvGrpSpPr>
        <p:grpSpPr>
          <a:xfrm>
            <a:off x="2160609" y="4446474"/>
            <a:ext cx="3515138" cy="1934855"/>
            <a:chOff x="755576" y="4833156"/>
            <a:chExt cx="3407127" cy="1934855"/>
          </a:xfrm>
        </p:grpSpPr>
        <p:pic>
          <p:nvPicPr>
            <p:cNvPr id="15" name="Picture 14"/>
            <p:cNvPicPr>
              <a:picLocks noChangeAspect="1"/>
            </p:cNvPicPr>
            <p:nvPr/>
          </p:nvPicPr>
          <p:blipFill rotWithShape="1">
            <a:blip r:embed="rId3">
              <a:extLst>
                <a:ext uri="{28A0092B-C50C-407E-A947-70E740481C1C}">
                  <a14:useLocalDpi xmlns:a14="http://schemas.microsoft.com/office/drawing/2010/main" val="0"/>
                </a:ext>
              </a:extLst>
            </a:blip>
            <a:srcRect l="24285" r="22762"/>
            <a:stretch/>
          </p:blipFill>
          <p:spPr>
            <a:xfrm>
              <a:off x="755576" y="4833156"/>
              <a:ext cx="3407127" cy="1934855"/>
            </a:xfrm>
            <a:prstGeom prst="rect">
              <a:avLst/>
            </a:prstGeom>
          </p:spPr>
        </p:pic>
        <p:sp>
          <p:nvSpPr>
            <p:cNvPr id="16" name="Rectangle 15"/>
            <p:cNvSpPr/>
            <p:nvPr/>
          </p:nvSpPr>
          <p:spPr>
            <a:xfrm>
              <a:off x="1778227" y="5625244"/>
              <a:ext cx="1081828" cy="43204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1" i="1" u="none" strike="noStrike" kern="1200" cap="none" spc="0" normalizeH="0" baseline="0" noProof="0" dirty="0">
                  <a:ln>
                    <a:noFill/>
                  </a:ln>
                  <a:solidFill>
                    <a:prstClr val="white"/>
                  </a:solidFill>
                  <a:effectLst/>
                  <a:uLnTx/>
                  <a:uFillTx/>
                  <a:latin typeface="Calibri"/>
                  <a:ea typeface="+mn-ea"/>
                  <a:cs typeface="+mn-cs"/>
                </a:rPr>
                <a:t>f</a:t>
              </a:r>
              <a:r>
                <a:rPr kumimoji="0" lang="en-GB" sz="2000" b="1" i="0" u="none" strike="noStrike" kern="1200" cap="none" spc="0" normalizeH="0" baseline="0" noProof="0" dirty="0">
                  <a:ln>
                    <a:noFill/>
                  </a:ln>
                  <a:solidFill>
                    <a:prstClr val="white"/>
                  </a:solidFill>
                  <a:effectLst/>
                  <a:uLnTx/>
                  <a:uFillTx/>
                  <a:latin typeface="Calibri"/>
                  <a:ea typeface="+mn-ea"/>
                  <a:cs typeface="+mn-cs"/>
                </a:rPr>
                <a:t> := </a:t>
              </a:r>
              <a:r>
                <a:rPr kumimoji="0" lang="en-GB" sz="2000" b="1" i="1" u="none" strike="noStrike" kern="1200" cap="none" spc="0" normalizeH="0" baseline="0" noProof="0" dirty="0">
                  <a:ln>
                    <a:noFill/>
                  </a:ln>
                  <a:solidFill>
                    <a:prstClr val="white"/>
                  </a:solidFill>
                  <a:effectLst/>
                  <a:uLnTx/>
                  <a:uFillTx/>
                  <a:latin typeface="Calibri"/>
                  <a:ea typeface="+mn-ea"/>
                  <a:cs typeface="+mn-cs"/>
                </a:rPr>
                <a:t>X</a:t>
              </a:r>
              <a:r>
                <a:rPr kumimoji="0" lang="en-GB" sz="1600" b="1" i="0" u="none" strike="noStrike" kern="1200" cap="none" spc="0" normalizeH="0" baseline="0" noProof="0" dirty="0">
                  <a:ln>
                    <a:noFill/>
                  </a:ln>
                  <a:solidFill>
                    <a:prstClr val="white"/>
                  </a:solidFill>
                  <a:effectLst/>
                  <a:uLnTx/>
                  <a:uFillTx/>
                  <a:latin typeface="Calibri"/>
                  <a:ea typeface="+mn-ea"/>
                  <a:cs typeface="+mn-cs"/>
                </a:rPr>
                <a:t>→</a:t>
              </a:r>
              <a:r>
                <a:rPr kumimoji="0" lang="en-GB" sz="2000" b="1" i="1" u="none" strike="noStrike" kern="1200" cap="none" spc="0" normalizeH="0" baseline="0" noProof="0" dirty="0">
                  <a:ln>
                    <a:noFill/>
                  </a:ln>
                  <a:solidFill>
                    <a:prstClr val="white"/>
                  </a:solidFill>
                  <a:effectLst/>
                  <a:uLnTx/>
                  <a:uFillTx/>
                  <a:latin typeface="Calibri"/>
                  <a:ea typeface="+mn-ea"/>
                  <a:cs typeface="+mn-cs"/>
                </a:rPr>
                <a:t>Y</a:t>
              </a:r>
              <a:endParaRPr kumimoji="0" lang="en-GB" sz="2000" b="1"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3" name="TextBox 2"/>
          <p:cNvSpPr txBox="1"/>
          <p:nvPr/>
        </p:nvSpPr>
        <p:spPr>
          <a:xfrm>
            <a:off x="6068156" y="1628800"/>
            <a:ext cx="6004508" cy="50783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0C0"/>
                </a:solidFill>
                <a:effectLst/>
                <a:uLnTx/>
                <a:uFillTx/>
                <a:latin typeface="Calibri"/>
                <a:ea typeface="+mn-ea"/>
                <a:cs typeface="+mn-cs"/>
              </a:rPr>
              <a:t>How does this work out in choice modelling?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70C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70C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70C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70C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70C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70C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70C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0C0"/>
                </a:solidFill>
                <a:effectLst/>
                <a:uLnTx/>
                <a:uFillTx/>
                <a:latin typeface="Calibri"/>
                <a:ea typeface="+mn-ea"/>
                <a:cs typeface="+mn-cs"/>
              </a:rPr>
              <a:t>Random Utility Theory: </a:t>
            </a:r>
            <a:r>
              <a:rPr kumimoji="0" lang="en-US" sz="1800" b="0" i="0" u="none" strike="noStrike" kern="1200" cap="none" spc="0" normalizeH="0" baseline="0" noProof="0" dirty="0">
                <a:ln>
                  <a:noFill/>
                </a:ln>
                <a:solidFill>
                  <a:srgbClr val="0070C0"/>
                </a:solidFill>
                <a:effectLst/>
                <a:uLnTx/>
                <a:uFillTx/>
                <a:latin typeface="Calibri"/>
                <a:ea typeface="+mn-ea"/>
                <a:cs typeface="+mn-cs"/>
                <a:sym typeface="Wingdings" panose="05000000000000000000" pitchFamily="2" charset="2"/>
              </a:rPr>
              <a:t>Samuelson 1948Luce 1959  Lancaster 1966  McFadden, 1974</a:t>
            </a:r>
            <a:endParaRPr kumimoji="0" lang="en-US" sz="1800" b="0" i="0" u="none" strike="noStrike" kern="1200" cap="none" spc="0" normalizeH="0" baseline="0" noProof="0" dirty="0">
              <a:ln>
                <a:noFill/>
              </a:ln>
              <a:solidFill>
                <a:srgbClr val="0070C0"/>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Calibri" panose="020F0502020204030204" pitchFamily="34" charset="0"/>
              <a:buChar char="₋"/>
              <a:tabLst/>
              <a:defRPr/>
            </a:pPr>
            <a:r>
              <a:rPr kumimoji="0" lang="en-US" sz="1800" b="0" i="0" u="none" strike="noStrike" kern="1200" cap="none" spc="0" normalizeH="0" baseline="0" noProof="0" dirty="0">
                <a:ln>
                  <a:noFill/>
                </a:ln>
                <a:solidFill>
                  <a:srgbClr val="0070C0"/>
                </a:solidFill>
                <a:effectLst/>
                <a:uLnTx/>
                <a:uFillTx/>
                <a:latin typeface="Calibri"/>
                <a:ea typeface="+mn-ea"/>
                <a:cs typeface="+mn-cs"/>
              </a:rPr>
              <a:t>Alternative </a:t>
            </a:r>
            <a:r>
              <a:rPr kumimoji="0" lang="en-US" sz="1800" b="0" i="1" u="none" strike="noStrike" kern="1200" cap="none" spc="0" normalizeH="0" baseline="0" noProof="0" dirty="0" err="1">
                <a:ln>
                  <a:noFill/>
                </a:ln>
                <a:solidFill>
                  <a:srgbClr val="0070C0"/>
                </a:solidFill>
                <a:effectLst/>
                <a:uLnTx/>
                <a:uFillTx/>
                <a:latin typeface="Calibri"/>
                <a:ea typeface="+mn-ea"/>
                <a:cs typeface="+mn-cs"/>
              </a:rPr>
              <a:t>i</a:t>
            </a:r>
            <a:r>
              <a:rPr kumimoji="0" lang="en-US" sz="1800" b="0" i="0" u="none" strike="noStrike" kern="1200" cap="none" spc="0" normalizeH="0" baseline="0" noProof="0" dirty="0">
                <a:ln>
                  <a:noFill/>
                </a:ln>
                <a:solidFill>
                  <a:srgbClr val="0070C0"/>
                </a:solidFill>
                <a:effectLst/>
                <a:uLnTx/>
                <a:uFillTx/>
                <a:latin typeface="Calibri"/>
                <a:ea typeface="+mn-ea"/>
                <a:cs typeface="+mn-cs"/>
              </a:rPr>
              <a:t> is chosen if and only if </a:t>
            </a:r>
            <a:r>
              <a:rPr kumimoji="0" lang="en-US" sz="1800" b="0" i="1" u="none" strike="noStrike" kern="1200" cap="none" spc="0" normalizeH="0" baseline="0" noProof="0" dirty="0" err="1">
                <a:ln>
                  <a:noFill/>
                </a:ln>
                <a:solidFill>
                  <a:srgbClr val="0070C0"/>
                </a:solidFill>
                <a:effectLst/>
                <a:uLnTx/>
                <a:uFillTx/>
                <a:latin typeface="Calibri"/>
                <a:ea typeface="+mn-ea"/>
                <a:cs typeface="+mn-cs"/>
              </a:rPr>
              <a:t>U</a:t>
            </a:r>
            <a:r>
              <a:rPr kumimoji="0" lang="en-US" sz="1800" b="0" i="1" u="none" strike="noStrike" kern="1200" cap="none" spc="0" normalizeH="0" baseline="-25000" noProof="0" dirty="0" err="1">
                <a:ln>
                  <a:noFill/>
                </a:ln>
                <a:solidFill>
                  <a:srgbClr val="0070C0"/>
                </a:solidFill>
                <a:effectLst/>
                <a:uLnTx/>
                <a:uFillTx/>
                <a:latin typeface="Calibri"/>
                <a:ea typeface="+mn-ea"/>
                <a:cs typeface="+mn-cs"/>
              </a:rPr>
              <a:t>i</a:t>
            </a:r>
            <a:r>
              <a:rPr kumimoji="0" lang="en-US" sz="1800" b="0" i="0" u="none" strike="noStrike" kern="1200" cap="none" spc="0" normalizeH="0" baseline="0" noProof="0" dirty="0">
                <a:ln>
                  <a:noFill/>
                </a:ln>
                <a:solidFill>
                  <a:srgbClr val="0070C0"/>
                </a:solidFill>
                <a:effectLst/>
                <a:uLnTx/>
                <a:uFillTx/>
                <a:latin typeface="Calibri"/>
                <a:ea typeface="+mn-ea"/>
                <a:cs typeface="+mn-cs"/>
              </a:rPr>
              <a:t> &gt; </a:t>
            </a:r>
            <a:r>
              <a:rPr kumimoji="0" lang="en-US" sz="1800" b="0" i="1" u="none" strike="noStrike" kern="1200" cap="none" spc="0" normalizeH="0" baseline="0" noProof="0" dirty="0" err="1">
                <a:ln>
                  <a:noFill/>
                </a:ln>
                <a:solidFill>
                  <a:srgbClr val="0070C0"/>
                </a:solidFill>
                <a:effectLst/>
                <a:uLnTx/>
                <a:uFillTx/>
                <a:latin typeface="Calibri"/>
                <a:ea typeface="+mn-ea"/>
                <a:cs typeface="+mn-cs"/>
              </a:rPr>
              <a:t>U</a:t>
            </a:r>
            <a:r>
              <a:rPr kumimoji="0" lang="en-US" sz="1800" b="0" i="1" u="none" strike="noStrike" kern="1200" cap="none" spc="0" normalizeH="0" baseline="-25000" noProof="0" dirty="0" err="1">
                <a:ln>
                  <a:noFill/>
                </a:ln>
                <a:solidFill>
                  <a:srgbClr val="0070C0"/>
                </a:solidFill>
                <a:effectLst/>
                <a:uLnTx/>
                <a:uFillTx/>
                <a:latin typeface="Calibri"/>
                <a:ea typeface="+mn-ea"/>
                <a:cs typeface="+mn-cs"/>
              </a:rPr>
              <a:t>j</a:t>
            </a:r>
            <a:r>
              <a:rPr kumimoji="0" lang="en-US" sz="1800" b="0" i="0" u="none" strike="noStrike" kern="1200" cap="none" spc="0" normalizeH="0" baseline="0" noProof="0" dirty="0">
                <a:ln>
                  <a:noFill/>
                </a:ln>
                <a:solidFill>
                  <a:srgbClr val="0070C0"/>
                </a:solidFill>
                <a:effectLst/>
                <a:uLnTx/>
                <a:uFillTx/>
                <a:latin typeface="Calibri"/>
                <a:ea typeface="+mn-ea"/>
                <a:cs typeface="+mn-cs"/>
              </a:rPr>
              <a:t> ∀ </a:t>
            </a:r>
            <a:r>
              <a:rPr kumimoji="0" lang="en-US" sz="1800" b="0" i="1" u="none" strike="noStrike" kern="1200" cap="none" spc="0" normalizeH="0" baseline="0" noProof="0" dirty="0">
                <a:ln>
                  <a:noFill/>
                </a:ln>
                <a:solidFill>
                  <a:srgbClr val="0070C0"/>
                </a:solidFill>
                <a:effectLst/>
                <a:uLnTx/>
                <a:uFillTx/>
                <a:latin typeface="Calibri"/>
                <a:ea typeface="+mn-ea"/>
                <a:cs typeface="+mn-cs"/>
              </a:rPr>
              <a:t>j</a:t>
            </a:r>
            <a:r>
              <a:rPr kumimoji="0" lang="en-US" sz="1800" b="0" i="0" u="none" strike="noStrike" kern="1200" cap="none" spc="0" normalizeH="0" baseline="0" noProof="0" dirty="0">
                <a:ln>
                  <a:noFill/>
                </a:ln>
                <a:solidFill>
                  <a:srgbClr val="0070C0"/>
                </a:solidFill>
                <a:effectLst/>
                <a:uLnTx/>
                <a:uFillTx/>
                <a:latin typeface="Calibri"/>
                <a:ea typeface="+mn-ea"/>
                <a:cs typeface="+mn-cs"/>
              </a:rPr>
              <a:t> ≠ </a:t>
            </a:r>
            <a:r>
              <a:rPr kumimoji="0" lang="en-US" sz="1800" b="0" i="1" u="none" strike="noStrike" kern="1200" cap="none" spc="0" normalizeH="0" baseline="0" noProof="0" dirty="0" err="1">
                <a:ln>
                  <a:noFill/>
                </a:ln>
                <a:solidFill>
                  <a:srgbClr val="0070C0"/>
                </a:solidFill>
                <a:effectLst/>
                <a:uLnTx/>
                <a:uFillTx/>
                <a:latin typeface="Calibri"/>
                <a:ea typeface="+mn-ea"/>
                <a:cs typeface="+mn-cs"/>
              </a:rPr>
              <a:t>i</a:t>
            </a:r>
            <a:endParaRPr kumimoji="0" lang="en-US" sz="1800" b="0" i="1" u="none" strike="noStrike" kern="1200" cap="none" spc="0" normalizeH="0" baseline="0" noProof="0" dirty="0">
              <a:ln>
                <a:noFill/>
              </a:ln>
              <a:solidFill>
                <a:srgbClr val="0070C0"/>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Calibri" panose="020F0502020204030204" pitchFamily="34" charset="0"/>
              <a:buChar char="₋"/>
              <a:tabLst/>
              <a:defRPr/>
            </a:pPr>
            <a:endParaRPr kumimoji="0" lang="en-US" sz="1800" b="0" i="1" u="none" strike="noStrike" kern="1200" cap="none" spc="0" normalizeH="0" baseline="0" noProof="0" dirty="0">
              <a:ln>
                <a:noFill/>
              </a:ln>
              <a:solidFill>
                <a:srgbClr val="0070C0"/>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Calibri" panose="020F0502020204030204" pitchFamily="34" charset="0"/>
              <a:buChar char="₋"/>
              <a:tabLst/>
              <a:defRPr/>
            </a:pPr>
            <a:r>
              <a:rPr kumimoji="0" lang="en-US" sz="1800" b="0" i="1" u="none" strike="noStrike" kern="1200" cap="none" spc="0" normalizeH="0" baseline="0" noProof="0" dirty="0" err="1">
                <a:ln>
                  <a:noFill/>
                </a:ln>
                <a:solidFill>
                  <a:srgbClr val="0070C0"/>
                </a:solidFill>
                <a:effectLst/>
                <a:uLnTx/>
                <a:uFillTx/>
                <a:latin typeface="Calibri"/>
                <a:ea typeface="+mn-ea"/>
                <a:cs typeface="+mn-cs"/>
              </a:rPr>
              <a:t>U</a:t>
            </a:r>
            <a:r>
              <a:rPr kumimoji="0" lang="en-US" sz="1800" b="0" i="1" u="none" strike="noStrike" kern="1200" cap="none" spc="0" normalizeH="0" baseline="-25000" noProof="0" dirty="0" err="1">
                <a:ln>
                  <a:noFill/>
                </a:ln>
                <a:solidFill>
                  <a:srgbClr val="0070C0"/>
                </a:solidFill>
                <a:effectLst/>
                <a:uLnTx/>
                <a:uFillTx/>
                <a:latin typeface="Calibri"/>
                <a:ea typeface="+mn-ea"/>
                <a:cs typeface="+mn-cs"/>
              </a:rPr>
              <a:t>i</a:t>
            </a:r>
            <a:r>
              <a:rPr kumimoji="0" lang="en-US" sz="1800" b="0" i="1" u="none" strike="noStrike" kern="1200" cap="none" spc="0" normalizeH="0" baseline="0" noProof="0" dirty="0">
                <a:ln>
                  <a:noFill/>
                </a:ln>
                <a:solidFill>
                  <a:srgbClr val="0070C0"/>
                </a:solidFill>
                <a:effectLst/>
                <a:uLnTx/>
                <a:uFillTx/>
                <a:latin typeface="Calibri"/>
                <a:ea typeface="+mn-ea"/>
                <a:cs typeface="+mn-cs"/>
              </a:rPr>
              <a:t> = V</a:t>
            </a:r>
            <a:r>
              <a:rPr kumimoji="0" lang="en-US" sz="1800" b="0" i="1" u="none" strike="noStrike" kern="1200" cap="none" spc="0" normalizeH="0" baseline="-25000" noProof="0" dirty="0">
                <a:ln>
                  <a:noFill/>
                </a:ln>
                <a:solidFill>
                  <a:srgbClr val="0070C0"/>
                </a:solidFill>
                <a:effectLst/>
                <a:uLnTx/>
                <a:uFillTx/>
                <a:latin typeface="Calibri"/>
                <a:ea typeface="+mn-ea"/>
                <a:cs typeface="+mn-cs"/>
              </a:rPr>
              <a:t>i</a:t>
            </a:r>
            <a:r>
              <a:rPr kumimoji="0" lang="en-US" sz="1800" b="0" i="1" u="none" strike="noStrike" kern="1200" cap="none" spc="0" normalizeH="0" baseline="0" noProof="0" dirty="0">
                <a:ln>
                  <a:noFill/>
                </a:ln>
                <a:solidFill>
                  <a:srgbClr val="0070C0"/>
                </a:solidFill>
                <a:effectLst/>
                <a:uLnTx/>
                <a:uFillTx/>
                <a:latin typeface="Calibri"/>
                <a:ea typeface="+mn-ea"/>
                <a:cs typeface="+mn-cs"/>
              </a:rPr>
              <a:t> + </a:t>
            </a:r>
            <a:r>
              <a:rPr kumimoji="0" lang="el-GR" sz="1800" b="0" i="1" u="none" strike="noStrike" kern="1200" cap="none" spc="0" normalizeH="0" baseline="0" noProof="0" dirty="0">
                <a:ln>
                  <a:noFill/>
                </a:ln>
                <a:solidFill>
                  <a:srgbClr val="0070C0"/>
                </a:solidFill>
                <a:effectLst/>
                <a:uLnTx/>
                <a:uFillTx/>
                <a:latin typeface="Calibri"/>
                <a:ea typeface="+mn-ea"/>
                <a:cs typeface="+mn-cs"/>
              </a:rPr>
              <a:t>ε</a:t>
            </a:r>
            <a:r>
              <a:rPr kumimoji="0" lang="en-US" sz="1800" b="0" i="1" u="none" strike="noStrike" kern="1200" cap="none" spc="0" normalizeH="0" baseline="-25000" noProof="0" dirty="0" err="1">
                <a:ln>
                  <a:noFill/>
                </a:ln>
                <a:solidFill>
                  <a:srgbClr val="0070C0"/>
                </a:solidFill>
                <a:effectLst/>
                <a:uLnTx/>
                <a:uFillTx/>
                <a:latin typeface="Calibri"/>
                <a:ea typeface="+mn-ea"/>
                <a:cs typeface="+mn-cs"/>
              </a:rPr>
              <a:t>i</a:t>
            </a:r>
            <a:r>
              <a:rPr kumimoji="0" lang="en-US" sz="1800" b="0" i="1" u="none" strike="noStrike" kern="1200" cap="none" spc="0" normalizeH="0" baseline="0" noProof="0" dirty="0">
                <a:ln>
                  <a:noFill/>
                </a:ln>
                <a:solidFill>
                  <a:srgbClr val="0070C0"/>
                </a:solidFill>
                <a:effectLst/>
                <a:uLnTx/>
                <a:uFillTx/>
                <a:latin typeface="Calibri"/>
                <a:ea typeface="+mn-ea"/>
                <a:cs typeface="+mn-cs"/>
              </a:rPr>
              <a:t> </a:t>
            </a:r>
          </a:p>
          <a:p>
            <a:pPr marL="285750" marR="0" lvl="0" indent="-285750" algn="l" defTabSz="914400" rtl="0" eaLnBrk="1" fontAlgn="auto" latinLnBrk="0" hangingPunct="1">
              <a:lnSpc>
                <a:spcPct val="100000"/>
              </a:lnSpc>
              <a:spcBef>
                <a:spcPts val="0"/>
              </a:spcBef>
              <a:spcAft>
                <a:spcPts val="0"/>
              </a:spcAft>
              <a:buClrTx/>
              <a:buSzTx/>
              <a:buFont typeface="Calibri" panose="020F0502020204030204" pitchFamily="34" charset="0"/>
              <a:buChar char="₋"/>
              <a:tabLst/>
              <a:defRPr/>
            </a:pPr>
            <a:endParaRPr kumimoji="0" lang="en-US" sz="1800" b="0" i="1" u="none" strike="noStrike" kern="1200" cap="none" spc="0" normalizeH="0" baseline="0" noProof="0" dirty="0">
              <a:ln>
                <a:noFill/>
              </a:ln>
              <a:solidFill>
                <a:srgbClr val="0070C0"/>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Calibri" panose="020F0502020204030204" pitchFamily="34" charset="0"/>
              <a:buChar char="₋"/>
              <a:tabLst/>
              <a:defRPr/>
            </a:pPr>
            <a:r>
              <a:rPr kumimoji="0" lang="en-US" sz="1800" b="0" i="1" u="none" strike="noStrike" kern="1200" cap="none" spc="0" normalizeH="0" baseline="0" noProof="0" dirty="0">
                <a:ln>
                  <a:noFill/>
                </a:ln>
                <a:solidFill>
                  <a:srgbClr val="0070C0"/>
                </a:solidFill>
                <a:effectLst/>
                <a:uLnTx/>
                <a:uFillTx/>
                <a:latin typeface="Calibri"/>
                <a:ea typeface="+mn-ea"/>
                <a:cs typeface="+mn-cs"/>
              </a:rPr>
              <a:t>V</a:t>
            </a:r>
            <a:r>
              <a:rPr kumimoji="0" lang="en-US" sz="1800" b="0" i="1" u="none" strike="noStrike" kern="1200" cap="none" spc="0" normalizeH="0" baseline="-25000" noProof="0" dirty="0">
                <a:ln>
                  <a:noFill/>
                </a:ln>
                <a:solidFill>
                  <a:srgbClr val="0070C0"/>
                </a:solidFill>
                <a:effectLst/>
                <a:uLnTx/>
                <a:uFillTx/>
                <a:latin typeface="Calibri"/>
                <a:ea typeface="+mn-ea"/>
                <a:cs typeface="+mn-cs"/>
              </a:rPr>
              <a:t>i</a:t>
            </a:r>
            <a:r>
              <a:rPr kumimoji="0" lang="en-US" sz="1800" b="0" i="1" u="none" strike="noStrike" kern="1200" cap="none" spc="0" normalizeH="0" baseline="0" noProof="0" dirty="0">
                <a:ln>
                  <a:noFill/>
                </a:ln>
                <a:solidFill>
                  <a:srgbClr val="0070C0"/>
                </a:solidFill>
                <a:effectLst/>
                <a:uLnTx/>
                <a:uFillTx/>
                <a:latin typeface="Calibri"/>
                <a:ea typeface="+mn-ea"/>
                <a:cs typeface="+mn-cs"/>
              </a:rPr>
              <a:t> = f(</a:t>
            </a:r>
            <a:r>
              <a:rPr kumimoji="0" lang="en-US" sz="1800" b="0" i="1" u="none" strike="noStrike" kern="1200" cap="none" spc="0" normalizeH="0" baseline="0" noProof="0" dirty="0" err="1">
                <a:ln>
                  <a:noFill/>
                </a:ln>
                <a:solidFill>
                  <a:srgbClr val="0070C0"/>
                </a:solidFill>
                <a:effectLst/>
                <a:uLnTx/>
                <a:uFillTx/>
                <a:latin typeface="Calibri"/>
                <a:ea typeface="+mn-ea"/>
                <a:cs typeface="+mn-cs"/>
              </a:rPr>
              <a:t>x</a:t>
            </a:r>
            <a:r>
              <a:rPr kumimoji="0" lang="en-US" sz="1800" b="0" i="1" u="none" strike="noStrike" kern="1200" cap="none" spc="0" normalizeH="0" baseline="-25000" noProof="0" dirty="0" err="1">
                <a:ln>
                  <a:noFill/>
                </a:ln>
                <a:solidFill>
                  <a:srgbClr val="0070C0"/>
                </a:solidFill>
                <a:effectLst/>
                <a:uLnTx/>
                <a:uFillTx/>
                <a:latin typeface="Calibri"/>
                <a:ea typeface="+mn-ea"/>
                <a:cs typeface="+mn-cs"/>
              </a:rPr>
              <a:t>im</a:t>
            </a:r>
            <a:r>
              <a:rPr kumimoji="0" lang="en-US" sz="1800" b="0" i="1" u="none" strike="noStrike" kern="1200" cap="none" spc="0" normalizeH="0" baseline="0" noProof="0" dirty="0">
                <a:ln>
                  <a:noFill/>
                </a:ln>
                <a:solidFill>
                  <a:srgbClr val="0070C0"/>
                </a:solidFill>
                <a:effectLst/>
                <a:uLnTx/>
                <a:uFillTx/>
                <a:latin typeface="Calibri"/>
                <a:ea typeface="+mn-ea"/>
                <a:cs typeface="+mn-cs"/>
              </a:rPr>
              <a:t>,</a:t>
            </a:r>
            <a:r>
              <a:rPr kumimoji="0" lang="el-GR" sz="1800" b="0" i="0" u="none" strike="noStrike" kern="1200" cap="none" spc="0" normalizeH="0" baseline="0" noProof="0" dirty="0">
                <a:ln>
                  <a:noFill/>
                </a:ln>
                <a:solidFill>
                  <a:srgbClr val="0070C0"/>
                </a:solidFill>
                <a:effectLst/>
                <a:uLnTx/>
                <a:uFillTx/>
                <a:latin typeface="Calibri"/>
                <a:ea typeface="+mn-ea"/>
                <a:cs typeface="+mn-cs"/>
              </a:rPr>
              <a:t>β</a:t>
            </a:r>
            <a:r>
              <a:rPr kumimoji="0" lang="en-US" sz="1800" b="0" i="1" u="none" strike="noStrike" kern="1200" cap="none" spc="0" normalizeH="0" baseline="0" noProof="0" dirty="0">
                <a:ln>
                  <a:noFill/>
                </a:ln>
                <a:solidFill>
                  <a:srgbClr val="0070C0"/>
                </a:solidFill>
                <a:effectLst/>
                <a:uLnTx/>
                <a:uFillTx/>
                <a:latin typeface="Calibri"/>
                <a:ea typeface="+mn-ea"/>
                <a:cs typeface="+mn-cs"/>
              </a:rPr>
              <a:t>), </a:t>
            </a:r>
            <a:r>
              <a:rPr kumimoji="0" lang="el-GR" sz="1800" b="0" i="1" u="none" strike="noStrike" kern="1200" cap="none" spc="0" normalizeH="0" baseline="0" noProof="0" dirty="0">
                <a:ln>
                  <a:noFill/>
                </a:ln>
                <a:solidFill>
                  <a:srgbClr val="0070C0"/>
                </a:solidFill>
                <a:effectLst/>
                <a:uLnTx/>
                <a:uFillTx/>
                <a:latin typeface="Calibri"/>
                <a:ea typeface="+mn-ea"/>
                <a:cs typeface="+mn-cs"/>
              </a:rPr>
              <a:t>ε</a:t>
            </a:r>
            <a:r>
              <a:rPr kumimoji="0" lang="en-US" sz="1800" b="0" i="1" u="none" strike="noStrike" kern="1200" cap="none" spc="0" normalizeH="0" baseline="-25000" noProof="0" dirty="0" err="1">
                <a:ln>
                  <a:noFill/>
                </a:ln>
                <a:solidFill>
                  <a:srgbClr val="0070C0"/>
                </a:solidFill>
                <a:effectLst/>
                <a:uLnTx/>
                <a:uFillTx/>
                <a:latin typeface="Calibri"/>
                <a:ea typeface="+mn-ea"/>
                <a:cs typeface="+mn-cs"/>
              </a:rPr>
              <a:t>i</a:t>
            </a:r>
            <a:r>
              <a:rPr kumimoji="0" lang="en-US" sz="1800" b="0" i="1" u="none" strike="noStrike" kern="1200" cap="none" spc="0" normalizeH="0" baseline="0" noProof="0" dirty="0">
                <a:ln>
                  <a:noFill/>
                </a:ln>
                <a:solidFill>
                  <a:srgbClr val="0070C0"/>
                </a:solidFill>
                <a:effectLst/>
                <a:uLnTx/>
                <a:uFillTx/>
                <a:latin typeface="Calibri"/>
                <a:ea typeface="+mn-ea"/>
                <a:cs typeface="+mn-cs"/>
              </a:rPr>
              <a:t> ~ G(◦)</a:t>
            </a:r>
          </a:p>
          <a:p>
            <a:pPr marL="285750" marR="0" lvl="0" indent="-285750" algn="l" defTabSz="914400" rtl="0" eaLnBrk="1" fontAlgn="auto" latinLnBrk="0" hangingPunct="1">
              <a:lnSpc>
                <a:spcPct val="100000"/>
              </a:lnSpc>
              <a:spcBef>
                <a:spcPts val="0"/>
              </a:spcBef>
              <a:spcAft>
                <a:spcPts val="0"/>
              </a:spcAft>
              <a:buClrTx/>
              <a:buSzTx/>
              <a:buFont typeface="Calibri" panose="020F0502020204030204" pitchFamily="34" charset="0"/>
              <a:buChar char="₋"/>
              <a:tabLst/>
              <a:defRPr/>
            </a:pPr>
            <a:endParaRPr kumimoji="0" lang="en-US" sz="1800" b="0" i="1" u="none" strike="noStrike" kern="1200" cap="none" spc="0" normalizeH="0" baseline="0" noProof="0" dirty="0">
              <a:ln>
                <a:noFill/>
              </a:ln>
              <a:solidFill>
                <a:srgbClr val="0070C0"/>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Calibri" panose="020F0502020204030204" pitchFamily="34" charset="0"/>
              <a:buChar char="₋"/>
              <a:tabLst/>
              <a:defRPr/>
            </a:pPr>
            <a:r>
              <a:rPr kumimoji="0" lang="en-US" sz="1800" b="0" i="0" u="none" strike="noStrike" kern="1200" cap="none" spc="0" normalizeH="0" baseline="0" noProof="0" dirty="0">
                <a:ln>
                  <a:noFill/>
                </a:ln>
                <a:solidFill>
                  <a:srgbClr val="0070C0"/>
                </a:solidFill>
                <a:effectLst/>
                <a:uLnTx/>
                <a:uFillTx/>
                <a:latin typeface="Calibri"/>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dirty="0">
              <a:ln>
                <a:noFill/>
              </a:ln>
              <a:solidFill>
                <a:srgbClr val="0070C0"/>
              </a:solidFill>
              <a:effectLst/>
              <a:uLnTx/>
              <a:uFillTx/>
              <a:latin typeface="Calibri"/>
              <a:ea typeface="+mn-ea"/>
              <a:cs typeface="+mn-cs"/>
            </a:endParaRPr>
          </a:p>
        </p:txBody>
      </p:sp>
      <p:grpSp>
        <p:nvGrpSpPr>
          <p:cNvPr id="68" name="Group 67"/>
          <p:cNvGrpSpPr/>
          <p:nvPr/>
        </p:nvGrpSpPr>
        <p:grpSpPr>
          <a:xfrm>
            <a:off x="6240016" y="2145975"/>
            <a:ext cx="4048700" cy="1572162"/>
            <a:chOff x="6311159" y="4809167"/>
            <a:chExt cx="4048700" cy="1572162"/>
          </a:xfrm>
        </p:grpSpPr>
        <p:cxnSp>
          <p:nvCxnSpPr>
            <p:cNvPr id="36" name="Straight Arrow Connector 35"/>
            <p:cNvCxnSpPr/>
            <p:nvPr/>
          </p:nvCxnSpPr>
          <p:spPr>
            <a:xfrm>
              <a:off x="7122910" y="5502661"/>
              <a:ext cx="456993"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6311159" y="5177212"/>
              <a:ext cx="953765"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0070C0"/>
                  </a:solidFill>
                  <a:effectLst/>
                  <a:uLnTx/>
                  <a:uFillTx/>
                  <a:latin typeface="Gadugi" panose="020B0502040204020203" pitchFamily="34" charset="0"/>
                  <a:ea typeface="Gadugi" panose="020B0502040204020203" pitchFamily="34" charset="0"/>
                  <a:cs typeface="+mn-cs"/>
                </a:rPr>
                <a:t>Choice task</a:t>
              </a:r>
            </a:p>
          </p:txBody>
        </p:sp>
        <p:sp>
          <p:nvSpPr>
            <p:cNvPr id="38" name="TextBox 37"/>
            <p:cNvSpPr txBox="1"/>
            <p:nvPr/>
          </p:nvSpPr>
          <p:spPr>
            <a:xfrm>
              <a:off x="9432399" y="5333384"/>
              <a:ext cx="92746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0070C0"/>
                  </a:solidFill>
                  <a:effectLst/>
                  <a:uLnTx/>
                  <a:uFillTx/>
                  <a:latin typeface="Gadugi" panose="020B0502040204020203" pitchFamily="34" charset="0"/>
                  <a:ea typeface="Gadugi" panose="020B0502040204020203" pitchFamily="34" charset="0"/>
                  <a:cs typeface="+mn-cs"/>
                </a:rPr>
                <a:t>Choice</a:t>
              </a:r>
            </a:p>
          </p:txBody>
        </p:sp>
        <p:pic>
          <p:nvPicPr>
            <p:cNvPr id="45" name="Picture 6" descr="Afbeeldingsresultaat voor psychological factors ic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69130" y="4809167"/>
              <a:ext cx="1127856" cy="1572162"/>
            </a:xfrm>
            <a:prstGeom prst="rect">
              <a:avLst/>
            </a:prstGeom>
            <a:noFill/>
            <a:extLst>
              <a:ext uri="{909E8E84-426E-40DD-AFC4-6F175D3DCCD1}">
                <a14:hiddenFill xmlns:a14="http://schemas.microsoft.com/office/drawing/2010/main">
                  <a:solidFill>
                    <a:srgbClr val="FFFFFF"/>
                  </a:solidFill>
                </a14:hiddenFill>
              </a:ext>
            </a:extLst>
          </p:spPr>
        </p:pic>
        <p:cxnSp>
          <p:nvCxnSpPr>
            <p:cNvPr id="67" name="Straight Arrow Connector 66"/>
            <p:cNvCxnSpPr/>
            <p:nvPr/>
          </p:nvCxnSpPr>
          <p:spPr>
            <a:xfrm>
              <a:off x="8796986" y="5502661"/>
              <a:ext cx="456993"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grpSp>
      <p:graphicFrame>
        <p:nvGraphicFramePr>
          <p:cNvPr id="72" name="Object 71"/>
          <p:cNvGraphicFramePr>
            <a:graphicFrameLocks noChangeAspect="1"/>
          </p:cNvGraphicFramePr>
          <p:nvPr/>
        </p:nvGraphicFramePr>
        <p:xfrm>
          <a:off x="6375885" y="6079854"/>
          <a:ext cx="1351764" cy="552994"/>
        </p:xfrm>
        <a:graphic>
          <a:graphicData uri="http://schemas.openxmlformats.org/presentationml/2006/ole">
            <mc:AlternateContent xmlns:mc="http://schemas.openxmlformats.org/markup-compatibility/2006">
              <mc:Choice xmlns:v="urn:schemas-microsoft-com:vml" Requires="v">
                <p:oleObj name="Equation" r:id="rId5" imgW="838080" imgH="342720" progId="Equation.DSMT4">
                  <p:embed/>
                </p:oleObj>
              </mc:Choice>
              <mc:Fallback>
                <p:oleObj name="Equation" r:id="rId5" imgW="838080" imgH="342720" progId="Equation.DSMT4">
                  <p:embed/>
                  <p:pic>
                    <p:nvPicPr>
                      <p:cNvPr id="72" name="Object 71"/>
                      <p:cNvPicPr/>
                      <p:nvPr/>
                    </p:nvPicPr>
                    <p:blipFill>
                      <a:blip r:embed="rId6"/>
                      <a:stretch>
                        <a:fillRect/>
                      </a:stretch>
                    </p:blipFill>
                    <p:spPr>
                      <a:xfrm>
                        <a:off x="6375885" y="6079854"/>
                        <a:ext cx="1351764" cy="552994"/>
                      </a:xfrm>
                      <a:prstGeom prst="rect">
                        <a:avLst/>
                      </a:prstGeom>
                    </p:spPr>
                  </p:pic>
                </p:oleObj>
              </mc:Fallback>
            </mc:AlternateContent>
          </a:graphicData>
        </a:graphic>
      </p:graphicFrame>
      <p:sp>
        <p:nvSpPr>
          <p:cNvPr id="74" name="Rectangle 73"/>
          <p:cNvSpPr/>
          <p:nvPr/>
        </p:nvSpPr>
        <p:spPr>
          <a:xfrm>
            <a:off x="6240016" y="2217054"/>
            <a:ext cx="4176464" cy="1355962"/>
          </a:xfrm>
          <a:prstGeom prst="rect">
            <a:avLst/>
          </a:pr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Slide Number Placeholder 3"/>
          <p:cNvSpPr>
            <a:spLocks noGrp="1"/>
          </p:cNvSpPr>
          <p:nvPr>
            <p:ph type="sldNum" sz="quarter" idx="12"/>
          </p:nvPr>
        </p:nvSpPr>
        <p:spPr>
          <a:xfrm>
            <a:off x="8737600" y="6356351"/>
            <a:ext cx="28448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4" name="Line 2">
            <a:extLst>
              <a:ext uri="{FF2B5EF4-FFF2-40B4-BE49-F238E27FC236}">
                <a16:creationId xmlns:a16="http://schemas.microsoft.com/office/drawing/2014/main" id="{E8568918-47DE-C9C7-A169-DFAE6D00C3D5}"/>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5" name="Line 2">
            <a:extLst>
              <a:ext uri="{FF2B5EF4-FFF2-40B4-BE49-F238E27FC236}">
                <a16:creationId xmlns:a16="http://schemas.microsoft.com/office/drawing/2014/main" id="{471546C4-9E32-1039-598D-6250504ADCAC}"/>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3953122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4" end="4"/>
                                            </p:txEl>
                                          </p:spTgt>
                                        </p:tgtEl>
                                        <p:attrNameLst>
                                          <p:attrName>style.visibility</p:attrName>
                                        </p:attrNameLst>
                                      </p:cBhvr>
                                      <p:to>
                                        <p:strVal val="visible"/>
                                      </p:to>
                                    </p:set>
                                    <p:animEffect transition="in" filter="fade">
                                      <p:cBhvr>
                                        <p:cTn id="7" dur="500"/>
                                        <p:tgtEl>
                                          <p:spTgt spid="1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xEl>
                                              <p:pRg st="12" end="12"/>
                                            </p:txEl>
                                          </p:spTgt>
                                        </p:tgtEl>
                                        <p:attrNameLst>
                                          <p:attrName>style.visibility</p:attrName>
                                        </p:attrNameLst>
                                      </p:cBhvr>
                                      <p:to>
                                        <p:strVal val="visible"/>
                                      </p:to>
                                    </p:set>
                                    <p:animEffect transition="in" filter="fade">
                                      <p:cBhvr>
                                        <p:cTn id="13" dur="500"/>
                                        <p:tgtEl>
                                          <p:spTgt spid="13">
                                            <p:txEl>
                                              <p:pRg st="12" end="1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par>
                                <p:cTn id="19" presetID="10" presetClass="entr" presetSubtype="0" fill="hold" nodeType="withEffect">
                                  <p:stCondLst>
                                    <p:cond delay="0"/>
                                  </p:stCondLst>
                                  <p:childTnLst>
                                    <p:set>
                                      <p:cBhvr>
                                        <p:cTn id="20" dur="1" fill="hold">
                                          <p:stCondLst>
                                            <p:cond delay="0"/>
                                          </p:stCondLst>
                                        </p:cTn>
                                        <p:tgtEl>
                                          <p:spTgt spid="68"/>
                                        </p:tgtEl>
                                        <p:attrNameLst>
                                          <p:attrName>style.visibility</p:attrName>
                                        </p:attrNameLst>
                                      </p:cBhvr>
                                      <p:to>
                                        <p:strVal val="visible"/>
                                      </p:to>
                                    </p:set>
                                    <p:animEffect transition="in" filter="fade">
                                      <p:cBhvr>
                                        <p:cTn id="21" dur="500"/>
                                        <p:tgtEl>
                                          <p:spTgt spid="68"/>
                                        </p:tgtEl>
                                      </p:cBhvr>
                                    </p:animEffect>
                                  </p:childTnLst>
                                </p:cTn>
                              </p:par>
                              <p:par>
                                <p:cTn id="22" presetID="10" presetClass="entr" presetSubtype="0" fill="hold" nodeType="withEffect">
                                  <p:stCondLst>
                                    <p:cond delay="0"/>
                                  </p:stCondLst>
                                  <p:childTnLst>
                                    <p:set>
                                      <p:cBhvr>
                                        <p:cTn id="23" dur="1" fill="hold">
                                          <p:stCondLst>
                                            <p:cond delay="0"/>
                                          </p:stCondLst>
                                        </p:cTn>
                                        <p:tgtEl>
                                          <p:spTgt spid="72"/>
                                        </p:tgtEl>
                                        <p:attrNameLst>
                                          <p:attrName>style.visibility</p:attrName>
                                        </p:attrNameLst>
                                      </p:cBhvr>
                                      <p:to>
                                        <p:strVal val="visible"/>
                                      </p:to>
                                    </p:set>
                                    <p:animEffect transition="in" filter="fade">
                                      <p:cBhvr>
                                        <p:cTn id="24" dur="500"/>
                                        <p:tgtEl>
                                          <p:spTgt spid="7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74"/>
                                        </p:tgtEl>
                                        <p:attrNameLst>
                                          <p:attrName>style.visibility</p:attrName>
                                        </p:attrNameLst>
                                      </p:cBhvr>
                                      <p:to>
                                        <p:strVal val="visible"/>
                                      </p:to>
                                    </p:set>
                                    <p:animEffect transition="in" filter="fade">
                                      <p:cBhvr>
                                        <p:cTn id="27"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6027803" y="3902007"/>
            <a:ext cx="6015404" cy="2196502"/>
          </a:xfrm>
          <a:prstGeom prst="roundRect">
            <a:avLst/>
          </a:prstGeom>
          <a:solidFill>
            <a:schemeClr val="accent5">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0000"/>
              </a:solidFill>
              <a:effectLst/>
              <a:uLnTx/>
              <a:uFillTx/>
              <a:latin typeface="Calibri"/>
              <a:ea typeface="+mn-ea"/>
              <a:cs typeface="+mn-cs"/>
            </a:endParaRPr>
          </a:p>
        </p:txBody>
      </p:sp>
      <p:sp>
        <p:nvSpPr>
          <p:cNvPr id="2" name="Title 1"/>
          <p:cNvSpPr>
            <a:spLocks noGrp="1"/>
          </p:cNvSpPr>
          <p:nvPr>
            <p:ph type="title"/>
          </p:nvPr>
        </p:nvSpPr>
        <p:spPr/>
        <p:txBody>
          <a:bodyPr anchor="t"/>
          <a:lstStyle/>
          <a:p>
            <a:r>
              <a:rPr lang="en-US" sz="4000" dirty="0"/>
              <a:t>Theory-driven vs data-driven</a:t>
            </a:r>
          </a:p>
        </p:txBody>
      </p:sp>
      <p:sp>
        <p:nvSpPr>
          <p:cNvPr id="7" name="Rounded Rectangle 6"/>
          <p:cNvSpPr/>
          <p:nvPr/>
        </p:nvSpPr>
        <p:spPr>
          <a:xfrm>
            <a:off x="2118284" y="1556792"/>
            <a:ext cx="3545667" cy="5184576"/>
          </a:xfrm>
          <a:prstGeom prst="roundRect">
            <a:avLst/>
          </a:prstGeom>
          <a:solidFill>
            <a:schemeClr val="bg1">
              <a:lumMod val="8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2118283" y="1556793"/>
            <a:ext cx="3517110"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Theory-driven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3" name="TextBox 12"/>
          <p:cNvSpPr txBox="1"/>
          <p:nvPr/>
        </p:nvSpPr>
        <p:spPr>
          <a:xfrm>
            <a:off x="2120255" y="2217054"/>
            <a:ext cx="3515139" cy="424731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1" u="none" strike="noStrike" kern="1200" cap="none" spc="0" normalizeH="0" baseline="0" noProof="0" dirty="0">
                <a:ln>
                  <a:noFill/>
                </a:ln>
                <a:solidFill>
                  <a:prstClr val="black"/>
                </a:solidFill>
                <a:effectLst/>
                <a:uLnTx/>
                <a:uFillTx/>
                <a:latin typeface="Calibri"/>
                <a:ea typeface="+mn-ea"/>
                <a:cs typeface="+mn-cs"/>
              </a:rPr>
              <a:t>Guiding principle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Data generating process is a stochastic model</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a:buChar char="à"/>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Analyst imposes </a:t>
            </a:r>
            <a:r>
              <a:rPr kumimoji="0" lang="en-GB" sz="1800" b="0" i="0" u="none" strike="noStrike" kern="1200" cap="none" spc="0" normalizeH="0" baseline="0" noProof="0" dirty="0">
                <a:ln>
                  <a:noFill/>
                </a:ln>
                <a:solidFill>
                  <a:prstClr val="black"/>
                </a:solidFill>
                <a:effectLst/>
                <a:uLnTx/>
                <a:uFillTx/>
                <a:latin typeface="Calibri"/>
                <a:ea typeface="+mn-ea"/>
                <a:cs typeface="+mn-cs"/>
              </a:rPr>
              <a:t>structure based on theory</a:t>
            </a:r>
            <a:endParaRPr kumimoji="0" lang="en-GB"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Wingdings"/>
              <a:buChar char="à"/>
              <a:tabLst/>
              <a:defRPr/>
            </a:pPr>
            <a:endParaRPr kumimoji="0" lang="en-GB"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Wingdings"/>
              <a:buChar char="à"/>
              <a:tabLst/>
              <a:defRPr/>
            </a:pPr>
            <a:endParaRPr kumimoji="0" lang="en-GB"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Wingdings"/>
              <a:buChar char="à"/>
              <a:tabLst/>
              <a:defRPr/>
            </a:pPr>
            <a:endParaRPr kumimoji="0" lang="en-GB"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Wingdings"/>
              <a:buChar char="à"/>
              <a:tabLst/>
              <a:defRPr/>
            </a:pPr>
            <a:r>
              <a:rPr kumimoji="0" lang="en-GB" sz="1800" b="0" i="0" u="none" strike="noStrike" kern="1200" cap="none" spc="0" normalizeH="0" baseline="0" noProof="0" dirty="0">
                <a:ln>
                  <a:noFill/>
                </a:ln>
                <a:solidFill>
                  <a:prstClr val="black"/>
                </a:solidFill>
                <a:effectLst/>
                <a:uLnTx/>
                <a:uFillTx/>
                <a:latin typeface="Calibri"/>
                <a:ea typeface="+mn-ea"/>
                <a:cs typeface="Times New Roman" panose="02020603050405020304" pitchFamily="18" charset="0"/>
              </a:rPr>
              <a:t>Set of parameters, sign. levels</a:t>
            </a:r>
          </a:p>
        </p:txBody>
      </p:sp>
      <p:grpSp>
        <p:nvGrpSpPr>
          <p:cNvPr id="14" name="Group 13"/>
          <p:cNvGrpSpPr/>
          <p:nvPr/>
        </p:nvGrpSpPr>
        <p:grpSpPr>
          <a:xfrm>
            <a:off x="2160609" y="4446474"/>
            <a:ext cx="3515138" cy="1934855"/>
            <a:chOff x="755576" y="4833156"/>
            <a:chExt cx="3407127" cy="1934855"/>
          </a:xfrm>
        </p:grpSpPr>
        <p:pic>
          <p:nvPicPr>
            <p:cNvPr id="15" name="Picture 14"/>
            <p:cNvPicPr>
              <a:picLocks noChangeAspect="1"/>
            </p:cNvPicPr>
            <p:nvPr/>
          </p:nvPicPr>
          <p:blipFill rotWithShape="1">
            <a:blip r:embed="rId3">
              <a:extLst>
                <a:ext uri="{28A0092B-C50C-407E-A947-70E740481C1C}">
                  <a14:useLocalDpi xmlns:a14="http://schemas.microsoft.com/office/drawing/2010/main" val="0"/>
                </a:ext>
              </a:extLst>
            </a:blip>
            <a:srcRect l="24285" r="22762"/>
            <a:stretch/>
          </p:blipFill>
          <p:spPr>
            <a:xfrm>
              <a:off x="755576" y="4833156"/>
              <a:ext cx="3407127" cy="1934855"/>
            </a:xfrm>
            <a:prstGeom prst="rect">
              <a:avLst/>
            </a:prstGeom>
          </p:spPr>
        </p:pic>
        <p:sp>
          <p:nvSpPr>
            <p:cNvPr id="16" name="Rectangle 15"/>
            <p:cNvSpPr/>
            <p:nvPr/>
          </p:nvSpPr>
          <p:spPr>
            <a:xfrm>
              <a:off x="1778227" y="5625244"/>
              <a:ext cx="1081828" cy="43204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1" i="1" u="none" strike="noStrike" kern="1200" cap="none" spc="0" normalizeH="0" baseline="0" noProof="0" dirty="0">
                  <a:ln>
                    <a:noFill/>
                  </a:ln>
                  <a:solidFill>
                    <a:prstClr val="white"/>
                  </a:solidFill>
                  <a:effectLst/>
                  <a:uLnTx/>
                  <a:uFillTx/>
                  <a:latin typeface="Calibri"/>
                  <a:ea typeface="+mn-ea"/>
                  <a:cs typeface="+mn-cs"/>
                </a:rPr>
                <a:t>f</a:t>
              </a:r>
              <a:r>
                <a:rPr kumimoji="0" lang="en-GB" sz="2000" b="1" i="0" u="none" strike="noStrike" kern="1200" cap="none" spc="0" normalizeH="0" baseline="0" noProof="0" dirty="0">
                  <a:ln>
                    <a:noFill/>
                  </a:ln>
                  <a:solidFill>
                    <a:prstClr val="white"/>
                  </a:solidFill>
                  <a:effectLst/>
                  <a:uLnTx/>
                  <a:uFillTx/>
                  <a:latin typeface="Calibri"/>
                  <a:ea typeface="+mn-ea"/>
                  <a:cs typeface="+mn-cs"/>
                </a:rPr>
                <a:t> := </a:t>
              </a:r>
              <a:r>
                <a:rPr kumimoji="0" lang="en-GB" sz="2000" b="1" i="1" u="none" strike="noStrike" kern="1200" cap="none" spc="0" normalizeH="0" baseline="0" noProof="0" dirty="0">
                  <a:ln>
                    <a:noFill/>
                  </a:ln>
                  <a:solidFill>
                    <a:prstClr val="white"/>
                  </a:solidFill>
                  <a:effectLst/>
                  <a:uLnTx/>
                  <a:uFillTx/>
                  <a:latin typeface="Calibri"/>
                  <a:ea typeface="+mn-ea"/>
                  <a:cs typeface="+mn-cs"/>
                </a:rPr>
                <a:t>X</a:t>
              </a:r>
              <a:r>
                <a:rPr kumimoji="0" lang="en-GB" sz="1600" b="1" i="0" u="none" strike="noStrike" kern="1200" cap="none" spc="0" normalizeH="0" baseline="0" noProof="0" dirty="0">
                  <a:ln>
                    <a:noFill/>
                  </a:ln>
                  <a:solidFill>
                    <a:prstClr val="white"/>
                  </a:solidFill>
                  <a:effectLst/>
                  <a:uLnTx/>
                  <a:uFillTx/>
                  <a:latin typeface="Calibri"/>
                  <a:ea typeface="+mn-ea"/>
                  <a:cs typeface="+mn-cs"/>
                </a:rPr>
                <a:t>→</a:t>
              </a:r>
              <a:r>
                <a:rPr kumimoji="0" lang="en-GB" sz="2000" b="1" i="1" u="none" strike="noStrike" kern="1200" cap="none" spc="0" normalizeH="0" baseline="0" noProof="0" dirty="0">
                  <a:ln>
                    <a:noFill/>
                  </a:ln>
                  <a:solidFill>
                    <a:prstClr val="white"/>
                  </a:solidFill>
                  <a:effectLst/>
                  <a:uLnTx/>
                  <a:uFillTx/>
                  <a:latin typeface="Calibri"/>
                  <a:ea typeface="+mn-ea"/>
                  <a:cs typeface="+mn-cs"/>
                </a:rPr>
                <a:t>Y</a:t>
              </a:r>
              <a:endParaRPr kumimoji="0" lang="en-GB" sz="2000" b="1"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3" name="TextBox 2"/>
          <p:cNvSpPr txBox="1"/>
          <p:nvPr/>
        </p:nvSpPr>
        <p:spPr>
          <a:xfrm>
            <a:off x="6068156" y="1628800"/>
            <a:ext cx="6004508" cy="45243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0C0"/>
                </a:solidFill>
                <a:effectLst/>
                <a:uLnTx/>
                <a:uFillTx/>
                <a:latin typeface="Calibri"/>
                <a:ea typeface="+mn-ea"/>
                <a:cs typeface="+mn-cs"/>
              </a:rPr>
              <a:t>How does this work out in choice modelling?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70C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70C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70C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70C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70C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70C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70C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70C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70C0"/>
                </a:solidFill>
                <a:effectLst/>
                <a:uLnTx/>
                <a:uFillTx/>
                <a:latin typeface="Calibri"/>
                <a:ea typeface="+mn-ea"/>
                <a:cs typeface="+mn-cs"/>
              </a:rPr>
              <a:t>Behavioural</a:t>
            </a:r>
            <a:r>
              <a:rPr kumimoji="0" lang="en-US" sz="1800" b="1" i="0" u="none" strike="noStrike" kern="1200" cap="none" spc="0" normalizeH="0" baseline="0" noProof="0" dirty="0">
                <a:ln>
                  <a:noFill/>
                </a:ln>
                <a:solidFill>
                  <a:srgbClr val="0070C0"/>
                </a:solidFill>
                <a:effectLst/>
                <a:uLnTx/>
                <a:uFillTx/>
                <a:latin typeface="Calibri"/>
                <a:ea typeface="+mn-ea"/>
                <a:cs typeface="+mn-cs"/>
              </a:rPr>
              <a:t> </a:t>
            </a:r>
            <a:r>
              <a:rPr kumimoji="0" lang="en-US" sz="1800" b="1" i="0" u="sng" strike="noStrike" kern="1200" cap="none" spc="0" normalizeH="0" baseline="0" noProof="0" dirty="0">
                <a:ln>
                  <a:noFill/>
                </a:ln>
                <a:solidFill>
                  <a:srgbClr val="0070C0"/>
                </a:solidFill>
                <a:effectLst/>
                <a:uLnTx/>
                <a:uFillTx/>
                <a:latin typeface="Calibri"/>
                <a:ea typeface="+mn-ea"/>
                <a:cs typeface="+mn-cs"/>
              </a:rPr>
              <a:t>THEORY</a:t>
            </a:r>
            <a:r>
              <a:rPr kumimoji="0" lang="en-US" sz="1800" b="1" i="0" u="none" strike="noStrike" kern="1200" cap="none" spc="0" normalizeH="0" baseline="0" noProof="0" dirty="0">
                <a:ln>
                  <a:noFill/>
                </a:ln>
                <a:solidFill>
                  <a:srgbClr val="0070C0"/>
                </a:solidFill>
                <a:effectLst/>
                <a:uLnTx/>
                <a:uFillTx/>
                <a:latin typeface="Calibri"/>
                <a:ea typeface="+mn-ea"/>
                <a:cs typeface="+mn-cs"/>
              </a:rPr>
              <a:t> provides:</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800" b="1" i="0" u="none" strike="noStrike" kern="1200" cap="none" spc="0" normalizeH="0" baseline="0" noProof="0" dirty="0">
                <a:ln>
                  <a:noFill/>
                </a:ln>
                <a:solidFill>
                  <a:srgbClr val="0070C0"/>
                </a:solidFill>
                <a:effectLst/>
                <a:uLnTx/>
                <a:uFillTx/>
                <a:latin typeface="Calibri"/>
                <a:ea typeface="+mn-ea"/>
                <a:cs typeface="+mn-cs"/>
                <a:sym typeface="Wingdings" panose="05000000000000000000" pitchFamily="2" charset="2"/>
              </a:rPr>
              <a:t>Meaning to model parameters: e.g. </a:t>
            </a:r>
            <a:r>
              <a:rPr kumimoji="0" lang="el-GR" sz="1800" b="1" i="0" u="none" strike="noStrike" kern="1200" cap="none" spc="0" normalizeH="0" baseline="0" noProof="0" dirty="0">
                <a:ln>
                  <a:noFill/>
                </a:ln>
                <a:solidFill>
                  <a:srgbClr val="0070C0"/>
                </a:solidFill>
                <a:effectLst/>
                <a:uLnTx/>
                <a:uFillTx/>
                <a:latin typeface="Calibri"/>
                <a:ea typeface="+mn-ea"/>
                <a:cs typeface="+mn-cs"/>
                <a:sym typeface="Wingdings" panose="05000000000000000000" pitchFamily="2" charset="2"/>
              </a:rPr>
              <a:t>β</a:t>
            </a:r>
            <a:r>
              <a:rPr kumimoji="0" lang="en-US" sz="1800" b="1" i="0" u="none" strike="noStrike" kern="1200" cap="none" spc="0" normalizeH="0" baseline="0" noProof="0" dirty="0">
                <a:ln>
                  <a:noFill/>
                </a:ln>
                <a:solidFill>
                  <a:srgbClr val="0070C0"/>
                </a:solidFill>
                <a:effectLst/>
                <a:uLnTx/>
                <a:uFillTx/>
                <a:latin typeface="Calibri"/>
                <a:ea typeface="+mn-ea"/>
                <a:cs typeface="+mn-cs"/>
                <a:sym typeface="Wingdings" panose="05000000000000000000" pitchFamily="2" charset="2"/>
              </a:rPr>
              <a:t> = marginal utility </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800" b="1" i="0" u="none" strike="noStrike" kern="1200" cap="none" spc="0" normalizeH="0" baseline="0" noProof="0" dirty="0">
                <a:ln>
                  <a:noFill/>
                </a:ln>
                <a:solidFill>
                  <a:srgbClr val="0070C0"/>
                </a:solidFill>
                <a:effectLst/>
                <a:uLnTx/>
                <a:uFillTx/>
                <a:latin typeface="Calibri"/>
                <a:ea typeface="+mn-ea"/>
                <a:cs typeface="+mn-cs"/>
                <a:sym typeface="Wingdings" panose="05000000000000000000" pitchFamily="2" charset="2"/>
              </a:rPr>
              <a:t>Guidance in model specification</a:t>
            </a:r>
            <a:endParaRPr kumimoji="0" lang="en-US" sz="1800" b="1" i="0" u="none" strike="noStrike" kern="1200" cap="none" spc="0" normalizeH="0" baseline="0" noProof="0" dirty="0">
              <a:ln>
                <a:noFill/>
              </a:ln>
              <a:solidFill>
                <a:srgbClr val="0070C0"/>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800" b="1" i="0" u="none" strike="noStrike" kern="1200" cap="none" spc="0" normalizeH="0" baseline="0" noProof="0" dirty="0">
                <a:ln>
                  <a:noFill/>
                </a:ln>
                <a:solidFill>
                  <a:srgbClr val="0070C0"/>
                </a:solidFill>
                <a:effectLst/>
                <a:uLnTx/>
                <a:uFillTx/>
                <a:latin typeface="Calibri"/>
                <a:ea typeface="+mn-ea"/>
                <a:cs typeface="+mn-cs"/>
                <a:sym typeface="Wingdings" panose="05000000000000000000" pitchFamily="2" charset="2"/>
              </a:rPr>
              <a:t>Economic outputs: </a:t>
            </a:r>
            <a:r>
              <a:rPr kumimoji="0" lang="en-US" sz="1800" b="1" i="0" u="none" strike="noStrike" kern="1200" cap="none" spc="0" normalizeH="0" baseline="0" noProof="0" dirty="0" err="1">
                <a:ln>
                  <a:noFill/>
                </a:ln>
                <a:solidFill>
                  <a:srgbClr val="0070C0"/>
                </a:solidFill>
                <a:effectLst/>
                <a:uLnTx/>
                <a:uFillTx/>
                <a:latin typeface="Calibri"/>
                <a:ea typeface="+mn-ea"/>
                <a:cs typeface="+mn-cs"/>
                <a:sym typeface="Wingdings" panose="05000000000000000000" pitchFamily="2" charset="2"/>
              </a:rPr>
              <a:t>WtP</a:t>
            </a:r>
            <a:r>
              <a:rPr kumimoji="0" lang="en-US" sz="1800" b="1" i="0" u="none" strike="noStrike" kern="1200" cap="none" spc="0" normalizeH="0" baseline="0" noProof="0" dirty="0">
                <a:ln>
                  <a:noFill/>
                </a:ln>
                <a:solidFill>
                  <a:srgbClr val="0070C0"/>
                </a:solidFill>
                <a:effectLst/>
                <a:uLnTx/>
                <a:uFillTx/>
                <a:latin typeface="Calibri"/>
                <a:ea typeface="+mn-ea"/>
                <a:cs typeface="+mn-cs"/>
                <a:sym typeface="Wingdings" panose="05000000000000000000" pitchFamily="2" charset="2"/>
              </a:rPr>
              <a:t>, Value-of-time  Appraisal, e.g. Cost-Benefit Analysis (CBA)</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800" b="1" i="0" u="none" strike="noStrike" kern="1200" cap="none" spc="0" normalizeH="0" baseline="0" noProof="0" dirty="0">
                <a:ln>
                  <a:noFill/>
                </a:ln>
                <a:solidFill>
                  <a:srgbClr val="0070C0"/>
                </a:solidFill>
                <a:effectLst/>
                <a:uLnTx/>
                <a:uFillTx/>
                <a:latin typeface="Calibri"/>
                <a:ea typeface="+mn-ea"/>
                <a:cs typeface="+mn-cs"/>
                <a:sym typeface="Wingdings" panose="05000000000000000000" pitchFamily="2" charset="2"/>
              </a:rPr>
              <a:t>Solid ground for extrapolation  long-term forecasting</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800" b="1" i="0" u="none" strike="noStrike" kern="1200" cap="none" spc="0" normalizeH="0" baseline="0" noProof="0" dirty="0">
                <a:ln>
                  <a:noFill/>
                </a:ln>
                <a:solidFill>
                  <a:srgbClr val="0070C0"/>
                </a:solidFill>
                <a:effectLst/>
                <a:uLnTx/>
                <a:uFillTx/>
                <a:latin typeface="Calibri"/>
                <a:ea typeface="+mn-ea"/>
                <a:cs typeface="+mn-cs"/>
                <a:sym typeface="Wingdings" panose="05000000000000000000" pitchFamily="2" charset="2"/>
              </a:rPr>
              <a:t>Elegant communication to policy-makers</a:t>
            </a:r>
            <a:endParaRPr kumimoji="0" lang="nl-NL" sz="1800" b="1" i="0" u="none" strike="noStrike" kern="1200" cap="none" spc="0" normalizeH="0" baseline="0" noProof="0" dirty="0">
              <a:ln>
                <a:noFill/>
              </a:ln>
              <a:solidFill>
                <a:srgbClr val="0070C0"/>
              </a:solidFill>
              <a:effectLst/>
              <a:uLnTx/>
              <a:uFillTx/>
              <a:latin typeface="Calibri"/>
              <a:ea typeface="+mn-ea"/>
              <a:cs typeface="+mn-cs"/>
            </a:endParaRPr>
          </a:p>
        </p:txBody>
      </p:sp>
      <p:grpSp>
        <p:nvGrpSpPr>
          <p:cNvPr id="68" name="Group 67"/>
          <p:cNvGrpSpPr/>
          <p:nvPr/>
        </p:nvGrpSpPr>
        <p:grpSpPr>
          <a:xfrm>
            <a:off x="6240016" y="2145975"/>
            <a:ext cx="4048700" cy="1572162"/>
            <a:chOff x="6311159" y="4809167"/>
            <a:chExt cx="4048700" cy="1572162"/>
          </a:xfrm>
        </p:grpSpPr>
        <p:cxnSp>
          <p:nvCxnSpPr>
            <p:cNvPr id="36" name="Straight Arrow Connector 35"/>
            <p:cNvCxnSpPr/>
            <p:nvPr/>
          </p:nvCxnSpPr>
          <p:spPr>
            <a:xfrm>
              <a:off x="7122910" y="5502661"/>
              <a:ext cx="456993"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6311159" y="5177212"/>
              <a:ext cx="953765"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0070C0"/>
                  </a:solidFill>
                  <a:effectLst/>
                  <a:uLnTx/>
                  <a:uFillTx/>
                  <a:latin typeface="Gadugi" panose="020B0502040204020203" pitchFamily="34" charset="0"/>
                  <a:ea typeface="Gadugi" panose="020B0502040204020203" pitchFamily="34" charset="0"/>
                  <a:cs typeface="+mn-cs"/>
                </a:rPr>
                <a:t>Choice task</a:t>
              </a:r>
            </a:p>
          </p:txBody>
        </p:sp>
        <p:sp>
          <p:nvSpPr>
            <p:cNvPr id="38" name="TextBox 37"/>
            <p:cNvSpPr txBox="1"/>
            <p:nvPr/>
          </p:nvSpPr>
          <p:spPr>
            <a:xfrm>
              <a:off x="9432399" y="5333384"/>
              <a:ext cx="92746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0070C0"/>
                  </a:solidFill>
                  <a:effectLst/>
                  <a:uLnTx/>
                  <a:uFillTx/>
                  <a:latin typeface="Gadugi" panose="020B0502040204020203" pitchFamily="34" charset="0"/>
                  <a:ea typeface="Gadugi" panose="020B0502040204020203" pitchFamily="34" charset="0"/>
                  <a:cs typeface="+mn-cs"/>
                </a:rPr>
                <a:t>Choice</a:t>
              </a:r>
            </a:p>
          </p:txBody>
        </p:sp>
        <p:pic>
          <p:nvPicPr>
            <p:cNvPr id="45" name="Picture 6" descr="Afbeeldingsresultaat voor psychological factors ic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69130" y="4809167"/>
              <a:ext cx="1127856" cy="1572162"/>
            </a:xfrm>
            <a:prstGeom prst="rect">
              <a:avLst/>
            </a:prstGeom>
            <a:noFill/>
            <a:extLst>
              <a:ext uri="{909E8E84-426E-40DD-AFC4-6F175D3DCCD1}">
                <a14:hiddenFill xmlns:a14="http://schemas.microsoft.com/office/drawing/2010/main">
                  <a:solidFill>
                    <a:srgbClr val="FFFFFF"/>
                  </a:solidFill>
                </a14:hiddenFill>
              </a:ext>
            </a:extLst>
          </p:spPr>
        </p:pic>
        <p:cxnSp>
          <p:nvCxnSpPr>
            <p:cNvPr id="67" name="Straight Arrow Connector 66"/>
            <p:cNvCxnSpPr/>
            <p:nvPr/>
          </p:nvCxnSpPr>
          <p:spPr>
            <a:xfrm>
              <a:off x="8796986" y="5502661"/>
              <a:ext cx="456993"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grpSp>
      <p:sp>
        <p:nvSpPr>
          <p:cNvPr id="74" name="Rectangle 73"/>
          <p:cNvSpPr/>
          <p:nvPr/>
        </p:nvSpPr>
        <p:spPr>
          <a:xfrm>
            <a:off x="6240016" y="2217054"/>
            <a:ext cx="4176464" cy="1355962"/>
          </a:xfrm>
          <a:prstGeom prst="rect">
            <a:avLst/>
          </a:pr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Slide Number Placeholder 3"/>
          <p:cNvSpPr>
            <a:spLocks noGrp="1"/>
          </p:cNvSpPr>
          <p:nvPr>
            <p:ph type="sldNum" sz="quarter" idx="12"/>
          </p:nvPr>
        </p:nvSpPr>
        <p:spPr>
          <a:xfrm>
            <a:off x="8737600" y="6356351"/>
            <a:ext cx="28448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Line 2">
            <a:extLst>
              <a:ext uri="{FF2B5EF4-FFF2-40B4-BE49-F238E27FC236}">
                <a16:creationId xmlns:a16="http://schemas.microsoft.com/office/drawing/2014/main" id="{5EC9D587-9ED1-25FA-1082-77FA6D2C3BFE}"/>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6" name="Line 2">
            <a:extLst>
              <a:ext uri="{FF2B5EF4-FFF2-40B4-BE49-F238E27FC236}">
                <a16:creationId xmlns:a16="http://schemas.microsoft.com/office/drawing/2014/main" id="{F78343C9-D722-890E-76F9-9F3CC42C54EB}"/>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1824700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EBEB1-1ACB-17B6-DF2F-548452465F5B}"/>
              </a:ext>
            </a:extLst>
          </p:cNvPr>
          <p:cNvSpPr>
            <a:spLocks noGrp="1"/>
          </p:cNvSpPr>
          <p:nvPr>
            <p:ph type="title"/>
          </p:nvPr>
        </p:nvSpPr>
        <p:spPr/>
        <p:txBody>
          <a:bodyPr/>
          <a:lstStyle/>
          <a:p>
            <a:r>
              <a:rPr lang="en-GB" dirty="0"/>
              <a:t>Limitations of RUM-MNL models</a:t>
            </a:r>
            <a:endParaRPr lang="nl-NL" dirty="0"/>
          </a:p>
        </p:txBody>
      </p:sp>
    </p:spTree>
    <p:extLst>
      <p:ext uri="{BB962C8B-B14F-4D97-AF65-F5344CB8AC3E}">
        <p14:creationId xmlns:p14="http://schemas.microsoft.com/office/powerpoint/2010/main" val="322887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GB" sz="4000" noProof="0" dirty="0"/>
              <a:t>Limitations of RUM-MNL models</a:t>
            </a:r>
          </a:p>
        </p:txBody>
      </p:sp>
      <p:sp>
        <p:nvSpPr>
          <p:cNvPr id="9" name="Slide Number Placeholder 3"/>
          <p:cNvSpPr txBox="1">
            <a:spLocks/>
          </p:cNvSpPr>
          <p:nvPr/>
        </p:nvSpPr>
        <p:spPr>
          <a:xfrm>
            <a:off x="8610600" y="6356351"/>
            <a:ext cx="2844800" cy="365125"/>
          </a:xfrm>
          <a:prstGeom prst="rect">
            <a:avLst/>
          </a:prstGeom>
        </p:spPr>
        <p:txBody>
          <a:bodyPr vert="horz" lIns="91440" tIns="45720" rIns="91440" bIns="45720" rtlCol="0" anchor="ctr"/>
          <a:lstStyle>
            <a:defPPr>
              <a:defRPr lang="nl-NL"/>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4" name="Content Placeholder 3">
            <a:extLst>
              <a:ext uri="{FF2B5EF4-FFF2-40B4-BE49-F238E27FC236}">
                <a16:creationId xmlns:a16="http://schemas.microsoft.com/office/drawing/2014/main" id="{02F465D5-0B6F-F1C8-6FFD-E0D34F90CC9C}"/>
              </a:ext>
            </a:extLst>
          </p:cNvPr>
          <p:cNvSpPr>
            <a:spLocks noGrp="1"/>
          </p:cNvSpPr>
          <p:nvPr>
            <p:ph idx="1"/>
          </p:nvPr>
        </p:nvSpPr>
        <p:spPr>
          <a:xfrm>
            <a:off x="715992" y="1216325"/>
            <a:ext cx="9519690" cy="476674"/>
          </a:xfrm>
        </p:spPr>
        <p:txBody>
          <a:bodyPr/>
          <a:lstStyle/>
          <a:p>
            <a:pPr marL="0" indent="0">
              <a:buNone/>
            </a:pPr>
            <a:r>
              <a:rPr lang="en-GB" b="1" dirty="0"/>
              <a:t>The RUM-MNL model is not a perfect model of choice behaviour: it has four key limitations</a:t>
            </a:r>
          </a:p>
          <a:p>
            <a:pPr marL="0" indent="0">
              <a:buNone/>
            </a:pPr>
            <a:endParaRPr lang="en-GB" dirty="0"/>
          </a:p>
          <a:p>
            <a:endParaRPr lang="en-GB" dirty="0"/>
          </a:p>
          <a:p>
            <a:endParaRPr lang="en-GB" dirty="0"/>
          </a:p>
        </p:txBody>
      </p:sp>
      <p:sp>
        <p:nvSpPr>
          <p:cNvPr id="2" name="TextBox 1">
            <a:extLst>
              <a:ext uri="{FF2B5EF4-FFF2-40B4-BE49-F238E27FC236}">
                <a16:creationId xmlns:a16="http://schemas.microsoft.com/office/drawing/2014/main" id="{6C5A882F-8CEA-A8C3-31CE-45ACEF738EBA}"/>
              </a:ext>
            </a:extLst>
          </p:cNvPr>
          <p:cNvSpPr txBox="1"/>
          <p:nvPr/>
        </p:nvSpPr>
        <p:spPr>
          <a:xfrm>
            <a:off x="715992" y="1874154"/>
            <a:ext cx="5693861" cy="4273149"/>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𝜀 is assumed to be </a:t>
            </a:r>
            <a:r>
              <a:rPr kumimoji="0" lang="en-GB" sz="1800" b="0" i="0" u="none" strike="noStrike" kern="1200" cap="none" spc="0" normalizeH="0" baseline="0" noProof="0" dirty="0" err="1">
                <a:ln>
                  <a:noFill/>
                </a:ln>
                <a:solidFill>
                  <a:prstClr val="black"/>
                </a:solidFill>
                <a:effectLst/>
                <a:uLnTx/>
                <a:uFillTx/>
                <a:latin typeface="Calibri" panose="020F0502020204030204"/>
                <a:ea typeface="+mn-ea"/>
                <a:cs typeface="+mn-cs"/>
              </a:rPr>
              <a:t>i.i.d.</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across </a:t>
            </a:r>
            <a:r>
              <a:rPr kumimoji="0" lang="en-GB" sz="1800" b="1" i="0" u="none" strike="noStrike" kern="1200" cap="none" spc="0" normalizeH="0" baseline="0" noProof="0" dirty="0">
                <a:ln>
                  <a:noFill/>
                </a:ln>
                <a:solidFill>
                  <a:srgbClr val="0070C0"/>
                </a:solidFill>
                <a:effectLst/>
                <a:uLnTx/>
                <a:uFillTx/>
                <a:latin typeface="Calibri" panose="020F0502020204030204"/>
                <a:ea typeface="+mn-ea"/>
                <a:cs typeface="+mn-cs"/>
              </a:rPr>
              <a:t>observations</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and </a:t>
            </a:r>
            <a:r>
              <a:rPr kumimoji="0" lang="en-GB" sz="1800" b="1" i="0" u="none" strike="noStrike" kern="1200" cap="none" spc="0" normalizeH="0" baseline="0" noProof="0" dirty="0">
                <a:ln>
                  <a:noFill/>
                </a:ln>
                <a:solidFill>
                  <a:srgbClr val="7030A0"/>
                </a:solidFill>
                <a:effectLst/>
                <a:uLnTx/>
                <a:uFillTx/>
                <a:latin typeface="Calibri" panose="020F0502020204030204"/>
                <a:ea typeface="+mn-ea"/>
                <a:cs typeface="+mn-cs"/>
              </a:rPr>
              <a:t>alternatives</a:t>
            </a: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 This is often unrealistic.</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lang="en-GB" b="1" dirty="0">
              <a:solidFill>
                <a:prstClr val="black"/>
              </a:solidFill>
              <a:latin typeface="Calibri" panose="020F0502020204030204"/>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lang="en-GB" b="1" dirty="0">
              <a:solidFill>
                <a:prstClr val="black"/>
              </a:solidFill>
              <a:latin typeface="Calibri" panose="020F0502020204030204"/>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lang="en-GB" b="1" dirty="0">
              <a:solidFill>
                <a:prstClr val="black"/>
              </a:solidFill>
              <a:latin typeface="Calibri" panose="020F0502020204030204"/>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lang="en-GB" b="1" dirty="0">
              <a:solidFill>
                <a:prstClr val="black"/>
              </a:solidFill>
              <a:latin typeface="Calibri" panose="020F0502020204030204"/>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GB" dirty="0">
                <a:solidFill>
                  <a:prstClr val="black"/>
                </a:solidFill>
              </a:rPr>
              <a:t>RUM-MNL assumes people </a:t>
            </a:r>
            <a:r>
              <a:rPr lang="en-GB" b="1" dirty="0">
                <a:solidFill>
                  <a:prstClr val="black"/>
                </a:solidFill>
              </a:rPr>
              <a:t>maximise utility</a:t>
            </a:r>
            <a:r>
              <a:rPr lang="en-GB" dirty="0">
                <a:solidFill>
                  <a:prstClr val="black"/>
                </a:solidFill>
              </a:rPr>
              <a:t>, whose utility of alternative </a:t>
            </a:r>
            <a:r>
              <a:rPr lang="en-GB" i="1" dirty="0" err="1">
                <a:solidFill>
                  <a:prstClr val="black"/>
                </a:solidFill>
              </a:rPr>
              <a:t>i</a:t>
            </a:r>
            <a:r>
              <a:rPr lang="en-GB" dirty="0">
                <a:solidFill>
                  <a:prstClr val="black"/>
                </a:solidFill>
              </a:rPr>
              <a:t> only depends on the attribute levels of alternative </a:t>
            </a:r>
            <a:r>
              <a:rPr lang="en-GB" i="1" dirty="0" err="1">
                <a:solidFill>
                  <a:prstClr val="black"/>
                </a:solidFill>
              </a:rPr>
              <a:t>i</a:t>
            </a:r>
            <a:r>
              <a:rPr lang="en-GB" dirty="0">
                <a:solidFill>
                  <a:prstClr val="black"/>
                </a:solidFill>
              </a:rPr>
              <a:t>:  V</a:t>
            </a:r>
            <a:r>
              <a:rPr lang="en-GB" baseline="-25000" dirty="0">
                <a:solidFill>
                  <a:prstClr val="black"/>
                </a:solidFill>
              </a:rPr>
              <a:t>i</a:t>
            </a:r>
            <a:r>
              <a:rPr lang="en-GB" dirty="0">
                <a:solidFill>
                  <a:prstClr val="black"/>
                </a:solidFill>
              </a:rPr>
              <a:t> = </a:t>
            </a:r>
            <a:r>
              <a:rPr lang="en-GB" i="1" dirty="0">
                <a:solidFill>
                  <a:prstClr val="black"/>
                </a:solidFill>
              </a:rPr>
              <a:t>f</a:t>
            </a:r>
            <a:r>
              <a:rPr lang="en-GB" dirty="0">
                <a:solidFill>
                  <a:prstClr val="black"/>
                </a:solidFill>
              </a:rPr>
              <a:t>(</a:t>
            </a:r>
            <a:r>
              <a:rPr lang="en-GB" i="1" dirty="0">
                <a:solidFill>
                  <a:prstClr val="black"/>
                </a:solidFill>
              </a:rPr>
              <a:t>x</a:t>
            </a:r>
            <a:r>
              <a:rPr lang="en-GB" i="1" baseline="-25000" dirty="0">
                <a:solidFill>
                  <a:prstClr val="black"/>
                </a:solidFill>
              </a:rPr>
              <a:t>i</a:t>
            </a:r>
            <a:r>
              <a:rPr lang="en-GB" dirty="0">
                <a:solidFill>
                  <a:prstClr val="black"/>
                </a:solidFill>
              </a:rPr>
              <a: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endParaRPr>
          </a:p>
        </p:txBody>
      </p:sp>
      <p:grpSp>
        <p:nvGrpSpPr>
          <p:cNvPr id="20" name="Group 19">
            <a:extLst>
              <a:ext uri="{FF2B5EF4-FFF2-40B4-BE49-F238E27FC236}">
                <a16:creationId xmlns:a16="http://schemas.microsoft.com/office/drawing/2014/main" id="{CD5BD837-44AF-31C0-038A-BD13E45A8C34}"/>
              </a:ext>
            </a:extLst>
          </p:cNvPr>
          <p:cNvGrpSpPr/>
          <p:nvPr/>
        </p:nvGrpSpPr>
        <p:grpSpPr>
          <a:xfrm>
            <a:off x="6537185" y="2145757"/>
            <a:ext cx="4746591" cy="2572763"/>
            <a:chOff x="6515920" y="3007696"/>
            <a:chExt cx="4746591" cy="2572763"/>
          </a:xfrm>
        </p:grpSpPr>
        <p:grpSp>
          <p:nvGrpSpPr>
            <p:cNvPr id="11" name="Group 10">
              <a:extLst>
                <a:ext uri="{FF2B5EF4-FFF2-40B4-BE49-F238E27FC236}">
                  <a16:creationId xmlns:a16="http://schemas.microsoft.com/office/drawing/2014/main" id="{C240A132-DB26-7BE0-12CF-99FE3BC2EFB0}"/>
                </a:ext>
              </a:extLst>
            </p:cNvPr>
            <p:cNvGrpSpPr/>
            <p:nvPr/>
          </p:nvGrpSpPr>
          <p:grpSpPr>
            <a:xfrm>
              <a:off x="6515920" y="3661125"/>
              <a:ext cx="1249378" cy="1919334"/>
              <a:chOff x="6515920" y="3661125"/>
              <a:chExt cx="1249378" cy="1919334"/>
            </a:xfrm>
          </p:grpSpPr>
          <p:sp>
            <p:nvSpPr>
              <p:cNvPr id="3" name="Right Arrow 2">
                <a:extLst>
                  <a:ext uri="{FF2B5EF4-FFF2-40B4-BE49-F238E27FC236}">
                    <a16:creationId xmlns:a16="http://schemas.microsoft.com/office/drawing/2014/main" id="{2D988BE4-8C89-99AC-FDA1-602BAA10914A}"/>
                  </a:ext>
                </a:extLst>
              </p:cNvPr>
              <p:cNvSpPr/>
              <p:nvPr/>
            </p:nvSpPr>
            <p:spPr>
              <a:xfrm>
                <a:off x="6515920" y="3661125"/>
                <a:ext cx="1249378" cy="1919334"/>
              </a:xfrm>
              <a:prstGeom prst="rightArrow">
                <a:avLst>
                  <a:gd name="adj1" fmla="val 51886"/>
                  <a:gd name="adj2" fmla="val 50000"/>
                </a:avLst>
              </a:prstGeom>
              <a:noFill/>
              <a:ln w="57150">
                <a:solidFill>
                  <a:srgbClr val="24B5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2" descr="Image result for understand icon">
                <a:extLst>
                  <a:ext uri="{FF2B5EF4-FFF2-40B4-BE49-F238E27FC236}">
                    <a16:creationId xmlns:a16="http://schemas.microsoft.com/office/drawing/2014/main" id="{5EF43A69-A091-92BF-2999-6C24F4A6F8A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57341" y="4201542"/>
                <a:ext cx="838501" cy="838501"/>
              </a:xfrm>
              <a:prstGeom prst="rect">
                <a:avLst/>
              </a:prstGeom>
              <a:noFill/>
              <a:extLst>
                <a:ext uri="{909E8E84-426E-40DD-AFC4-6F175D3DCCD1}">
                  <a14:hiddenFill xmlns:a14="http://schemas.microsoft.com/office/drawing/2010/main">
                    <a:solidFill>
                      <a:srgbClr val="FFFFFF"/>
                    </a:solidFill>
                  </a14:hiddenFill>
                </a:ext>
              </a:extLst>
            </p:spPr>
          </p:pic>
        </p:grpSp>
        <p:pic>
          <p:nvPicPr>
            <p:cNvPr id="18" name="Picture 17">
              <a:extLst>
                <a:ext uri="{FF2B5EF4-FFF2-40B4-BE49-F238E27FC236}">
                  <a16:creationId xmlns:a16="http://schemas.microsoft.com/office/drawing/2014/main" id="{5F38276E-D5A9-585E-5CB6-30D111FFD6AC}"/>
                </a:ext>
              </a:extLst>
            </p:cNvPr>
            <p:cNvPicPr>
              <a:picLocks noChangeAspect="1"/>
            </p:cNvPicPr>
            <p:nvPr/>
          </p:nvPicPr>
          <p:blipFill rotWithShape="1">
            <a:blip r:embed="rId4"/>
            <a:srcRect l="76200" b="52130"/>
            <a:stretch/>
          </p:blipFill>
          <p:spPr>
            <a:xfrm>
              <a:off x="8860253" y="4948076"/>
              <a:ext cx="522652" cy="537417"/>
            </a:xfrm>
            <a:prstGeom prst="rect">
              <a:avLst/>
            </a:prstGeom>
          </p:spPr>
        </p:pic>
        <p:sp>
          <p:nvSpPr>
            <p:cNvPr id="5" name="TextBox 4">
              <a:extLst>
                <a:ext uri="{FF2B5EF4-FFF2-40B4-BE49-F238E27FC236}">
                  <a16:creationId xmlns:a16="http://schemas.microsoft.com/office/drawing/2014/main" id="{52814C3A-0C3C-7844-48B4-20AE119698DB}"/>
                </a:ext>
              </a:extLst>
            </p:cNvPr>
            <p:cNvSpPr txBox="1"/>
            <p:nvPr/>
          </p:nvSpPr>
          <p:spPr>
            <a:xfrm>
              <a:off x="8111905" y="3007696"/>
              <a:ext cx="3150606" cy="1376127"/>
            </a:xfrm>
            <a:prstGeom prst="rect">
              <a:avLst/>
            </a:prstGeom>
            <a:noFill/>
          </p:spPr>
          <p:txBody>
            <a:bodyPr wrap="square" rtlCol="0">
              <a:noAutofit/>
            </a:bodyPr>
            <a:lstStyle/>
            <a:p>
              <a:pPr marL="285750" marR="0" lvl="0"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r>
                <a:rPr kumimoji="0" lang="en-NL" sz="1800" b="1"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Nesed Logit </a:t>
              </a:r>
              <a:r>
                <a:rPr kumimoji="0" lang="en-NL"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(NL) model (1980 – 1990)</a:t>
              </a:r>
            </a:p>
            <a:p>
              <a:pPr marL="285750" marR="0" lvl="0"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endParaRPr kumimoji="0" lang="en-NL"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endParaRPr>
            </a:p>
            <a:p>
              <a:pPr marL="285750" marR="0" lvl="0"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r>
                <a:rPr kumimoji="0" lang="en-NL" sz="1800" b="1"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Mixed Logit </a:t>
              </a:r>
              <a:r>
                <a:rPr kumimoji="0" lang="en-NL"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(ML) model (1990-2005)</a:t>
              </a:r>
            </a:p>
          </p:txBody>
        </p:sp>
      </p:grpSp>
      <p:sp>
        <p:nvSpPr>
          <p:cNvPr id="12" name="TextBox 11">
            <a:extLst>
              <a:ext uri="{FF2B5EF4-FFF2-40B4-BE49-F238E27FC236}">
                <a16:creationId xmlns:a16="http://schemas.microsoft.com/office/drawing/2014/main" id="{12FE4649-75FB-50DC-A040-434C3602D82D}"/>
              </a:ext>
            </a:extLst>
          </p:cNvPr>
          <p:cNvSpPr txBox="1"/>
          <p:nvPr/>
        </p:nvSpPr>
        <p:spPr>
          <a:xfrm>
            <a:off x="8188303" y="4086137"/>
            <a:ext cx="3689394" cy="1697652"/>
          </a:xfrm>
          <a:prstGeom prst="rect">
            <a:avLst/>
          </a:prstGeom>
          <a:noFill/>
        </p:spPr>
        <p:txBody>
          <a:bodyPr wrap="square" rtlCol="0">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NL" sz="1800" b="1" i="0" u="none" strike="noStrike" kern="1200" cap="none" spc="0" normalizeH="0" baseline="0" noProof="0" dirty="0">
                <a:ln>
                  <a:noFill/>
                </a:ln>
                <a:solidFill>
                  <a:srgbClr val="3AB5B3"/>
                </a:solidFill>
                <a:effectLst/>
                <a:uLnTx/>
                <a:uFillTx/>
                <a:latin typeface="Calibri" panose="020F0502020204030204"/>
                <a:ea typeface="+mn-ea"/>
                <a:cs typeface="Calibri" panose="020F0502020204030204" pitchFamily="34" charset="0"/>
                <a:sym typeface="Wingdings" panose="05000000000000000000" pitchFamily="2" charset="2"/>
              </a:rPr>
              <a:t>Descriptive models of choice behaviour, e.g.</a:t>
            </a:r>
          </a:p>
          <a:p>
            <a:pPr marL="285750" marR="0" lvl="0"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r>
              <a:rPr kumimoji="0" lang="en-NL" sz="1800" b="0" i="0" u="none" strike="noStrike" kern="1200" cap="none" spc="0" normalizeH="0" baseline="0" noProof="0" dirty="0">
                <a:ln>
                  <a:noFill/>
                </a:ln>
                <a:solidFill>
                  <a:srgbClr val="3AB5B3"/>
                </a:solidFill>
                <a:effectLst/>
                <a:uLnTx/>
                <a:uFillTx/>
                <a:latin typeface="Calibri" panose="020F0502020204030204"/>
                <a:ea typeface="+mn-ea"/>
                <a:cs typeface="Calibri" panose="020F0502020204030204" pitchFamily="34" charset="0"/>
                <a:sym typeface="Wingdings" panose="05000000000000000000" pitchFamily="2" charset="2"/>
              </a:rPr>
              <a:t>Random Regret Minimisation</a:t>
            </a:r>
          </a:p>
          <a:p>
            <a:pPr marL="285750" marR="0" lvl="0"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r>
              <a:rPr kumimoji="0" lang="en-NL" sz="1800" b="0" i="0" u="none" strike="noStrike" kern="1200" cap="none" spc="0" normalizeH="0" baseline="0" noProof="0" dirty="0">
                <a:ln>
                  <a:noFill/>
                </a:ln>
                <a:solidFill>
                  <a:srgbClr val="3AB5B3"/>
                </a:solidFill>
                <a:effectLst/>
                <a:uLnTx/>
                <a:uFillTx/>
                <a:latin typeface="Calibri" panose="020F0502020204030204"/>
                <a:ea typeface="+mn-ea"/>
                <a:cs typeface="Calibri" panose="020F0502020204030204" pitchFamily="34" charset="0"/>
                <a:sym typeface="Wingdings" panose="05000000000000000000" pitchFamily="2" charset="2"/>
              </a:rPr>
              <a:t>Elimination-by-aspects</a:t>
            </a:r>
          </a:p>
          <a:p>
            <a:pPr marL="285750" marR="0" lvl="0"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r>
              <a:rPr kumimoji="0" lang="en-NL" sz="1800" b="0" i="0" u="none" strike="noStrike" kern="1200" cap="none" spc="0" normalizeH="0" baseline="0" noProof="0" dirty="0">
                <a:ln>
                  <a:noFill/>
                </a:ln>
                <a:solidFill>
                  <a:srgbClr val="3AB5B3"/>
                </a:solidFill>
                <a:effectLst/>
                <a:uLnTx/>
                <a:uFillTx/>
                <a:latin typeface="Calibri" panose="020F0502020204030204"/>
                <a:ea typeface="+mn-ea"/>
                <a:cs typeface="Calibri" panose="020F0502020204030204" pitchFamily="34" charset="0"/>
                <a:sym typeface="Wingdings" panose="05000000000000000000" pitchFamily="2" charset="2"/>
              </a:rPr>
              <a:t>Satisfycing</a:t>
            </a:r>
          </a:p>
          <a:p>
            <a:pPr marL="285750" marR="0" lvl="0"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r>
              <a:rPr kumimoji="0" lang="en-NL" sz="1800" b="0" i="0" u="none" strike="noStrike" kern="1200" cap="none" spc="0" normalizeH="0" baseline="0" noProof="0" dirty="0">
                <a:ln>
                  <a:noFill/>
                </a:ln>
                <a:solidFill>
                  <a:srgbClr val="3AB5B3"/>
                </a:solidFill>
                <a:effectLst/>
                <a:uLnTx/>
                <a:uFillTx/>
                <a:latin typeface="Calibri" panose="020F0502020204030204"/>
                <a:ea typeface="+mn-ea"/>
                <a:cs typeface="Calibri" panose="020F0502020204030204" pitchFamily="34" charset="0"/>
                <a:sym typeface="Wingdings" panose="05000000000000000000" pitchFamily="2" charset="2"/>
              </a:rPr>
              <a:t>Lexicographic </a:t>
            </a:r>
          </a:p>
          <a:p>
            <a:pPr marL="742950" marR="0" lvl="1"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endParaRPr kumimoji="0" lang="en-NL"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endParaRPr>
          </a:p>
          <a:p>
            <a:pPr marL="742950" marR="0" lvl="1"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endParaRPr kumimoji="0" lang="en-NL"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endParaRPr>
          </a:p>
        </p:txBody>
      </p:sp>
      <p:sp>
        <p:nvSpPr>
          <p:cNvPr id="16" name="Line 2">
            <a:extLst>
              <a:ext uri="{FF2B5EF4-FFF2-40B4-BE49-F238E27FC236}">
                <a16:creationId xmlns:a16="http://schemas.microsoft.com/office/drawing/2014/main" id="{996B79B2-BBF5-37DB-AAD6-B4B95EE2FAED}"/>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7" name="Line 2">
            <a:extLst>
              <a:ext uri="{FF2B5EF4-FFF2-40B4-BE49-F238E27FC236}">
                <a16:creationId xmlns:a16="http://schemas.microsoft.com/office/drawing/2014/main" id="{1359EEA5-1352-8106-59B2-DD33983EAEA3}"/>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3405483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GB" sz="4000" noProof="0" dirty="0"/>
              <a:t>Limitations of RUM-MNL models</a:t>
            </a:r>
          </a:p>
        </p:txBody>
      </p:sp>
      <p:sp>
        <p:nvSpPr>
          <p:cNvPr id="9" name="Slide Number Placeholder 3"/>
          <p:cNvSpPr txBox="1">
            <a:spLocks/>
          </p:cNvSpPr>
          <p:nvPr/>
        </p:nvSpPr>
        <p:spPr>
          <a:xfrm>
            <a:off x="8610600" y="6356351"/>
            <a:ext cx="2844800" cy="365125"/>
          </a:xfrm>
          <a:prstGeom prst="rect">
            <a:avLst/>
          </a:prstGeom>
        </p:spPr>
        <p:txBody>
          <a:bodyPr vert="horz" lIns="91440" tIns="45720" rIns="91440" bIns="45720" rtlCol="0" anchor="ctr"/>
          <a:lstStyle>
            <a:defPPr>
              <a:defRPr lang="nl-NL"/>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Content Placeholder 3">
            <a:extLst>
              <a:ext uri="{FF2B5EF4-FFF2-40B4-BE49-F238E27FC236}">
                <a16:creationId xmlns:a16="http://schemas.microsoft.com/office/drawing/2014/main" id="{28831CA0-1FF9-1B49-AFFF-FBA473515EA0}"/>
              </a:ext>
            </a:extLst>
          </p:cNvPr>
          <p:cNvSpPr txBox="1">
            <a:spLocks/>
          </p:cNvSpPr>
          <p:nvPr/>
        </p:nvSpPr>
        <p:spPr>
          <a:xfrm>
            <a:off x="715992" y="1216325"/>
            <a:ext cx="9519690" cy="4766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The RUM-MNL model is not a perfect model of choice behaviour: it has four key limitations</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FA6D7835-2FCF-E320-3AAA-56F6A1DE41D9}"/>
              </a:ext>
            </a:extLst>
          </p:cNvPr>
          <p:cNvSpPr txBox="1"/>
          <p:nvPr/>
        </p:nvSpPr>
        <p:spPr>
          <a:xfrm>
            <a:off x="715992" y="1874153"/>
            <a:ext cx="5718912" cy="4482197"/>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3"/>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RUM-MNL cannot </a:t>
            </a: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handle image/text/signals data </a:t>
            </a:r>
          </a:p>
          <a:p>
            <a:pPr marL="0" marR="0" lvl="0" indent="0" algn="l" defTabSz="914400" rtl="0" eaLnBrk="1" fontAlgn="auto" latinLnBrk="0" hangingPunct="1">
              <a:lnSpc>
                <a:spcPct val="100000"/>
              </a:lnSpc>
              <a:spcBef>
                <a:spcPts val="0"/>
              </a:spcBef>
              <a:spcAft>
                <a:spcPts val="0"/>
              </a:spcAft>
              <a:buClrTx/>
              <a:buSzTx/>
              <a:buFontTx/>
              <a:buNone/>
              <a:tabLst>
                <a:tab pos="350838" algn="l"/>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(it is blind to images)</a:t>
            </a:r>
            <a:endParaRPr kumimoji="0" lang="en-GB" sz="1800" b="0" i="1"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In real-life many choice situations involve </a:t>
            </a: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images </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to convey information about the product or service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Images can much more effectively convey information about </a:t>
            </a: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Scales, Textures, and Shapes</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than text or numbers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Wingdings" pitchFamily="2" charset="2"/>
              <a:buChar char="à"/>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sym typeface="Wingdings" pitchFamily="2" charset="2"/>
              </a:rPr>
              <a:t>Incomplete understanding of choice behaviour</a:t>
            </a:r>
            <a:endPar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endParaRPr>
          </a:p>
        </p:txBody>
      </p:sp>
      <p:grpSp>
        <p:nvGrpSpPr>
          <p:cNvPr id="3" name="Group 2">
            <a:extLst>
              <a:ext uri="{FF2B5EF4-FFF2-40B4-BE49-F238E27FC236}">
                <a16:creationId xmlns:a16="http://schemas.microsoft.com/office/drawing/2014/main" id="{A25DA6B7-125A-3D59-9108-AE78E5005A3A}"/>
              </a:ext>
            </a:extLst>
          </p:cNvPr>
          <p:cNvGrpSpPr/>
          <p:nvPr/>
        </p:nvGrpSpPr>
        <p:grpSpPr>
          <a:xfrm>
            <a:off x="6762939" y="1991762"/>
            <a:ext cx="5332490" cy="4790641"/>
            <a:chOff x="6762939" y="1991762"/>
            <a:chExt cx="5332490" cy="4790641"/>
          </a:xfrm>
        </p:grpSpPr>
        <p:grpSp>
          <p:nvGrpSpPr>
            <p:cNvPr id="13" name="Group 12">
              <a:extLst>
                <a:ext uri="{FF2B5EF4-FFF2-40B4-BE49-F238E27FC236}">
                  <a16:creationId xmlns:a16="http://schemas.microsoft.com/office/drawing/2014/main" id="{4426F303-BFA6-2C02-A5A0-5C2252CD09B5}"/>
                </a:ext>
              </a:extLst>
            </p:cNvPr>
            <p:cNvGrpSpPr/>
            <p:nvPr/>
          </p:nvGrpSpPr>
          <p:grpSpPr>
            <a:xfrm>
              <a:off x="6762939" y="2736093"/>
              <a:ext cx="1249378" cy="1919334"/>
              <a:chOff x="6762939" y="2736093"/>
              <a:chExt cx="1249378" cy="1919334"/>
            </a:xfrm>
          </p:grpSpPr>
          <p:sp>
            <p:nvSpPr>
              <p:cNvPr id="14" name="Right Arrow 13">
                <a:extLst>
                  <a:ext uri="{FF2B5EF4-FFF2-40B4-BE49-F238E27FC236}">
                    <a16:creationId xmlns:a16="http://schemas.microsoft.com/office/drawing/2014/main" id="{EDBEA28B-7B2E-78FF-387B-AB238F9ADAAF}"/>
                  </a:ext>
                </a:extLst>
              </p:cNvPr>
              <p:cNvSpPr/>
              <p:nvPr/>
            </p:nvSpPr>
            <p:spPr>
              <a:xfrm>
                <a:off x="6762939" y="2736093"/>
                <a:ext cx="1249378" cy="1919334"/>
              </a:xfrm>
              <a:prstGeom prst="rightArrow">
                <a:avLst>
                  <a:gd name="adj1" fmla="val 51886"/>
                  <a:gd name="adj2" fmla="val 50000"/>
                </a:avLst>
              </a:prstGeom>
              <a:noFill/>
              <a:ln w="57150">
                <a:solidFill>
                  <a:srgbClr val="24B5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5" name="Picture 2" descr="Image result for understand icon">
                <a:extLst>
                  <a:ext uri="{FF2B5EF4-FFF2-40B4-BE49-F238E27FC236}">
                    <a16:creationId xmlns:a16="http://schemas.microsoft.com/office/drawing/2014/main" id="{3AC88BED-69FF-1823-74FF-6D638B8F50A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4360" y="3276510"/>
                <a:ext cx="838501" cy="838501"/>
              </a:xfrm>
              <a:prstGeom prst="rect">
                <a:avLst/>
              </a:prstGeom>
              <a:noFill/>
              <a:extLst>
                <a:ext uri="{909E8E84-426E-40DD-AFC4-6F175D3DCCD1}">
                  <a14:hiddenFill xmlns:a14="http://schemas.microsoft.com/office/drawing/2010/main">
                    <a:solidFill>
                      <a:srgbClr val="FFFFFF"/>
                    </a:solidFill>
                  </a14:hiddenFill>
                </a:ext>
              </a:extLst>
            </p:spPr>
          </p:pic>
        </p:grpSp>
        <p:sp>
          <p:nvSpPr>
            <p:cNvPr id="17" name="TextBox 16">
              <a:extLst>
                <a:ext uri="{FF2B5EF4-FFF2-40B4-BE49-F238E27FC236}">
                  <a16:creationId xmlns:a16="http://schemas.microsoft.com/office/drawing/2014/main" id="{1AA262C5-D9E9-8CAC-ACE5-AF7FEBBF2DD3}"/>
                </a:ext>
              </a:extLst>
            </p:cNvPr>
            <p:cNvSpPr txBox="1"/>
            <p:nvPr/>
          </p:nvSpPr>
          <p:spPr>
            <a:xfrm>
              <a:off x="8111904" y="1991762"/>
              <a:ext cx="3983525" cy="4364588"/>
            </a:xfrm>
            <a:prstGeom prst="rect">
              <a:avLst/>
            </a:prstGeom>
            <a:noFill/>
          </p:spPr>
          <p:txBody>
            <a:bodyPr wrap="square" rtlCol="0">
              <a:noAutofit/>
            </a:bodyPr>
            <a:lstStyle/>
            <a:p>
              <a:pPr marL="285750" marR="0" lvl="0"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r>
                <a:rPr kumimoji="0" lang="en-NL" sz="1800" b="1" i="0" u="sng" strike="noStrike" kern="1200" cap="none" spc="0" normalizeH="0" baseline="0" noProof="0" dirty="0">
                  <a:ln>
                    <a:noFill/>
                  </a:ln>
                  <a:solidFill>
                    <a:srgbClr val="3AB5B3"/>
                  </a:solidFill>
                  <a:effectLst/>
                  <a:uLnTx/>
                  <a:uFillTx/>
                  <a:latin typeface="Calibri" panose="020F0502020204030204"/>
                  <a:ea typeface="+mn-ea"/>
                  <a:cs typeface="Calibri" panose="020F0502020204030204" pitchFamily="34" charset="0"/>
                  <a:sym typeface="Wingdings" panose="05000000000000000000" pitchFamily="2" charset="2"/>
                </a:rPr>
                <a:t>Data-driven models</a:t>
              </a:r>
              <a:r>
                <a:rPr kumimoji="0" lang="en-NL" sz="1800" b="1" i="0" u="none" strike="noStrike" kern="1200" cap="none" spc="0" normalizeH="0" baseline="0" noProof="0" dirty="0">
                  <a:ln>
                    <a:noFill/>
                  </a:ln>
                  <a:solidFill>
                    <a:srgbClr val="3AB5B3"/>
                  </a:solidFill>
                  <a:effectLst/>
                  <a:uLnTx/>
                  <a:uFillTx/>
                  <a:latin typeface="Calibri" panose="020F0502020204030204"/>
                  <a:ea typeface="+mn-ea"/>
                  <a:cs typeface="Calibri" panose="020F0502020204030204" pitchFamily="34" charset="0"/>
                  <a:sym typeface="Wingdings" panose="05000000000000000000" pitchFamily="2" charset="2"/>
                </a:rPr>
                <a:t> (aka Machine learning)</a:t>
              </a:r>
            </a:p>
            <a:p>
              <a:pPr marL="742950" marR="0" lvl="1"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r>
                <a:rPr kumimoji="0" lang="en-NL" sz="1800" b="0" i="0" u="none" strike="noStrike" kern="1200" cap="none" spc="0" normalizeH="0" baseline="0" noProof="0" dirty="0">
                  <a:ln>
                    <a:noFill/>
                  </a:ln>
                  <a:solidFill>
                    <a:srgbClr val="3AB5B3"/>
                  </a:solidFill>
                  <a:effectLst/>
                  <a:uLnTx/>
                  <a:uFillTx/>
                  <a:latin typeface="Calibri" panose="020F0502020204030204"/>
                  <a:ea typeface="+mn-ea"/>
                  <a:cs typeface="Calibri" panose="020F0502020204030204" pitchFamily="34" charset="0"/>
                  <a:sym typeface="Wingdings" panose="05000000000000000000" pitchFamily="2" charset="2"/>
                </a:rPr>
                <a:t>Computer-vision enriched choice model</a:t>
              </a:r>
            </a:p>
            <a:p>
              <a:pPr marL="457200" marR="0" lvl="1"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endParaRPr kumimoji="0" lang="en-NL"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endParaRPr>
            </a:p>
            <a:p>
              <a:pPr marL="742950" marR="0" lvl="1"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endParaRPr kumimoji="0" lang="en-NL"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endParaRPr>
            </a:p>
          </p:txBody>
        </p:sp>
        <p:pic>
          <p:nvPicPr>
            <p:cNvPr id="2" name="Picture 1" descr="Screen Clipping">
              <a:extLst>
                <a:ext uri="{FF2B5EF4-FFF2-40B4-BE49-F238E27FC236}">
                  <a16:creationId xmlns:a16="http://schemas.microsoft.com/office/drawing/2014/main" id="{5E240039-2F89-2EB9-3B6B-E21E830E0CAE}"/>
                </a:ext>
              </a:extLst>
            </p:cNvPr>
            <p:cNvPicPr>
              <a:picLocks noChangeAspect="1"/>
            </p:cNvPicPr>
            <p:nvPr/>
          </p:nvPicPr>
          <p:blipFill rotWithShape="1">
            <a:blip r:embed="rId4">
              <a:extLst>
                <a:ext uri="{28A0092B-C50C-407E-A947-70E740481C1C}">
                  <a14:useLocalDpi xmlns:a14="http://schemas.microsoft.com/office/drawing/2010/main" val="0"/>
                </a:ext>
              </a:extLst>
            </a:blip>
            <a:srcRect l="74198"/>
            <a:stretch/>
          </p:blipFill>
          <p:spPr>
            <a:xfrm>
              <a:off x="8461882" y="3276510"/>
              <a:ext cx="3142235" cy="3505893"/>
            </a:xfrm>
            <a:prstGeom prst="rect">
              <a:avLst/>
            </a:prstGeom>
          </p:spPr>
        </p:pic>
      </p:grpSp>
      <p:sp>
        <p:nvSpPr>
          <p:cNvPr id="4" name="Line 2">
            <a:extLst>
              <a:ext uri="{FF2B5EF4-FFF2-40B4-BE49-F238E27FC236}">
                <a16:creationId xmlns:a16="http://schemas.microsoft.com/office/drawing/2014/main" id="{9CCEC77C-939E-FF0F-7953-E0C46686ED79}"/>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6" name="Line 2">
            <a:extLst>
              <a:ext uri="{FF2B5EF4-FFF2-40B4-BE49-F238E27FC236}">
                <a16:creationId xmlns:a16="http://schemas.microsoft.com/office/drawing/2014/main" id="{7AB79A80-2004-7504-D727-3D6DB3530005}"/>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3628902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GB" sz="4000" noProof="0" dirty="0"/>
              <a:t>Limitations of RUM-MNL models</a:t>
            </a:r>
          </a:p>
        </p:txBody>
      </p:sp>
      <p:sp>
        <p:nvSpPr>
          <p:cNvPr id="9" name="Slide Number Placeholder 3"/>
          <p:cNvSpPr txBox="1">
            <a:spLocks/>
          </p:cNvSpPr>
          <p:nvPr/>
        </p:nvSpPr>
        <p:spPr>
          <a:xfrm>
            <a:off x="8610600" y="6356351"/>
            <a:ext cx="2844800" cy="365125"/>
          </a:xfrm>
          <a:prstGeom prst="rect">
            <a:avLst/>
          </a:prstGeom>
        </p:spPr>
        <p:txBody>
          <a:bodyPr vert="horz" lIns="91440" tIns="45720" rIns="91440" bIns="45720" rtlCol="0" anchor="ctr"/>
          <a:lstStyle>
            <a:defPPr>
              <a:defRPr lang="nl-NL"/>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Content Placeholder 3">
            <a:extLst>
              <a:ext uri="{FF2B5EF4-FFF2-40B4-BE49-F238E27FC236}">
                <a16:creationId xmlns:a16="http://schemas.microsoft.com/office/drawing/2014/main" id="{28831CA0-1FF9-1B49-AFFF-FBA473515EA0}"/>
              </a:ext>
            </a:extLst>
          </p:cNvPr>
          <p:cNvSpPr txBox="1">
            <a:spLocks/>
          </p:cNvSpPr>
          <p:nvPr/>
        </p:nvSpPr>
        <p:spPr>
          <a:xfrm>
            <a:off x="715992" y="1216325"/>
            <a:ext cx="9519690" cy="4766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The RUM-MNL model is not a perfect model of choice behaviour: it has four key limitations</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FA6D7835-2FCF-E320-3AAA-56F6A1DE41D9}"/>
              </a:ext>
            </a:extLst>
          </p:cNvPr>
          <p:cNvSpPr txBox="1"/>
          <p:nvPr/>
        </p:nvSpPr>
        <p:spPr>
          <a:xfrm>
            <a:off x="715992" y="1874153"/>
            <a:ext cx="5693861" cy="4482197"/>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4"/>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The researcher needs to </a:t>
            </a:r>
            <a:r>
              <a:rPr kumimoji="0" lang="en-GB" sz="1800" b="1" i="0" u="sng" strike="noStrike" kern="1200" cap="none" spc="0" normalizeH="0" baseline="0" noProof="0" dirty="0">
                <a:ln>
                  <a:noFill/>
                </a:ln>
                <a:solidFill>
                  <a:prstClr val="black"/>
                </a:solidFill>
                <a:effectLst/>
                <a:uLnTx/>
                <a:uFillTx/>
                <a:latin typeface="Calibri" panose="020F0502020204030204"/>
                <a:ea typeface="+mn-ea"/>
                <a:cs typeface="+mn-cs"/>
              </a:rPr>
              <a:t>a priori</a:t>
            </a: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 specify</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the functional form of the </a:t>
            </a: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utility function: V</a:t>
            </a:r>
            <a:r>
              <a:rPr kumimoji="0" lang="en-GB" sz="1800" b="1" i="0" u="none" strike="noStrike" kern="1200" cap="none" spc="0" normalizeH="0" baseline="-25000" noProof="0" dirty="0">
                <a:ln>
                  <a:noFill/>
                </a:ln>
                <a:solidFill>
                  <a:prstClr val="black"/>
                </a:solidFill>
                <a:effectLst/>
                <a:uLnTx/>
                <a:uFillTx/>
                <a:latin typeface="Calibri" panose="020F0502020204030204"/>
                <a:ea typeface="+mn-ea"/>
                <a:cs typeface="+mn-cs"/>
              </a:rPr>
              <a:t>i</a:t>
            </a: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GB" sz="1800" b="1" i="1" u="none" strike="noStrike" kern="1200" cap="none" spc="0" normalizeH="0" baseline="0" noProof="0" dirty="0">
                <a:ln>
                  <a:noFill/>
                </a:ln>
                <a:solidFill>
                  <a:prstClr val="black"/>
                </a:solidFill>
                <a:effectLst/>
                <a:uLnTx/>
                <a:uFillTx/>
                <a:latin typeface="Calibri" panose="020F0502020204030204"/>
                <a:ea typeface="+mn-ea"/>
                <a:cs typeface="+mn-cs"/>
              </a:rPr>
              <a:t>f(x</a:t>
            </a:r>
            <a:r>
              <a:rPr kumimoji="0" lang="en-GB" sz="1800" b="1" i="1" u="none" strike="noStrike" kern="1200" cap="none" spc="0" normalizeH="0" baseline="-25000" noProof="0" dirty="0">
                <a:ln>
                  <a:noFill/>
                </a:ln>
                <a:solidFill>
                  <a:prstClr val="black"/>
                </a:solidFill>
                <a:effectLst/>
                <a:uLnTx/>
                <a:uFillTx/>
                <a:latin typeface="Calibri" panose="020F0502020204030204"/>
                <a:ea typeface="+mn-ea"/>
                <a:cs typeface="+mn-cs"/>
              </a:rPr>
              <a:t>i</a:t>
            </a:r>
            <a:r>
              <a:rPr kumimoji="0" lang="en-GB" sz="1800" b="1" i="1" u="none" strike="noStrike" kern="1200" cap="none" spc="0" normalizeH="0" baseline="0" noProof="0" dirty="0">
                <a:ln>
                  <a:noFill/>
                </a:ln>
                <a:solidFill>
                  <a:prstClr val="black"/>
                </a:solidFill>
                <a:effectLst/>
                <a:uLnTx/>
                <a:uFillTx/>
                <a:latin typeface="Calibri" panose="020F0502020204030204"/>
                <a:ea typeface="+mn-ea"/>
                <a:cs typeface="+mn-cs"/>
              </a:rPr>
              <a: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true DGP is unlikely to be found</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considering the large number of potential specifications with interactions, nonlinearities, asymmetries, etc.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But estimates, std errors are only reliable when the utility function equals the true Data Generating Process (DGP). </a:t>
            </a:r>
            <a:endPar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sym typeface="Wingdings" pitchFamily="2" charset="2"/>
            </a:endParaRPr>
          </a:p>
          <a:p>
            <a:pPr marL="914400" marR="0" lvl="2"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sym typeface="Wingdings" pitchFamily="2" charset="2"/>
            </a:endParaRPr>
          </a:p>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sym typeface="Wingdings" pitchFamily="2" charset="2"/>
              </a:rPr>
              <a:t> Biased estimates and predictions</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endParaRPr>
          </a:p>
        </p:txBody>
      </p:sp>
      <p:grpSp>
        <p:nvGrpSpPr>
          <p:cNvPr id="2" name="Group 1">
            <a:extLst>
              <a:ext uri="{FF2B5EF4-FFF2-40B4-BE49-F238E27FC236}">
                <a16:creationId xmlns:a16="http://schemas.microsoft.com/office/drawing/2014/main" id="{FBF7D121-7943-35ED-6415-308888EB76E1}"/>
              </a:ext>
            </a:extLst>
          </p:cNvPr>
          <p:cNvGrpSpPr/>
          <p:nvPr/>
        </p:nvGrpSpPr>
        <p:grpSpPr>
          <a:xfrm>
            <a:off x="6762939" y="2736093"/>
            <a:ext cx="5332490" cy="2145702"/>
            <a:chOff x="6762939" y="2736093"/>
            <a:chExt cx="5332490" cy="2145702"/>
          </a:xfrm>
        </p:grpSpPr>
        <p:grpSp>
          <p:nvGrpSpPr>
            <p:cNvPr id="13" name="Group 12">
              <a:extLst>
                <a:ext uri="{FF2B5EF4-FFF2-40B4-BE49-F238E27FC236}">
                  <a16:creationId xmlns:a16="http://schemas.microsoft.com/office/drawing/2014/main" id="{4426F303-BFA6-2C02-A5A0-5C2252CD09B5}"/>
                </a:ext>
              </a:extLst>
            </p:cNvPr>
            <p:cNvGrpSpPr/>
            <p:nvPr/>
          </p:nvGrpSpPr>
          <p:grpSpPr>
            <a:xfrm>
              <a:off x="6762939" y="2736093"/>
              <a:ext cx="1249378" cy="1919334"/>
              <a:chOff x="6762939" y="2736093"/>
              <a:chExt cx="1249378" cy="1919334"/>
            </a:xfrm>
          </p:grpSpPr>
          <p:sp>
            <p:nvSpPr>
              <p:cNvPr id="14" name="Right Arrow 13">
                <a:extLst>
                  <a:ext uri="{FF2B5EF4-FFF2-40B4-BE49-F238E27FC236}">
                    <a16:creationId xmlns:a16="http://schemas.microsoft.com/office/drawing/2014/main" id="{EDBEA28B-7B2E-78FF-387B-AB238F9ADAAF}"/>
                  </a:ext>
                </a:extLst>
              </p:cNvPr>
              <p:cNvSpPr/>
              <p:nvPr/>
            </p:nvSpPr>
            <p:spPr>
              <a:xfrm>
                <a:off x="6762939" y="2736093"/>
                <a:ext cx="1249378" cy="1919334"/>
              </a:xfrm>
              <a:prstGeom prst="rightArrow">
                <a:avLst>
                  <a:gd name="adj1" fmla="val 51886"/>
                  <a:gd name="adj2" fmla="val 50000"/>
                </a:avLst>
              </a:prstGeom>
              <a:noFill/>
              <a:ln w="57150">
                <a:solidFill>
                  <a:srgbClr val="24B5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5" name="Picture 2" descr="Image result for understand icon">
                <a:extLst>
                  <a:ext uri="{FF2B5EF4-FFF2-40B4-BE49-F238E27FC236}">
                    <a16:creationId xmlns:a16="http://schemas.microsoft.com/office/drawing/2014/main" id="{3AC88BED-69FF-1823-74FF-6D638B8F50A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4360" y="3276510"/>
                <a:ext cx="838501" cy="838501"/>
              </a:xfrm>
              <a:prstGeom prst="rect">
                <a:avLst/>
              </a:prstGeom>
              <a:noFill/>
              <a:extLst>
                <a:ext uri="{909E8E84-426E-40DD-AFC4-6F175D3DCCD1}">
                  <a14:hiddenFill xmlns:a14="http://schemas.microsoft.com/office/drawing/2010/main">
                    <a:solidFill>
                      <a:srgbClr val="FFFFFF"/>
                    </a:solidFill>
                  </a14:hiddenFill>
                </a:ext>
              </a:extLst>
            </p:spPr>
          </p:pic>
        </p:grpSp>
        <p:sp>
          <p:nvSpPr>
            <p:cNvPr id="17" name="TextBox 16">
              <a:extLst>
                <a:ext uri="{FF2B5EF4-FFF2-40B4-BE49-F238E27FC236}">
                  <a16:creationId xmlns:a16="http://schemas.microsoft.com/office/drawing/2014/main" id="{1AA262C5-D9E9-8CAC-ACE5-AF7FEBBF2DD3}"/>
                </a:ext>
              </a:extLst>
            </p:cNvPr>
            <p:cNvSpPr txBox="1"/>
            <p:nvPr/>
          </p:nvSpPr>
          <p:spPr>
            <a:xfrm>
              <a:off x="8111904" y="2850292"/>
              <a:ext cx="3983525" cy="2031503"/>
            </a:xfrm>
            <a:prstGeom prst="rect">
              <a:avLst/>
            </a:prstGeom>
            <a:noFill/>
          </p:spPr>
          <p:txBody>
            <a:bodyPr wrap="square" rtlCol="0">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NL" sz="1800" b="1" i="0" u="sng"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Data-driven models</a:t>
              </a:r>
              <a:r>
                <a:rPr kumimoji="0" lang="en-NL" sz="1800" b="1" i="0"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 </a:t>
              </a:r>
              <a:r>
                <a:rPr kumimoji="0" lang="en-NL" sz="1800" b="1"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(aka Machine Learning)</a:t>
              </a:r>
            </a:p>
            <a:p>
              <a:pPr marL="285750" marR="0" lvl="0"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endParaRPr kumimoji="0" lang="en-NL"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endParaRPr>
            </a:p>
            <a:p>
              <a:pPr marL="285750" marR="0" lvl="0"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r>
                <a:rPr kumimoji="0" lang="en-NL"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Hybrid choice models</a:t>
              </a:r>
            </a:p>
            <a:p>
              <a:pPr marL="285750" marR="0" lvl="0"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endParaRPr kumimoji="0" lang="en-NL"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endParaRPr>
            </a:p>
            <a:p>
              <a:pPr marL="285750" marR="0" lvl="0"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r>
                <a:rPr kumimoji="0" lang="en-NL"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Machine Learning + eXplainable AI techniques</a:t>
              </a:r>
            </a:p>
            <a:p>
              <a:pPr marL="457200" marR="0" lvl="1"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endParaRPr kumimoji="0" lang="en-NL"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endParaRPr>
            </a:p>
            <a:p>
              <a:pPr marL="742950" marR="0" lvl="1"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endParaRPr kumimoji="0" lang="en-NL"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endParaRPr>
            </a:p>
          </p:txBody>
        </p:sp>
      </p:grpSp>
      <p:sp>
        <p:nvSpPr>
          <p:cNvPr id="3" name="Line 2">
            <a:extLst>
              <a:ext uri="{FF2B5EF4-FFF2-40B4-BE49-F238E27FC236}">
                <a16:creationId xmlns:a16="http://schemas.microsoft.com/office/drawing/2014/main" id="{2EEC00BD-7F21-FBF8-38B7-392C36436D75}"/>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4" name="Line 2">
            <a:extLst>
              <a:ext uri="{FF2B5EF4-FFF2-40B4-BE49-F238E27FC236}">
                <a16:creationId xmlns:a16="http://schemas.microsoft.com/office/drawing/2014/main" id="{BE00E59B-434C-4710-1198-DD654374E66C}"/>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3688476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F2D17-C86F-4C93-7F09-1DBD3F5E4F72}"/>
            </a:ext>
          </a:extLst>
        </p:cNvPr>
        <p:cNvGrpSpPr/>
        <p:nvPr/>
      </p:nvGrpSpPr>
      <p:grpSpPr>
        <a:xfrm>
          <a:off x="0" y="0"/>
          <a:ext cx="0" cy="0"/>
          <a:chOff x="0" y="0"/>
          <a:chExt cx="0" cy="0"/>
        </a:xfrm>
      </p:grpSpPr>
      <p:sp>
        <p:nvSpPr>
          <p:cNvPr id="111" name="CustomShape 1">
            <a:extLst>
              <a:ext uri="{FF2B5EF4-FFF2-40B4-BE49-F238E27FC236}">
                <a16:creationId xmlns:a16="http://schemas.microsoft.com/office/drawing/2014/main" id="{F387CBA4-A25B-F81E-9639-8CA98D07A3C3}"/>
              </a:ext>
            </a:extLst>
          </p:cNvPr>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endParaRPr lang="en-US" sz="3800" b="0" strike="noStrike" spc="-1" dirty="0">
              <a:latin typeface="Calibri"/>
            </a:endParaRPr>
          </a:p>
        </p:txBody>
      </p:sp>
      <p:sp>
        <p:nvSpPr>
          <p:cNvPr id="112" name="Line 2">
            <a:extLst>
              <a:ext uri="{FF2B5EF4-FFF2-40B4-BE49-F238E27FC236}">
                <a16:creationId xmlns:a16="http://schemas.microsoft.com/office/drawing/2014/main" id="{9E16883F-DFFF-EC14-8D08-4F4E671C9284}"/>
              </a:ext>
            </a:extLst>
          </p:cNvPr>
          <p:cNvSpPr/>
          <p:nvPr/>
        </p:nvSpPr>
        <p:spPr>
          <a:xfrm>
            <a:off x="513273" y="21466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8" name="Title 1">
            <a:extLst>
              <a:ext uri="{FF2B5EF4-FFF2-40B4-BE49-F238E27FC236}">
                <a16:creationId xmlns:a16="http://schemas.microsoft.com/office/drawing/2014/main" id="{6C0E179B-39A9-8629-4288-9D03A7072833}"/>
              </a:ext>
            </a:extLst>
          </p:cNvPr>
          <p:cNvSpPr txBox="1">
            <a:spLocks/>
          </p:cNvSpPr>
          <p:nvPr/>
        </p:nvSpPr>
        <p:spPr>
          <a:xfrm>
            <a:off x="513273" y="350635"/>
            <a:ext cx="10515600" cy="66357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latin typeface="Times New Roman" panose="02020603050405020304" pitchFamily="18" charset="0"/>
                <a:cs typeface="Times New Roman" panose="02020603050405020304" pitchFamily="18" charset="0"/>
              </a:rPr>
              <a:t>Model Specification Problem (PhD dissertation)</a:t>
            </a:r>
          </a:p>
        </p:txBody>
      </p:sp>
      <p:sp>
        <p:nvSpPr>
          <p:cNvPr id="4" name="Line 2">
            <a:extLst>
              <a:ext uri="{FF2B5EF4-FFF2-40B4-BE49-F238E27FC236}">
                <a16:creationId xmlns:a16="http://schemas.microsoft.com/office/drawing/2014/main" id="{E95C8614-976E-6FE9-4713-C1A592DF6EA0}"/>
              </a:ext>
            </a:extLst>
          </p:cNvPr>
          <p:cNvSpPr/>
          <p:nvPr/>
        </p:nvSpPr>
        <p:spPr>
          <a:xfrm>
            <a:off x="513273" y="102744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pic>
        <p:nvPicPr>
          <p:cNvPr id="60" name="Picture 59">
            <a:extLst>
              <a:ext uri="{FF2B5EF4-FFF2-40B4-BE49-F238E27FC236}">
                <a16:creationId xmlns:a16="http://schemas.microsoft.com/office/drawing/2014/main" id="{4F080155-244C-1E7B-1177-BAB7B0B269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1259" y="1559220"/>
            <a:ext cx="5347467" cy="4446958"/>
          </a:xfrm>
          <a:prstGeom prst="rect">
            <a:avLst/>
          </a:prstGeom>
        </p:spPr>
      </p:pic>
      <p:sp>
        <p:nvSpPr>
          <p:cNvPr id="5" name="TextBox 4">
            <a:extLst>
              <a:ext uri="{FF2B5EF4-FFF2-40B4-BE49-F238E27FC236}">
                <a16:creationId xmlns:a16="http://schemas.microsoft.com/office/drawing/2014/main" id="{E8416D1F-982A-2D0A-DB99-5E8DC9A3090E}"/>
              </a:ext>
            </a:extLst>
          </p:cNvPr>
          <p:cNvSpPr txBox="1"/>
          <p:nvPr/>
        </p:nvSpPr>
        <p:spPr>
          <a:xfrm>
            <a:off x="513273" y="1258437"/>
            <a:ext cx="5720379" cy="4247317"/>
          </a:xfrm>
          <a:prstGeom prst="rect">
            <a:avLst/>
          </a:prstGeom>
          <a:noFill/>
        </p:spPr>
        <p:txBody>
          <a:bodyPr wrap="square">
            <a:spAutoFit/>
          </a:bodyPr>
          <a:lstStyle/>
          <a:p>
            <a:r>
              <a:rPr lang="en-GB" dirty="0">
                <a:latin typeface="Times New Roman" panose="02020603050405020304" pitchFamily="18" charset="0"/>
                <a:ea typeface="Calibri" panose="020F0502020204030204" pitchFamily="34" charset="0"/>
                <a:cs typeface="Times New Roman" panose="02020603050405020304" pitchFamily="18" charset="0"/>
              </a:rPr>
              <a:t>Specification is an iterative, trial-and-error process</a:t>
            </a:r>
          </a:p>
          <a:p>
            <a:endParaRPr lang="en-GB" dirty="0">
              <a:latin typeface="Times New Roman" panose="02020603050405020304" pitchFamily="18" charset="0"/>
              <a:ea typeface="Calibri" panose="020F0502020204030204" pitchFamily="34" charset="0"/>
              <a:cs typeface="Times New Roman" panose="02020603050405020304" pitchFamily="18" charset="0"/>
            </a:endParaRPr>
          </a:p>
          <a:p>
            <a:endParaRPr lang="en-GB" dirty="0">
              <a:latin typeface="Times New Roman" panose="02020603050405020304" pitchFamily="18" charset="0"/>
              <a:ea typeface="Calibri" panose="020F0502020204030204" pitchFamily="34" charset="0"/>
              <a:cs typeface="Times New Roman" panose="02020603050405020304" pitchFamily="18" charset="0"/>
            </a:endParaRPr>
          </a:p>
          <a:p>
            <a:r>
              <a:rPr lang="en-GB" dirty="0">
                <a:latin typeface="Times New Roman" panose="02020603050405020304" pitchFamily="18" charset="0"/>
                <a:ea typeface="Calibri" panose="020F0502020204030204" pitchFamily="34" charset="0"/>
                <a:cs typeface="Times New Roman" panose="02020603050405020304" pitchFamily="18" charset="0"/>
              </a:rPr>
              <a:t>Multi-objective criteria</a:t>
            </a:r>
          </a:p>
          <a:p>
            <a:pPr marL="285750" indent="-285750">
              <a:buFont typeface="Arial" panose="020B0604020202020204" pitchFamily="34" charset="0"/>
              <a:buChar char="•"/>
            </a:pPr>
            <a:r>
              <a:rPr lang="en-GB" dirty="0">
                <a:latin typeface="Times New Roman" panose="02020603050405020304" pitchFamily="18" charset="0"/>
                <a:ea typeface="Calibri" panose="020F0502020204030204" pitchFamily="34" charset="0"/>
                <a:cs typeface="Times New Roman" panose="02020603050405020304" pitchFamily="18" charset="0"/>
              </a:rPr>
              <a:t>Model performance</a:t>
            </a:r>
          </a:p>
          <a:p>
            <a:pPr marL="285750" indent="-285750">
              <a:buFont typeface="Arial" panose="020B0604020202020204" pitchFamily="34" charset="0"/>
              <a:buChar char="•"/>
            </a:pPr>
            <a:r>
              <a:rPr lang="en-GB" dirty="0">
                <a:latin typeface="Times New Roman" panose="02020603050405020304" pitchFamily="18" charset="0"/>
                <a:ea typeface="Calibri" panose="020F0502020204030204" pitchFamily="34" charset="0"/>
                <a:cs typeface="Times New Roman" panose="02020603050405020304" pitchFamily="18" charset="0"/>
              </a:rPr>
              <a:t>Parsimony  </a:t>
            </a:r>
          </a:p>
          <a:p>
            <a:pPr marL="285750" indent="-285750">
              <a:buFont typeface="Arial" panose="020B0604020202020204" pitchFamily="34" charset="0"/>
              <a:buChar char="•"/>
            </a:pPr>
            <a:r>
              <a:rPr lang="en-GB" dirty="0">
                <a:latin typeface="Times New Roman" panose="02020603050405020304" pitchFamily="18" charset="0"/>
                <a:ea typeface="Calibri" panose="020F0502020204030204" pitchFamily="34" charset="0"/>
                <a:cs typeface="Times New Roman" panose="02020603050405020304" pitchFamily="18" charset="0"/>
              </a:rPr>
              <a:t>Behavioural plausibility</a:t>
            </a:r>
          </a:p>
          <a:p>
            <a:pPr marL="285750" indent="-285750">
              <a:buFont typeface="Arial" panose="020B0604020202020204" pitchFamily="34" charset="0"/>
              <a:buChar char="•"/>
            </a:pPr>
            <a:endParaRPr lang="en-GB" dirty="0">
              <a:latin typeface="Times New Roman" panose="02020603050405020304" pitchFamily="18" charset="0"/>
              <a:ea typeface="Calibri" panose="020F0502020204030204" pitchFamily="34" charset="0"/>
              <a:cs typeface="Times New Roman" panose="02020603050405020304" pitchFamily="18" charset="0"/>
            </a:endParaRPr>
          </a:p>
          <a:p>
            <a:endParaRPr lang="en-GB" dirty="0">
              <a:latin typeface="Times New Roman" panose="02020603050405020304" pitchFamily="18" charset="0"/>
              <a:ea typeface="Calibri" panose="020F0502020204030204" pitchFamily="34" charset="0"/>
              <a:cs typeface="Times New Roman" panose="02020603050405020304" pitchFamily="18" charset="0"/>
            </a:endParaRPr>
          </a:p>
          <a:p>
            <a:r>
              <a:rPr lang="en-GB" dirty="0">
                <a:latin typeface="Times New Roman" panose="02020603050405020304" pitchFamily="18" charset="0"/>
                <a:ea typeface="Calibri" panose="020F0502020204030204" pitchFamily="34" charset="0"/>
                <a:cs typeface="Times New Roman" panose="02020603050405020304" pitchFamily="18" charset="0"/>
              </a:rPr>
              <a:t>Modelling decisions</a:t>
            </a:r>
          </a:p>
          <a:p>
            <a:pPr marL="285750" indent="-285750">
              <a:buFont typeface="Arial" panose="020B0604020202020204" pitchFamily="34" charset="0"/>
              <a:buChar char="•"/>
            </a:pPr>
            <a:r>
              <a:rPr lang="en-GB" dirty="0">
                <a:latin typeface="Times New Roman" panose="02020603050405020304" pitchFamily="18" charset="0"/>
                <a:ea typeface="Calibri" panose="020F0502020204030204" pitchFamily="34" charset="0"/>
                <a:cs typeface="Times New Roman" panose="02020603050405020304" pitchFamily="18" charset="0"/>
              </a:rPr>
              <a:t>Which attributes enter the utility functions</a:t>
            </a:r>
          </a:p>
          <a:p>
            <a:pPr marL="285750" indent="-285750">
              <a:buFont typeface="Arial" panose="020B0604020202020204" pitchFamily="34" charset="0"/>
              <a:buChar char="•"/>
            </a:pPr>
            <a:r>
              <a:rPr lang="en-GB" dirty="0">
                <a:latin typeface="Times New Roman" panose="02020603050405020304" pitchFamily="18" charset="0"/>
                <a:ea typeface="Calibri" panose="020F0502020204030204" pitchFamily="34" charset="0"/>
                <a:cs typeface="Times New Roman" panose="02020603050405020304" pitchFamily="18" charset="0"/>
              </a:rPr>
              <a:t>Whether to allow non-linear effects </a:t>
            </a:r>
          </a:p>
          <a:p>
            <a:pPr marL="285750" indent="-285750">
              <a:buFont typeface="Arial" panose="020B0604020202020204" pitchFamily="34" charset="0"/>
              <a:buChar char="•"/>
            </a:pPr>
            <a:r>
              <a:rPr lang="en-GB" dirty="0">
                <a:latin typeface="Times New Roman" panose="02020603050405020304" pitchFamily="18" charset="0"/>
                <a:ea typeface="Calibri" panose="020F0502020204030204" pitchFamily="34" charset="0"/>
                <a:cs typeface="Times New Roman" panose="02020603050405020304" pitchFamily="18" charset="0"/>
              </a:rPr>
              <a:t>Whether tastes are generic or alternative-specific</a:t>
            </a:r>
          </a:p>
          <a:p>
            <a:pPr marL="285750" indent="-285750">
              <a:buFont typeface="Arial" panose="020B0604020202020204" pitchFamily="34" charset="0"/>
              <a:buChar char="•"/>
            </a:pPr>
            <a:r>
              <a:rPr lang="en-GB" dirty="0">
                <a:latin typeface="Times New Roman" panose="02020603050405020304" pitchFamily="18" charset="0"/>
                <a:ea typeface="Calibri" panose="020F0502020204030204" pitchFamily="34" charset="0"/>
                <a:cs typeface="Times New Roman" panose="02020603050405020304" pitchFamily="18" charset="0"/>
              </a:rPr>
              <a:t>How to capture observed heterogeneity</a:t>
            </a:r>
          </a:p>
          <a:p>
            <a:pPr marL="342900" indent="-342900">
              <a:buFont typeface="+mj-lt"/>
              <a:buAutoNum type="arabicPeriod"/>
              <a:defRPr sz="1800"/>
            </a:pPr>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2C8C1B2-3FCE-A256-BB42-C110CFC0FAA0}"/>
              </a:ext>
            </a:extLst>
          </p:cNvPr>
          <p:cNvSpPr txBox="1"/>
          <p:nvPr/>
        </p:nvSpPr>
        <p:spPr>
          <a:xfrm>
            <a:off x="8576846" y="1412866"/>
            <a:ext cx="920846" cy="283380"/>
          </a:xfrm>
          <a:prstGeom prst="rect">
            <a:avLst/>
          </a:prstGeom>
          <a:noFill/>
        </p:spPr>
        <p:txBody>
          <a:bodyPr wrap="square" rtlCol="0">
            <a:spAutoFit/>
          </a:bodyPr>
          <a:lstStyle/>
          <a:p>
            <a:r>
              <a:rPr lang="en-GB" sz="1200" dirty="0"/>
              <a:t>Hypothesis</a:t>
            </a:r>
          </a:p>
        </p:txBody>
      </p:sp>
      <p:sp>
        <p:nvSpPr>
          <p:cNvPr id="9" name="TextBox 8">
            <a:extLst>
              <a:ext uri="{FF2B5EF4-FFF2-40B4-BE49-F238E27FC236}">
                <a16:creationId xmlns:a16="http://schemas.microsoft.com/office/drawing/2014/main" id="{5823AD30-EC74-492E-3382-A6DA54708429}"/>
              </a:ext>
            </a:extLst>
          </p:cNvPr>
          <p:cNvSpPr txBox="1"/>
          <p:nvPr/>
        </p:nvSpPr>
        <p:spPr>
          <a:xfrm>
            <a:off x="10514441" y="4073942"/>
            <a:ext cx="1060104" cy="283380"/>
          </a:xfrm>
          <a:prstGeom prst="rect">
            <a:avLst/>
          </a:prstGeom>
          <a:noFill/>
        </p:spPr>
        <p:txBody>
          <a:bodyPr wrap="square" rtlCol="0">
            <a:spAutoFit/>
          </a:bodyPr>
          <a:lstStyle/>
          <a:p>
            <a:r>
              <a:rPr lang="en-GB" sz="1200" dirty="0"/>
              <a:t>Specification</a:t>
            </a:r>
          </a:p>
        </p:txBody>
      </p:sp>
      <p:sp>
        <p:nvSpPr>
          <p:cNvPr id="10" name="TextBox 9">
            <a:extLst>
              <a:ext uri="{FF2B5EF4-FFF2-40B4-BE49-F238E27FC236}">
                <a16:creationId xmlns:a16="http://schemas.microsoft.com/office/drawing/2014/main" id="{29BCBAA8-9065-C929-A539-2940DBCB9DD7}"/>
              </a:ext>
            </a:extLst>
          </p:cNvPr>
          <p:cNvSpPr txBox="1"/>
          <p:nvPr/>
        </p:nvSpPr>
        <p:spPr>
          <a:xfrm>
            <a:off x="8576846" y="5864488"/>
            <a:ext cx="1060104" cy="283380"/>
          </a:xfrm>
          <a:prstGeom prst="rect">
            <a:avLst/>
          </a:prstGeom>
          <a:noFill/>
        </p:spPr>
        <p:txBody>
          <a:bodyPr wrap="square" rtlCol="0">
            <a:spAutoFit/>
          </a:bodyPr>
          <a:lstStyle/>
          <a:p>
            <a:r>
              <a:rPr lang="en-GB" sz="1200" dirty="0"/>
              <a:t>Estimation</a:t>
            </a:r>
          </a:p>
        </p:txBody>
      </p:sp>
      <p:sp>
        <p:nvSpPr>
          <p:cNvPr id="11" name="TextBox 10">
            <a:extLst>
              <a:ext uri="{FF2B5EF4-FFF2-40B4-BE49-F238E27FC236}">
                <a16:creationId xmlns:a16="http://schemas.microsoft.com/office/drawing/2014/main" id="{9C9CDA12-0E67-7750-0726-CD8F625B09CB}"/>
              </a:ext>
            </a:extLst>
          </p:cNvPr>
          <p:cNvSpPr txBox="1"/>
          <p:nvPr/>
        </p:nvSpPr>
        <p:spPr>
          <a:xfrm>
            <a:off x="6012068" y="4194027"/>
            <a:ext cx="1336743" cy="472301"/>
          </a:xfrm>
          <a:prstGeom prst="rect">
            <a:avLst/>
          </a:prstGeom>
          <a:noFill/>
        </p:spPr>
        <p:txBody>
          <a:bodyPr wrap="square" rtlCol="0">
            <a:spAutoFit/>
          </a:bodyPr>
          <a:lstStyle/>
          <a:p>
            <a:pPr algn="ctr"/>
            <a:r>
              <a:rPr lang="en-GB" sz="1200" dirty="0"/>
              <a:t>Outcome interpretation </a:t>
            </a:r>
          </a:p>
        </p:txBody>
      </p:sp>
      <p:sp>
        <p:nvSpPr>
          <p:cNvPr id="7" name="Rectangle 6">
            <a:extLst>
              <a:ext uri="{FF2B5EF4-FFF2-40B4-BE49-F238E27FC236}">
                <a16:creationId xmlns:a16="http://schemas.microsoft.com/office/drawing/2014/main" id="{2E9E44EB-5F82-7A76-A6EE-515D0BE003E3}"/>
              </a:ext>
            </a:extLst>
          </p:cNvPr>
          <p:cNvSpPr/>
          <p:nvPr/>
        </p:nvSpPr>
        <p:spPr>
          <a:xfrm>
            <a:off x="7010401" y="3844414"/>
            <a:ext cx="776749" cy="8849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Slide Number Placeholder 3">
            <a:extLst>
              <a:ext uri="{FF2B5EF4-FFF2-40B4-BE49-F238E27FC236}">
                <a16:creationId xmlns:a16="http://schemas.microsoft.com/office/drawing/2014/main" id="{773CA552-3731-1B62-87E5-3E56F8502108}"/>
              </a:ext>
            </a:extLst>
          </p:cNvPr>
          <p:cNvSpPr txBox="1">
            <a:spLocks/>
          </p:cNvSpPr>
          <p:nvPr/>
        </p:nvSpPr>
        <p:spPr>
          <a:xfrm>
            <a:off x="9241988" y="6364267"/>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D45CBC7-BB0C-1B4C-8910-D00AF3F288B4}" type="slidenum">
              <a:rPr lang="en-US" smtClean="0"/>
              <a:pPr/>
              <a:t>10</a:t>
            </a:fld>
            <a:endParaRPr lang="en-US" dirty="0"/>
          </a:p>
        </p:txBody>
      </p:sp>
    </p:spTree>
    <p:extLst>
      <p:ext uri="{BB962C8B-B14F-4D97-AF65-F5344CB8AC3E}">
        <p14:creationId xmlns:p14="http://schemas.microsoft.com/office/powerpoint/2010/main" val="1850562788"/>
      </p:ext>
    </p:extLst>
  </p:cSld>
  <p:clrMapOvr>
    <a:masterClrMapping/>
  </p:clrMapOvr>
  <mc:AlternateContent xmlns:mc="http://schemas.openxmlformats.org/markup-compatibility/2006" xmlns:p14="http://schemas.microsoft.com/office/powerpoint/2010/main">
    <mc:Choice Requires="p14">
      <p:transition spd="slow" p14:dur="2000" advTm="405"/>
    </mc:Choice>
    <mc:Fallback xmlns="">
      <p:transition spd="slow" advTm="405"/>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47BC1-45F7-CA79-6066-EFC578FE51D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53E9DE10-1326-1BC4-6F2B-977817D58F75}"/>
                  </a:ext>
                </a:extLst>
              </p:cNvPr>
              <p:cNvSpPr txBox="1"/>
              <p:nvPr/>
            </p:nvSpPr>
            <p:spPr>
              <a:xfrm>
                <a:off x="513272" y="1364600"/>
                <a:ext cx="11324501" cy="4062651"/>
              </a:xfrm>
              <a:prstGeom prst="rect">
                <a:avLst/>
              </a:prstGeom>
              <a:noFill/>
            </p:spPr>
            <p:txBody>
              <a:bodyPr wrap="square">
                <a:spAutoFit/>
              </a:bodyPr>
              <a:lstStyle/>
              <a:p>
                <a:pPr marL="457200" indent="-457200" algn="just">
                  <a:buAutoNum type="alphaLcPeriod"/>
                </a:pPr>
                <a:r>
                  <a:rPr lang="en-GB" sz="2000" dirty="0" err="1">
                    <a:latin typeface="Times New Roman" panose="02020603050405020304" pitchFamily="18" charset="0"/>
                    <a:ea typeface="Times New Roman" panose="02020603050405020304" pitchFamily="18" charset="0"/>
                  </a:rPr>
                  <a:t>Swissmetro</a:t>
                </a:r>
                <a:r>
                  <a:rPr lang="en-GB" sz="2000" dirty="0">
                    <a:latin typeface="Times New Roman" panose="02020603050405020304" pitchFamily="18" charset="0"/>
                    <a:ea typeface="Times New Roman" panose="02020603050405020304" pitchFamily="18" charset="0"/>
                  </a:rPr>
                  <a:t> (Bierlaire et al., 2001)</a:t>
                </a:r>
              </a:p>
              <a:p>
                <a:pPr marL="457200" indent="-457200" algn="just">
                  <a:buAutoNum type="alphaLcPeriod"/>
                </a:pPr>
                <a:endParaRPr lang="en-GB" sz="2000" dirty="0">
                  <a:latin typeface="Times New Roman" panose="02020603050405020304" pitchFamily="18" charset="0"/>
                  <a:ea typeface="Times New Roman" panose="02020603050405020304" pitchFamily="18" charset="0"/>
                </a:endParaRPr>
              </a:p>
              <a:p>
                <a:pPr algn="just"/>
                <a:r>
                  <a:rPr lang="en-GB" sz="2000" dirty="0">
                    <a:latin typeface="Times New Roman" panose="02020603050405020304" pitchFamily="18" charset="0"/>
                    <a:ea typeface="Times New Roman" panose="02020603050405020304" pitchFamily="18" charset="0"/>
                  </a:rPr>
                  <a:t>Modelling space</a:t>
                </a:r>
              </a:p>
              <a:p>
                <a:pPr marL="342900" indent="-342900" algn="just">
                  <a:buFont typeface="Arial" panose="020B0604020202020204" pitchFamily="34" charset="0"/>
                  <a:buChar char="•"/>
                </a:pPr>
                <a:r>
                  <a:rPr lang="en-GB" sz="2000" dirty="0">
                    <a:latin typeface="Times New Roman" panose="02020603050405020304" pitchFamily="18" charset="0"/>
                    <a:ea typeface="Times New Roman" panose="02020603050405020304" pitchFamily="18" charset="0"/>
                  </a:rPr>
                  <a:t>Variables: ASC, TT,TC,HE,SE</a:t>
                </a:r>
              </a:p>
              <a:p>
                <a:pPr marL="342900" indent="-342900" algn="just">
                  <a:buFont typeface="Arial" panose="020B0604020202020204" pitchFamily="34" charset="0"/>
                  <a:buChar char="•"/>
                </a:pPr>
                <a14:m>
                  <m:oMath xmlns:m="http://schemas.openxmlformats.org/officeDocument/2006/math">
                    <m:r>
                      <m:rPr>
                        <m:sty m:val="p"/>
                      </m:rPr>
                      <a:rPr lang="nl-NL" sz="2000" i="1" smtClean="0">
                        <a:latin typeface="Cambria Math" panose="02040503050406030204" pitchFamily="18" charset="0"/>
                      </a:rPr>
                      <m:t>T</m:t>
                    </m:r>
                    <m:r>
                      <m:rPr>
                        <m:sty m:val="p"/>
                      </m:rPr>
                      <a:rPr lang="nl-NL" sz="2000">
                        <a:latin typeface="Cambria Math" panose="02040503050406030204" pitchFamily="18" charset="0"/>
                      </a:rPr>
                      <m:t>ransformations</m:t>
                    </m:r>
                    <m:r>
                      <a:rPr lang="nl-NL" sz="2000" b="0" i="0" smtClean="0">
                        <a:latin typeface="Cambria Math" panose="02040503050406030204" pitchFamily="18" charset="0"/>
                      </a:rPr>
                      <m:t>:</m:t>
                    </m:r>
                    <m:r>
                      <m:rPr>
                        <m:sty m:val="p"/>
                      </m:rPr>
                      <a:rPr lang="nl-NL" sz="2000" b="0" i="0" smtClean="0">
                        <a:latin typeface="Cambria Math" panose="02040503050406030204" pitchFamily="18" charset="0"/>
                      </a:rPr>
                      <m:t>L</m:t>
                    </m:r>
                    <m:r>
                      <a:rPr lang="nl-NL" sz="2000">
                        <a:latin typeface="Cambria Math" panose="02040503050406030204" pitchFamily="18" charset="0"/>
                      </a:rPr>
                      <m:t>, </m:t>
                    </m:r>
                    <m:r>
                      <m:rPr>
                        <m:sty m:val="p"/>
                      </m:rPr>
                      <a:rPr lang="nl-NL" sz="2000" b="0" i="0" smtClean="0">
                        <a:latin typeface="Cambria Math" panose="02040503050406030204" pitchFamily="18" charset="0"/>
                      </a:rPr>
                      <m:t>Log</m:t>
                    </m:r>
                    <m:r>
                      <a:rPr lang="nl-NL" sz="2000">
                        <a:latin typeface="Cambria Math" panose="02040503050406030204" pitchFamily="18" charset="0"/>
                      </a:rPr>
                      <m:t>, </m:t>
                    </m:r>
                    <m:r>
                      <m:rPr>
                        <m:sty m:val="p"/>
                      </m:rPr>
                      <a:rPr lang="nl-NL" sz="2000">
                        <a:latin typeface="Cambria Math" panose="02040503050406030204" pitchFamily="18" charset="0"/>
                      </a:rPr>
                      <m:t>box</m:t>
                    </m:r>
                    <m:r>
                      <a:rPr lang="nl-NL" sz="2000">
                        <a:latin typeface="Cambria Math" panose="02040503050406030204" pitchFamily="18" charset="0"/>
                      </a:rPr>
                      <m:t>−</m:t>
                    </m:r>
                    <m:r>
                      <m:rPr>
                        <m:sty m:val="p"/>
                      </m:rPr>
                      <a:rPr lang="nl-NL" sz="2000">
                        <a:latin typeface="Cambria Math" panose="02040503050406030204" pitchFamily="18" charset="0"/>
                      </a:rPr>
                      <m:t>cox</m:t>
                    </m:r>
                  </m:oMath>
                </a14:m>
                <a:endParaRPr lang="en-GB" sz="2000" dirty="0">
                  <a:latin typeface="Times New Roman" panose="02020603050405020304" pitchFamily="18" charset="0"/>
                  <a:ea typeface="Times New Roman" panose="02020603050405020304" pitchFamily="18" charset="0"/>
                </a:endParaRPr>
              </a:p>
              <a:p>
                <a:pPr marL="342900" indent="-342900" algn="just">
                  <a:buFont typeface="Arial" panose="020B0604020202020204" pitchFamily="34" charset="0"/>
                  <a:buChar char="•"/>
                </a:pPr>
                <a14:m>
                  <m:oMath xmlns:m="http://schemas.openxmlformats.org/officeDocument/2006/math">
                    <m:r>
                      <m:rPr>
                        <m:sty m:val="p"/>
                      </m:rPr>
                      <a:rPr lang="nl-NL" sz="2000" i="1" smtClean="0">
                        <a:latin typeface="Cambria Math" panose="02040503050406030204" pitchFamily="18" charset="0"/>
                      </a:rPr>
                      <m:t>T</m:t>
                    </m:r>
                    <m:r>
                      <m:rPr>
                        <m:sty m:val="p"/>
                      </m:rPr>
                      <a:rPr lang="nl-NL" sz="2000">
                        <a:latin typeface="Cambria Math" panose="02040503050406030204" pitchFamily="18" charset="0"/>
                      </a:rPr>
                      <m:t>aste</m:t>
                    </m:r>
                    <m:r>
                      <a:rPr lang="nl-NL" sz="2000" b="0" i="0" smtClean="0">
                        <a:latin typeface="Cambria Math" panose="02040503050406030204" pitchFamily="18" charset="0"/>
                      </a:rPr>
                      <m:t>:</m:t>
                    </m:r>
                    <m:r>
                      <m:rPr>
                        <m:sty m:val="p"/>
                      </m:rPr>
                      <a:rPr lang="nl-NL" sz="2000" b="0" i="0" smtClean="0">
                        <a:latin typeface="Cambria Math" panose="02040503050406030204" pitchFamily="18" charset="0"/>
                      </a:rPr>
                      <m:t>G</m:t>
                    </m:r>
                    <m:r>
                      <a:rPr lang="nl-NL" sz="2000">
                        <a:latin typeface="Cambria Math" panose="02040503050406030204" pitchFamily="18" charset="0"/>
                      </a:rPr>
                      <m:t>, </m:t>
                    </m:r>
                    <m:r>
                      <m:rPr>
                        <m:sty m:val="p"/>
                      </m:rPr>
                      <a:rPr lang="nl-NL" sz="2000" b="0" i="0" smtClean="0">
                        <a:latin typeface="Cambria Math" panose="02040503050406030204" pitchFamily="18" charset="0"/>
                      </a:rPr>
                      <m:t>S</m:t>
                    </m:r>
                  </m:oMath>
                </a14:m>
                <a:endParaRPr lang="en-GB" sz="2000" dirty="0">
                  <a:latin typeface="Times New Roman" panose="02020603050405020304" pitchFamily="18" charset="0"/>
                  <a:ea typeface="Times New Roman" panose="02020603050405020304" pitchFamily="18" charset="0"/>
                </a:endParaRPr>
              </a:p>
              <a:p>
                <a:pPr marL="342900" indent="-342900" algn="just">
                  <a:buFont typeface="Arial" panose="020B0604020202020204" pitchFamily="34" charset="0"/>
                  <a:buChar char="•"/>
                </a:pPr>
                <a14:m>
                  <m:oMath xmlns:m="http://schemas.openxmlformats.org/officeDocument/2006/math">
                    <m:r>
                      <m:rPr>
                        <m:sty m:val="p"/>
                      </m:rPr>
                      <a:rPr lang="nl-NL" sz="2000" i="1" smtClean="0">
                        <a:latin typeface="Cambria Math" panose="02040503050406030204" pitchFamily="18" charset="0"/>
                      </a:rPr>
                      <m:t>C</m:t>
                    </m:r>
                    <m:r>
                      <m:rPr>
                        <m:sty m:val="p"/>
                      </m:rPr>
                      <a:rPr lang="nl-NL" sz="2000">
                        <a:latin typeface="Cambria Math" panose="02040503050406030204" pitchFamily="18" charset="0"/>
                      </a:rPr>
                      <m:t>ovariate</m:t>
                    </m:r>
                    <m:r>
                      <a:rPr lang="nl-NL" sz="2000" b="0" i="0" smtClean="0">
                        <a:latin typeface="Cambria Math" panose="02040503050406030204" pitchFamily="18" charset="0"/>
                      </a:rPr>
                      <m:t>:</m:t>
                    </m:r>
                  </m:oMath>
                </a14:m>
                <a:r>
                  <a:rPr lang="en-US" sz="2000" dirty="0">
                    <a:ea typeface="Cambria Math" panose="02040503050406030204" pitchFamily="18" charset="0"/>
                    <a:cs typeface="Times New Roman" panose="02020603050405020304" pitchFamily="18" charset="0"/>
                  </a:rPr>
                  <a:t> </a:t>
                </a:r>
                <a14:m>
                  <m:oMath xmlns:m="http://schemas.openxmlformats.org/officeDocument/2006/math">
                    <m:r>
                      <m:rPr>
                        <m:sty m:val="p"/>
                      </m:rPr>
                      <a:rPr lang="nl-NL" sz="2000" b="0" i="0" smtClean="0">
                        <a:latin typeface="Cambria Math" panose="02040503050406030204" pitchFamily="18" charset="0"/>
                        <a:ea typeface="Cambria Math" panose="02040503050406030204" pitchFamily="18" charset="0"/>
                        <a:cs typeface="Times New Roman" panose="02020603050405020304" pitchFamily="18" charset="0"/>
                      </a:rPr>
                      <m:t>A</m:t>
                    </m:r>
                    <m:r>
                      <m:rPr>
                        <m:nor/>
                      </m:rPr>
                      <a:rPr lang="en-US" sz="2000">
                        <a:latin typeface="Cambria Math" panose="02040503050406030204" pitchFamily="18" charset="0"/>
                        <a:ea typeface="Cambria Math" panose="02040503050406030204" pitchFamily="18" charset="0"/>
                        <a:cs typeface="Times New Roman" panose="02020603050405020304" pitchFamily="18" charset="0"/>
                      </a:rPr>
                      <m:t>ge</m:t>
                    </m:r>
                    <m:r>
                      <m:rPr>
                        <m:nor/>
                      </m:rPr>
                      <a:rPr lang="en-US" sz="2000">
                        <a:latin typeface="Cambria Math" panose="02040503050406030204" pitchFamily="18" charset="0"/>
                        <a:ea typeface="Cambria Math" panose="02040503050406030204" pitchFamily="18" charset="0"/>
                        <a:cs typeface="Times New Roman" panose="02020603050405020304" pitchFamily="18" charset="0"/>
                      </a:rPr>
                      <m:t>, </m:t>
                    </m:r>
                    <m:r>
                      <m:rPr>
                        <m:nor/>
                      </m:rPr>
                      <a:rPr lang="nl-NL" sz="2000" b="0" i="0" smtClean="0">
                        <a:latin typeface="Cambria Math" panose="02040503050406030204" pitchFamily="18" charset="0"/>
                        <a:ea typeface="Cambria Math" panose="02040503050406030204" pitchFamily="18" charset="0"/>
                        <a:cs typeface="Times New Roman" panose="02020603050405020304" pitchFamily="18" charset="0"/>
                      </a:rPr>
                      <m:t>Inc</m:t>
                    </m:r>
                    <m:r>
                      <m:rPr>
                        <m:nor/>
                      </m:rPr>
                      <a:rPr lang="en-US" sz="2000">
                        <a:latin typeface="Cambria Math" panose="02040503050406030204" pitchFamily="18" charset="0"/>
                        <a:ea typeface="Cambria Math" panose="02040503050406030204" pitchFamily="18" charset="0"/>
                        <a:cs typeface="Times New Roman" panose="02020603050405020304" pitchFamily="18" charset="0"/>
                      </a:rPr>
                      <m:t>, </m:t>
                    </m:r>
                    <m:r>
                      <m:rPr>
                        <m:nor/>
                      </m:rPr>
                      <a:rPr lang="nl-NL" sz="2000" b="0" i="0" smtClean="0">
                        <a:latin typeface="Cambria Math" panose="02040503050406030204" pitchFamily="18" charset="0"/>
                        <a:ea typeface="Cambria Math" panose="02040503050406030204" pitchFamily="18" charset="0"/>
                        <a:cs typeface="Times New Roman" panose="02020603050405020304" pitchFamily="18" charset="0"/>
                      </a:rPr>
                      <m:t>C</m:t>
                    </m:r>
                    <m:r>
                      <m:rPr>
                        <m:nor/>
                      </m:rPr>
                      <a:rPr lang="en-US" sz="2000">
                        <a:latin typeface="Cambria Math" panose="02040503050406030204" pitchFamily="18" charset="0"/>
                        <a:ea typeface="Cambria Math" panose="02040503050406030204" pitchFamily="18" charset="0"/>
                        <a:cs typeface="Times New Roman" panose="02020603050405020304" pitchFamily="18" charset="0"/>
                      </a:rPr>
                      <m:t>las</m:t>
                    </m:r>
                    <m:r>
                      <m:rPr>
                        <m:nor/>
                      </m:rPr>
                      <a:rPr lang="nl-NL" sz="2000">
                        <a:latin typeface="Cambria Math" panose="02040503050406030204" pitchFamily="18" charset="0"/>
                        <a:ea typeface="Cambria Math" panose="02040503050406030204" pitchFamily="18" charset="0"/>
                        <a:cs typeface="Times New Roman" panose="02020603050405020304" pitchFamily="18" charset="0"/>
                      </a:rPr>
                      <m:t>s</m:t>
                    </m:r>
                    <m:r>
                      <m:rPr>
                        <m:nor/>
                      </m:rPr>
                      <a:rPr lang="en-US" sz="2000">
                        <a:latin typeface="Cambria Math" panose="02040503050406030204" pitchFamily="18" charset="0"/>
                        <a:ea typeface="Cambria Math" panose="02040503050406030204" pitchFamily="18" charset="0"/>
                        <a:cs typeface="Times New Roman" panose="02020603050405020304" pitchFamily="18" charset="0"/>
                      </a:rPr>
                      <m:t>, </m:t>
                    </m:r>
                    <m:r>
                      <m:rPr>
                        <m:nor/>
                      </m:rPr>
                      <a:rPr lang="nl-NL" sz="2000" b="0" i="0" smtClean="0">
                        <a:latin typeface="Cambria Math" panose="02040503050406030204" pitchFamily="18" charset="0"/>
                        <a:ea typeface="Cambria Math" panose="02040503050406030204" pitchFamily="18" charset="0"/>
                        <a:cs typeface="Times New Roman" panose="02020603050405020304" pitchFamily="18" charset="0"/>
                      </a:rPr>
                      <m:t>G</m:t>
                    </m:r>
                    <m:r>
                      <m:rPr>
                        <m:nor/>
                      </m:rPr>
                      <a:rPr lang="en-US" sz="2000">
                        <a:latin typeface="Cambria Math" panose="02040503050406030204" pitchFamily="18" charset="0"/>
                        <a:ea typeface="Cambria Math" panose="02040503050406030204" pitchFamily="18" charset="0"/>
                        <a:cs typeface="Times New Roman" panose="02020603050405020304" pitchFamily="18" charset="0"/>
                      </a:rPr>
                      <m:t>a</m:t>
                    </m:r>
                    <m:r>
                      <m:rPr>
                        <m:nor/>
                      </m:rPr>
                      <a:rPr lang="en-US" sz="2000">
                        <a:latin typeface="Cambria Math" panose="02040503050406030204" pitchFamily="18" charset="0"/>
                        <a:ea typeface="Cambria Math" panose="02040503050406030204" pitchFamily="18" charset="0"/>
                        <a:cs typeface="Times New Roman" panose="02020603050405020304" pitchFamily="18" charset="0"/>
                      </a:rPr>
                      <m:t>, </m:t>
                    </m:r>
                    <m:r>
                      <m:rPr>
                        <m:nor/>
                      </m:rPr>
                      <a:rPr lang="nl-NL" sz="2000" b="0" i="0" smtClean="0">
                        <a:latin typeface="Cambria Math" panose="02040503050406030204" pitchFamily="18" charset="0"/>
                        <a:ea typeface="Cambria Math" panose="02040503050406030204" pitchFamily="18" charset="0"/>
                        <a:cs typeface="Times New Roman" panose="02020603050405020304" pitchFamily="18" charset="0"/>
                      </a:rPr>
                      <m:t>G</m:t>
                    </m:r>
                    <m:r>
                      <m:rPr>
                        <m:nor/>
                      </m:rPr>
                      <a:rPr lang="en-US" sz="2000">
                        <a:latin typeface="Cambria Math" panose="02040503050406030204" pitchFamily="18" charset="0"/>
                        <a:ea typeface="Cambria Math" panose="02040503050406030204" pitchFamily="18" charset="0"/>
                        <a:cs typeface="Times New Roman" panose="02020603050405020304" pitchFamily="18" charset="0"/>
                      </a:rPr>
                      <m:t>ender</m:t>
                    </m:r>
                  </m:oMath>
                </a14:m>
                <a:endParaRPr lang="en-GB" sz="2000" dirty="0">
                  <a:latin typeface="Times New Roman" panose="02020603050405020304" pitchFamily="18" charset="0"/>
                  <a:ea typeface="Times New Roman" panose="02020603050405020304" pitchFamily="18" charset="0"/>
                </a:endParaRPr>
              </a:p>
              <a:p>
                <a:pPr lvl="2" algn="just"/>
                <a:endParaRPr lang="nl-NL" sz="2000" b="0" i="0" dirty="0">
                  <a:latin typeface="Cambria Math" panose="02040503050406030204" pitchFamily="18" charset="0"/>
                  <a:ea typeface="Times New Roman" panose="02020603050405020304" pitchFamily="18" charset="0"/>
                </a:endParaRPr>
              </a:p>
              <a:p>
                <a:pPr lvl="2" algn="just"/>
                <a:endParaRPr lang="nl-NL" sz="2000" b="0" i="0" dirty="0">
                  <a:latin typeface="Cambria Math" panose="02040503050406030204" pitchFamily="18" charset="0"/>
                  <a:ea typeface="Times New Roman" panose="02020603050405020304" pitchFamily="18" charset="0"/>
                </a:endParaRPr>
              </a:p>
              <a:p>
                <a:pPr algn="just"/>
                <a:endParaRPr lang="en-GB" sz="2000" dirty="0">
                  <a:latin typeface="Times New Roman" panose="02020603050405020304" pitchFamily="18" charset="0"/>
                  <a:ea typeface="Times New Roman" panose="02020603050405020304" pitchFamily="18" charset="0"/>
                </a:endParaRPr>
              </a:p>
              <a:p>
                <a:pPr algn="just"/>
                <a:endParaRPr lang="en-GB" sz="2000" dirty="0">
                  <a:latin typeface="Times New Roman" panose="02020603050405020304" pitchFamily="18" charset="0"/>
                </a:endParaRPr>
              </a:p>
              <a:p>
                <a:pPr marL="342900" indent="-342900" algn="just">
                  <a:buFont typeface="+mj-lt"/>
                  <a:buAutoNum type="arabicPeriod"/>
                </a:pPr>
                <a:endParaRPr lang="en-GB" sz="2000" dirty="0">
                  <a:latin typeface="Times New Roman" panose="02020603050405020304" pitchFamily="18" charset="0"/>
                  <a:ea typeface="Times New Roman" panose="02020603050405020304" pitchFamily="18" charset="0"/>
                </a:endParaRPr>
              </a:p>
              <a:p>
                <a:pPr algn="just"/>
                <a:endParaRPr lang="en-GB" dirty="0">
                  <a:latin typeface="Cambria Math" panose="02040503050406030204" pitchFamily="18" charset="0"/>
                  <a:ea typeface="Cambria Math" panose="02040503050406030204" pitchFamily="18" charset="0"/>
                </a:endParaRPr>
              </a:p>
            </p:txBody>
          </p:sp>
        </mc:Choice>
        <mc:Fallback xmlns="">
          <p:sp>
            <p:nvSpPr>
              <p:cNvPr id="137" name="TextBox 136">
                <a:extLst>
                  <a:ext uri="{FF2B5EF4-FFF2-40B4-BE49-F238E27FC236}">
                    <a16:creationId xmlns:a16="http://schemas.microsoft.com/office/drawing/2014/main" id="{53E9DE10-1326-1BC4-6F2B-977817D58F75}"/>
                  </a:ext>
                </a:extLst>
              </p:cNvPr>
              <p:cNvSpPr txBox="1">
                <a:spLocks noRot="1" noChangeAspect="1" noMove="1" noResize="1" noEditPoints="1" noAdjustHandles="1" noChangeArrowheads="1" noChangeShapeType="1" noTextEdit="1"/>
              </p:cNvSpPr>
              <p:nvPr/>
            </p:nvSpPr>
            <p:spPr>
              <a:xfrm>
                <a:off x="513272" y="1364600"/>
                <a:ext cx="11324501" cy="4062651"/>
              </a:xfrm>
              <a:prstGeom prst="rect">
                <a:avLst/>
              </a:prstGeom>
              <a:blipFill>
                <a:blip r:embed="rId3"/>
                <a:stretch>
                  <a:fillRect l="-560" t="-935"/>
                </a:stretch>
              </a:blipFill>
            </p:spPr>
            <p:txBody>
              <a:bodyPr/>
              <a:lstStyle/>
              <a:p>
                <a:r>
                  <a:rPr lang="en-GB">
                    <a:noFill/>
                  </a:rPr>
                  <a:t> </a:t>
                </a:r>
              </a:p>
            </p:txBody>
          </p:sp>
        </mc:Fallback>
      </mc:AlternateContent>
      <p:sp>
        <p:nvSpPr>
          <p:cNvPr id="111" name="CustomShape 1">
            <a:extLst>
              <a:ext uri="{FF2B5EF4-FFF2-40B4-BE49-F238E27FC236}">
                <a16:creationId xmlns:a16="http://schemas.microsoft.com/office/drawing/2014/main" id="{98EC81A2-266C-6662-7B59-9B19D0287A6B}"/>
              </a:ext>
            </a:extLst>
          </p:cNvPr>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endParaRPr lang="en-US" sz="3800" b="0" strike="noStrike" spc="-1" dirty="0">
              <a:latin typeface="Calibri"/>
            </a:endParaRPr>
          </a:p>
        </p:txBody>
      </p:sp>
      <p:sp>
        <p:nvSpPr>
          <p:cNvPr id="112" name="Line 2">
            <a:extLst>
              <a:ext uri="{FF2B5EF4-FFF2-40B4-BE49-F238E27FC236}">
                <a16:creationId xmlns:a16="http://schemas.microsoft.com/office/drawing/2014/main" id="{1E5D077E-9B7C-30D3-2D41-B77BB7F5E270}"/>
              </a:ext>
            </a:extLst>
          </p:cNvPr>
          <p:cNvSpPr/>
          <p:nvPr/>
        </p:nvSpPr>
        <p:spPr>
          <a:xfrm>
            <a:off x="513273" y="21466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3" name="Slide Number Placeholder 3">
            <a:extLst>
              <a:ext uri="{FF2B5EF4-FFF2-40B4-BE49-F238E27FC236}">
                <a16:creationId xmlns:a16="http://schemas.microsoft.com/office/drawing/2014/main" id="{8F395300-FECF-66C2-6235-BFE60C313D63}"/>
              </a:ext>
            </a:extLst>
          </p:cNvPr>
          <p:cNvSpPr txBox="1">
            <a:spLocks/>
          </p:cNvSpPr>
          <p:nvPr/>
        </p:nvSpPr>
        <p:spPr>
          <a:xfrm>
            <a:off x="8610600" y="634086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D45CBC7-BB0C-1B4C-8910-D00AF3F288B4}" type="slidenum">
              <a:rPr lang="en-US" smtClean="0"/>
              <a:pPr/>
              <a:t>11</a:t>
            </a:fld>
            <a:endParaRPr lang="en-US" dirty="0"/>
          </a:p>
        </p:txBody>
      </p:sp>
      <p:sp>
        <p:nvSpPr>
          <p:cNvPr id="8" name="Title 1">
            <a:extLst>
              <a:ext uri="{FF2B5EF4-FFF2-40B4-BE49-F238E27FC236}">
                <a16:creationId xmlns:a16="http://schemas.microsoft.com/office/drawing/2014/main" id="{5CCA9AC6-17A9-E24C-2ACB-923A77DADDD3}"/>
              </a:ext>
            </a:extLst>
          </p:cNvPr>
          <p:cNvSpPr txBox="1">
            <a:spLocks/>
          </p:cNvSpPr>
          <p:nvPr/>
        </p:nvSpPr>
        <p:spPr>
          <a:xfrm>
            <a:off x="513272" y="350635"/>
            <a:ext cx="11005627" cy="66357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800" noProof="0" dirty="0">
                <a:latin typeface="Times New Roman" panose="02020603050405020304" pitchFamily="18" charset="0"/>
                <a:cs typeface="Times New Roman" panose="02020603050405020304" pitchFamily="18" charset="0"/>
              </a:rPr>
              <a:t>Delphos </a:t>
            </a:r>
            <a:r>
              <a:rPr lang="en-US" sz="2800" dirty="0">
                <a:latin typeface="Times New Roman" panose="02020603050405020304" pitchFamily="18" charset="0"/>
                <a:cs typeface="Times New Roman" panose="02020603050405020304" pitchFamily="18" charset="0"/>
              </a:rPr>
              <a:t>(PhD dissertation)</a:t>
            </a:r>
          </a:p>
          <a:p>
            <a:endParaRPr lang="en-GB" sz="2800" noProof="0" dirty="0">
              <a:latin typeface="Times New Roman" panose="02020603050405020304" pitchFamily="18" charset="0"/>
              <a:cs typeface="Times New Roman" panose="02020603050405020304" pitchFamily="18" charset="0"/>
            </a:endParaRPr>
          </a:p>
        </p:txBody>
      </p:sp>
      <p:sp>
        <p:nvSpPr>
          <p:cNvPr id="4" name="Line 2">
            <a:extLst>
              <a:ext uri="{FF2B5EF4-FFF2-40B4-BE49-F238E27FC236}">
                <a16:creationId xmlns:a16="http://schemas.microsoft.com/office/drawing/2014/main" id="{F46CD504-7192-BCDF-9AF6-A5455EA8731F}"/>
              </a:ext>
            </a:extLst>
          </p:cNvPr>
          <p:cNvSpPr/>
          <p:nvPr/>
        </p:nvSpPr>
        <p:spPr>
          <a:xfrm>
            <a:off x="513273" y="102744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pic>
        <p:nvPicPr>
          <p:cNvPr id="10" name="Picture 9">
            <a:extLst>
              <a:ext uri="{FF2B5EF4-FFF2-40B4-BE49-F238E27FC236}">
                <a16:creationId xmlns:a16="http://schemas.microsoft.com/office/drawing/2014/main" id="{81850CBA-22AE-EFC9-51D3-A98CCD9D74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19564" y="1536058"/>
            <a:ext cx="6962155" cy="4612428"/>
          </a:xfrm>
          <a:prstGeom prst="rect">
            <a:avLst/>
          </a:prstGeom>
        </p:spPr>
      </p:pic>
      <p:sp>
        <p:nvSpPr>
          <p:cNvPr id="11" name="TextBox 10">
            <a:extLst>
              <a:ext uri="{FF2B5EF4-FFF2-40B4-BE49-F238E27FC236}">
                <a16:creationId xmlns:a16="http://schemas.microsoft.com/office/drawing/2014/main" id="{8D85B28B-7C9B-B017-EE9B-1C21BCFE848D}"/>
              </a:ext>
            </a:extLst>
          </p:cNvPr>
          <p:cNvSpPr txBox="1"/>
          <p:nvPr/>
        </p:nvSpPr>
        <p:spPr>
          <a:xfrm>
            <a:off x="3690397" y="6567490"/>
            <a:ext cx="4810245" cy="276999"/>
          </a:xfrm>
          <a:prstGeom prst="rect">
            <a:avLst/>
          </a:prstGeom>
          <a:noFill/>
        </p:spPr>
        <p:txBody>
          <a:bodyPr wrap="square" rtlCol="0">
            <a:spAutoFit/>
          </a:bodyPr>
          <a:lstStyle/>
          <a:p>
            <a:pPr>
              <a:spcAft>
                <a:spcPts val="800"/>
              </a:spcAft>
            </a:pPr>
            <a:r>
              <a:rPr lang="en-GB" sz="1200" noProof="0" dirty="0"/>
              <a:t>Ortelli et al., (2021). VNS - Assisted specification of discrete choice models</a:t>
            </a:r>
          </a:p>
        </p:txBody>
      </p:sp>
    </p:spTree>
    <p:extLst>
      <p:ext uri="{BB962C8B-B14F-4D97-AF65-F5344CB8AC3E}">
        <p14:creationId xmlns:p14="http://schemas.microsoft.com/office/powerpoint/2010/main" val="2960455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0A8D3-1D9D-09C7-FD80-4F6197AB17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81B981-2D22-5C71-C0A9-D0F635BDD533}"/>
              </a:ext>
            </a:extLst>
          </p:cNvPr>
          <p:cNvSpPr>
            <a:spLocks noGrp="1"/>
          </p:cNvSpPr>
          <p:nvPr>
            <p:ph type="title"/>
          </p:nvPr>
        </p:nvSpPr>
        <p:spPr>
          <a:xfrm>
            <a:off x="1981200" y="274638"/>
            <a:ext cx="8229600" cy="6466730"/>
          </a:xfrm>
        </p:spPr>
        <p:txBody>
          <a:bodyPr/>
          <a:lstStyle/>
          <a:p>
            <a:r>
              <a:rPr lang="en-GB" sz="4000" dirty="0"/>
              <a:t>Data-driven Models </a:t>
            </a:r>
            <a:br>
              <a:rPr lang="en-GB" sz="4000" dirty="0"/>
            </a:br>
            <a:endParaRPr lang="en-GB" sz="4000" dirty="0"/>
          </a:p>
        </p:txBody>
      </p:sp>
      <p:sp>
        <p:nvSpPr>
          <p:cNvPr id="4" name="Slide Number Placeholder 3">
            <a:extLst>
              <a:ext uri="{FF2B5EF4-FFF2-40B4-BE49-F238E27FC236}">
                <a16:creationId xmlns:a16="http://schemas.microsoft.com/office/drawing/2014/main" id="{272BA593-04A2-9765-D153-921B432BDB8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nl-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56850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sz="4000" dirty="0"/>
              <a:t>Theory-driven vs data-driven</a:t>
            </a:r>
          </a:p>
        </p:txBody>
      </p:sp>
      <p:sp>
        <p:nvSpPr>
          <p:cNvPr id="7" name="Rounded Rectangle 6"/>
          <p:cNvSpPr/>
          <p:nvPr/>
        </p:nvSpPr>
        <p:spPr>
          <a:xfrm>
            <a:off x="2118284" y="1556792"/>
            <a:ext cx="3545667" cy="5184576"/>
          </a:xfrm>
          <a:prstGeom prst="roundRect">
            <a:avLst/>
          </a:prstGeom>
          <a:solidFill>
            <a:schemeClr val="bg1">
              <a:lumMod val="8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2118283" y="1556793"/>
            <a:ext cx="3517110"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Theory-driven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(discrete choice models)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3" name="TextBox 12"/>
          <p:cNvSpPr txBox="1"/>
          <p:nvPr/>
        </p:nvSpPr>
        <p:spPr>
          <a:xfrm>
            <a:off x="2120255" y="2289061"/>
            <a:ext cx="3515139" cy="424731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1" u="none" strike="noStrike" kern="1200" cap="none" spc="0" normalizeH="0" baseline="0" noProof="0" dirty="0">
                <a:ln>
                  <a:noFill/>
                </a:ln>
                <a:solidFill>
                  <a:prstClr val="black"/>
                </a:solidFill>
                <a:effectLst/>
                <a:uLnTx/>
                <a:uFillTx/>
                <a:latin typeface="Calibri"/>
                <a:ea typeface="+mn-ea"/>
                <a:cs typeface="+mn-cs"/>
              </a:rPr>
              <a:t>Guiding principle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Data generating process is a stochastic model</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a:buChar char="à"/>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Analyst imposes </a:t>
            </a:r>
            <a:r>
              <a:rPr kumimoji="0" lang="en-GB" sz="1800" b="0" i="0" u="none" strike="noStrike" kern="1200" cap="none" spc="0" normalizeH="0" baseline="0" noProof="0" dirty="0">
                <a:ln>
                  <a:noFill/>
                </a:ln>
                <a:solidFill>
                  <a:prstClr val="black"/>
                </a:solidFill>
                <a:effectLst/>
                <a:uLnTx/>
                <a:uFillTx/>
                <a:latin typeface="Calibri"/>
                <a:ea typeface="+mn-ea"/>
                <a:cs typeface="+mn-cs"/>
              </a:rPr>
              <a:t>structure based on theory</a:t>
            </a:r>
            <a:endParaRPr kumimoji="0" lang="en-GB"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Wingdings"/>
              <a:buChar char="à"/>
              <a:tabLst/>
              <a:defRPr/>
            </a:pPr>
            <a:endParaRPr kumimoji="0" lang="en-GB"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Wingdings"/>
              <a:buChar char="à"/>
              <a:tabLst/>
              <a:defRPr/>
            </a:pPr>
            <a:endParaRPr kumimoji="0" lang="en-GB"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Wingdings"/>
              <a:buChar char="à"/>
              <a:tabLst/>
              <a:defRPr/>
            </a:pPr>
            <a:endParaRPr kumimoji="0" lang="en-GB"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Wingdings"/>
              <a:buChar char="à"/>
              <a:tabLst/>
              <a:defRPr/>
            </a:pPr>
            <a:r>
              <a:rPr kumimoji="0" lang="en-GB" sz="1800" b="0" i="0" u="none" strike="noStrike" kern="1200" cap="none" spc="0" normalizeH="0" baseline="0" noProof="0" dirty="0">
                <a:ln>
                  <a:noFill/>
                </a:ln>
                <a:solidFill>
                  <a:prstClr val="black"/>
                </a:solidFill>
                <a:effectLst/>
                <a:uLnTx/>
                <a:uFillTx/>
                <a:latin typeface="Calibri"/>
                <a:ea typeface="+mn-ea"/>
                <a:cs typeface="Times New Roman" panose="02020603050405020304" pitchFamily="18" charset="0"/>
              </a:rPr>
              <a:t>Set of parameters, sign. levels</a:t>
            </a:r>
          </a:p>
        </p:txBody>
      </p:sp>
      <p:grpSp>
        <p:nvGrpSpPr>
          <p:cNvPr id="14" name="Group 13"/>
          <p:cNvGrpSpPr/>
          <p:nvPr/>
        </p:nvGrpSpPr>
        <p:grpSpPr>
          <a:xfrm>
            <a:off x="2160609" y="4446474"/>
            <a:ext cx="3515138" cy="1934855"/>
            <a:chOff x="755576" y="4833156"/>
            <a:chExt cx="3407127" cy="1934855"/>
          </a:xfrm>
        </p:grpSpPr>
        <p:pic>
          <p:nvPicPr>
            <p:cNvPr id="15" name="Picture 14"/>
            <p:cNvPicPr>
              <a:picLocks noChangeAspect="1"/>
            </p:cNvPicPr>
            <p:nvPr/>
          </p:nvPicPr>
          <p:blipFill rotWithShape="1">
            <a:blip r:embed="rId3">
              <a:extLst>
                <a:ext uri="{28A0092B-C50C-407E-A947-70E740481C1C}">
                  <a14:useLocalDpi xmlns:a14="http://schemas.microsoft.com/office/drawing/2010/main" val="0"/>
                </a:ext>
              </a:extLst>
            </a:blip>
            <a:srcRect l="24285" r="22762"/>
            <a:stretch/>
          </p:blipFill>
          <p:spPr>
            <a:xfrm>
              <a:off x="755576" y="4833156"/>
              <a:ext cx="3407127" cy="1934855"/>
            </a:xfrm>
            <a:prstGeom prst="rect">
              <a:avLst/>
            </a:prstGeom>
          </p:spPr>
        </p:pic>
        <p:sp>
          <p:nvSpPr>
            <p:cNvPr id="16" name="Rectangle 15"/>
            <p:cNvSpPr/>
            <p:nvPr/>
          </p:nvSpPr>
          <p:spPr>
            <a:xfrm>
              <a:off x="1778227" y="5625244"/>
              <a:ext cx="1081828" cy="43204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1" i="1" u="none" strike="noStrike" kern="1200" cap="none" spc="0" normalizeH="0" baseline="0" noProof="0" dirty="0">
                  <a:ln>
                    <a:noFill/>
                  </a:ln>
                  <a:solidFill>
                    <a:prstClr val="white"/>
                  </a:solidFill>
                  <a:effectLst/>
                  <a:uLnTx/>
                  <a:uFillTx/>
                  <a:latin typeface="Calibri"/>
                  <a:ea typeface="+mn-ea"/>
                  <a:cs typeface="+mn-cs"/>
                </a:rPr>
                <a:t>f</a:t>
              </a:r>
              <a:r>
                <a:rPr kumimoji="0" lang="en-GB" sz="2000" b="1" i="0" u="none" strike="noStrike" kern="1200" cap="none" spc="0" normalizeH="0" baseline="0" noProof="0" dirty="0">
                  <a:ln>
                    <a:noFill/>
                  </a:ln>
                  <a:solidFill>
                    <a:prstClr val="white"/>
                  </a:solidFill>
                  <a:effectLst/>
                  <a:uLnTx/>
                  <a:uFillTx/>
                  <a:latin typeface="Calibri"/>
                  <a:ea typeface="+mn-ea"/>
                  <a:cs typeface="+mn-cs"/>
                </a:rPr>
                <a:t> := </a:t>
              </a:r>
              <a:r>
                <a:rPr kumimoji="0" lang="en-GB" sz="2000" b="1" i="1" u="none" strike="noStrike" kern="1200" cap="none" spc="0" normalizeH="0" baseline="0" noProof="0" dirty="0">
                  <a:ln>
                    <a:noFill/>
                  </a:ln>
                  <a:solidFill>
                    <a:prstClr val="white"/>
                  </a:solidFill>
                  <a:effectLst/>
                  <a:uLnTx/>
                  <a:uFillTx/>
                  <a:latin typeface="Calibri"/>
                  <a:ea typeface="+mn-ea"/>
                  <a:cs typeface="+mn-cs"/>
                </a:rPr>
                <a:t>X</a:t>
              </a:r>
              <a:r>
                <a:rPr kumimoji="0" lang="en-GB" sz="1600" b="1" i="0" u="none" strike="noStrike" kern="1200" cap="none" spc="0" normalizeH="0" baseline="0" noProof="0" dirty="0">
                  <a:ln>
                    <a:noFill/>
                  </a:ln>
                  <a:solidFill>
                    <a:prstClr val="white"/>
                  </a:solidFill>
                  <a:effectLst/>
                  <a:uLnTx/>
                  <a:uFillTx/>
                  <a:latin typeface="Calibri"/>
                  <a:ea typeface="+mn-ea"/>
                  <a:cs typeface="+mn-cs"/>
                </a:rPr>
                <a:t>→</a:t>
              </a:r>
              <a:r>
                <a:rPr kumimoji="0" lang="en-GB" sz="2000" b="1" i="1" u="none" strike="noStrike" kern="1200" cap="none" spc="0" normalizeH="0" baseline="0" noProof="0" dirty="0">
                  <a:ln>
                    <a:noFill/>
                  </a:ln>
                  <a:solidFill>
                    <a:prstClr val="white"/>
                  </a:solidFill>
                  <a:effectLst/>
                  <a:uLnTx/>
                  <a:uFillTx/>
                  <a:latin typeface="Calibri"/>
                  <a:ea typeface="+mn-ea"/>
                  <a:cs typeface="+mn-cs"/>
                </a:rPr>
                <a:t>Y</a:t>
              </a:r>
              <a:endParaRPr kumimoji="0" lang="en-GB" sz="2000" b="1"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17" name="Rounded Rectangle 16"/>
          <p:cNvSpPr/>
          <p:nvPr/>
        </p:nvSpPr>
        <p:spPr>
          <a:xfrm>
            <a:off x="6780076" y="1556792"/>
            <a:ext cx="3533134" cy="5184576"/>
          </a:xfrm>
          <a:prstGeom prst="roundRect">
            <a:avLst/>
          </a:prstGeom>
          <a:solidFill>
            <a:schemeClr val="bg1">
              <a:lumMod val="8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TextBox 17"/>
          <p:cNvSpPr txBox="1"/>
          <p:nvPr/>
        </p:nvSpPr>
        <p:spPr>
          <a:xfrm>
            <a:off x="6816067" y="2289061"/>
            <a:ext cx="3515139" cy="424731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1" u="none" strike="noStrike" kern="1200" cap="none" spc="0" normalizeH="0" baseline="0" noProof="0" dirty="0">
                <a:ln>
                  <a:noFill/>
                </a:ln>
                <a:solidFill>
                  <a:prstClr val="black"/>
                </a:solidFill>
                <a:effectLst/>
                <a:uLnTx/>
                <a:uFillTx/>
                <a:latin typeface="Calibri"/>
                <a:ea typeface="+mn-ea"/>
                <a:cs typeface="+mn-cs"/>
              </a:rPr>
              <a:t>Guiding principle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Data generating process is complex and cannot be known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a:buChar char="à"/>
              <a:tabLst/>
              <a:defRPr/>
            </a:pPr>
            <a:r>
              <a:rPr kumimoji="0" lang="en-GB" sz="1800" b="0" i="0" u="none" strike="noStrike" kern="1200" cap="none" spc="0" normalizeH="0" baseline="0" noProof="0" dirty="0">
                <a:ln>
                  <a:noFill/>
                </a:ln>
                <a:solidFill>
                  <a:prstClr val="black"/>
                </a:solidFill>
                <a:effectLst/>
                <a:uLnTx/>
                <a:uFillTx/>
                <a:latin typeface="Calibri"/>
                <a:ea typeface="+mn-ea"/>
                <a:cs typeface="Times New Roman" panose="02020603050405020304" pitchFamily="18" charset="0"/>
              </a:rPr>
              <a:t>Analyst does not impose structure: </a:t>
            </a:r>
            <a:r>
              <a:rPr kumimoji="0" lang="en-GB"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g</a:t>
            </a:r>
            <a:r>
              <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 needs to be learned from the data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Wingdings"/>
              <a:buChar char="à"/>
              <a:tabLst/>
              <a:defRPr/>
            </a:pPr>
            <a:endParaRPr kumimoji="0" lang="en-GB"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Wingdings"/>
              <a:buChar char="à"/>
              <a:tabLst/>
              <a:defRPr/>
            </a:pPr>
            <a:endParaRPr kumimoji="0" lang="en-GB"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a:ea typeface="+mn-ea"/>
                <a:cs typeface="Times New Roman" panose="02020603050405020304" pitchFamily="18" charset="0"/>
                <a:sym typeface="Wingdings" panose="05000000000000000000" pitchFamily="2" charset="2"/>
              </a:rPr>
              <a:t>G</a:t>
            </a:r>
            <a:r>
              <a:rPr kumimoji="0" lang="en-GB" sz="1800" b="0" i="0" u="none" strike="noStrike" kern="1200" cap="none" spc="0" normalizeH="0" baseline="0" noProof="0" dirty="0" err="1">
                <a:ln>
                  <a:noFill/>
                </a:ln>
                <a:solidFill>
                  <a:prstClr val="black"/>
                </a:solidFill>
                <a:effectLst/>
                <a:uLnTx/>
                <a:uFillTx/>
                <a:latin typeface="Calibri"/>
                <a:ea typeface="+mn-ea"/>
                <a:cs typeface="Times New Roman" panose="02020603050405020304" pitchFamily="18" charset="0"/>
                <a:sym typeface="Wingdings" panose="05000000000000000000" pitchFamily="2" charset="2"/>
              </a:rPr>
              <a:t>ood</a:t>
            </a:r>
            <a:r>
              <a:rPr kumimoji="0" lang="en-GB" sz="1800" b="0" i="0" u="none" strike="noStrike" kern="1200" cap="none" spc="0" normalizeH="0" baseline="0" noProof="0" dirty="0">
                <a:ln>
                  <a:noFill/>
                </a:ln>
                <a:solidFill>
                  <a:prstClr val="black"/>
                </a:solidFill>
                <a:effectLst/>
                <a:uLnTx/>
                <a:uFillTx/>
                <a:latin typeface="Calibri"/>
                <a:ea typeface="+mn-ea"/>
                <a:cs typeface="Times New Roman" panose="02020603050405020304" pitchFamily="18" charset="0"/>
                <a:sym typeface="Wingdings" panose="05000000000000000000" pitchFamily="2" charset="2"/>
              </a:rPr>
              <a:t> (in-distribution) </a:t>
            </a:r>
            <a:r>
              <a:rPr kumimoji="0" lang="en-GB" sz="1800" b="0" i="0" u="none" strike="noStrike" kern="1200" cap="none" spc="0" normalizeH="0" baseline="0" noProof="0" dirty="0">
                <a:ln>
                  <a:noFill/>
                </a:ln>
                <a:solidFill>
                  <a:prstClr val="black"/>
                </a:solidFill>
                <a:effectLst/>
                <a:uLnTx/>
                <a:uFillTx/>
                <a:latin typeface="Calibri"/>
                <a:ea typeface="+mn-ea"/>
                <a:cs typeface="+mn-cs"/>
              </a:rPr>
              <a:t>prediction</a:t>
            </a:r>
          </a:p>
        </p:txBody>
      </p:sp>
      <p:sp>
        <p:nvSpPr>
          <p:cNvPr id="19" name="TextBox 18"/>
          <p:cNvSpPr txBox="1"/>
          <p:nvPr/>
        </p:nvSpPr>
        <p:spPr>
          <a:xfrm>
            <a:off x="6798073" y="1556794"/>
            <a:ext cx="3497143"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Data-driven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(supervised </a:t>
            </a:r>
            <a:r>
              <a:rPr kumimoji="0" lang="en-GB" sz="1800" b="0" i="0" u="sng" strike="noStrike" kern="1200" cap="none" spc="0" normalizeH="0" baseline="0" noProof="0" dirty="0">
                <a:ln>
                  <a:noFill/>
                </a:ln>
                <a:solidFill>
                  <a:prstClr val="black"/>
                </a:solidFill>
                <a:effectLst/>
                <a:uLnTx/>
                <a:uFillTx/>
                <a:latin typeface="Calibri"/>
                <a:ea typeface="+mn-ea"/>
                <a:cs typeface="+mn-cs"/>
              </a:rPr>
              <a:t>machine learning</a:t>
            </a:r>
            <a:r>
              <a:rPr kumimoji="0" lang="en-GB" sz="18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 </a:t>
            </a:r>
          </a:p>
        </p:txBody>
      </p:sp>
      <p:grpSp>
        <p:nvGrpSpPr>
          <p:cNvPr id="20" name="Group 19"/>
          <p:cNvGrpSpPr/>
          <p:nvPr/>
        </p:nvGrpSpPr>
        <p:grpSpPr>
          <a:xfrm>
            <a:off x="6798072" y="4437113"/>
            <a:ext cx="3515138" cy="1934855"/>
            <a:chOff x="5274072" y="4443572"/>
            <a:chExt cx="3515138" cy="1934855"/>
          </a:xfrm>
        </p:grpSpPr>
        <p:grpSp>
          <p:nvGrpSpPr>
            <p:cNvPr id="21" name="Group 20"/>
            <p:cNvGrpSpPr/>
            <p:nvPr/>
          </p:nvGrpSpPr>
          <p:grpSpPr>
            <a:xfrm>
              <a:off x="5274072" y="4443572"/>
              <a:ext cx="3515138" cy="1934855"/>
              <a:chOff x="755576" y="4833156"/>
              <a:chExt cx="3407127" cy="1934855"/>
            </a:xfrm>
          </p:grpSpPr>
          <p:pic>
            <p:nvPicPr>
              <p:cNvPr id="25" name="Picture 24"/>
              <p:cNvPicPr>
                <a:picLocks noChangeAspect="1"/>
              </p:cNvPicPr>
              <p:nvPr/>
            </p:nvPicPr>
            <p:blipFill rotWithShape="1">
              <a:blip r:embed="rId3">
                <a:extLst>
                  <a:ext uri="{28A0092B-C50C-407E-A947-70E740481C1C}">
                    <a14:useLocalDpi xmlns:a14="http://schemas.microsoft.com/office/drawing/2010/main" val="0"/>
                  </a:ext>
                </a:extLst>
              </a:blip>
              <a:srcRect l="24285" r="22762"/>
              <a:stretch/>
            </p:blipFill>
            <p:spPr>
              <a:xfrm>
                <a:off x="755576" y="4833156"/>
                <a:ext cx="3407127" cy="1934855"/>
              </a:xfrm>
              <a:prstGeom prst="rect">
                <a:avLst/>
              </a:prstGeom>
            </p:spPr>
          </p:pic>
          <p:sp>
            <p:nvSpPr>
              <p:cNvPr id="26" name="Rectangle 25"/>
              <p:cNvSpPr/>
              <p:nvPr/>
            </p:nvSpPr>
            <p:spPr>
              <a:xfrm>
                <a:off x="1826695" y="5625244"/>
                <a:ext cx="1005300" cy="43204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white"/>
                    </a:solidFill>
                    <a:effectLst/>
                    <a:uLnTx/>
                    <a:uFillTx/>
                    <a:latin typeface="Calibri"/>
                    <a:ea typeface="+mn-ea"/>
                    <a:cs typeface="+mn-cs"/>
                  </a:rPr>
                  <a:t>Inherently Unknown</a:t>
                </a:r>
              </a:p>
            </p:txBody>
          </p:sp>
        </p:grpSp>
        <p:sp>
          <p:nvSpPr>
            <p:cNvPr id="22" name="Arc 21"/>
            <p:cNvSpPr/>
            <p:nvPr/>
          </p:nvSpPr>
          <p:spPr>
            <a:xfrm flipH="1" flipV="1">
              <a:off x="5886481" y="5586339"/>
              <a:ext cx="1529835" cy="396044"/>
            </a:xfrm>
            <a:prstGeom prst="arc">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Arc 22"/>
            <p:cNvSpPr/>
            <p:nvPr/>
          </p:nvSpPr>
          <p:spPr>
            <a:xfrm flipV="1">
              <a:off x="6386609" y="5586339"/>
              <a:ext cx="1569767" cy="396044"/>
            </a:xfrm>
            <a:prstGeom prst="arc">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Box 23"/>
            <p:cNvSpPr txBox="1"/>
            <p:nvPr/>
          </p:nvSpPr>
          <p:spPr>
            <a:xfrm>
              <a:off x="6651398" y="5797717"/>
              <a:ext cx="52009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a:t>
              </a:r>
            </a:p>
          </p:txBody>
        </p:sp>
      </p:grpSp>
      <p:sp>
        <p:nvSpPr>
          <p:cNvPr id="27" name="Slide Number Placeholder 3"/>
          <p:cNvSpPr>
            <a:spLocks noGrp="1"/>
          </p:cNvSpPr>
          <p:nvPr>
            <p:ph type="sldNum" sz="quarter" idx="12"/>
          </p:nvPr>
        </p:nvSpPr>
        <p:spPr>
          <a:xfrm>
            <a:off x="8737600" y="6356351"/>
            <a:ext cx="28448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Rectangle 2"/>
          <p:cNvSpPr/>
          <p:nvPr/>
        </p:nvSpPr>
        <p:spPr>
          <a:xfrm>
            <a:off x="1218707" y="1340768"/>
            <a:ext cx="4824536" cy="5517232"/>
          </a:xfrm>
          <a:prstGeom prst="rect">
            <a:avLst/>
          </a:prstGeom>
          <a:solidFill>
            <a:schemeClr val="bg1">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Line 2">
            <a:extLst>
              <a:ext uri="{FF2B5EF4-FFF2-40B4-BE49-F238E27FC236}">
                <a16:creationId xmlns:a16="http://schemas.microsoft.com/office/drawing/2014/main" id="{FEEC986F-7ADC-3F66-5618-DC70AC92C3DF}"/>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5" name="Line 2">
            <a:extLst>
              <a:ext uri="{FF2B5EF4-FFF2-40B4-BE49-F238E27FC236}">
                <a16:creationId xmlns:a16="http://schemas.microsoft.com/office/drawing/2014/main" id="{9429F4D5-84C2-65BF-0F3E-7E8188F189C1}"/>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2569005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4" end="4"/>
                                            </p:txEl>
                                          </p:spTgt>
                                        </p:tgtEl>
                                        <p:attrNameLst>
                                          <p:attrName>style.visibility</p:attrName>
                                        </p:attrNameLst>
                                      </p:cBhvr>
                                      <p:to>
                                        <p:strVal val="visible"/>
                                      </p:to>
                                    </p:set>
                                    <p:animEffect transition="in" filter="fade">
                                      <p:cBhvr>
                                        <p:cTn id="7" dur="500"/>
                                        <p:tgtEl>
                                          <p:spTgt spid="18">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xEl>
                                              <p:pRg st="11" end="11"/>
                                            </p:txEl>
                                          </p:spTgt>
                                        </p:tgtEl>
                                        <p:attrNameLst>
                                          <p:attrName>style.visibility</p:attrName>
                                        </p:attrNameLst>
                                      </p:cBhvr>
                                      <p:to>
                                        <p:strVal val="visible"/>
                                      </p:to>
                                    </p:set>
                                    <p:animEffect transition="in" filter="fade">
                                      <p:cBhvr>
                                        <p:cTn id="15" dur="500"/>
                                        <p:tgtEl>
                                          <p:spTgt spid="18">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E15FB-C5A7-0957-29DE-ED143C2802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8D99FC-FBF6-CFB4-73CF-05642C61F59A}"/>
              </a:ext>
            </a:extLst>
          </p:cNvPr>
          <p:cNvSpPr>
            <a:spLocks noGrp="1"/>
          </p:cNvSpPr>
          <p:nvPr>
            <p:ph type="title"/>
          </p:nvPr>
        </p:nvSpPr>
        <p:spPr>
          <a:xfrm>
            <a:off x="1981200" y="274638"/>
            <a:ext cx="8229600" cy="6466730"/>
          </a:xfrm>
        </p:spPr>
        <p:txBody>
          <a:bodyPr/>
          <a:lstStyle/>
          <a:p>
            <a:r>
              <a:rPr lang="en-GB" sz="4000" dirty="0"/>
              <a:t>Machine Learning paradigms</a:t>
            </a:r>
          </a:p>
        </p:txBody>
      </p:sp>
      <p:sp>
        <p:nvSpPr>
          <p:cNvPr id="4" name="Slide Number Placeholder 3">
            <a:extLst>
              <a:ext uri="{FF2B5EF4-FFF2-40B4-BE49-F238E27FC236}">
                <a16:creationId xmlns:a16="http://schemas.microsoft.com/office/drawing/2014/main" id="{B25E7428-2499-EF2D-A735-95AFAF282B0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nl-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9033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032FA-E155-1009-2377-E05549DE0C6D}"/>
            </a:ext>
          </a:extLst>
        </p:cNvPr>
        <p:cNvGrpSpPr/>
        <p:nvPr/>
      </p:nvGrpSpPr>
      <p:grpSpPr>
        <a:xfrm>
          <a:off x="0" y="0"/>
          <a:ext cx="0" cy="0"/>
          <a:chOff x="0" y="0"/>
          <a:chExt cx="0" cy="0"/>
        </a:xfrm>
      </p:grpSpPr>
      <p:sp>
        <p:nvSpPr>
          <p:cNvPr id="111" name="CustomShape 1">
            <a:extLst>
              <a:ext uri="{FF2B5EF4-FFF2-40B4-BE49-F238E27FC236}">
                <a16:creationId xmlns:a16="http://schemas.microsoft.com/office/drawing/2014/main" id="{F43B8B73-3786-6F3C-37A5-589414C291B0}"/>
              </a:ext>
            </a:extLst>
          </p:cNvPr>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endParaRPr lang="en-US" sz="3800" b="0" strike="noStrike" spc="-1" dirty="0">
              <a:latin typeface="Calibri"/>
            </a:endParaRPr>
          </a:p>
        </p:txBody>
      </p:sp>
      <p:sp>
        <p:nvSpPr>
          <p:cNvPr id="112" name="Line 2">
            <a:extLst>
              <a:ext uri="{FF2B5EF4-FFF2-40B4-BE49-F238E27FC236}">
                <a16:creationId xmlns:a16="http://schemas.microsoft.com/office/drawing/2014/main" id="{FF7CD1F9-755B-4EB6-0C39-D6DA830409E6}"/>
              </a:ext>
            </a:extLst>
          </p:cNvPr>
          <p:cNvSpPr/>
          <p:nvPr/>
        </p:nvSpPr>
        <p:spPr>
          <a:xfrm>
            <a:off x="513273" y="21466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3" name="Slide Number Placeholder 3">
            <a:extLst>
              <a:ext uri="{FF2B5EF4-FFF2-40B4-BE49-F238E27FC236}">
                <a16:creationId xmlns:a16="http://schemas.microsoft.com/office/drawing/2014/main" id="{ED3ED37B-0D0E-4C52-9E2B-F8767ECB6FF4}"/>
              </a:ext>
            </a:extLst>
          </p:cNvPr>
          <p:cNvSpPr txBox="1">
            <a:spLocks/>
          </p:cNvSpPr>
          <p:nvPr/>
        </p:nvSpPr>
        <p:spPr>
          <a:xfrm>
            <a:off x="8610600" y="634086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D45CBC7-BB0C-1B4C-8910-D00AF3F288B4}" type="slidenum">
              <a:rPr lang="en-US" smtClean="0"/>
              <a:pPr/>
              <a:t>15</a:t>
            </a:fld>
            <a:endParaRPr lang="en-US" dirty="0"/>
          </a:p>
        </p:txBody>
      </p:sp>
      <p:sp>
        <p:nvSpPr>
          <p:cNvPr id="8" name="Title 1">
            <a:extLst>
              <a:ext uri="{FF2B5EF4-FFF2-40B4-BE49-F238E27FC236}">
                <a16:creationId xmlns:a16="http://schemas.microsoft.com/office/drawing/2014/main" id="{28DEEA61-8ECF-2A1B-0F40-25A304460D51}"/>
              </a:ext>
            </a:extLst>
          </p:cNvPr>
          <p:cNvSpPr txBox="1">
            <a:spLocks/>
          </p:cNvSpPr>
          <p:nvPr/>
        </p:nvSpPr>
        <p:spPr>
          <a:xfrm>
            <a:off x="513273" y="350635"/>
            <a:ext cx="10515600" cy="66357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100" dirty="0">
                <a:latin typeface="Times New Roman" panose="02020603050405020304" pitchFamily="18" charset="0"/>
                <a:cs typeface="Times New Roman" panose="02020603050405020304" pitchFamily="18" charset="0"/>
              </a:rPr>
              <a:t>Machine Learning paradigms</a:t>
            </a:r>
            <a:endParaRPr lang="en-NL" sz="3100" dirty="0">
              <a:latin typeface="Times New Roman" panose="02020603050405020304" pitchFamily="18" charset="0"/>
              <a:cs typeface="Times New Roman" panose="02020603050405020304" pitchFamily="18" charset="0"/>
            </a:endParaRPr>
          </a:p>
        </p:txBody>
      </p:sp>
      <p:sp>
        <p:nvSpPr>
          <p:cNvPr id="4" name="Line 2">
            <a:extLst>
              <a:ext uri="{FF2B5EF4-FFF2-40B4-BE49-F238E27FC236}">
                <a16:creationId xmlns:a16="http://schemas.microsoft.com/office/drawing/2014/main" id="{7E5B86A6-D0CC-1119-E641-B5BADD236A56}"/>
              </a:ext>
            </a:extLst>
          </p:cNvPr>
          <p:cNvSpPr/>
          <p:nvPr/>
        </p:nvSpPr>
        <p:spPr>
          <a:xfrm>
            <a:off x="513273" y="102744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F0D0E1C-9264-96A0-88A1-CA9D51FB9B00}"/>
                  </a:ext>
                </a:extLst>
              </p:cNvPr>
              <p:cNvSpPr txBox="1"/>
              <p:nvPr/>
            </p:nvSpPr>
            <p:spPr>
              <a:xfrm>
                <a:off x="513272" y="1030185"/>
                <a:ext cx="11324501" cy="5016758"/>
              </a:xfrm>
              <a:prstGeom prst="rect">
                <a:avLst/>
              </a:prstGeom>
              <a:noFill/>
            </p:spPr>
            <p:txBody>
              <a:bodyPr wrap="square">
                <a:spAutoFit/>
              </a:bodyPr>
              <a:lstStyle/>
              <a:p>
                <a:pPr algn="just"/>
                <a:endParaRPr lang="en-GB" sz="2000" noProof="0" dirty="0">
                  <a:latin typeface="Times New Roman" panose="02020603050405020304" pitchFamily="18" charset="0"/>
                  <a:ea typeface="Times New Roman" panose="02020603050405020304" pitchFamily="18" charset="0"/>
                </a:endParaRPr>
              </a:p>
              <a:p>
                <a:pPr algn="just"/>
                <a:r>
                  <a:rPr lang="en-GB" sz="2000" b="1" noProof="0" dirty="0">
                    <a:latin typeface="Times New Roman" panose="02020603050405020304" pitchFamily="18" charset="0"/>
                    <a:ea typeface="Times New Roman" panose="02020603050405020304" pitchFamily="18" charset="0"/>
                  </a:rPr>
                  <a:t>Supervised Learning</a:t>
                </a:r>
                <a:endParaRPr lang="en-GB" sz="2000" b="1" dirty="0">
                  <a:latin typeface="Times New Roman" panose="02020603050405020304" pitchFamily="18" charset="0"/>
                  <a:ea typeface="Times New Roman" panose="02020603050405020304" pitchFamily="18" charset="0"/>
                </a:endParaRPr>
              </a:p>
              <a:p>
                <a:pPr marL="342900" indent="-342900" algn="just">
                  <a:buFont typeface="Arial" panose="020B0604020202020204" pitchFamily="34" charset="0"/>
                  <a:buChar char="•"/>
                </a:pPr>
                <a:r>
                  <a:rPr lang="en-GB" sz="2000" dirty="0">
                    <a:latin typeface="Times New Roman" panose="02020603050405020304" pitchFamily="18" charset="0"/>
                    <a:ea typeface="Times New Roman" panose="02020603050405020304" pitchFamily="18" charset="0"/>
                  </a:rPr>
                  <a:t>Data: </a:t>
                </a:r>
                <a14:m>
                  <m:oMath xmlns:m="http://schemas.openxmlformats.org/officeDocument/2006/math">
                    <m:d>
                      <m:dPr>
                        <m:ctrlPr>
                          <a:rPr lang="nl-NL" sz="2000" b="0" i="1" noProof="0" dirty="0" smtClean="0">
                            <a:latin typeface="Cambria Math" panose="02040503050406030204" pitchFamily="18" charset="0"/>
                            <a:ea typeface="Times New Roman" panose="02020603050405020304" pitchFamily="18" charset="0"/>
                          </a:rPr>
                        </m:ctrlPr>
                      </m:dPr>
                      <m:e>
                        <m:r>
                          <a:rPr lang="en-GB" sz="2000" i="1" noProof="0" dirty="0" smtClean="0">
                            <a:latin typeface="Cambria Math" panose="02040503050406030204" pitchFamily="18" charset="0"/>
                            <a:ea typeface="Times New Roman" panose="02020603050405020304" pitchFamily="18" charset="0"/>
                          </a:rPr>
                          <m:t>𝑋</m:t>
                        </m:r>
                        <m:r>
                          <a:rPr lang="nl-NL" sz="2000" b="0" i="1" noProof="0" dirty="0" smtClean="0">
                            <a:latin typeface="Cambria Math" panose="02040503050406030204" pitchFamily="18" charset="0"/>
                            <a:ea typeface="Times New Roman" panose="02020603050405020304" pitchFamily="18" charset="0"/>
                          </a:rPr>
                          <m:t>,</m:t>
                        </m:r>
                        <m:r>
                          <a:rPr lang="nl-NL" sz="2000" b="0" i="1" noProof="0" dirty="0" smtClean="0">
                            <a:latin typeface="Cambria Math" panose="02040503050406030204" pitchFamily="18" charset="0"/>
                            <a:ea typeface="Times New Roman" panose="02020603050405020304" pitchFamily="18" charset="0"/>
                          </a:rPr>
                          <m:t>𝑌</m:t>
                        </m:r>
                      </m:e>
                    </m:d>
                  </m:oMath>
                </a14:m>
                <a:endParaRPr lang="en-GB" sz="2000" noProof="0" dirty="0">
                  <a:latin typeface="Times New Roman" panose="02020603050405020304" pitchFamily="18" charset="0"/>
                  <a:ea typeface="Times New Roman" panose="02020603050405020304" pitchFamily="18" charset="0"/>
                </a:endParaRPr>
              </a:p>
              <a:p>
                <a:pPr marL="342900" indent="-342900" algn="just">
                  <a:buFont typeface="Arial" panose="020B0604020202020204" pitchFamily="34" charset="0"/>
                  <a:buChar char="•"/>
                </a:pPr>
                <a:r>
                  <a:rPr lang="en-GB" sz="2000" noProof="0" dirty="0">
                    <a:latin typeface="Times New Roman" panose="02020603050405020304" pitchFamily="18" charset="0"/>
                    <a:ea typeface="Times New Roman" panose="02020603050405020304" pitchFamily="18" charset="0"/>
                  </a:rPr>
                  <a:t>Goal: Learn a function </a:t>
                </a:r>
                <a14:m>
                  <m:oMath xmlns:m="http://schemas.openxmlformats.org/officeDocument/2006/math">
                    <m:d>
                      <m:dPr>
                        <m:ctrlPr>
                          <a:rPr lang="nl-NL" sz="2000" b="0" i="1" dirty="0" smtClean="0">
                            <a:latin typeface="Cambria Math" panose="02040503050406030204" pitchFamily="18" charset="0"/>
                            <a:ea typeface="Times New Roman" panose="02020603050405020304" pitchFamily="18" charset="0"/>
                          </a:rPr>
                        </m:ctrlPr>
                      </m:dPr>
                      <m:e>
                        <m:r>
                          <a:rPr lang="nl-NL" sz="2000" b="0" i="1" dirty="0" smtClean="0">
                            <a:latin typeface="Cambria Math" panose="02040503050406030204" pitchFamily="18" charset="0"/>
                            <a:ea typeface="Times New Roman" panose="02020603050405020304" pitchFamily="18" charset="0"/>
                          </a:rPr>
                          <m:t>𝑓</m:t>
                        </m:r>
                      </m:e>
                    </m:d>
                    <m:r>
                      <a:rPr lang="en-GB" sz="2000" i="1" dirty="0">
                        <a:latin typeface="Cambria Math" panose="02040503050406030204" pitchFamily="18" charset="0"/>
                        <a:ea typeface="Times New Roman" panose="02020603050405020304" pitchFamily="18" charset="0"/>
                      </a:rPr>
                      <m:t> </m:t>
                    </m:r>
                  </m:oMath>
                </a14:m>
                <a:r>
                  <a:rPr lang="en-GB" sz="2000" noProof="0" dirty="0">
                    <a:latin typeface="Times New Roman" panose="02020603050405020304" pitchFamily="18" charset="0"/>
                    <a:ea typeface="Times New Roman" panose="02020603050405020304" pitchFamily="18" charset="0"/>
                  </a:rPr>
                  <a:t>to map </a:t>
                </a:r>
                <a14:m>
                  <m:oMath xmlns:m="http://schemas.openxmlformats.org/officeDocument/2006/math">
                    <m:r>
                      <a:rPr lang="en-GB" sz="2000" i="1" noProof="0" dirty="0" smtClean="0">
                        <a:latin typeface="Cambria Math" panose="02040503050406030204" pitchFamily="18" charset="0"/>
                        <a:ea typeface="Times New Roman" panose="02020603050405020304" pitchFamily="18" charset="0"/>
                      </a:rPr>
                      <m:t>𝑋</m:t>
                    </m:r>
                    <m:r>
                      <a:rPr lang="nl-NL" sz="2000" b="0" i="1" noProof="0" dirty="0" smtClean="0">
                        <a:latin typeface="Cambria Math" panose="02040503050406030204" pitchFamily="18" charset="0"/>
                        <a:ea typeface="Times New Roman" panose="02020603050405020304" pitchFamily="18" charset="0"/>
                      </a:rPr>
                      <m:t>→</m:t>
                    </m:r>
                    <m:r>
                      <a:rPr lang="nl-NL" sz="2000" b="0" i="1" noProof="0" dirty="0" smtClean="0">
                        <a:latin typeface="Cambria Math" panose="02040503050406030204" pitchFamily="18" charset="0"/>
                        <a:ea typeface="Times New Roman" panose="02020603050405020304" pitchFamily="18" charset="0"/>
                      </a:rPr>
                      <m:t>𝑌</m:t>
                    </m:r>
                  </m:oMath>
                </a14:m>
                <a:endParaRPr lang="nl-NL" sz="2000" b="0" noProof="0" dirty="0">
                  <a:latin typeface="Times New Roman" panose="02020603050405020304" pitchFamily="18" charset="0"/>
                  <a:ea typeface="Times New Roman" panose="02020603050405020304" pitchFamily="18" charset="0"/>
                </a:endParaRPr>
              </a:p>
              <a:p>
                <a:pPr marL="342900" indent="-342900" algn="just">
                  <a:buFont typeface="Arial" panose="020B0604020202020204" pitchFamily="34" charset="0"/>
                  <a:buChar char="•"/>
                </a:pPr>
                <a:r>
                  <a:rPr lang="en-GB" sz="2000" noProof="0" dirty="0">
                    <a:latin typeface="Times New Roman" panose="02020603050405020304" pitchFamily="18" charset="0"/>
                    <a:ea typeface="Times New Roman" panose="02020603050405020304" pitchFamily="18" charset="0"/>
                  </a:rPr>
                  <a:t>Examples: Regression, Classification, Object detection, …</a:t>
                </a:r>
                <a:endParaRPr lang="en-GB" sz="2000" dirty="0">
                  <a:latin typeface="Times New Roman" panose="02020603050405020304" pitchFamily="18" charset="0"/>
                  <a:ea typeface="Times New Roman" panose="02020603050405020304" pitchFamily="18" charset="0"/>
                </a:endParaRPr>
              </a:p>
              <a:p>
                <a:pPr marL="342900" indent="-342900" algn="just">
                  <a:buFont typeface="Arial" panose="020B0604020202020204" pitchFamily="34" charset="0"/>
                  <a:buChar char="•"/>
                </a:pPr>
                <a:endParaRPr lang="en-GB" sz="2000" noProof="0" dirty="0">
                  <a:latin typeface="Times New Roman" panose="02020603050405020304" pitchFamily="18" charset="0"/>
                  <a:ea typeface="Times New Roman" panose="02020603050405020304" pitchFamily="18" charset="0"/>
                </a:endParaRPr>
              </a:p>
              <a:p>
                <a:pPr marL="342900" indent="-342900" algn="just">
                  <a:buFont typeface="Arial" panose="020B0604020202020204" pitchFamily="34" charset="0"/>
                  <a:buChar char="•"/>
                </a:pPr>
                <a:endParaRPr lang="en-GB" sz="2000" dirty="0">
                  <a:latin typeface="Times New Roman" panose="02020603050405020304" pitchFamily="18" charset="0"/>
                  <a:ea typeface="Times New Roman" panose="02020603050405020304" pitchFamily="18" charset="0"/>
                </a:endParaRPr>
              </a:p>
              <a:p>
                <a:pPr algn="just"/>
                <a:endParaRPr lang="en-GB" sz="2000" noProof="0" dirty="0">
                  <a:latin typeface="Times New Roman" panose="02020603050405020304" pitchFamily="18" charset="0"/>
                  <a:ea typeface="Times New Roman" panose="02020603050405020304" pitchFamily="18" charset="0"/>
                </a:endParaRPr>
              </a:p>
              <a:p>
                <a:pPr marL="342900" indent="-342900" algn="just">
                  <a:buFont typeface="Arial" panose="020B0604020202020204" pitchFamily="34" charset="0"/>
                  <a:buChar char="•"/>
                </a:pPr>
                <a:endParaRPr lang="en-GB" sz="2000" noProof="0" dirty="0">
                  <a:latin typeface="Times New Roman" panose="02020603050405020304" pitchFamily="18" charset="0"/>
                  <a:ea typeface="Times New Roman" panose="02020603050405020304" pitchFamily="18" charset="0"/>
                </a:endParaRPr>
              </a:p>
              <a:p>
                <a:pPr marL="342900" indent="-342900" algn="just">
                  <a:buFont typeface="Arial" panose="020B0604020202020204" pitchFamily="34" charset="0"/>
                  <a:buChar char="•"/>
                </a:pPr>
                <a:endParaRPr lang="en-GB" sz="2000" dirty="0">
                  <a:latin typeface="Times New Roman" panose="02020603050405020304" pitchFamily="18" charset="0"/>
                  <a:ea typeface="Times New Roman" panose="02020603050405020304" pitchFamily="18" charset="0"/>
                </a:endParaRPr>
              </a:p>
              <a:p>
                <a:pPr algn="just"/>
                <a:r>
                  <a:rPr lang="en-GB" sz="2000" b="1" dirty="0">
                    <a:latin typeface="Times New Roman" panose="02020603050405020304" pitchFamily="18" charset="0"/>
                    <a:ea typeface="Times New Roman" panose="02020603050405020304" pitchFamily="18" charset="0"/>
                  </a:rPr>
                  <a:t>Unsupervised Learning</a:t>
                </a:r>
              </a:p>
              <a:p>
                <a:pPr marL="342900" indent="-342900" algn="just">
                  <a:buFont typeface="Arial" panose="020B0604020202020204" pitchFamily="34" charset="0"/>
                  <a:buChar char="•"/>
                </a:pPr>
                <a:r>
                  <a:rPr lang="en-GB" sz="2000" dirty="0">
                    <a:latin typeface="Times New Roman" panose="02020603050405020304" pitchFamily="18" charset="0"/>
                    <a:ea typeface="Times New Roman" panose="02020603050405020304" pitchFamily="18" charset="0"/>
                  </a:rPr>
                  <a:t>Data: </a:t>
                </a:r>
                <a14:m>
                  <m:oMath xmlns:m="http://schemas.openxmlformats.org/officeDocument/2006/math">
                    <m:d>
                      <m:dPr>
                        <m:ctrlPr>
                          <a:rPr lang="nl-NL" sz="2000" i="1" dirty="0">
                            <a:latin typeface="Cambria Math" panose="02040503050406030204" pitchFamily="18" charset="0"/>
                            <a:ea typeface="Times New Roman" panose="02020603050405020304" pitchFamily="18" charset="0"/>
                          </a:rPr>
                        </m:ctrlPr>
                      </m:dPr>
                      <m:e>
                        <m:r>
                          <a:rPr lang="en-GB" sz="2000" i="1" dirty="0">
                            <a:latin typeface="Cambria Math" panose="02040503050406030204" pitchFamily="18" charset="0"/>
                            <a:ea typeface="Times New Roman" panose="02020603050405020304" pitchFamily="18" charset="0"/>
                          </a:rPr>
                          <m:t>𝑋</m:t>
                        </m:r>
                      </m:e>
                    </m:d>
                  </m:oMath>
                </a14:m>
                <a:r>
                  <a:rPr lang="en-GB" sz="2000" dirty="0">
                    <a:latin typeface="Times New Roman" panose="02020603050405020304" pitchFamily="18" charset="0"/>
                    <a:ea typeface="Times New Roman" panose="02020603050405020304" pitchFamily="18" charset="0"/>
                  </a:rPr>
                  <a:t>, no labels!</a:t>
                </a:r>
              </a:p>
              <a:p>
                <a:pPr marL="342900" indent="-342900" algn="just">
                  <a:buFont typeface="Arial" panose="020B0604020202020204" pitchFamily="34" charset="0"/>
                  <a:buChar char="•"/>
                </a:pPr>
                <a:r>
                  <a:rPr lang="en-GB" sz="2000" dirty="0">
                    <a:latin typeface="Times New Roman" panose="02020603050405020304" pitchFamily="18" charset="0"/>
                    <a:ea typeface="Times New Roman" panose="02020603050405020304" pitchFamily="18" charset="0"/>
                  </a:rPr>
                  <a:t>Goal: Learn some hidden structure/pattern of the data</a:t>
                </a:r>
              </a:p>
              <a:p>
                <a:pPr marL="342900" indent="-342900" algn="just">
                  <a:buFont typeface="Arial" panose="020B0604020202020204" pitchFamily="34" charset="0"/>
                  <a:buChar char="•"/>
                </a:pPr>
                <a:r>
                  <a:rPr lang="en-GB" sz="2000" dirty="0">
                    <a:latin typeface="Times New Roman" panose="02020603050405020304" pitchFamily="18" charset="0"/>
                    <a:ea typeface="Times New Roman" panose="02020603050405020304" pitchFamily="18" charset="0"/>
                  </a:rPr>
                  <a:t>Examples: Clustering, Dimensionality, Feature learning, …</a:t>
                </a:r>
                <a:endParaRPr lang="en-GB" sz="2000" noProof="0" dirty="0">
                  <a:latin typeface="Times New Roman" panose="02020603050405020304" pitchFamily="18" charset="0"/>
                  <a:ea typeface="Times New Roman" panose="02020603050405020304" pitchFamily="18" charset="0"/>
                </a:endParaRPr>
              </a:p>
              <a:p>
                <a:pPr algn="just"/>
                <a:endParaRPr lang="en-GB" sz="2000" dirty="0">
                  <a:latin typeface="Times New Roman" panose="02020603050405020304" pitchFamily="18" charset="0"/>
                  <a:ea typeface="Times New Roman" panose="02020603050405020304" pitchFamily="18" charset="0"/>
                </a:endParaRPr>
              </a:p>
              <a:p>
                <a:pPr algn="just"/>
                <a:endParaRPr lang="en-GB" sz="2000" noProof="0" dirty="0">
                  <a:latin typeface="Times New Roman" panose="02020603050405020304" pitchFamily="18" charset="0"/>
                  <a:ea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1F0D0E1C-9264-96A0-88A1-CA9D51FB9B00}"/>
                  </a:ext>
                </a:extLst>
              </p:cNvPr>
              <p:cNvSpPr txBox="1">
                <a:spLocks noRot="1" noChangeAspect="1" noMove="1" noResize="1" noEditPoints="1" noAdjustHandles="1" noChangeArrowheads="1" noChangeShapeType="1" noTextEdit="1"/>
              </p:cNvSpPr>
              <p:nvPr/>
            </p:nvSpPr>
            <p:spPr>
              <a:xfrm>
                <a:off x="513272" y="1030185"/>
                <a:ext cx="11324501" cy="5016758"/>
              </a:xfrm>
              <a:prstGeom prst="rect">
                <a:avLst/>
              </a:prstGeom>
              <a:blipFill>
                <a:blip r:embed="rId3"/>
                <a:stretch>
                  <a:fillRect l="-560"/>
                </a:stretch>
              </a:blipFill>
            </p:spPr>
            <p:txBody>
              <a:bodyPr/>
              <a:lstStyle/>
              <a:p>
                <a:r>
                  <a:rPr lang="en-GB">
                    <a:noFill/>
                  </a:rPr>
                  <a:t> </a:t>
                </a:r>
              </a:p>
            </p:txBody>
          </p:sp>
        </mc:Fallback>
      </mc:AlternateContent>
      <p:pic>
        <p:nvPicPr>
          <p:cNvPr id="7" name="Picture 6" descr="A person standing in front of a river&#10;&#10;AI-generated content may be incorrect.">
            <a:extLst>
              <a:ext uri="{FF2B5EF4-FFF2-40B4-BE49-F238E27FC236}">
                <a16:creationId xmlns:a16="http://schemas.microsoft.com/office/drawing/2014/main" id="{F0605651-EB6F-B3BB-6F02-877AB1E0E085}"/>
              </a:ext>
            </a:extLst>
          </p:cNvPr>
          <p:cNvPicPr>
            <a:picLocks noChangeAspect="1"/>
          </p:cNvPicPr>
          <p:nvPr/>
        </p:nvPicPr>
        <p:blipFill>
          <a:blip r:embed="rId4"/>
          <a:stretch>
            <a:fillRect/>
          </a:stretch>
        </p:blipFill>
        <p:spPr>
          <a:xfrm>
            <a:off x="8020163" y="1183727"/>
            <a:ext cx="3657604" cy="2337025"/>
          </a:xfrm>
          <a:prstGeom prst="rect">
            <a:avLst/>
          </a:prstGeom>
        </p:spPr>
      </p:pic>
      <p:pic>
        <p:nvPicPr>
          <p:cNvPr id="9" name="Picture 2">
            <a:extLst>
              <a:ext uri="{FF2B5EF4-FFF2-40B4-BE49-F238E27FC236}">
                <a16:creationId xmlns:a16="http://schemas.microsoft.com/office/drawing/2014/main" id="{18ED8685-6190-0050-05CB-E946A1031B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53757" y="3716551"/>
            <a:ext cx="3704013" cy="27631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2258448"/>
      </p:ext>
    </p:extLst>
  </p:cSld>
  <p:clrMapOvr>
    <a:masterClrMapping/>
  </p:clrMapOvr>
  <mc:AlternateContent xmlns:mc="http://schemas.openxmlformats.org/markup-compatibility/2006" xmlns:p14="http://schemas.microsoft.com/office/powerpoint/2010/main">
    <mc:Choice Requires="p14">
      <p:transition spd="slow" p14:dur="2000" advTm="405"/>
    </mc:Choice>
    <mc:Fallback xmlns="">
      <p:transition spd="slow" advTm="40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DB5E0-0FD5-E07F-F640-692A1495F87E}"/>
            </a:ext>
          </a:extLst>
        </p:cNvPr>
        <p:cNvGrpSpPr/>
        <p:nvPr/>
      </p:nvGrpSpPr>
      <p:grpSpPr>
        <a:xfrm>
          <a:off x="0" y="0"/>
          <a:ext cx="0" cy="0"/>
          <a:chOff x="0" y="0"/>
          <a:chExt cx="0" cy="0"/>
        </a:xfrm>
      </p:grpSpPr>
      <p:sp>
        <p:nvSpPr>
          <p:cNvPr id="111" name="CustomShape 1">
            <a:extLst>
              <a:ext uri="{FF2B5EF4-FFF2-40B4-BE49-F238E27FC236}">
                <a16:creationId xmlns:a16="http://schemas.microsoft.com/office/drawing/2014/main" id="{3222F7A6-C695-56B0-2826-18F2AB0EB702}"/>
              </a:ext>
            </a:extLst>
          </p:cNvPr>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endParaRPr lang="en-US" sz="3800" b="0" strike="noStrike" spc="-1" dirty="0">
              <a:latin typeface="Calibri"/>
            </a:endParaRPr>
          </a:p>
        </p:txBody>
      </p:sp>
      <p:sp>
        <p:nvSpPr>
          <p:cNvPr id="112" name="Line 2">
            <a:extLst>
              <a:ext uri="{FF2B5EF4-FFF2-40B4-BE49-F238E27FC236}">
                <a16:creationId xmlns:a16="http://schemas.microsoft.com/office/drawing/2014/main" id="{E8A4369B-3786-03DC-1610-402D8694FBE5}"/>
              </a:ext>
            </a:extLst>
          </p:cNvPr>
          <p:cNvSpPr/>
          <p:nvPr/>
        </p:nvSpPr>
        <p:spPr>
          <a:xfrm>
            <a:off x="513273" y="21466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3" name="Slide Number Placeholder 3">
            <a:extLst>
              <a:ext uri="{FF2B5EF4-FFF2-40B4-BE49-F238E27FC236}">
                <a16:creationId xmlns:a16="http://schemas.microsoft.com/office/drawing/2014/main" id="{46ED4BDB-53C8-F009-957A-E58DB3F08072}"/>
              </a:ext>
            </a:extLst>
          </p:cNvPr>
          <p:cNvSpPr txBox="1">
            <a:spLocks/>
          </p:cNvSpPr>
          <p:nvPr/>
        </p:nvSpPr>
        <p:spPr>
          <a:xfrm>
            <a:off x="8610600" y="634086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D45CBC7-BB0C-1B4C-8910-D00AF3F288B4}" type="slidenum">
              <a:rPr lang="en-US" smtClean="0"/>
              <a:pPr/>
              <a:t>16</a:t>
            </a:fld>
            <a:endParaRPr lang="en-US" dirty="0"/>
          </a:p>
        </p:txBody>
      </p:sp>
      <p:sp>
        <p:nvSpPr>
          <p:cNvPr id="8" name="Title 1">
            <a:extLst>
              <a:ext uri="{FF2B5EF4-FFF2-40B4-BE49-F238E27FC236}">
                <a16:creationId xmlns:a16="http://schemas.microsoft.com/office/drawing/2014/main" id="{12F6066A-5696-F056-50E3-83D755D76E84}"/>
              </a:ext>
            </a:extLst>
          </p:cNvPr>
          <p:cNvSpPr txBox="1">
            <a:spLocks/>
          </p:cNvSpPr>
          <p:nvPr/>
        </p:nvSpPr>
        <p:spPr>
          <a:xfrm>
            <a:off x="513273" y="350635"/>
            <a:ext cx="10515600" cy="66357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100" dirty="0">
                <a:latin typeface="Times New Roman" panose="02020603050405020304" pitchFamily="18" charset="0"/>
                <a:cs typeface="Times New Roman" panose="02020603050405020304" pitchFamily="18" charset="0"/>
              </a:rPr>
              <a:t>Machine Learning paradigms</a:t>
            </a:r>
            <a:endParaRPr lang="en-NL" sz="3100" dirty="0">
              <a:latin typeface="Times New Roman" panose="02020603050405020304" pitchFamily="18" charset="0"/>
              <a:cs typeface="Times New Roman" panose="02020603050405020304" pitchFamily="18" charset="0"/>
            </a:endParaRPr>
          </a:p>
        </p:txBody>
      </p:sp>
      <p:sp>
        <p:nvSpPr>
          <p:cNvPr id="4" name="Line 2">
            <a:extLst>
              <a:ext uri="{FF2B5EF4-FFF2-40B4-BE49-F238E27FC236}">
                <a16:creationId xmlns:a16="http://schemas.microsoft.com/office/drawing/2014/main" id="{7F8233DD-7A24-3986-EE7C-809594937711}"/>
              </a:ext>
            </a:extLst>
          </p:cNvPr>
          <p:cNvSpPr/>
          <p:nvPr/>
        </p:nvSpPr>
        <p:spPr>
          <a:xfrm>
            <a:off x="513273" y="102744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F06ADF5-DABD-B52C-5FD3-18E96F9CE2D2}"/>
                  </a:ext>
                </a:extLst>
              </p:cNvPr>
              <p:cNvSpPr txBox="1"/>
              <p:nvPr/>
            </p:nvSpPr>
            <p:spPr>
              <a:xfrm>
                <a:off x="513272" y="735225"/>
                <a:ext cx="11324501" cy="2862322"/>
              </a:xfrm>
              <a:prstGeom prst="rect">
                <a:avLst/>
              </a:prstGeom>
              <a:noFill/>
            </p:spPr>
            <p:txBody>
              <a:bodyPr wrap="square">
                <a:spAutoFit/>
              </a:bodyPr>
              <a:lstStyle/>
              <a:p>
                <a:pPr algn="just"/>
                <a:endParaRPr lang="en-GB" sz="2000" noProof="0" dirty="0">
                  <a:latin typeface="Times New Roman" panose="02020603050405020304" pitchFamily="18" charset="0"/>
                  <a:ea typeface="Times New Roman" panose="02020603050405020304" pitchFamily="18" charset="0"/>
                </a:endParaRPr>
              </a:p>
              <a:p>
                <a:pPr algn="just"/>
                <a:endParaRPr lang="en-GB" sz="2000" dirty="0">
                  <a:latin typeface="Times New Roman" panose="02020603050405020304" pitchFamily="18" charset="0"/>
                  <a:ea typeface="Times New Roman" panose="02020603050405020304" pitchFamily="18" charset="0"/>
                </a:endParaRPr>
              </a:p>
              <a:p>
                <a:pPr algn="just"/>
                <a:r>
                  <a:rPr lang="en-GB" sz="2000" b="1" dirty="0">
                    <a:latin typeface="Times New Roman" panose="02020603050405020304" pitchFamily="18" charset="0"/>
                    <a:ea typeface="Times New Roman" panose="02020603050405020304" pitchFamily="18" charset="0"/>
                  </a:rPr>
                  <a:t>Reinforcement Learning</a:t>
                </a:r>
              </a:p>
              <a:p>
                <a:pPr marL="342900" indent="-342900" algn="just">
                  <a:buFont typeface="Arial" panose="020B0604020202020204" pitchFamily="34" charset="0"/>
                  <a:buChar char="•"/>
                </a:pPr>
                <a:r>
                  <a:rPr lang="en-GB" sz="2000" dirty="0">
                    <a:latin typeface="Times New Roman" panose="02020603050405020304" pitchFamily="18" charset="0"/>
                    <a:ea typeface="Times New Roman" panose="02020603050405020304" pitchFamily="18" charset="0"/>
                  </a:rPr>
                  <a:t>Data: Obtained by interacting with an environment</a:t>
                </a:r>
              </a:p>
              <a:p>
                <a:pPr marL="342900" indent="-342900" algn="just">
                  <a:buFont typeface="Arial" panose="020B0604020202020204" pitchFamily="34" charset="0"/>
                  <a:buChar char="•"/>
                </a:pPr>
                <a:r>
                  <a:rPr lang="en-GB" sz="2000" dirty="0">
                    <a:latin typeface="Times New Roman" panose="02020603050405020304" pitchFamily="18" charset="0"/>
                    <a:ea typeface="Times New Roman" panose="02020603050405020304" pitchFamily="18" charset="0"/>
                  </a:rPr>
                  <a:t>Goal: Learn how to take actions to maximize rewards (</a:t>
                </a:r>
                <a14:m>
                  <m:oMath xmlns:m="http://schemas.openxmlformats.org/officeDocument/2006/math">
                    <m:r>
                      <a:rPr lang="nl-NL" sz="2000">
                        <a:latin typeface="Cambria Math" panose="02040503050406030204" pitchFamily="18" charset="0"/>
                        <a:ea typeface="Times New Roman" panose="02020603050405020304" pitchFamily="18" charset="0"/>
                      </a:rPr>
                      <m:t>𝑅</m:t>
                    </m:r>
                  </m:oMath>
                </a14:m>
                <a:r>
                  <a:rPr lang="en-GB" sz="2000" dirty="0">
                    <a:latin typeface="Times New Roman" panose="02020603050405020304" pitchFamily="18" charset="0"/>
                    <a:ea typeface="Times New Roman" panose="02020603050405020304" pitchFamily="18" charset="0"/>
                  </a:rPr>
                  <a:t>)</a:t>
                </a:r>
              </a:p>
              <a:p>
                <a:pPr marL="342900" indent="-342900" algn="just">
                  <a:buFont typeface="Arial" panose="020B0604020202020204" pitchFamily="34" charset="0"/>
                  <a:buChar char="•"/>
                </a:pPr>
                <a:r>
                  <a:rPr lang="en-GB" sz="2000" dirty="0">
                    <a:latin typeface="Times New Roman" panose="02020603050405020304" pitchFamily="18" charset="0"/>
                    <a:ea typeface="Times New Roman" panose="02020603050405020304" pitchFamily="18" charset="0"/>
                  </a:rPr>
                  <a:t>Defined by a Markov decision process</a:t>
                </a:r>
              </a:p>
              <a:p>
                <a:pPr marL="342900" indent="-342900" algn="just">
                  <a:buFont typeface="Arial" panose="020B0604020202020204" pitchFamily="34" charset="0"/>
                  <a:buChar char="•"/>
                </a:pPr>
                <a:endParaRPr lang="en-GB" sz="2000" noProof="0" dirty="0">
                  <a:latin typeface="Times New Roman" panose="02020603050405020304" pitchFamily="18" charset="0"/>
                  <a:ea typeface="Times New Roman" panose="02020603050405020304" pitchFamily="18" charset="0"/>
                </a:endParaRPr>
              </a:p>
              <a:p>
                <a:pPr algn="just"/>
                <a:endParaRPr lang="en-GB" sz="2000" dirty="0">
                  <a:latin typeface="Times New Roman" panose="02020603050405020304" pitchFamily="18" charset="0"/>
                  <a:ea typeface="Times New Roman" panose="02020603050405020304" pitchFamily="18" charset="0"/>
                </a:endParaRPr>
              </a:p>
              <a:p>
                <a:pPr algn="just"/>
                <a:endParaRPr lang="en-GB" sz="2000" noProof="0" dirty="0">
                  <a:latin typeface="Times New Roman" panose="02020603050405020304" pitchFamily="18" charset="0"/>
                  <a:ea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DF06ADF5-DABD-B52C-5FD3-18E96F9CE2D2}"/>
                  </a:ext>
                </a:extLst>
              </p:cNvPr>
              <p:cNvSpPr txBox="1">
                <a:spLocks noRot="1" noChangeAspect="1" noMove="1" noResize="1" noEditPoints="1" noAdjustHandles="1" noChangeArrowheads="1" noChangeShapeType="1" noTextEdit="1"/>
              </p:cNvSpPr>
              <p:nvPr/>
            </p:nvSpPr>
            <p:spPr>
              <a:xfrm>
                <a:off x="513272" y="735225"/>
                <a:ext cx="11324501" cy="2862322"/>
              </a:xfrm>
              <a:prstGeom prst="rect">
                <a:avLst/>
              </a:prstGeom>
              <a:blipFill>
                <a:blip r:embed="rId3"/>
                <a:stretch>
                  <a:fillRect l="-560"/>
                </a:stretch>
              </a:blipFill>
            </p:spPr>
            <p:txBody>
              <a:bodyPr/>
              <a:lstStyle/>
              <a:p>
                <a:r>
                  <a:rPr lang="en-GB">
                    <a:noFill/>
                  </a:rPr>
                  <a:t> </a:t>
                </a:r>
              </a:p>
            </p:txBody>
          </p:sp>
        </mc:Fallback>
      </mc:AlternateContent>
      <p:grpSp>
        <p:nvGrpSpPr>
          <p:cNvPr id="9" name="Group 8">
            <a:extLst>
              <a:ext uri="{FF2B5EF4-FFF2-40B4-BE49-F238E27FC236}">
                <a16:creationId xmlns:a16="http://schemas.microsoft.com/office/drawing/2014/main" id="{2CF7169F-9262-C9DA-E178-5FC1618DCCEB}"/>
              </a:ext>
            </a:extLst>
          </p:cNvPr>
          <p:cNvGrpSpPr/>
          <p:nvPr/>
        </p:nvGrpSpPr>
        <p:grpSpPr>
          <a:xfrm>
            <a:off x="3025063" y="3854195"/>
            <a:ext cx="1285264" cy="1365539"/>
            <a:chOff x="2948283" y="2741467"/>
            <a:chExt cx="1285264" cy="1365539"/>
          </a:xfrm>
        </p:grpSpPr>
        <p:pic>
          <p:nvPicPr>
            <p:cNvPr id="10" name="Graphic 9" descr="User with solid fill">
              <a:extLst>
                <a:ext uri="{FF2B5EF4-FFF2-40B4-BE49-F238E27FC236}">
                  <a16:creationId xmlns:a16="http://schemas.microsoft.com/office/drawing/2014/main" id="{8BCE8373-6532-CAE3-29ED-47969E64D1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8283" y="2741467"/>
              <a:ext cx="1285264" cy="1365539"/>
            </a:xfrm>
            <a:prstGeom prst="rect">
              <a:avLst/>
            </a:prstGeom>
          </p:spPr>
        </p:pic>
        <p:sp>
          <p:nvSpPr>
            <p:cNvPr id="11" name="CustomShape 1">
              <a:extLst>
                <a:ext uri="{FF2B5EF4-FFF2-40B4-BE49-F238E27FC236}">
                  <a16:creationId xmlns:a16="http://schemas.microsoft.com/office/drawing/2014/main" id="{338F0D99-EDCB-FF46-5453-96EEDD1EB552}"/>
                </a:ext>
              </a:extLst>
            </p:cNvPr>
            <p:cNvSpPr/>
            <p:nvPr/>
          </p:nvSpPr>
          <p:spPr>
            <a:xfrm>
              <a:off x="3196909" y="3472404"/>
              <a:ext cx="805860" cy="53970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2000" b="0" strike="noStrike" spc="-1" dirty="0">
                  <a:solidFill>
                    <a:schemeClr val="bg1"/>
                  </a:solidFill>
                  <a:latin typeface="Calibri"/>
                </a:rPr>
                <a:t>Agent</a:t>
              </a:r>
            </a:p>
          </p:txBody>
        </p:sp>
      </p:grpSp>
      <p:grpSp>
        <p:nvGrpSpPr>
          <p:cNvPr id="12" name="Group 11">
            <a:extLst>
              <a:ext uri="{FF2B5EF4-FFF2-40B4-BE49-F238E27FC236}">
                <a16:creationId xmlns:a16="http://schemas.microsoft.com/office/drawing/2014/main" id="{E341E16D-B108-0996-3D54-B48963C5015B}"/>
              </a:ext>
            </a:extLst>
          </p:cNvPr>
          <p:cNvGrpSpPr/>
          <p:nvPr/>
        </p:nvGrpSpPr>
        <p:grpSpPr>
          <a:xfrm>
            <a:off x="7623697" y="3854194"/>
            <a:ext cx="1549572" cy="1610997"/>
            <a:chOff x="7557550" y="2750953"/>
            <a:chExt cx="1549572" cy="1610997"/>
          </a:xfrm>
        </p:grpSpPr>
        <p:pic>
          <p:nvPicPr>
            <p:cNvPr id="13" name="Graphic 12" descr="Earth globe: Americas with solid fill">
              <a:extLst>
                <a:ext uri="{FF2B5EF4-FFF2-40B4-BE49-F238E27FC236}">
                  <a16:creationId xmlns:a16="http://schemas.microsoft.com/office/drawing/2014/main" id="{A816FD47-AE72-4E66-EB3C-169D443E2F3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27601" y="2750953"/>
              <a:ext cx="1285264" cy="1365539"/>
            </a:xfrm>
            <a:prstGeom prst="rect">
              <a:avLst/>
            </a:prstGeom>
          </p:spPr>
        </p:pic>
        <p:sp>
          <p:nvSpPr>
            <p:cNvPr id="14" name="CustomShape 1">
              <a:extLst>
                <a:ext uri="{FF2B5EF4-FFF2-40B4-BE49-F238E27FC236}">
                  <a16:creationId xmlns:a16="http://schemas.microsoft.com/office/drawing/2014/main" id="{E3911E59-D12E-5347-4350-5AFBD0713331}"/>
                </a:ext>
              </a:extLst>
            </p:cNvPr>
            <p:cNvSpPr/>
            <p:nvPr/>
          </p:nvSpPr>
          <p:spPr>
            <a:xfrm>
              <a:off x="7557550" y="3822243"/>
              <a:ext cx="1549572" cy="53970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2000" b="0" strike="noStrike" spc="-1" dirty="0">
                  <a:latin typeface="Calibri"/>
                </a:rPr>
                <a:t>Environment</a:t>
              </a:r>
            </a:p>
          </p:txBody>
        </p:sp>
      </p:grpSp>
      <p:cxnSp>
        <p:nvCxnSpPr>
          <p:cNvPr id="15" name="Elbow Connector 14">
            <a:extLst>
              <a:ext uri="{FF2B5EF4-FFF2-40B4-BE49-F238E27FC236}">
                <a16:creationId xmlns:a16="http://schemas.microsoft.com/office/drawing/2014/main" id="{5916F097-B522-25FB-93B0-2BDFB198E904}"/>
              </a:ext>
            </a:extLst>
          </p:cNvPr>
          <p:cNvCxnSpPr>
            <a:cxnSpLocks/>
            <a:endCxn id="18" idx="0"/>
          </p:cNvCxnSpPr>
          <p:nvPr/>
        </p:nvCxnSpPr>
        <p:spPr>
          <a:xfrm flipV="1">
            <a:off x="3657062" y="3434906"/>
            <a:ext cx="4722486" cy="663934"/>
          </a:xfrm>
          <a:prstGeom prst="bentConnector4">
            <a:avLst>
              <a:gd name="adj1" fmla="val 636"/>
              <a:gd name="adj2" fmla="val 134431"/>
            </a:avLst>
          </a:prstGeom>
          <a:ln w="28575">
            <a:tailEnd type="triangle"/>
          </a:ln>
        </p:spPr>
        <p:style>
          <a:lnRef idx="1">
            <a:schemeClr val="dk1"/>
          </a:lnRef>
          <a:fillRef idx="0">
            <a:schemeClr val="dk1"/>
          </a:fillRef>
          <a:effectRef idx="0">
            <a:schemeClr val="dk1"/>
          </a:effectRef>
          <a:fontRef idx="minor">
            <a:schemeClr val="tx1"/>
          </a:fontRef>
        </p:style>
      </p:cxnSp>
      <p:cxnSp>
        <p:nvCxnSpPr>
          <p:cNvPr id="16" name="Elbow Connector 15">
            <a:extLst>
              <a:ext uri="{FF2B5EF4-FFF2-40B4-BE49-F238E27FC236}">
                <a16:creationId xmlns:a16="http://schemas.microsoft.com/office/drawing/2014/main" id="{844CB9CA-1156-CB70-F052-677D21E53F2B}"/>
              </a:ext>
            </a:extLst>
          </p:cNvPr>
          <p:cNvCxnSpPr>
            <a:cxnSpLocks/>
            <a:stCxn id="14" idx="2"/>
            <a:endCxn id="17" idx="2"/>
          </p:cNvCxnSpPr>
          <p:nvPr/>
        </p:nvCxnSpPr>
        <p:spPr>
          <a:xfrm rot="5400000">
            <a:off x="5939038" y="3150680"/>
            <a:ext cx="144934" cy="4773956"/>
          </a:xfrm>
          <a:prstGeom prst="bentConnector3">
            <a:avLst>
              <a:gd name="adj1" fmla="val 331088"/>
            </a:avLst>
          </a:prstGeom>
          <a:ln w="28575">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7" name="CustomShape 1">
                <a:extLst>
                  <a:ext uri="{FF2B5EF4-FFF2-40B4-BE49-F238E27FC236}">
                    <a16:creationId xmlns:a16="http://schemas.microsoft.com/office/drawing/2014/main" id="{CC440129-3836-D7A2-CF44-2053300E6328}"/>
                  </a:ext>
                </a:extLst>
              </p:cNvPr>
              <p:cNvSpPr/>
              <p:nvPr/>
            </p:nvSpPr>
            <p:spPr>
              <a:xfrm>
                <a:off x="2938727" y="5070418"/>
                <a:ext cx="1371600" cy="53970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90000"/>
                  </a:lnSpc>
                </a:pPr>
                <a:r>
                  <a:rPr lang="en-US" sz="2000" b="0" strike="noStrike" spc="-1" dirty="0">
                    <a:latin typeface="Calibri"/>
                  </a:rPr>
                  <a:t>State </a:t>
                </a:r>
                <a14:m>
                  <m:oMath xmlns:m="http://schemas.openxmlformats.org/officeDocument/2006/math">
                    <m:sSub>
                      <m:sSubPr>
                        <m:ctrlPr>
                          <a:rPr lang="nl-NL" sz="2000" b="0" i="1" smtClean="0">
                            <a:latin typeface="Cambria Math" panose="02040503050406030204" pitchFamily="18" charset="0"/>
                          </a:rPr>
                        </m:ctrlPr>
                      </m:sSubPr>
                      <m:e>
                        <m:r>
                          <a:rPr lang="nl-NL" sz="2000" b="0" i="1" smtClean="0">
                            <a:latin typeface="Cambria Math" panose="02040503050406030204" pitchFamily="18" charset="0"/>
                          </a:rPr>
                          <m:t>𝑠</m:t>
                        </m:r>
                      </m:e>
                      <m:sub>
                        <m:r>
                          <a:rPr lang="nl-NL" sz="2000" b="0" i="1" smtClean="0">
                            <a:latin typeface="Cambria Math" panose="02040503050406030204" pitchFamily="18" charset="0"/>
                          </a:rPr>
                          <m:t>𝑡</m:t>
                        </m:r>
                      </m:sub>
                    </m:sSub>
                  </m:oMath>
                </a14:m>
                <a:endParaRPr lang="en-US" sz="2000" b="0" strike="noStrike" spc="-1" dirty="0">
                  <a:latin typeface="Calibri"/>
                </a:endParaRPr>
              </a:p>
            </p:txBody>
          </p:sp>
        </mc:Choice>
        <mc:Fallback xmlns="">
          <p:sp>
            <p:nvSpPr>
              <p:cNvPr id="17" name="CustomShape 1">
                <a:extLst>
                  <a:ext uri="{FF2B5EF4-FFF2-40B4-BE49-F238E27FC236}">
                    <a16:creationId xmlns:a16="http://schemas.microsoft.com/office/drawing/2014/main" id="{CC440129-3836-D7A2-CF44-2053300E6328}"/>
                  </a:ext>
                </a:extLst>
              </p:cNvPr>
              <p:cNvSpPr>
                <a:spLocks noRot="1" noChangeAspect="1" noMove="1" noResize="1" noEditPoints="1" noAdjustHandles="1" noChangeArrowheads="1" noChangeShapeType="1" noTextEdit="1"/>
              </p:cNvSpPr>
              <p:nvPr/>
            </p:nvSpPr>
            <p:spPr>
              <a:xfrm>
                <a:off x="2938727" y="5070418"/>
                <a:ext cx="1371600" cy="539707"/>
              </a:xfrm>
              <a:prstGeom prst="rect">
                <a:avLst/>
              </a:prstGeom>
              <a:blipFill>
                <a:blip r:embed="rId8"/>
                <a:stretch>
                  <a:fillRect b="-4651"/>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CustomShape 1">
                <a:extLst>
                  <a:ext uri="{FF2B5EF4-FFF2-40B4-BE49-F238E27FC236}">
                    <a16:creationId xmlns:a16="http://schemas.microsoft.com/office/drawing/2014/main" id="{0A2F520A-EA24-723D-AC96-54D3D2DF7DDE}"/>
                  </a:ext>
                </a:extLst>
              </p:cNvPr>
              <p:cNvSpPr/>
              <p:nvPr/>
            </p:nvSpPr>
            <p:spPr>
              <a:xfrm>
                <a:off x="7693748" y="3434906"/>
                <a:ext cx="1371600" cy="53970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90000"/>
                  </a:lnSpc>
                </a:pPr>
                <a:r>
                  <a:rPr lang="en-US" sz="2000" b="0" strike="noStrike" spc="-1" dirty="0">
                    <a:latin typeface="Calibri"/>
                  </a:rPr>
                  <a:t>State </a:t>
                </a:r>
                <a14:m>
                  <m:oMath xmlns:m="http://schemas.openxmlformats.org/officeDocument/2006/math">
                    <m:sSub>
                      <m:sSubPr>
                        <m:ctrlPr>
                          <a:rPr lang="nl-NL" sz="2000" b="0" i="1" smtClean="0">
                            <a:latin typeface="Cambria Math" panose="02040503050406030204" pitchFamily="18" charset="0"/>
                          </a:rPr>
                        </m:ctrlPr>
                      </m:sSubPr>
                      <m:e>
                        <m:r>
                          <a:rPr lang="nl-NL" sz="2000" b="0" i="1" smtClean="0">
                            <a:latin typeface="Cambria Math" panose="02040503050406030204" pitchFamily="18" charset="0"/>
                          </a:rPr>
                          <m:t>𝑠</m:t>
                        </m:r>
                      </m:e>
                      <m:sub>
                        <m:r>
                          <a:rPr lang="nl-NL" sz="2000" b="0" i="1" smtClean="0">
                            <a:latin typeface="Cambria Math" panose="02040503050406030204" pitchFamily="18" charset="0"/>
                          </a:rPr>
                          <m:t>𝑡</m:t>
                        </m:r>
                        <m:r>
                          <a:rPr lang="nl-NL" sz="2000" b="0" i="1" smtClean="0">
                            <a:latin typeface="Cambria Math" panose="02040503050406030204" pitchFamily="18" charset="0"/>
                          </a:rPr>
                          <m:t>+1</m:t>
                        </m:r>
                      </m:sub>
                    </m:sSub>
                  </m:oMath>
                </a14:m>
                <a:endParaRPr lang="en-US" sz="2000" b="0" strike="noStrike" spc="-1" dirty="0">
                  <a:latin typeface="Calibri"/>
                </a:endParaRPr>
              </a:p>
            </p:txBody>
          </p:sp>
        </mc:Choice>
        <mc:Fallback xmlns="">
          <p:sp>
            <p:nvSpPr>
              <p:cNvPr id="18" name="CustomShape 1">
                <a:extLst>
                  <a:ext uri="{FF2B5EF4-FFF2-40B4-BE49-F238E27FC236}">
                    <a16:creationId xmlns:a16="http://schemas.microsoft.com/office/drawing/2014/main" id="{0A2F520A-EA24-723D-AC96-54D3D2DF7DDE}"/>
                  </a:ext>
                </a:extLst>
              </p:cNvPr>
              <p:cNvSpPr>
                <a:spLocks noRot="1" noChangeAspect="1" noMove="1" noResize="1" noEditPoints="1" noAdjustHandles="1" noChangeArrowheads="1" noChangeShapeType="1" noTextEdit="1"/>
              </p:cNvSpPr>
              <p:nvPr/>
            </p:nvSpPr>
            <p:spPr>
              <a:xfrm>
                <a:off x="7693748" y="3434906"/>
                <a:ext cx="1371600" cy="539707"/>
              </a:xfrm>
              <a:prstGeom prst="rect">
                <a:avLst/>
              </a:prstGeom>
              <a:blipFill>
                <a:blip r:embed="rId9"/>
                <a:stretch>
                  <a:fillRect b="-2326"/>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2FEFE579-06E8-D8C6-0233-FDCECD32DA28}"/>
                  </a:ext>
                </a:extLst>
              </p:cNvPr>
              <p:cNvSpPr/>
              <p:nvPr/>
            </p:nvSpPr>
            <p:spPr>
              <a:xfrm>
                <a:off x="4912241" y="2824764"/>
                <a:ext cx="2700823" cy="63453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dirty="0"/>
                  <a:t>Action </a:t>
                </a:r>
                <a:endParaRPr lang="nl-NL" b="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nl-NL" b="0" i="1" smtClean="0">
                          <a:latin typeface="Cambria Math" panose="02040503050406030204" pitchFamily="18" charset="0"/>
                        </a:rPr>
                        <m:t>𝜋</m:t>
                      </m:r>
                      <m:r>
                        <a:rPr lang="nl-NL" b="0" i="1" smtClean="0">
                          <a:latin typeface="Cambria Math" panose="02040503050406030204" pitchFamily="18" charset="0"/>
                        </a:rPr>
                        <m:t>=</m:t>
                      </m:r>
                      <m:r>
                        <a:rPr lang="nl-NL" b="0" i="1" smtClean="0">
                          <a:latin typeface="Cambria Math" panose="02040503050406030204" pitchFamily="18" charset="0"/>
                        </a:rPr>
                        <m:t>𝑃</m:t>
                      </m:r>
                      <m:d>
                        <m:dPr>
                          <m:ctrlPr>
                            <a:rPr lang="nl-NL" b="0" i="1" smtClean="0">
                              <a:latin typeface="Cambria Math" panose="02040503050406030204" pitchFamily="18" charset="0"/>
                            </a:rPr>
                          </m:ctrlPr>
                        </m:dPr>
                        <m:e>
                          <m:sSub>
                            <m:sSubPr>
                              <m:ctrlPr>
                                <a:rPr lang="nl-NL" b="0" i="1" smtClean="0">
                                  <a:latin typeface="Cambria Math" panose="02040503050406030204" pitchFamily="18" charset="0"/>
                                </a:rPr>
                              </m:ctrlPr>
                            </m:sSubPr>
                            <m:e>
                              <m:r>
                                <a:rPr lang="nl-NL" b="0" i="1" smtClean="0">
                                  <a:latin typeface="Cambria Math" panose="02040503050406030204" pitchFamily="18" charset="0"/>
                                </a:rPr>
                                <m:t>𝑠</m:t>
                              </m:r>
                            </m:e>
                            <m:sub>
                              <m:r>
                                <a:rPr lang="nl-NL" b="0" i="1" smtClean="0">
                                  <a:latin typeface="Cambria Math" panose="02040503050406030204" pitchFamily="18" charset="0"/>
                                </a:rPr>
                                <m:t>𝑡</m:t>
                              </m:r>
                              <m:r>
                                <a:rPr lang="nl-NL" b="0" i="1" smtClean="0">
                                  <a:latin typeface="Cambria Math" panose="02040503050406030204" pitchFamily="18" charset="0"/>
                                </a:rPr>
                                <m:t>+1</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𝑠</m:t>
                              </m:r>
                            </m:e>
                            <m:sub>
                              <m:r>
                                <a:rPr lang="nl-NL" b="0" i="1" smtClean="0">
                                  <a:latin typeface="Cambria Math" panose="02040503050406030204" pitchFamily="18" charset="0"/>
                                </a:rPr>
                                <m:t>𝑡</m:t>
                              </m:r>
                            </m:sub>
                          </m:sSub>
                        </m:e>
                      </m:d>
                      <m:r>
                        <a:rPr lang="nl-NL" b="0" i="1" smtClean="0">
                          <a:latin typeface="Cambria Math" panose="02040503050406030204" pitchFamily="18" charset="0"/>
                        </a:rPr>
                        <m:t>→</m:t>
                      </m:r>
                      <m:sSub>
                        <m:sSubPr>
                          <m:ctrlPr>
                            <a:rPr lang="nl-NL" i="1">
                              <a:latin typeface="Cambria Math" panose="02040503050406030204" pitchFamily="18" charset="0"/>
                            </a:rPr>
                          </m:ctrlPr>
                        </m:sSubPr>
                        <m:e>
                          <m:r>
                            <a:rPr lang="nl-NL" i="1">
                              <a:latin typeface="Cambria Math" panose="02040503050406030204" pitchFamily="18" charset="0"/>
                            </a:rPr>
                            <m:t>𝑎</m:t>
                          </m:r>
                        </m:e>
                        <m:sub>
                          <m:r>
                            <a:rPr lang="nl-NL" i="1">
                              <a:latin typeface="Cambria Math" panose="02040503050406030204" pitchFamily="18" charset="0"/>
                            </a:rPr>
                            <m:t>𝑡</m:t>
                          </m:r>
                        </m:sub>
                      </m:sSub>
                    </m:oMath>
                  </m:oMathPara>
                </a14:m>
                <a:endParaRPr lang="en-GB" dirty="0"/>
              </a:p>
            </p:txBody>
          </p:sp>
        </mc:Choice>
        <mc:Fallback xmlns="">
          <p:sp>
            <p:nvSpPr>
              <p:cNvPr id="19" name="Rectangle 18">
                <a:extLst>
                  <a:ext uri="{FF2B5EF4-FFF2-40B4-BE49-F238E27FC236}">
                    <a16:creationId xmlns:a16="http://schemas.microsoft.com/office/drawing/2014/main" id="{2FEFE579-06E8-D8C6-0233-FDCECD32DA28}"/>
                  </a:ext>
                </a:extLst>
              </p:cNvPr>
              <p:cNvSpPr>
                <a:spLocks noRot="1" noChangeAspect="1" noMove="1" noResize="1" noEditPoints="1" noAdjustHandles="1" noChangeArrowheads="1" noChangeShapeType="1" noTextEdit="1"/>
              </p:cNvSpPr>
              <p:nvPr/>
            </p:nvSpPr>
            <p:spPr>
              <a:xfrm>
                <a:off x="4912241" y="2824764"/>
                <a:ext cx="2700823" cy="634537"/>
              </a:xfrm>
              <a:prstGeom prst="rect">
                <a:avLst/>
              </a:prstGeom>
              <a:blipFill>
                <a:blip r:embed="rId10"/>
                <a:stretch>
                  <a:fillRect t="-3846" b="-9615"/>
                </a:stretch>
              </a:blipFill>
            </p:spPr>
            <p:txBody>
              <a:bodyPr/>
              <a:lstStyle/>
              <a:p>
                <a:r>
                  <a:rPr lang="en-GB">
                    <a:noFill/>
                  </a:rPr>
                  <a:t> </a:t>
                </a:r>
              </a:p>
            </p:txBody>
          </p:sp>
        </mc:Fallback>
      </mc:AlternateContent>
      <p:grpSp>
        <p:nvGrpSpPr>
          <p:cNvPr id="20" name="Group 19">
            <a:extLst>
              <a:ext uri="{FF2B5EF4-FFF2-40B4-BE49-F238E27FC236}">
                <a16:creationId xmlns:a16="http://schemas.microsoft.com/office/drawing/2014/main" id="{7B6D069F-8EE4-418B-837C-8E855897B7FE}"/>
              </a:ext>
            </a:extLst>
          </p:cNvPr>
          <p:cNvGrpSpPr/>
          <p:nvPr/>
        </p:nvGrpSpPr>
        <p:grpSpPr>
          <a:xfrm>
            <a:off x="4311179" y="5610125"/>
            <a:ext cx="3680672" cy="993347"/>
            <a:chOff x="4311179" y="5610125"/>
            <a:chExt cx="3680672" cy="993347"/>
          </a:xfrm>
        </p:grpSpPr>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19AB8385-ABA1-19D6-F7C2-D5DF28049305}"/>
                    </a:ext>
                  </a:extLst>
                </p:cNvPr>
                <p:cNvSpPr/>
                <p:nvPr/>
              </p:nvSpPr>
              <p:spPr>
                <a:xfrm>
                  <a:off x="5435184" y="5610125"/>
                  <a:ext cx="1432663" cy="63453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dirty="0"/>
                    <a:t>Reward  </a:t>
                  </a:r>
                  <a14:m>
                    <m:oMath xmlns:m="http://schemas.openxmlformats.org/officeDocument/2006/math">
                      <m:sSub>
                        <m:sSubPr>
                          <m:ctrlPr>
                            <a:rPr lang="nl-NL" b="0" i="1" smtClean="0">
                              <a:latin typeface="Cambria Math" panose="02040503050406030204" pitchFamily="18" charset="0"/>
                            </a:rPr>
                          </m:ctrlPr>
                        </m:sSubPr>
                        <m:e>
                          <m:r>
                            <a:rPr lang="nl-NL" b="0" i="1" smtClean="0">
                              <a:latin typeface="Cambria Math" panose="02040503050406030204" pitchFamily="18" charset="0"/>
                            </a:rPr>
                            <m:t>𝑟</m:t>
                          </m:r>
                        </m:e>
                        <m:sub>
                          <m:r>
                            <a:rPr lang="nl-NL" b="0" i="1" smtClean="0">
                              <a:latin typeface="Cambria Math" panose="02040503050406030204" pitchFamily="18" charset="0"/>
                            </a:rPr>
                            <m:t>𝑡</m:t>
                          </m:r>
                          <m:r>
                            <a:rPr lang="nl-NL" b="0" i="1" smtClean="0">
                              <a:latin typeface="Cambria Math" panose="02040503050406030204" pitchFamily="18" charset="0"/>
                            </a:rPr>
                            <m:t>+1</m:t>
                          </m:r>
                        </m:sub>
                      </m:sSub>
                    </m:oMath>
                  </a14:m>
                  <a:endParaRPr lang="en-GB" dirty="0"/>
                </a:p>
              </p:txBody>
            </p:sp>
          </mc:Choice>
          <mc:Fallback xmlns="">
            <p:sp>
              <p:nvSpPr>
                <p:cNvPr id="39" name="Rectangle 38">
                  <a:extLst>
                    <a:ext uri="{FF2B5EF4-FFF2-40B4-BE49-F238E27FC236}">
                      <a16:creationId xmlns:a16="http://schemas.microsoft.com/office/drawing/2014/main" id="{C1CF97D6-6855-94E9-FE5B-7B961425A49A}"/>
                    </a:ext>
                  </a:extLst>
                </p:cNvPr>
                <p:cNvSpPr>
                  <a:spLocks noRot="1" noChangeAspect="1" noMove="1" noResize="1" noEditPoints="1" noAdjustHandles="1" noChangeArrowheads="1" noChangeShapeType="1" noTextEdit="1"/>
                </p:cNvSpPr>
                <p:nvPr/>
              </p:nvSpPr>
              <p:spPr>
                <a:xfrm>
                  <a:off x="5435184" y="5610125"/>
                  <a:ext cx="1432663" cy="634537"/>
                </a:xfrm>
                <a:prstGeom prst="rect">
                  <a:avLst/>
                </a:prstGeom>
                <a:blipFill>
                  <a:blip r:embed="rId11"/>
                  <a:stretch>
                    <a:fillRect l="-870"/>
                  </a:stretch>
                </a:blipFill>
              </p:spPr>
              <p:txBody>
                <a:bodyPr/>
                <a:lstStyle/>
                <a:p>
                  <a:r>
                    <a:rPr lang="en-GB">
                      <a:noFill/>
                    </a:rPr>
                    <a:t> </a:t>
                  </a:r>
                </a:p>
              </p:txBody>
            </p:sp>
          </mc:Fallback>
        </mc:AlternateContent>
        <p:sp>
          <p:nvSpPr>
            <p:cNvPr id="22" name="TextBox 21">
              <a:extLst>
                <a:ext uri="{FF2B5EF4-FFF2-40B4-BE49-F238E27FC236}">
                  <a16:creationId xmlns:a16="http://schemas.microsoft.com/office/drawing/2014/main" id="{B2436D7B-7034-F47E-26BD-5B62A83484E3}"/>
                </a:ext>
              </a:extLst>
            </p:cNvPr>
            <p:cNvSpPr txBox="1"/>
            <p:nvPr/>
          </p:nvSpPr>
          <p:spPr>
            <a:xfrm>
              <a:off x="4311179" y="6295695"/>
              <a:ext cx="3680672" cy="307777"/>
            </a:xfrm>
            <a:prstGeom prst="rect">
              <a:avLst/>
            </a:prstGeom>
            <a:noFill/>
          </p:spPr>
          <p:txBody>
            <a:bodyPr wrap="square" rtlCol="0">
              <a:spAutoFit/>
            </a:bodyPr>
            <a:lstStyle/>
            <a:p>
              <a:pPr algn="ctr"/>
              <a:r>
                <a:rPr lang="en-GB" sz="1400" dirty="0"/>
                <a:t>Feedback that measures the agent’s action</a:t>
              </a:r>
            </a:p>
          </p:txBody>
        </p:sp>
      </p:grpSp>
    </p:spTree>
    <p:extLst>
      <p:ext uri="{BB962C8B-B14F-4D97-AF65-F5344CB8AC3E}">
        <p14:creationId xmlns:p14="http://schemas.microsoft.com/office/powerpoint/2010/main" val="3665841795"/>
      </p:ext>
    </p:extLst>
  </p:cSld>
  <p:clrMapOvr>
    <a:masterClrMapping/>
  </p:clrMapOvr>
  <mc:AlternateContent xmlns:mc="http://schemas.openxmlformats.org/markup-compatibility/2006" xmlns:p14="http://schemas.microsoft.com/office/powerpoint/2010/main">
    <mc:Choice Requires="p14">
      <p:transition spd="slow" p14:dur="2000" advTm="405"/>
    </mc:Choice>
    <mc:Fallback xmlns="">
      <p:transition spd="slow" advTm="40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6466730"/>
          </a:xfrm>
        </p:spPr>
        <p:txBody>
          <a:bodyPr/>
          <a:lstStyle/>
          <a:p>
            <a:r>
              <a:rPr lang="en-GB" sz="4000" dirty="0"/>
              <a:t>Artificial Neural Networks</a:t>
            </a:r>
            <a:br>
              <a:rPr lang="en-GB" sz="4000" dirty="0"/>
            </a:br>
            <a:endParaRPr lang="en-GB" sz="40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nl-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249761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Artificial neural networks</a:t>
            </a:r>
          </a:p>
          <a:p>
            <a:endParaRPr lang="en-GB" sz="1800" dirty="0"/>
          </a:p>
        </p:txBody>
      </p:sp>
      <p:sp>
        <p:nvSpPr>
          <p:cNvPr id="5" name="AutoShape 2" descr="Image result for zip file icon"/>
          <p:cNvSpPr>
            <a:spLocks noChangeAspect="1" noChangeArrowheads="1"/>
          </p:cNvSpPr>
          <p:nvPr/>
        </p:nvSpPr>
        <p:spPr bwMode="auto">
          <a:xfrm>
            <a:off x="1679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AutoShape 4" descr="Image result for zip file icon"/>
          <p:cNvSpPr>
            <a:spLocks noChangeAspect="1" noChangeArrowheads="1"/>
          </p:cNvSpPr>
          <p:nvPr/>
        </p:nvSpPr>
        <p:spPr bwMode="auto">
          <a:xfrm>
            <a:off x="1831975" y="793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Box 8"/>
          <p:cNvSpPr txBox="1"/>
          <p:nvPr/>
        </p:nvSpPr>
        <p:spPr>
          <a:xfrm>
            <a:off x="720000" y="1196752"/>
            <a:ext cx="950505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sng" strike="noStrike" kern="1200" cap="none" spc="0" normalizeH="0" baseline="0" noProof="0" dirty="0">
                <a:ln>
                  <a:noFill/>
                </a:ln>
                <a:solidFill>
                  <a:prstClr val="black"/>
                </a:solidFill>
                <a:effectLst/>
                <a:uLnTx/>
                <a:uFillTx/>
                <a:latin typeface="Calibri"/>
                <a:ea typeface="+mn-ea"/>
                <a:cs typeface="+mn-cs"/>
              </a:rPr>
              <a:t>Layers</a:t>
            </a:r>
            <a:endParaRPr kumimoji="0" lang="en-GB" sz="1800" b="0" i="0" u="sng" strike="noStrike" kern="1200" cap="none" spc="0" normalizeH="0" baseline="0" noProof="0" dirty="0">
              <a:ln>
                <a:noFill/>
              </a:ln>
              <a:solidFill>
                <a:prstClr val="black"/>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4D4017-CCFE-46C6-A9FB-0EFAE082C1AD}"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graphicFrame>
        <p:nvGraphicFramePr>
          <p:cNvPr id="7" name="Object 6"/>
          <p:cNvGraphicFramePr>
            <a:graphicFrameLocks noChangeAspect="1"/>
          </p:cNvGraphicFramePr>
          <p:nvPr/>
        </p:nvGraphicFramePr>
        <p:xfrm>
          <a:off x="4079776" y="1710632"/>
          <a:ext cx="3744416" cy="2427415"/>
        </p:xfrm>
        <a:graphic>
          <a:graphicData uri="http://schemas.openxmlformats.org/presentationml/2006/ole">
            <mc:AlternateContent xmlns:mc="http://schemas.openxmlformats.org/markup-compatibility/2006">
              <mc:Choice xmlns:v="urn:schemas-microsoft-com:vml" Requires="v">
                <p:oleObj name="Visio" r:id="rId3" imgW="2581141" imgH="1676155" progId="Visio.Drawing.11">
                  <p:embed/>
                </p:oleObj>
              </mc:Choice>
              <mc:Fallback>
                <p:oleObj name="Visio" r:id="rId3" imgW="2581141" imgH="1676155" progId="Visio.Drawing.11">
                  <p:embed/>
                  <p:pic>
                    <p:nvPicPr>
                      <p:cNvPr id="7" name="Object 6"/>
                      <p:cNvPicPr>
                        <a:picLocks noChangeAspect="1" noChangeArrowheads="1"/>
                      </p:cNvPicPr>
                      <p:nvPr/>
                    </p:nvPicPr>
                    <p:blipFill>
                      <a:blip r:embed="rId4"/>
                      <a:srcRect/>
                      <a:stretch>
                        <a:fillRect/>
                      </a:stretch>
                    </p:blipFill>
                    <p:spPr bwMode="auto">
                      <a:xfrm>
                        <a:off x="4079776" y="1710632"/>
                        <a:ext cx="3744416" cy="2427415"/>
                      </a:xfrm>
                      <a:prstGeom prst="rect">
                        <a:avLst/>
                      </a:prstGeom>
                      <a:noFill/>
                    </p:spPr>
                  </p:pic>
                </p:oleObj>
              </mc:Fallback>
            </mc:AlternateContent>
          </a:graphicData>
        </a:graphic>
      </p:graphicFrame>
      <p:sp>
        <p:nvSpPr>
          <p:cNvPr id="10" name="TextBox 9"/>
          <p:cNvSpPr txBox="1"/>
          <p:nvPr/>
        </p:nvSpPr>
        <p:spPr>
          <a:xfrm>
            <a:off x="720000" y="4581129"/>
            <a:ext cx="10298360" cy="203132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a:ln>
                  <a:noFill/>
                </a:ln>
                <a:solidFill>
                  <a:srgbClr val="FF0000"/>
                </a:solidFill>
                <a:effectLst/>
                <a:uLnTx/>
                <a:uFillTx/>
                <a:latin typeface="Calibri"/>
                <a:ea typeface="+mn-ea"/>
                <a:cs typeface="+mn-cs"/>
              </a:rPr>
              <a:t>Input layer </a:t>
            </a:r>
            <a:r>
              <a:rPr kumimoji="0" lang="en-GB" sz="1800" b="0" i="0" u="none" strike="noStrike" kern="1200" cap="none" spc="0" normalizeH="0" baseline="0" noProof="0" dirty="0">
                <a:ln>
                  <a:noFill/>
                </a:ln>
                <a:solidFill>
                  <a:prstClr val="black"/>
                </a:solidFill>
                <a:effectLst/>
                <a:uLnTx/>
                <a:uFillTx/>
                <a:latin typeface="Calibri"/>
                <a:ea typeface="+mn-ea"/>
                <a:cs typeface="+mn-cs"/>
              </a:rPr>
              <a:t>consists of the features (explanatory variables)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a:ln>
                  <a:noFill/>
                </a:ln>
                <a:solidFill>
                  <a:srgbClr val="7030A0"/>
                </a:solidFill>
                <a:effectLst/>
                <a:uLnTx/>
                <a:uFillTx/>
                <a:latin typeface="Calibri"/>
                <a:ea typeface="+mn-ea"/>
                <a:cs typeface="+mn-cs"/>
              </a:rPr>
              <a:t>The output </a:t>
            </a:r>
            <a:r>
              <a:rPr kumimoji="0" lang="en-GB" sz="1800" b="0" i="0" u="none" strike="noStrike" kern="1200" cap="none" spc="0" normalizeH="0" baseline="0" noProof="0" dirty="0">
                <a:ln>
                  <a:noFill/>
                </a:ln>
                <a:solidFill>
                  <a:prstClr val="black"/>
                </a:solidFill>
                <a:effectLst/>
                <a:uLnTx/>
                <a:uFillTx/>
                <a:latin typeface="Calibri"/>
                <a:ea typeface="+mn-ea"/>
                <a:cs typeface="+mn-cs"/>
              </a:rPr>
              <a:t>layer consists of the target variable (dependent variable, e.g. the </a:t>
            </a:r>
            <a:r>
              <a:rPr kumimoji="0" lang="en-GB" sz="1800" b="1" i="0" u="none" strike="noStrike" kern="1200" cap="none" spc="0" normalizeH="0" baseline="0" noProof="0" dirty="0">
                <a:ln>
                  <a:noFill/>
                </a:ln>
                <a:solidFill>
                  <a:prstClr val="black"/>
                </a:solidFill>
                <a:effectLst/>
                <a:uLnTx/>
                <a:uFillTx/>
                <a:latin typeface="Calibri"/>
                <a:ea typeface="+mn-ea"/>
                <a:cs typeface="+mn-cs"/>
              </a:rPr>
              <a:t>class</a:t>
            </a:r>
            <a:r>
              <a:rPr kumimoji="0" lang="en-GB" sz="1800" b="0" i="0" u="none" strike="noStrike" kern="1200" cap="none" spc="0" normalizeH="0" baseline="0" noProof="0" dirty="0">
                <a:ln>
                  <a:noFill/>
                </a:ln>
                <a:solidFill>
                  <a:prstClr val="black"/>
                </a:solidFill>
                <a:effectLst/>
                <a:uLnTx/>
                <a:uFillTx/>
                <a:latin typeface="Calibri"/>
                <a:ea typeface="+mn-ea"/>
                <a:cs typeface="+mn-cs"/>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a:ln>
                  <a:noFill/>
                </a:ln>
                <a:solidFill>
                  <a:srgbClr val="00CC00"/>
                </a:solidFill>
                <a:effectLst/>
                <a:uLnTx/>
                <a:uFillTx/>
                <a:latin typeface="Calibri"/>
                <a:ea typeface="+mn-ea"/>
                <a:cs typeface="+mn-cs"/>
              </a:rPr>
              <a:t>Hidden layer(s)</a:t>
            </a:r>
            <a:r>
              <a:rPr kumimoji="0" lang="en-GB" sz="1800" b="0" i="0" u="none" strike="noStrike" kern="1200" cap="none" spc="0" normalizeH="0" baseline="0" noProof="0" dirty="0">
                <a:ln>
                  <a:noFill/>
                </a:ln>
                <a:solidFill>
                  <a:prstClr val="black"/>
                </a:solidFill>
                <a:effectLst/>
                <a:uLnTx/>
                <a:uFillTx/>
                <a:latin typeface="Calibri"/>
                <a:ea typeface="+mn-ea"/>
                <a:cs typeface="+mn-cs"/>
              </a:rPr>
              <a:t> consists of a finite number hidden nodes (set by the analyst)</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1 hidden layer </a:t>
            </a:r>
            <a:r>
              <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 Shallow neural network</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2 or more hidden layers  Deep neural network</a:t>
            </a: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TextBox 7"/>
          <p:cNvSpPr txBox="1"/>
          <p:nvPr/>
        </p:nvSpPr>
        <p:spPr>
          <a:xfrm>
            <a:off x="4139240" y="4057328"/>
            <a:ext cx="3396921"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lumMod val="50000"/>
                  </a:prstClr>
                </a:solidFill>
                <a:effectLst/>
                <a:uLnTx/>
                <a:uFillTx/>
                <a:latin typeface="Calibri"/>
                <a:ea typeface="+mn-ea"/>
                <a:cs typeface="+mn-cs"/>
              </a:rPr>
              <a:t>Feed forward </a:t>
            </a:r>
            <a:r>
              <a:rPr kumimoji="0" lang="en-GB" sz="1400" b="0" i="0" u="none" strike="noStrike" kern="1200" cap="none" spc="0" normalizeH="0" baseline="0" noProof="0" dirty="0" err="1">
                <a:ln>
                  <a:noFill/>
                </a:ln>
                <a:solidFill>
                  <a:prstClr val="white">
                    <a:lumMod val="50000"/>
                  </a:prstClr>
                </a:solidFill>
                <a:effectLst/>
                <a:uLnTx/>
                <a:uFillTx/>
                <a:latin typeface="Calibri"/>
                <a:ea typeface="+mn-ea"/>
                <a:cs typeface="+mn-cs"/>
              </a:rPr>
              <a:t>MultiLayer</a:t>
            </a:r>
            <a:r>
              <a:rPr kumimoji="0" lang="en-GB" sz="1400" b="0" i="0" u="none" strike="noStrike" kern="1200" cap="none" spc="0" normalizeH="0" baseline="0" noProof="0" dirty="0">
                <a:ln>
                  <a:noFill/>
                </a:ln>
                <a:solidFill>
                  <a:prstClr val="white">
                    <a:lumMod val="50000"/>
                  </a:prstClr>
                </a:solidFill>
                <a:effectLst/>
                <a:uLnTx/>
                <a:uFillTx/>
                <a:latin typeface="Calibri"/>
                <a:ea typeface="+mn-ea"/>
                <a:cs typeface="+mn-cs"/>
              </a:rPr>
              <a:t> Perceptron (</a:t>
            </a:r>
            <a:r>
              <a:rPr kumimoji="0" lang="en-GB" sz="1400" b="1" i="0" u="none" strike="noStrike" kern="1200" cap="none" spc="0" normalizeH="0" baseline="0" noProof="0" dirty="0">
                <a:ln>
                  <a:noFill/>
                </a:ln>
                <a:solidFill>
                  <a:prstClr val="white">
                    <a:lumMod val="50000"/>
                  </a:prstClr>
                </a:solidFill>
                <a:effectLst/>
                <a:uLnTx/>
                <a:uFillTx/>
                <a:latin typeface="Calibri"/>
                <a:ea typeface="+mn-ea"/>
                <a:cs typeface="+mn-cs"/>
              </a:rPr>
              <a:t>MLP</a:t>
            </a:r>
            <a:r>
              <a:rPr kumimoji="0" lang="en-GB" sz="1400" b="0" i="0" u="none" strike="noStrike" kern="1200" cap="none" spc="0" normalizeH="0" baseline="0" noProof="0" dirty="0">
                <a:ln>
                  <a:noFill/>
                </a:ln>
                <a:solidFill>
                  <a:prstClr val="white">
                    <a:lumMod val="50000"/>
                  </a:prstClr>
                </a:solidFill>
                <a:effectLst/>
                <a:uLnTx/>
                <a:uFillTx/>
                <a:latin typeface="Calibri"/>
                <a:ea typeface="+mn-ea"/>
                <a:cs typeface="+mn-cs"/>
              </a:rPr>
              <a:t>)</a:t>
            </a:r>
            <a:endParaRPr kumimoji="0" lang="nl-NL"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15" name="Group 14"/>
          <p:cNvGrpSpPr/>
          <p:nvPr/>
        </p:nvGrpSpPr>
        <p:grpSpPr>
          <a:xfrm>
            <a:off x="5866830" y="1471355"/>
            <a:ext cx="1477515" cy="440476"/>
            <a:chOff x="5866830" y="1471355"/>
            <a:chExt cx="1477515" cy="440476"/>
          </a:xfrm>
        </p:grpSpPr>
        <p:cxnSp>
          <p:nvCxnSpPr>
            <p:cNvPr id="12" name="Straight Arrow Connector 11"/>
            <p:cNvCxnSpPr/>
            <p:nvPr/>
          </p:nvCxnSpPr>
          <p:spPr>
            <a:xfrm flipH="1">
              <a:off x="5866830" y="1663419"/>
              <a:ext cx="458340" cy="248412"/>
            </a:xfrm>
            <a:prstGeom prst="straightConnector1">
              <a:avLst/>
            </a:prstGeom>
            <a:ln w="19050">
              <a:solidFill>
                <a:srgbClr val="33CC33"/>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14" name="TextBox 13"/>
            <p:cNvSpPr txBox="1"/>
            <p:nvPr/>
          </p:nvSpPr>
          <p:spPr>
            <a:xfrm>
              <a:off x="6325170" y="1471355"/>
              <a:ext cx="101917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33CC33"/>
                  </a:solidFill>
                  <a:effectLst/>
                  <a:uLnTx/>
                  <a:uFillTx/>
                  <a:latin typeface="Calibri" panose="020F0502020204030204"/>
                  <a:ea typeface="+mn-ea"/>
                  <a:cs typeface="+mn-cs"/>
                </a:rPr>
                <a:t>Nodes</a:t>
              </a:r>
            </a:p>
          </p:txBody>
        </p:sp>
      </p:grpSp>
      <p:sp>
        <p:nvSpPr>
          <p:cNvPr id="21" name="Line 2">
            <a:extLst>
              <a:ext uri="{FF2B5EF4-FFF2-40B4-BE49-F238E27FC236}">
                <a16:creationId xmlns:a16="http://schemas.microsoft.com/office/drawing/2014/main" id="{540E5605-5513-2AA8-B9B0-83E98F790362}"/>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22" name="Line 2">
            <a:extLst>
              <a:ext uri="{FF2B5EF4-FFF2-40B4-BE49-F238E27FC236}">
                <a16:creationId xmlns:a16="http://schemas.microsoft.com/office/drawing/2014/main" id="{58AF7E54-24EA-37F4-7D3A-50C1BC039471}"/>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2406895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fade">
                                      <p:cBhvr>
                                        <p:cTn id="12" dur="500"/>
                                        <p:tgtEl>
                                          <p:spTgt spid="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4" end="4"/>
                                            </p:txEl>
                                          </p:spTgt>
                                        </p:tgtEl>
                                        <p:attrNameLst>
                                          <p:attrName>style.visibility</p:attrName>
                                        </p:attrNameLst>
                                      </p:cBhvr>
                                      <p:to>
                                        <p:strVal val="visible"/>
                                      </p:to>
                                    </p:set>
                                    <p:animEffect transition="in" filter="fade">
                                      <p:cBhvr>
                                        <p:cTn id="17" dur="500"/>
                                        <p:tgtEl>
                                          <p:spTgt spid="10">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0">
                                            <p:txEl>
                                              <p:pRg st="5" end="5"/>
                                            </p:txEl>
                                          </p:spTgt>
                                        </p:tgtEl>
                                        <p:attrNameLst>
                                          <p:attrName>style.visibility</p:attrName>
                                        </p:attrNameLst>
                                      </p:cBhvr>
                                      <p:to>
                                        <p:strVal val="visible"/>
                                      </p:to>
                                    </p:set>
                                    <p:animEffect transition="in" filter="fade">
                                      <p:cBhvr>
                                        <p:cTn id="25" dur="500"/>
                                        <p:tgtEl>
                                          <p:spTgt spid="10">
                                            <p:txEl>
                                              <p:pRg st="5" end="5"/>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xEl>
                                              <p:pRg st="6" end="6"/>
                                            </p:txEl>
                                          </p:spTgt>
                                        </p:tgtEl>
                                        <p:attrNameLst>
                                          <p:attrName>style.visibility</p:attrName>
                                        </p:attrNameLst>
                                      </p:cBhvr>
                                      <p:to>
                                        <p:strVal val="visible"/>
                                      </p:to>
                                    </p:set>
                                    <p:animEffect transition="in" filter="fade">
                                      <p:cBhvr>
                                        <p:cTn id="28" dur="500"/>
                                        <p:tgtEl>
                                          <p:spTgt spid="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Artificial neural networks</a:t>
            </a:r>
          </a:p>
          <a:p>
            <a:endParaRPr lang="en-GB" sz="1800" dirty="0"/>
          </a:p>
        </p:txBody>
      </p:sp>
      <p:sp>
        <p:nvSpPr>
          <p:cNvPr id="5" name="AutoShape 2" descr="Image result for zip file icon"/>
          <p:cNvSpPr>
            <a:spLocks noChangeAspect="1" noChangeArrowheads="1"/>
          </p:cNvSpPr>
          <p:nvPr/>
        </p:nvSpPr>
        <p:spPr bwMode="auto">
          <a:xfrm>
            <a:off x="1679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AutoShape 4" descr="Image result for zip file icon"/>
          <p:cNvSpPr>
            <a:spLocks noChangeAspect="1" noChangeArrowheads="1"/>
          </p:cNvSpPr>
          <p:nvPr/>
        </p:nvSpPr>
        <p:spPr bwMode="auto">
          <a:xfrm>
            <a:off x="1831975" y="793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Box 8"/>
          <p:cNvSpPr txBox="1"/>
          <p:nvPr/>
        </p:nvSpPr>
        <p:spPr>
          <a:xfrm>
            <a:off x="720000" y="1196752"/>
            <a:ext cx="950505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sng" strike="noStrike" kern="1200" cap="none" spc="0" normalizeH="0" baseline="0" noProof="0" dirty="0">
                <a:ln>
                  <a:noFill/>
                </a:ln>
                <a:solidFill>
                  <a:prstClr val="black"/>
                </a:solidFill>
                <a:effectLst/>
                <a:uLnTx/>
                <a:uFillTx/>
                <a:latin typeface="Calibri"/>
                <a:ea typeface="+mn-ea"/>
                <a:cs typeface="+mn-cs"/>
              </a:rPr>
              <a:t>Connections</a:t>
            </a:r>
            <a:endParaRPr kumimoji="0" lang="en-GB" sz="1800" b="0" i="0" u="sng" strike="noStrike" kern="1200" cap="none" spc="0" normalizeH="0" baseline="0" noProof="0" dirty="0">
              <a:ln>
                <a:noFill/>
              </a:ln>
              <a:solidFill>
                <a:prstClr val="black"/>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4D4017-CCFE-46C6-A9FB-0EFAE082C1AD}"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9"/>
          <p:cNvSpPr txBox="1"/>
          <p:nvPr/>
        </p:nvSpPr>
        <p:spPr>
          <a:xfrm>
            <a:off x="720000" y="4615968"/>
            <a:ext cx="9505057" cy="1477328"/>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The links (black arrows) contain the weights </a:t>
            </a:r>
            <a:r>
              <a:rPr kumimoji="0" lang="en-GB" sz="1800" b="0" i="1" u="none" strike="noStrike" kern="1200" cap="none" spc="0" normalizeH="0" baseline="0" noProof="0" dirty="0">
                <a:ln>
                  <a:noFill/>
                </a:ln>
                <a:solidFill>
                  <a:prstClr val="black"/>
                </a:solidFill>
                <a:effectLst/>
                <a:uLnTx/>
                <a:uFillTx/>
                <a:latin typeface="Calibri"/>
                <a:ea typeface="+mn-ea"/>
                <a:cs typeface="+mn-cs"/>
              </a:rPr>
              <a:t>w</a:t>
            </a:r>
            <a:r>
              <a:rPr kumimoji="0" lang="en-GB" sz="1800" b="0" i="0" u="none" strike="noStrike" kern="1200" cap="none" spc="0" normalizeH="0" baseline="0" noProof="0" dirty="0">
                <a:ln>
                  <a:noFill/>
                </a:ln>
                <a:solidFill>
                  <a:prstClr val="black"/>
                </a:solidFill>
                <a:effectLst/>
                <a:uLnTx/>
                <a:uFillTx/>
                <a:latin typeface="Calibri"/>
                <a:ea typeface="+mn-ea"/>
                <a:cs typeface="+mn-cs"/>
              </a:rPr>
              <a:t> that need to be trained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Fully connected network (common, but not strictly necessary)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Even for this </a:t>
            </a:r>
            <a:r>
              <a:rPr kumimoji="0" lang="en-GB" sz="1800" b="1" i="0" u="none" strike="noStrike" kern="1200" cap="none" spc="0" normalizeH="0" baseline="0" noProof="0" dirty="0">
                <a:ln>
                  <a:noFill/>
                </a:ln>
                <a:solidFill>
                  <a:prstClr val="black"/>
                </a:solidFill>
                <a:effectLst/>
                <a:uLnTx/>
                <a:uFillTx/>
                <a:latin typeface="Calibri"/>
                <a:ea typeface="+mn-ea"/>
                <a:cs typeface="+mn-cs"/>
              </a:rPr>
              <a:t>very simple</a:t>
            </a:r>
            <a:r>
              <a:rPr kumimoji="0" lang="en-GB" sz="1800" b="0" i="0" u="none" strike="noStrike" kern="1200" cap="none" spc="0" normalizeH="0" baseline="0" noProof="0" dirty="0">
                <a:ln>
                  <a:noFill/>
                </a:ln>
                <a:solidFill>
                  <a:prstClr val="black"/>
                </a:solidFill>
                <a:effectLst/>
                <a:uLnTx/>
                <a:uFillTx/>
                <a:latin typeface="Calibri"/>
                <a:ea typeface="+mn-ea"/>
                <a:cs typeface="+mn-cs"/>
              </a:rPr>
              <a:t> network already 3 x 3 + 3 x 2 = 15 weights</a:t>
            </a:r>
            <a:r>
              <a:rPr kumimoji="0" lang="en-GB" sz="1800" b="0" i="0" u="none" strike="noStrike" kern="1200" cap="none" spc="0" normalizeH="0" baseline="30000" noProof="0" dirty="0">
                <a:ln>
                  <a:noFill/>
                </a:ln>
                <a:solidFill>
                  <a:prstClr val="black"/>
                </a:solidFill>
                <a:effectLst/>
                <a:uLnTx/>
                <a:uFillTx/>
                <a:latin typeface="Calibri"/>
                <a:ea typeface="+mn-ea"/>
                <a:cs typeface="+mn-cs"/>
              </a:rPr>
              <a:t>*</a:t>
            </a:r>
          </a:p>
        </p:txBody>
      </p:sp>
      <p:graphicFrame>
        <p:nvGraphicFramePr>
          <p:cNvPr id="14" name="Object 13"/>
          <p:cNvGraphicFramePr>
            <a:graphicFrameLocks noChangeAspect="1"/>
          </p:cNvGraphicFramePr>
          <p:nvPr/>
        </p:nvGraphicFramePr>
        <p:xfrm>
          <a:off x="4079776" y="1710632"/>
          <a:ext cx="3744416" cy="2427415"/>
        </p:xfrm>
        <a:graphic>
          <a:graphicData uri="http://schemas.openxmlformats.org/presentationml/2006/ole">
            <mc:AlternateContent xmlns:mc="http://schemas.openxmlformats.org/markup-compatibility/2006">
              <mc:Choice xmlns:v="urn:schemas-microsoft-com:vml" Requires="v">
                <p:oleObj name="Visio" r:id="rId3" imgW="2587035" imgH="1682913" progId="Visio.Drawing.11">
                  <p:embed/>
                </p:oleObj>
              </mc:Choice>
              <mc:Fallback>
                <p:oleObj name="Visio" r:id="rId3" imgW="2587035" imgH="1682913" progId="Visio.Drawing.11">
                  <p:embed/>
                  <p:pic>
                    <p:nvPicPr>
                      <p:cNvPr id="14"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9776" y="1710632"/>
                        <a:ext cx="3744416" cy="2427415"/>
                      </a:xfrm>
                      <a:prstGeom prst="rect">
                        <a:avLst/>
                      </a:prstGeom>
                      <a:noFill/>
                    </p:spPr>
                  </p:pic>
                </p:oleObj>
              </mc:Fallback>
            </mc:AlternateContent>
          </a:graphicData>
        </a:graphic>
      </p:graphicFrame>
      <p:sp>
        <p:nvSpPr>
          <p:cNvPr id="15" name="TextBox 14"/>
          <p:cNvSpPr txBox="1"/>
          <p:nvPr/>
        </p:nvSpPr>
        <p:spPr>
          <a:xfrm>
            <a:off x="4139240" y="4057328"/>
            <a:ext cx="3396921"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lumMod val="50000"/>
                  </a:prstClr>
                </a:solidFill>
                <a:effectLst/>
                <a:uLnTx/>
                <a:uFillTx/>
                <a:latin typeface="Calibri"/>
                <a:ea typeface="+mn-ea"/>
                <a:cs typeface="+mn-cs"/>
              </a:rPr>
              <a:t>Feed forward </a:t>
            </a:r>
            <a:r>
              <a:rPr kumimoji="0" lang="en-GB" sz="1400" b="0" i="0" u="none" strike="noStrike" kern="1200" cap="none" spc="0" normalizeH="0" baseline="0" noProof="0" dirty="0" err="1">
                <a:ln>
                  <a:noFill/>
                </a:ln>
                <a:solidFill>
                  <a:prstClr val="white">
                    <a:lumMod val="50000"/>
                  </a:prstClr>
                </a:solidFill>
                <a:effectLst/>
                <a:uLnTx/>
                <a:uFillTx/>
                <a:latin typeface="Calibri"/>
                <a:ea typeface="+mn-ea"/>
                <a:cs typeface="+mn-cs"/>
              </a:rPr>
              <a:t>MultiLayer</a:t>
            </a:r>
            <a:r>
              <a:rPr kumimoji="0" lang="en-GB" sz="1400" b="0" i="0" u="none" strike="noStrike" kern="1200" cap="none" spc="0" normalizeH="0" baseline="0" noProof="0" dirty="0">
                <a:ln>
                  <a:noFill/>
                </a:ln>
                <a:solidFill>
                  <a:prstClr val="white">
                    <a:lumMod val="50000"/>
                  </a:prstClr>
                </a:solidFill>
                <a:effectLst/>
                <a:uLnTx/>
                <a:uFillTx/>
                <a:latin typeface="Calibri"/>
                <a:ea typeface="+mn-ea"/>
                <a:cs typeface="+mn-cs"/>
              </a:rPr>
              <a:t> Perceptron (MLP)</a:t>
            </a:r>
            <a:endParaRPr kumimoji="0" lang="nl-NL"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18" name="Group 17"/>
          <p:cNvGrpSpPr/>
          <p:nvPr/>
        </p:nvGrpSpPr>
        <p:grpSpPr>
          <a:xfrm>
            <a:off x="4079776" y="1664039"/>
            <a:ext cx="3240186" cy="2166230"/>
            <a:chOff x="4079776" y="1664039"/>
            <a:chExt cx="3257608" cy="2166230"/>
          </a:xfrm>
        </p:grpSpPr>
        <p:grpSp>
          <p:nvGrpSpPr>
            <p:cNvPr id="13" name="Group 12"/>
            <p:cNvGrpSpPr/>
            <p:nvPr/>
          </p:nvGrpSpPr>
          <p:grpSpPr>
            <a:xfrm>
              <a:off x="4079776" y="1668500"/>
              <a:ext cx="1892400" cy="2161769"/>
              <a:chOff x="4079776" y="1668500"/>
              <a:chExt cx="1892400" cy="2161769"/>
            </a:xfrm>
          </p:grpSpPr>
          <p:sp>
            <p:nvSpPr>
              <p:cNvPr id="12" name="Rectangle 11"/>
              <p:cNvSpPr/>
              <p:nvPr/>
            </p:nvSpPr>
            <p:spPr>
              <a:xfrm>
                <a:off x="4079776" y="1668500"/>
                <a:ext cx="644624" cy="2161769"/>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p:cNvSpPr/>
              <p:nvPr/>
            </p:nvSpPr>
            <p:spPr>
              <a:xfrm>
                <a:off x="5486400" y="1668500"/>
                <a:ext cx="485776" cy="2161769"/>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7" name="Rectangle 16"/>
            <p:cNvSpPr/>
            <p:nvPr/>
          </p:nvSpPr>
          <p:spPr>
            <a:xfrm>
              <a:off x="6655295" y="1664039"/>
              <a:ext cx="682089" cy="2161769"/>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8" name="Oval 7"/>
          <p:cNvSpPr/>
          <p:nvPr/>
        </p:nvSpPr>
        <p:spPr>
          <a:xfrm>
            <a:off x="4583832" y="1700808"/>
            <a:ext cx="1008112" cy="2088232"/>
          </a:xfrm>
          <a:prstGeom prst="ellipse">
            <a:avLst/>
          </a:prstGeom>
          <a:noFill/>
          <a:ln>
            <a:solidFill>
              <a:srgbClr val="0000F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720000" y="6289056"/>
            <a:ext cx="2952328" cy="432048"/>
          </a:xfrm>
          <a:prstGeom prst="rect">
            <a:avLst/>
          </a:prstGeom>
          <a:noFill/>
          <a:ln>
            <a:no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30000" noProof="0" dirty="0">
                <a:ln>
                  <a:noFill/>
                </a:ln>
                <a:solidFill>
                  <a:prstClr val="white">
                    <a:lumMod val="50000"/>
                  </a:prstClr>
                </a:solidFill>
                <a:effectLst/>
                <a:uLnTx/>
                <a:uFillTx/>
                <a:latin typeface="Calibri" panose="020F0502020204030204"/>
                <a:ea typeface="+mn-ea"/>
                <a:cs typeface="+mn-cs"/>
              </a:rPr>
              <a:t>* </a:t>
            </a:r>
            <a:r>
              <a:rPr kumimoji="0" lang="en-GB"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Excluding bias weights</a:t>
            </a:r>
          </a:p>
        </p:txBody>
      </p:sp>
      <p:sp>
        <p:nvSpPr>
          <p:cNvPr id="20" name="Line 2">
            <a:extLst>
              <a:ext uri="{FF2B5EF4-FFF2-40B4-BE49-F238E27FC236}">
                <a16:creationId xmlns:a16="http://schemas.microsoft.com/office/drawing/2014/main" id="{F4139566-2853-B818-C3C4-06CAEC443E96}"/>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21" name="Line 2">
            <a:extLst>
              <a:ext uri="{FF2B5EF4-FFF2-40B4-BE49-F238E27FC236}">
                <a16:creationId xmlns:a16="http://schemas.microsoft.com/office/drawing/2014/main" id="{8132EB8A-4360-3B90-071D-447916A8FC70}"/>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3271702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500"/>
                                        <p:tgtEl>
                                          <p:spTgt spid="10">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animEffect transition="in" filter="fade">
                                      <p:cBhvr>
                                        <p:cTn id="15" dur="500"/>
                                        <p:tgtEl>
                                          <p:spTgt spid="10">
                                            <p:txEl>
                                              <p:pRg st="4" end="4"/>
                                            </p:txEl>
                                          </p:spTgt>
                                        </p:tgtEl>
                                      </p:cBhvr>
                                    </p:animEffect>
                                  </p:childTnLst>
                                </p:cTn>
                              </p:par>
                              <p:par>
                                <p:cTn id="16" presetID="10" presetClass="exit" presetSubtype="0" fill="hold" grpId="1" nodeType="withEffect">
                                  <p:stCondLst>
                                    <p:cond delay="0"/>
                                  </p:stCondLst>
                                  <p:childTnLst>
                                    <p:animEffect transition="out" filter="fade">
                                      <p:cBhvr>
                                        <p:cTn id="17" dur="500"/>
                                        <p:tgtEl>
                                          <p:spTgt spid="8"/>
                                        </p:tgtEl>
                                      </p:cBhvr>
                                    </p:animEffect>
                                    <p:set>
                                      <p:cBhvr>
                                        <p:cTn id="18" dur="1" fill="hold">
                                          <p:stCondLst>
                                            <p:cond delay="499"/>
                                          </p:stCondLst>
                                        </p:cTn>
                                        <p:tgtEl>
                                          <p:spTgt spid="8"/>
                                        </p:tgtEl>
                                        <p:attrNameLst>
                                          <p:attrName>style.visibility</p:attrName>
                                        </p:attrNameLst>
                                      </p:cBhvr>
                                      <p:to>
                                        <p:strVal val="hidden"/>
                                      </p:to>
                                    </p:se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Artificial neural networks</a:t>
            </a:r>
          </a:p>
          <a:p>
            <a:endParaRPr lang="en-GB" sz="1800" dirty="0"/>
          </a:p>
        </p:txBody>
      </p:sp>
      <p:sp>
        <p:nvSpPr>
          <p:cNvPr id="5" name="AutoShape 2" descr="Image result for zip file icon"/>
          <p:cNvSpPr>
            <a:spLocks noChangeAspect="1" noChangeArrowheads="1"/>
          </p:cNvSpPr>
          <p:nvPr/>
        </p:nvSpPr>
        <p:spPr bwMode="auto">
          <a:xfrm>
            <a:off x="1679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AutoShape 4" descr="Image result for zip file icon"/>
          <p:cNvSpPr>
            <a:spLocks noChangeAspect="1" noChangeArrowheads="1"/>
          </p:cNvSpPr>
          <p:nvPr/>
        </p:nvSpPr>
        <p:spPr bwMode="auto">
          <a:xfrm>
            <a:off x="1831975" y="793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Box 8"/>
          <p:cNvSpPr txBox="1"/>
          <p:nvPr/>
        </p:nvSpPr>
        <p:spPr>
          <a:xfrm>
            <a:off x="720000" y="1196752"/>
            <a:ext cx="950505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sng" strike="noStrike" kern="1200" cap="none" spc="0" normalizeH="0" baseline="0" noProof="0" dirty="0">
                <a:ln>
                  <a:noFill/>
                </a:ln>
                <a:solidFill>
                  <a:prstClr val="black"/>
                </a:solidFill>
                <a:effectLst/>
                <a:uLnTx/>
                <a:uFillTx/>
                <a:latin typeface="Calibri"/>
                <a:ea typeface="+mn-ea"/>
                <a:cs typeface="+mn-cs"/>
              </a:rPr>
              <a:t>Nodes</a:t>
            </a:r>
            <a:endParaRPr kumimoji="0" lang="en-GB" sz="1800" b="0" i="0" u="sng" strike="noStrike" kern="1200" cap="none" spc="0" normalizeH="0" baseline="0" noProof="0" dirty="0">
              <a:ln>
                <a:noFill/>
              </a:ln>
              <a:solidFill>
                <a:prstClr val="black"/>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4D4017-CCFE-46C6-A9FB-0EFAE082C1AD}"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graphicFrame>
        <p:nvGraphicFramePr>
          <p:cNvPr id="7" name="Object 6"/>
          <p:cNvGraphicFramePr>
            <a:graphicFrameLocks noChangeAspect="1"/>
          </p:cNvGraphicFramePr>
          <p:nvPr/>
        </p:nvGraphicFramePr>
        <p:xfrm>
          <a:off x="2120203" y="1664805"/>
          <a:ext cx="3744416" cy="2427415"/>
        </p:xfrm>
        <a:graphic>
          <a:graphicData uri="http://schemas.openxmlformats.org/presentationml/2006/ole">
            <mc:AlternateContent xmlns:mc="http://schemas.openxmlformats.org/markup-compatibility/2006">
              <mc:Choice xmlns:v="urn:schemas-microsoft-com:vml" Requires="v">
                <p:oleObj name="Visio" r:id="rId3" imgW="2587035" imgH="1682913" progId="Visio.Drawing.11">
                  <p:embed/>
                </p:oleObj>
              </mc:Choice>
              <mc:Fallback>
                <p:oleObj name="Visio" r:id="rId3" imgW="2587035" imgH="1682913" progId="Visio.Drawing.11">
                  <p:embed/>
                  <p:pic>
                    <p:nvPicPr>
                      <p:cNvPr id="7" name="Object 6"/>
                      <p:cNvPicPr>
                        <a:picLocks noChangeAspect="1" noChangeArrowheads="1"/>
                      </p:cNvPicPr>
                      <p:nvPr/>
                    </p:nvPicPr>
                    <p:blipFill>
                      <a:blip r:embed="rId4"/>
                      <a:srcRect/>
                      <a:stretch>
                        <a:fillRect/>
                      </a:stretch>
                    </p:blipFill>
                    <p:spPr bwMode="auto">
                      <a:xfrm>
                        <a:off x="2120203" y="1664805"/>
                        <a:ext cx="3744416" cy="2427415"/>
                      </a:xfrm>
                      <a:prstGeom prst="rect">
                        <a:avLst/>
                      </a:prstGeom>
                      <a:noFill/>
                    </p:spPr>
                  </p:pic>
                </p:oleObj>
              </mc:Fallback>
            </mc:AlternateContent>
          </a:graphicData>
        </a:graphic>
      </p:graphicFrame>
      <p:pic>
        <p:nvPicPr>
          <p:cNvPr id="5133"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07968" y="1844825"/>
            <a:ext cx="4289863" cy="19027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Box 9"/>
          <p:cNvSpPr txBox="1"/>
          <p:nvPr/>
        </p:nvSpPr>
        <p:spPr>
          <a:xfrm>
            <a:off x="720000" y="4097975"/>
            <a:ext cx="9505057" cy="2308324"/>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At each </a:t>
            </a:r>
            <a:r>
              <a:rPr kumimoji="0" lang="en-GB" sz="1800" b="0" i="0" u="none" strike="noStrike" kern="1200" cap="none" spc="0" normalizeH="0" baseline="0" noProof="0" dirty="0">
                <a:ln>
                  <a:noFill/>
                </a:ln>
                <a:solidFill>
                  <a:srgbClr val="33CC33"/>
                </a:solidFill>
                <a:effectLst/>
                <a:uLnTx/>
                <a:uFillTx/>
                <a:latin typeface="Calibri"/>
                <a:ea typeface="+mn-ea"/>
                <a:cs typeface="+mn-cs"/>
              </a:rPr>
              <a:t>hidden node</a:t>
            </a:r>
            <a:r>
              <a:rPr kumimoji="0" lang="en-GB" sz="1800" b="0" i="0" u="none" strike="noStrike" kern="1200" cap="none" spc="0" normalizeH="0" baseline="0" noProof="0" dirty="0">
                <a:ln>
                  <a:noFill/>
                </a:ln>
                <a:solidFill>
                  <a:prstClr val="black"/>
                </a:solidFill>
                <a:effectLst/>
                <a:uLnTx/>
                <a:uFillTx/>
                <a:latin typeface="Calibri"/>
                <a:ea typeface="+mn-ea"/>
                <a:cs typeface="+mn-cs"/>
              </a:rPr>
              <a:t>: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The sum of the inputs is computed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A transfer (a.k.a. activation) function </a:t>
            </a:r>
            <a:r>
              <a:rPr kumimoji="0" lang="en-GB" sz="1800" b="0" i="1" u="none" strike="noStrike" kern="1200" cap="none" spc="0" normalizeH="0" baseline="0" noProof="0" dirty="0">
                <a:ln>
                  <a:noFill/>
                </a:ln>
                <a:solidFill>
                  <a:prstClr val="black"/>
                </a:solidFill>
                <a:effectLst/>
                <a:uLnTx/>
                <a:uFillTx/>
                <a:latin typeface="Calibri"/>
                <a:ea typeface="+mn-ea"/>
                <a:cs typeface="+mn-cs"/>
              </a:rPr>
              <a:t>g</a:t>
            </a:r>
            <a:r>
              <a:rPr kumimoji="0" lang="en-GB" sz="1800" b="0" i="0" u="none" strike="noStrike" kern="1200" cap="none" spc="0" normalizeH="0" baseline="0" noProof="0" dirty="0">
                <a:ln>
                  <a:noFill/>
                </a:ln>
                <a:solidFill>
                  <a:prstClr val="black"/>
                </a:solidFill>
                <a:effectLst/>
                <a:uLnTx/>
                <a:uFillTx/>
                <a:latin typeface="Calibri"/>
                <a:ea typeface="+mn-ea"/>
                <a:cs typeface="+mn-cs"/>
              </a:rPr>
              <a:t> is applied (set by the analyst)</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Output is forwarded to the nodes in the next layer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TextBox 7"/>
          <p:cNvSpPr txBox="1"/>
          <p:nvPr/>
        </p:nvSpPr>
        <p:spPr>
          <a:xfrm>
            <a:off x="4151784" y="3708322"/>
            <a:ext cx="489654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lumMod val="50000"/>
                  </a:prstClr>
                </a:solidFill>
                <a:effectLst/>
                <a:uLnTx/>
                <a:uFillTx/>
                <a:latin typeface="Calibri"/>
                <a:ea typeface="+mn-ea"/>
                <a:cs typeface="+mn-cs"/>
              </a:rPr>
              <a:t>Feed forward </a:t>
            </a:r>
            <a:r>
              <a:rPr kumimoji="0" lang="en-GB" sz="1400" b="0" i="0" u="none" strike="noStrike" kern="1200" cap="none" spc="0" normalizeH="0" baseline="0" noProof="0" dirty="0" err="1">
                <a:ln>
                  <a:noFill/>
                </a:ln>
                <a:solidFill>
                  <a:prstClr val="white">
                    <a:lumMod val="50000"/>
                  </a:prstClr>
                </a:solidFill>
                <a:effectLst/>
                <a:uLnTx/>
                <a:uFillTx/>
                <a:latin typeface="Calibri"/>
                <a:ea typeface="+mn-ea"/>
                <a:cs typeface="+mn-cs"/>
              </a:rPr>
              <a:t>MultiLayer</a:t>
            </a:r>
            <a:r>
              <a:rPr kumimoji="0" lang="en-GB" sz="1400" b="0" i="0" u="none" strike="noStrike" kern="1200" cap="none" spc="0" normalizeH="0" baseline="0" noProof="0" dirty="0">
                <a:ln>
                  <a:noFill/>
                </a:ln>
                <a:solidFill>
                  <a:prstClr val="white">
                    <a:lumMod val="50000"/>
                  </a:prstClr>
                </a:solidFill>
                <a:effectLst/>
                <a:uLnTx/>
                <a:uFillTx/>
                <a:latin typeface="Calibri"/>
                <a:ea typeface="+mn-ea"/>
                <a:cs typeface="+mn-cs"/>
              </a:rPr>
              <a:t> Perceptron (MLP)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dirty="0">
              <a:ln>
                <a:noFill/>
              </a:ln>
              <a:solidFill>
                <a:prstClr val="black"/>
              </a:solidFill>
              <a:effectLst/>
              <a:uLnTx/>
              <a:uFillTx/>
              <a:latin typeface="Calibri"/>
              <a:ea typeface="+mn-ea"/>
              <a:cs typeface="+mn-cs"/>
            </a:endParaRPr>
          </a:p>
        </p:txBody>
      </p:sp>
      <p:graphicFrame>
        <p:nvGraphicFramePr>
          <p:cNvPr id="11" name="Object 10"/>
          <p:cNvGraphicFramePr>
            <a:graphicFrameLocks noChangeAspect="1"/>
          </p:cNvGraphicFramePr>
          <p:nvPr/>
        </p:nvGraphicFramePr>
        <p:xfrm>
          <a:off x="5173667" y="4646613"/>
          <a:ext cx="1169987" cy="582612"/>
        </p:xfrm>
        <a:graphic>
          <a:graphicData uri="http://schemas.openxmlformats.org/presentationml/2006/ole">
            <mc:AlternateContent xmlns:mc="http://schemas.openxmlformats.org/markup-compatibility/2006">
              <mc:Choice xmlns:v="urn:schemas-microsoft-com:vml" Requires="v">
                <p:oleObj name="Equation" r:id="rId6" imgW="812520" imgH="342720" progId="Equation.DSMT4">
                  <p:embed/>
                </p:oleObj>
              </mc:Choice>
              <mc:Fallback>
                <p:oleObj name="Equation" r:id="rId6" imgW="812520" imgH="342720" progId="Equation.DSMT4">
                  <p:embed/>
                  <p:pic>
                    <p:nvPicPr>
                      <p:cNvPr id="11" name="Object 10"/>
                      <p:cNvPicPr/>
                      <p:nvPr/>
                    </p:nvPicPr>
                    <p:blipFill>
                      <a:blip r:embed="rId7"/>
                      <a:stretch>
                        <a:fillRect/>
                      </a:stretch>
                    </p:blipFill>
                    <p:spPr>
                      <a:xfrm>
                        <a:off x="5173667" y="4646613"/>
                        <a:ext cx="1169987" cy="582612"/>
                      </a:xfrm>
                      <a:prstGeom prst="rect">
                        <a:avLst/>
                      </a:prstGeom>
                    </p:spPr>
                  </p:pic>
                </p:oleObj>
              </mc:Fallback>
            </mc:AlternateContent>
          </a:graphicData>
        </a:graphic>
      </p:graphicFrame>
      <p:graphicFrame>
        <p:nvGraphicFramePr>
          <p:cNvPr id="12" name="Object 11"/>
          <p:cNvGraphicFramePr>
            <a:graphicFrameLocks noChangeAspect="1"/>
          </p:cNvGraphicFramePr>
          <p:nvPr/>
        </p:nvGraphicFramePr>
        <p:xfrm>
          <a:off x="8291516" y="5157788"/>
          <a:ext cx="1003300" cy="474662"/>
        </p:xfrm>
        <a:graphic>
          <a:graphicData uri="http://schemas.openxmlformats.org/presentationml/2006/ole">
            <mc:AlternateContent xmlns:mc="http://schemas.openxmlformats.org/markup-compatibility/2006">
              <mc:Choice xmlns:v="urn:schemas-microsoft-com:vml" Requires="v">
                <p:oleObj name="Equation" r:id="rId8" imgW="698400" imgH="279360" progId="Equation.DSMT4">
                  <p:embed/>
                </p:oleObj>
              </mc:Choice>
              <mc:Fallback>
                <p:oleObj name="Equation" r:id="rId8" imgW="698400" imgH="279360" progId="Equation.DSMT4">
                  <p:embed/>
                  <p:pic>
                    <p:nvPicPr>
                      <p:cNvPr id="12" name="Object 11"/>
                      <p:cNvPicPr>
                        <a:picLocks noChangeAspect="1" noChangeArrowheads="1"/>
                      </p:cNvPicPr>
                      <p:nvPr/>
                    </p:nvPicPr>
                    <p:blipFill>
                      <a:blip r:embed="rId9"/>
                      <a:srcRect/>
                      <a:stretch>
                        <a:fillRect/>
                      </a:stretch>
                    </p:blipFill>
                    <p:spPr bwMode="auto">
                      <a:xfrm>
                        <a:off x="8291516" y="5157788"/>
                        <a:ext cx="10033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4" name="Group 13"/>
          <p:cNvGrpSpPr/>
          <p:nvPr/>
        </p:nvGrpSpPr>
        <p:grpSpPr>
          <a:xfrm>
            <a:off x="3912300" y="1424830"/>
            <a:ext cx="3345751" cy="440476"/>
            <a:chOff x="5866830" y="1471355"/>
            <a:chExt cx="3345751" cy="440476"/>
          </a:xfrm>
        </p:grpSpPr>
        <p:cxnSp>
          <p:nvCxnSpPr>
            <p:cNvPr id="15" name="Straight Arrow Connector 14"/>
            <p:cNvCxnSpPr/>
            <p:nvPr/>
          </p:nvCxnSpPr>
          <p:spPr>
            <a:xfrm flipH="1">
              <a:off x="5866830" y="1663419"/>
              <a:ext cx="458340" cy="248412"/>
            </a:xfrm>
            <a:prstGeom prst="straightConnector1">
              <a:avLst/>
            </a:prstGeom>
            <a:ln w="19050">
              <a:solidFill>
                <a:srgbClr val="33CC33"/>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16" name="TextBox 15"/>
            <p:cNvSpPr txBox="1"/>
            <p:nvPr/>
          </p:nvSpPr>
          <p:spPr>
            <a:xfrm>
              <a:off x="6325170" y="1471355"/>
              <a:ext cx="288741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33CC33"/>
                  </a:solidFill>
                  <a:effectLst/>
                  <a:uLnTx/>
                  <a:uFillTx/>
                  <a:latin typeface="Calibri" panose="020F0502020204030204"/>
                  <a:ea typeface="+mn-ea"/>
                  <a:cs typeface="+mn-cs"/>
                </a:rPr>
                <a:t>Hidden node (a.k.a. neuron)</a:t>
              </a:r>
            </a:p>
          </p:txBody>
        </p:sp>
      </p:grpSp>
      <p:sp>
        <p:nvSpPr>
          <p:cNvPr id="13" name="Rectangle 12"/>
          <p:cNvSpPr/>
          <p:nvPr/>
        </p:nvSpPr>
        <p:spPr>
          <a:xfrm>
            <a:off x="7589520" y="1865306"/>
            <a:ext cx="667789" cy="2043754"/>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p:cNvSpPr/>
          <p:nvPr/>
        </p:nvSpPr>
        <p:spPr>
          <a:xfrm>
            <a:off x="8267494" y="1843240"/>
            <a:ext cx="1724901" cy="2043754"/>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p:cNvSpPr/>
          <p:nvPr/>
        </p:nvSpPr>
        <p:spPr>
          <a:xfrm>
            <a:off x="5864619" y="1863887"/>
            <a:ext cx="1724901" cy="1773291"/>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1" name="Group 20"/>
          <p:cNvGrpSpPr/>
          <p:nvPr/>
        </p:nvGrpSpPr>
        <p:grpSpPr>
          <a:xfrm>
            <a:off x="5173667" y="4482703"/>
            <a:ext cx="1162844" cy="746522"/>
            <a:chOff x="6088064" y="4482703"/>
            <a:chExt cx="1162844" cy="746522"/>
          </a:xfrm>
        </p:grpSpPr>
        <p:sp>
          <p:nvSpPr>
            <p:cNvPr id="22" name="Rectangle 21"/>
            <p:cNvSpPr/>
            <p:nvPr/>
          </p:nvSpPr>
          <p:spPr>
            <a:xfrm>
              <a:off x="6088064" y="4482703"/>
              <a:ext cx="731836" cy="70723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p:cNvSpPr/>
            <p:nvPr/>
          </p:nvSpPr>
          <p:spPr>
            <a:xfrm>
              <a:off x="7050882" y="4586287"/>
              <a:ext cx="200026" cy="642938"/>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4" name="Rectangular Callout 23"/>
          <p:cNvSpPr/>
          <p:nvPr/>
        </p:nvSpPr>
        <p:spPr>
          <a:xfrm>
            <a:off x="7228884" y="4481874"/>
            <a:ext cx="3348039" cy="481088"/>
          </a:xfrm>
          <a:prstGeom prst="wedgeRectCallout">
            <a:avLst>
              <a:gd name="adj1" fmla="val -75160"/>
              <a:gd name="adj2" fmla="val 36092"/>
            </a:avLst>
          </a:prstGeom>
          <a:noFill/>
          <a:ln>
            <a:solidFill>
              <a:srgbClr val="4886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1" u="none" strike="noStrike" kern="1200" cap="none" spc="0" normalizeH="0" baseline="0" noProof="0" dirty="0" err="1">
                <a:ln>
                  <a:noFill/>
                </a:ln>
                <a:solidFill>
                  <a:srgbClr val="4886B3"/>
                </a:solidFill>
                <a:effectLst/>
                <a:uLnTx/>
                <a:uFillTx/>
                <a:latin typeface="Calibri" panose="020F0502020204030204"/>
                <a:ea typeface="+mn-ea"/>
                <a:cs typeface="+mn-cs"/>
              </a:rPr>
              <a:t>w</a:t>
            </a:r>
            <a:r>
              <a:rPr kumimoji="0" lang="en-GB" sz="1800" b="1" i="1" u="none" strike="noStrike" kern="1200" cap="none" spc="0" normalizeH="0" baseline="-25000" noProof="0" dirty="0" err="1">
                <a:ln>
                  <a:noFill/>
                </a:ln>
                <a:solidFill>
                  <a:srgbClr val="4886B3"/>
                </a:solidFill>
                <a:effectLst/>
                <a:uLnTx/>
                <a:uFillTx/>
                <a:latin typeface="Calibri" panose="020F0502020204030204"/>
                <a:ea typeface="+mn-ea"/>
                <a:cs typeface="+mn-cs"/>
              </a:rPr>
              <a:t>ji</a:t>
            </a:r>
            <a:r>
              <a:rPr kumimoji="0" lang="en-GB" sz="1800" b="1" i="1" u="none" strike="noStrike" kern="1200" cap="none" spc="0" normalizeH="0" baseline="0" noProof="0" dirty="0">
                <a:ln>
                  <a:noFill/>
                </a:ln>
                <a:solidFill>
                  <a:srgbClr val="4886B3"/>
                </a:solidFill>
                <a:effectLst/>
                <a:uLnTx/>
                <a:uFillTx/>
                <a:latin typeface="Calibri" panose="020F0502020204030204"/>
                <a:ea typeface="+mn-ea"/>
                <a:cs typeface="+mn-cs"/>
              </a:rPr>
              <a:t> </a:t>
            </a:r>
            <a:r>
              <a:rPr kumimoji="0" lang="en-GB" sz="1800" b="1" i="0" u="none" strike="noStrike" kern="1200" cap="none" spc="0" normalizeH="0" baseline="0" noProof="0" dirty="0">
                <a:ln>
                  <a:noFill/>
                </a:ln>
                <a:solidFill>
                  <a:srgbClr val="4886B3"/>
                </a:solidFill>
                <a:effectLst/>
                <a:uLnTx/>
                <a:uFillTx/>
                <a:latin typeface="Calibri" panose="020F0502020204030204"/>
                <a:ea typeface="+mn-ea"/>
                <a:cs typeface="+mn-cs"/>
              </a:rPr>
              <a:t>are the trainable weights</a:t>
            </a:r>
          </a:p>
        </p:txBody>
      </p:sp>
      <p:sp>
        <p:nvSpPr>
          <p:cNvPr id="17" name="Line 2">
            <a:extLst>
              <a:ext uri="{FF2B5EF4-FFF2-40B4-BE49-F238E27FC236}">
                <a16:creationId xmlns:a16="http://schemas.microsoft.com/office/drawing/2014/main" id="{D22BD585-FBE0-6E8F-4080-E2C9FECB3F84}"/>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9" name="Line 2">
            <a:extLst>
              <a:ext uri="{FF2B5EF4-FFF2-40B4-BE49-F238E27FC236}">
                <a16:creationId xmlns:a16="http://schemas.microsoft.com/office/drawing/2014/main" id="{90BAA8B8-BE86-96DF-BB03-A0CA8473EC90}"/>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3076340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fade">
                                      <p:cBhvr>
                                        <p:cTn id="12" dur="500"/>
                                        <p:tgtEl>
                                          <p:spTgt spid="10">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animEffect transition="in" filter="fade">
                                      <p:cBhvr>
                                        <p:cTn id="15" dur="500"/>
                                        <p:tgtEl>
                                          <p:spTgt spid="10">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nodeType="withEffect">
                                  <p:stCondLst>
                                    <p:cond delay="0"/>
                                  </p:stCondLst>
                                  <p:childTnLst>
                                    <p:set>
                                      <p:cBhvr>
                                        <p:cTn id="20" dur="1" fill="hold">
                                          <p:stCondLst>
                                            <p:cond delay="0"/>
                                          </p:stCondLst>
                                        </p:cTn>
                                        <p:tgtEl>
                                          <p:spTgt spid="5133"/>
                                        </p:tgtEl>
                                        <p:attrNameLst>
                                          <p:attrName>style.visibility</p:attrName>
                                        </p:attrNameLst>
                                      </p:cBhvr>
                                      <p:to>
                                        <p:strVal val="visible"/>
                                      </p:to>
                                    </p:set>
                                    <p:animEffect transition="in" filter="fade">
                                      <p:cBhvr>
                                        <p:cTn id="21" dur="500"/>
                                        <p:tgtEl>
                                          <p:spTgt spid="513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500"/>
                                        <p:tgtEl>
                                          <p:spTgt spid="2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0">
                                            <p:txEl>
                                              <p:pRg st="4" end="4"/>
                                            </p:txEl>
                                          </p:spTgt>
                                        </p:tgtEl>
                                        <p:attrNameLst>
                                          <p:attrName>style.visibility</p:attrName>
                                        </p:attrNameLst>
                                      </p:cBhvr>
                                      <p:to>
                                        <p:strVal val="visible"/>
                                      </p:to>
                                    </p:set>
                                    <p:animEffect transition="in" filter="fade">
                                      <p:cBhvr>
                                        <p:cTn id="34" dur="500"/>
                                        <p:tgtEl>
                                          <p:spTgt spid="10">
                                            <p:txEl>
                                              <p:pRg st="4" end="4"/>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xit" presetSubtype="0" fill="hold" grpId="0" nodeType="withEffect">
                                  <p:stCondLst>
                                    <p:cond delay="0"/>
                                  </p:stCondLst>
                                  <p:childTnLst>
                                    <p:animEffect transition="out" filter="fade">
                                      <p:cBhvr>
                                        <p:cTn id="39" dur="500"/>
                                        <p:tgtEl>
                                          <p:spTgt spid="13"/>
                                        </p:tgtEl>
                                      </p:cBhvr>
                                    </p:animEffect>
                                    <p:set>
                                      <p:cBhvr>
                                        <p:cTn id="40" dur="1" fill="hold">
                                          <p:stCondLst>
                                            <p:cond delay="499"/>
                                          </p:stCondLst>
                                        </p:cTn>
                                        <p:tgtEl>
                                          <p:spTgt spid="13"/>
                                        </p:tgtEl>
                                        <p:attrNameLst>
                                          <p:attrName>style.visibility</p:attrName>
                                        </p:attrNameLst>
                                      </p:cBhvr>
                                      <p:to>
                                        <p:strVal val="hidden"/>
                                      </p:to>
                                    </p:set>
                                  </p:childTnLst>
                                </p:cTn>
                              </p:par>
                              <p:par>
                                <p:cTn id="41" presetID="10"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500"/>
                                        <p:tgtEl>
                                          <p:spTgt spid="20"/>
                                        </p:tgtEl>
                                      </p:cBhvr>
                                    </p:animEffect>
                                  </p:childTnLst>
                                </p:cTn>
                              </p:par>
                              <p:par>
                                <p:cTn id="44" presetID="10" presetClass="exit" presetSubtype="0" fill="hold" nodeType="withEffect">
                                  <p:stCondLst>
                                    <p:cond delay="0"/>
                                  </p:stCondLst>
                                  <p:childTnLst>
                                    <p:animEffect transition="out" filter="fade">
                                      <p:cBhvr>
                                        <p:cTn id="45" dur="500"/>
                                        <p:tgtEl>
                                          <p:spTgt spid="21"/>
                                        </p:tgtEl>
                                      </p:cBhvr>
                                    </p:animEffect>
                                    <p:set>
                                      <p:cBhvr>
                                        <p:cTn id="46" dur="1" fill="hold">
                                          <p:stCondLst>
                                            <p:cond delay="499"/>
                                          </p:stCondLst>
                                        </p:cTn>
                                        <p:tgtEl>
                                          <p:spTgt spid="21"/>
                                        </p:tgtEl>
                                        <p:attrNameLst>
                                          <p:attrName>style.visibility</p:attrName>
                                        </p:attrNameLst>
                                      </p:cBhvr>
                                      <p:to>
                                        <p:strVal val="hidden"/>
                                      </p:to>
                                    </p:set>
                                  </p:childTnLst>
                                </p:cTn>
                              </p:par>
                              <p:par>
                                <p:cTn id="47" presetID="10" presetClass="exit" presetSubtype="0" fill="hold" grpId="1" nodeType="withEffect">
                                  <p:stCondLst>
                                    <p:cond delay="0"/>
                                  </p:stCondLst>
                                  <p:childTnLst>
                                    <p:animEffect transition="out" filter="fade">
                                      <p:cBhvr>
                                        <p:cTn id="48" dur="500"/>
                                        <p:tgtEl>
                                          <p:spTgt spid="24"/>
                                        </p:tgtEl>
                                      </p:cBhvr>
                                    </p:animEffect>
                                    <p:set>
                                      <p:cBhvr>
                                        <p:cTn id="49" dur="1" fill="hold">
                                          <p:stCondLst>
                                            <p:cond delay="499"/>
                                          </p:stCondLst>
                                        </p:cTn>
                                        <p:tgtEl>
                                          <p:spTgt spid="24"/>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0">
                                            <p:txEl>
                                              <p:pRg st="6" end="6"/>
                                            </p:txEl>
                                          </p:spTgt>
                                        </p:tgtEl>
                                        <p:attrNameLst>
                                          <p:attrName>style.visibility</p:attrName>
                                        </p:attrNameLst>
                                      </p:cBhvr>
                                      <p:to>
                                        <p:strVal val="visible"/>
                                      </p:to>
                                    </p:set>
                                    <p:animEffect transition="in" filter="fade">
                                      <p:cBhvr>
                                        <p:cTn id="54" dur="500"/>
                                        <p:tgtEl>
                                          <p:spTgt spid="10">
                                            <p:txEl>
                                              <p:pRg st="6" end="6"/>
                                            </p:txEl>
                                          </p:spTgt>
                                        </p:tgtEl>
                                      </p:cBhvr>
                                    </p:animEffect>
                                  </p:childTnLst>
                                </p:cTn>
                              </p:par>
                              <p:par>
                                <p:cTn id="55" presetID="10" presetClass="exit" presetSubtype="0" fill="hold" grpId="0" nodeType="withEffect">
                                  <p:stCondLst>
                                    <p:cond delay="0"/>
                                  </p:stCondLst>
                                  <p:childTnLst>
                                    <p:animEffect transition="out" filter="fade">
                                      <p:cBhvr>
                                        <p:cTn id="56" dur="500"/>
                                        <p:tgtEl>
                                          <p:spTgt spid="18"/>
                                        </p:tgtEl>
                                      </p:cBhvr>
                                    </p:animEffect>
                                    <p:set>
                                      <p:cBhvr>
                                        <p:cTn id="57" dur="1" fill="hold">
                                          <p:stCondLst>
                                            <p:cond delay="499"/>
                                          </p:stCondLst>
                                        </p:cTn>
                                        <p:tgtEl>
                                          <p:spTgt spid="18"/>
                                        </p:tgtEl>
                                        <p:attrNameLst>
                                          <p:attrName>style.visibility</p:attrName>
                                        </p:attrNameLst>
                                      </p:cBhvr>
                                      <p:to>
                                        <p:strVal val="hidden"/>
                                      </p:to>
                                    </p:set>
                                  </p:childTnLst>
                                </p:cTn>
                              </p:par>
                              <p:par>
                                <p:cTn id="58" presetID="10" presetClass="entr" presetSubtype="0" fill="hold" grpId="1" nodeType="with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8" grpId="0" animBg="1"/>
      <p:bldP spid="20" grpId="0" animBg="1"/>
      <p:bldP spid="24" grpId="0" animBg="1"/>
      <p:bldP spid="24"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Artificial neural networks</a:t>
            </a:r>
          </a:p>
          <a:p>
            <a:endParaRPr lang="en-GB" sz="1800" dirty="0"/>
          </a:p>
        </p:txBody>
      </p:sp>
      <p:sp>
        <p:nvSpPr>
          <p:cNvPr id="5" name="AutoShape 2" descr="Image result for zip file icon"/>
          <p:cNvSpPr>
            <a:spLocks noChangeAspect="1" noChangeArrowheads="1"/>
          </p:cNvSpPr>
          <p:nvPr/>
        </p:nvSpPr>
        <p:spPr bwMode="auto">
          <a:xfrm>
            <a:off x="1679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AutoShape 4" descr="Image result for zip file icon"/>
          <p:cNvSpPr>
            <a:spLocks noChangeAspect="1" noChangeArrowheads="1"/>
          </p:cNvSpPr>
          <p:nvPr/>
        </p:nvSpPr>
        <p:spPr bwMode="auto">
          <a:xfrm>
            <a:off x="1831975" y="793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Box 8"/>
          <p:cNvSpPr txBox="1"/>
          <p:nvPr/>
        </p:nvSpPr>
        <p:spPr>
          <a:xfrm>
            <a:off x="720000" y="1196752"/>
            <a:ext cx="950505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sng" strike="noStrike" kern="1200" cap="none" spc="0" normalizeH="0" baseline="0" noProof="0" dirty="0">
                <a:ln>
                  <a:noFill/>
                </a:ln>
                <a:solidFill>
                  <a:prstClr val="black"/>
                </a:solidFill>
                <a:effectLst/>
                <a:uLnTx/>
                <a:uFillTx/>
                <a:latin typeface="Calibri"/>
                <a:ea typeface="+mn-ea"/>
                <a:cs typeface="+mn-cs"/>
              </a:rPr>
              <a:t>Transfer functions</a:t>
            </a:r>
            <a:endParaRPr kumimoji="0" lang="en-GB" sz="1800" b="0" i="0" u="sng" strike="noStrike" kern="1200" cap="none" spc="0" normalizeH="0" baseline="0" noProof="0" dirty="0">
              <a:ln>
                <a:noFill/>
              </a:ln>
              <a:solidFill>
                <a:prstClr val="black"/>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4D4017-CCFE-46C6-A9FB-0EFAE082C1AD}"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pic>
        <p:nvPicPr>
          <p:cNvPr id="11" name="Picture 10"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7639" y="1800200"/>
            <a:ext cx="5176722" cy="4941168"/>
          </a:xfrm>
          <a:prstGeom prst="rect">
            <a:avLst/>
          </a:prstGeom>
        </p:spPr>
      </p:pic>
      <p:sp>
        <p:nvSpPr>
          <p:cNvPr id="12" name="TextBox 11"/>
          <p:cNvSpPr txBox="1"/>
          <p:nvPr/>
        </p:nvSpPr>
        <p:spPr>
          <a:xfrm>
            <a:off x="8684362" y="6211670"/>
            <a:ext cx="166011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1" u="none" strike="noStrike" kern="1200" cap="none" spc="0" normalizeH="0" baseline="0" noProof="0" dirty="0">
                <a:ln>
                  <a:noFill/>
                </a:ln>
                <a:solidFill>
                  <a:prstClr val="black"/>
                </a:solidFill>
                <a:effectLst/>
                <a:uLnTx/>
                <a:uFillTx/>
                <a:latin typeface="Calibri"/>
                <a:ea typeface="+mn-ea"/>
                <a:cs typeface="+mn-cs"/>
              </a:rPr>
              <a:t>…and many more…</a:t>
            </a:r>
            <a:endParaRPr kumimoji="0" lang="nl-NL" sz="1800" b="0" i="1" u="none" strike="noStrike" kern="1200" cap="none" spc="0" normalizeH="0" baseline="0" noProof="0" dirty="0">
              <a:ln>
                <a:noFill/>
              </a:ln>
              <a:solidFill>
                <a:prstClr val="black"/>
              </a:solidFill>
              <a:effectLst/>
              <a:uLnTx/>
              <a:uFillTx/>
              <a:latin typeface="Calibri"/>
              <a:ea typeface="+mn-ea"/>
              <a:cs typeface="+mn-cs"/>
            </a:endParaRPr>
          </a:p>
        </p:txBody>
      </p:sp>
      <p:sp>
        <p:nvSpPr>
          <p:cNvPr id="14" name="TextBox 13"/>
          <p:cNvSpPr txBox="1"/>
          <p:nvPr/>
        </p:nvSpPr>
        <p:spPr>
          <a:xfrm>
            <a:off x="1546129" y="6433592"/>
            <a:ext cx="1907704"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black"/>
                </a:solidFill>
                <a:effectLst/>
                <a:uLnTx/>
                <a:uFillTx/>
                <a:latin typeface="Calibri"/>
                <a:ea typeface="+mn-ea"/>
                <a:cs typeface="+mn-cs"/>
              </a:rPr>
              <a:t>Source: Wikipedia</a:t>
            </a:r>
            <a:endParaRPr kumimoji="0" lang="nl-NL" sz="14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Rectangular Callout 7"/>
          <p:cNvSpPr/>
          <p:nvPr/>
        </p:nvSpPr>
        <p:spPr>
          <a:xfrm>
            <a:off x="9124950" y="1800200"/>
            <a:ext cx="2362200" cy="2266950"/>
          </a:xfrm>
          <a:prstGeom prst="wedgeRectCallout">
            <a:avLst/>
          </a:prstGeom>
          <a:noFill/>
          <a:ln>
            <a:solidFill>
              <a:srgbClr val="4886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alibri" panose="020F0502020204030204"/>
                <a:ea typeface="+mn-ea"/>
                <a:cs typeface="+mn-cs"/>
              </a:rPr>
              <a:t>The most suitable transfer function depends problem, e.g. depth of network, and amount of data one works with</a:t>
            </a:r>
          </a:p>
        </p:txBody>
      </p:sp>
      <p:sp>
        <p:nvSpPr>
          <p:cNvPr id="7" name="Line 2">
            <a:extLst>
              <a:ext uri="{FF2B5EF4-FFF2-40B4-BE49-F238E27FC236}">
                <a16:creationId xmlns:a16="http://schemas.microsoft.com/office/drawing/2014/main" id="{D9BC22D8-1F22-6B2D-D40B-8CB88B238786}"/>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0" name="Line 2">
            <a:extLst>
              <a:ext uri="{FF2B5EF4-FFF2-40B4-BE49-F238E27FC236}">
                <a16:creationId xmlns:a16="http://schemas.microsoft.com/office/drawing/2014/main" id="{6766078E-61B1-2624-2065-24FE5A39B00D}"/>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1239746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Artificial neural networks</a:t>
            </a:r>
          </a:p>
          <a:p>
            <a:endParaRPr lang="en-GB" sz="1800" dirty="0"/>
          </a:p>
        </p:txBody>
      </p:sp>
      <p:sp>
        <p:nvSpPr>
          <p:cNvPr id="5" name="AutoShape 2" descr="Image result for zip file icon"/>
          <p:cNvSpPr>
            <a:spLocks noChangeAspect="1" noChangeArrowheads="1"/>
          </p:cNvSpPr>
          <p:nvPr/>
        </p:nvSpPr>
        <p:spPr bwMode="auto">
          <a:xfrm>
            <a:off x="1679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AutoShape 4" descr="Image result for zip file icon"/>
          <p:cNvSpPr>
            <a:spLocks noChangeAspect="1" noChangeArrowheads="1"/>
          </p:cNvSpPr>
          <p:nvPr/>
        </p:nvSpPr>
        <p:spPr bwMode="auto">
          <a:xfrm>
            <a:off x="1831975" y="793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Box 8"/>
          <p:cNvSpPr txBox="1"/>
          <p:nvPr/>
        </p:nvSpPr>
        <p:spPr>
          <a:xfrm>
            <a:off x="720000" y="1196752"/>
            <a:ext cx="950505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sng" strike="noStrike" kern="1200" cap="none" spc="0" normalizeH="0" baseline="0" noProof="0" dirty="0">
                <a:ln>
                  <a:noFill/>
                </a:ln>
                <a:solidFill>
                  <a:prstClr val="black"/>
                </a:solidFill>
                <a:effectLst/>
                <a:uLnTx/>
                <a:uFillTx/>
                <a:latin typeface="Calibri"/>
                <a:ea typeface="+mn-ea"/>
                <a:cs typeface="+mn-cs"/>
              </a:rPr>
              <a:t>Bias nodes</a:t>
            </a:r>
            <a:endParaRPr kumimoji="0" lang="en-GB" sz="1800" b="0" i="0" u="sng" strike="noStrike" kern="1200" cap="none" spc="0" normalizeH="0" baseline="0" noProof="0" dirty="0">
              <a:ln>
                <a:noFill/>
              </a:ln>
              <a:solidFill>
                <a:prstClr val="black"/>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4D4017-CCFE-46C6-A9FB-0EFAE082C1AD}"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graphicFrame>
        <p:nvGraphicFramePr>
          <p:cNvPr id="7" name="Object 6"/>
          <p:cNvGraphicFramePr>
            <a:graphicFrameLocks noChangeAspect="1"/>
          </p:cNvGraphicFramePr>
          <p:nvPr/>
        </p:nvGraphicFramePr>
        <p:xfrm>
          <a:off x="2124075" y="1662114"/>
          <a:ext cx="3735388" cy="3451225"/>
        </p:xfrm>
        <a:graphic>
          <a:graphicData uri="http://schemas.openxmlformats.org/presentationml/2006/ole">
            <mc:AlternateContent xmlns:mc="http://schemas.openxmlformats.org/markup-compatibility/2006">
              <mc:Choice xmlns:v="urn:schemas-microsoft-com:vml" Requires="v">
                <p:oleObj name="Visio" r:id="rId3" imgW="2581141" imgH="2390685" progId="Visio.Drawing.11">
                  <p:embed/>
                </p:oleObj>
              </mc:Choice>
              <mc:Fallback>
                <p:oleObj name="Visio" r:id="rId3" imgW="2581141" imgH="2390685" progId="Visio.Drawing.11">
                  <p:embed/>
                  <p:pic>
                    <p:nvPicPr>
                      <p:cNvPr id="7" name="Object 6"/>
                      <p:cNvPicPr>
                        <a:picLocks noChangeAspect="1" noChangeArrowheads="1"/>
                      </p:cNvPicPr>
                      <p:nvPr/>
                    </p:nvPicPr>
                    <p:blipFill>
                      <a:blip r:embed="rId4"/>
                      <a:srcRect/>
                      <a:stretch>
                        <a:fillRect/>
                      </a:stretch>
                    </p:blipFill>
                    <p:spPr bwMode="auto">
                      <a:xfrm>
                        <a:off x="2124075" y="1662114"/>
                        <a:ext cx="3735388" cy="3451225"/>
                      </a:xfrm>
                      <a:prstGeom prst="rect">
                        <a:avLst/>
                      </a:prstGeom>
                      <a:noFill/>
                    </p:spPr>
                  </p:pic>
                </p:oleObj>
              </mc:Fallback>
            </mc:AlternateContent>
          </a:graphicData>
        </a:graphic>
      </p:graphicFrame>
      <p:sp>
        <p:nvSpPr>
          <p:cNvPr id="10" name="TextBox 9"/>
          <p:cNvSpPr txBox="1"/>
          <p:nvPr/>
        </p:nvSpPr>
        <p:spPr>
          <a:xfrm>
            <a:off x="720000" y="4962410"/>
            <a:ext cx="10726985" cy="1477328"/>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The bias nodes ensure input, even if input space is 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The weights associated with the bias nodes on the output layer can be conceived as </a:t>
            </a:r>
            <a:r>
              <a:rPr kumimoji="0" lang="en-GB" sz="1800" b="1" i="0" u="none" strike="noStrike" kern="1200" cap="none" spc="0" normalizeH="0" baseline="0" noProof="0" dirty="0">
                <a:ln>
                  <a:noFill/>
                </a:ln>
                <a:solidFill>
                  <a:prstClr val="black"/>
                </a:solidFill>
                <a:effectLst/>
                <a:uLnTx/>
                <a:uFillTx/>
                <a:latin typeface="Calibri"/>
                <a:ea typeface="+mn-ea"/>
                <a:cs typeface="+mn-cs"/>
              </a:rPr>
              <a:t>intercept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Bias nodes have nothing to do with “bias”; in fact, they can be conceived as ASCs</a:t>
            </a:r>
          </a:p>
        </p:txBody>
      </p:sp>
      <p:sp>
        <p:nvSpPr>
          <p:cNvPr id="8" name="TextBox 7"/>
          <p:cNvSpPr txBox="1"/>
          <p:nvPr/>
        </p:nvSpPr>
        <p:spPr>
          <a:xfrm>
            <a:off x="5859463" y="4248624"/>
            <a:ext cx="4989065" cy="432048"/>
          </a:xfrm>
          <a:prstGeom prst="rect">
            <a:avLst/>
          </a:prstGeom>
          <a:noFill/>
          <a:ln>
            <a:no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Bias nodes are often not depicted in graphical representations of neural networks </a:t>
            </a:r>
          </a:p>
        </p:txBody>
      </p:sp>
      <p:cxnSp>
        <p:nvCxnSpPr>
          <p:cNvPr id="12" name="Straight Arrow Connector 11"/>
          <p:cNvCxnSpPr/>
          <p:nvPr/>
        </p:nvCxnSpPr>
        <p:spPr>
          <a:xfrm flipH="1">
            <a:off x="4223792" y="4437112"/>
            <a:ext cx="1635671" cy="0"/>
          </a:xfrm>
          <a:prstGeom prst="straightConnector1">
            <a:avLst/>
          </a:prstGeom>
          <a:ln w="19050">
            <a:solidFill>
              <a:schemeClr val="bg1">
                <a:lumMod val="50000"/>
              </a:schemeClr>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11" name="Line 2">
            <a:extLst>
              <a:ext uri="{FF2B5EF4-FFF2-40B4-BE49-F238E27FC236}">
                <a16:creationId xmlns:a16="http://schemas.microsoft.com/office/drawing/2014/main" id="{A1778655-5934-D60F-5A86-606FF08864D9}"/>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3" name="Line 2">
            <a:extLst>
              <a:ext uri="{FF2B5EF4-FFF2-40B4-BE49-F238E27FC236}">
                <a16:creationId xmlns:a16="http://schemas.microsoft.com/office/drawing/2014/main" id="{F019F06D-89F4-018B-9C6E-29E11A98C6D2}"/>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3626751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4" end="4"/>
                                            </p:txEl>
                                          </p:spTgt>
                                        </p:tgtEl>
                                        <p:attrNameLst>
                                          <p:attrName>style.visibility</p:attrName>
                                        </p:attrNameLst>
                                      </p:cBhvr>
                                      <p:to>
                                        <p:strVal val="visible"/>
                                      </p:to>
                                    </p:set>
                                    <p:animEffect transition="in" filter="fade">
                                      <p:cBhvr>
                                        <p:cTn id="7"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Artificial neural networks</a:t>
            </a:r>
          </a:p>
          <a:p>
            <a:endParaRPr lang="en-GB" sz="1800" dirty="0"/>
          </a:p>
        </p:txBody>
      </p:sp>
      <p:sp>
        <p:nvSpPr>
          <p:cNvPr id="5" name="AutoShape 2" descr="Image result for zip file icon"/>
          <p:cNvSpPr>
            <a:spLocks noChangeAspect="1" noChangeArrowheads="1"/>
          </p:cNvSpPr>
          <p:nvPr/>
        </p:nvSpPr>
        <p:spPr bwMode="auto">
          <a:xfrm>
            <a:off x="1679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AutoShape 4" descr="Image result for zip file icon"/>
          <p:cNvSpPr>
            <a:spLocks noChangeAspect="1" noChangeArrowheads="1"/>
          </p:cNvSpPr>
          <p:nvPr/>
        </p:nvSpPr>
        <p:spPr bwMode="auto">
          <a:xfrm>
            <a:off x="1831975" y="793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Box 8"/>
          <p:cNvSpPr txBox="1"/>
          <p:nvPr/>
        </p:nvSpPr>
        <p:spPr>
          <a:xfrm>
            <a:off x="720000" y="1209700"/>
            <a:ext cx="9505057" cy="175432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Output layer function</a:t>
            </a:r>
          </a:p>
          <a:p>
            <a:pPr marL="285750" marR="0" lvl="0"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Binary class classification: 	Logistic</a:t>
            </a:r>
          </a:p>
          <a:p>
            <a:pPr marL="285750" marR="0" lvl="0"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Multiclass classification: 	</a:t>
            </a:r>
            <a:r>
              <a:rPr kumimoji="0" lang="en-US" sz="1800" b="0" i="0" u="none" strike="noStrike" kern="1200" cap="none" spc="0" normalizeH="0" baseline="0" noProof="0" dirty="0" err="1">
                <a:ln>
                  <a:noFill/>
                </a:ln>
                <a:solidFill>
                  <a:prstClr val="black"/>
                </a:solidFill>
                <a:effectLst/>
                <a:uLnTx/>
                <a:uFillTx/>
                <a:latin typeface="Calibri"/>
                <a:ea typeface="+mn-ea"/>
                <a:cs typeface="+mn-cs"/>
              </a:rPr>
              <a:t>Softmax</a:t>
            </a:r>
            <a:r>
              <a:rPr kumimoji="0" lang="en-US" sz="18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4D4017-CCFE-46C6-A9FB-0EFAE082C1AD}"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3" name="Group 12"/>
          <p:cNvGrpSpPr/>
          <p:nvPr/>
        </p:nvGrpSpPr>
        <p:grpSpPr>
          <a:xfrm>
            <a:off x="3467514" y="2237721"/>
            <a:ext cx="6604942" cy="504056"/>
            <a:chOff x="3203848" y="2780928"/>
            <a:chExt cx="6604942" cy="504056"/>
          </a:xfrm>
        </p:grpSpPr>
        <p:sp>
          <p:nvSpPr>
            <p:cNvPr id="7" name="Oval 6"/>
            <p:cNvSpPr/>
            <p:nvPr/>
          </p:nvSpPr>
          <p:spPr>
            <a:xfrm>
              <a:off x="3203848" y="2780928"/>
              <a:ext cx="936104" cy="504056"/>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p:cNvSpPr txBox="1"/>
            <p:nvPr/>
          </p:nvSpPr>
          <p:spPr>
            <a:xfrm>
              <a:off x="4231754" y="2846089"/>
              <a:ext cx="557703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24B5B3"/>
                  </a:solidFill>
                  <a:effectLst/>
                  <a:uLnTx/>
                  <a:uFillTx/>
                  <a:latin typeface="Calibri"/>
                  <a:ea typeface="+mn-ea"/>
                  <a:cs typeface="+mn-cs"/>
                </a:rPr>
                <a:t>a.k.a. </a:t>
              </a:r>
              <a:r>
                <a:rPr kumimoji="0" lang="en-GB" sz="1800" b="1" i="0" u="none" strike="noStrike" kern="1200" cap="none" spc="0" normalizeH="0" baseline="0" noProof="0" dirty="0">
                  <a:ln>
                    <a:noFill/>
                  </a:ln>
                  <a:solidFill>
                    <a:srgbClr val="24B5B3"/>
                  </a:solidFill>
                  <a:effectLst/>
                  <a:uLnTx/>
                  <a:uFillTx/>
                  <a:latin typeface="Calibri"/>
                  <a:ea typeface="+mn-ea"/>
                  <a:cs typeface="+mn-cs"/>
                </a:rPr>
                <a:t>Multinomial Logit </a:t>
              </a:r>
              <a:r>
                <a:rPr kumimoji="0" lang="en-GB" sz="1800" b="0" i="0" u="none" strike="noStrike" kern="1200" cap="none" spc="0" normalizeH="0" baseline="0" noProof="0" dirty="0">
                  <a:ln>
                    <a:noFill/>
                  </a:ln>
                  <a:solidFill>
                    <a:srgbClr val="24B5B3"/>
                  </a:solidFill>
                  <a:effectLst/>
                  <a:uLnTx/>
                  <a:uFillTx/>
                  <a:latin typeface="Calibri"/>
                  <a:ea typeface="+mn-ea"/>
                  <a:cs typeface="+mn-cs"/>
                </a:rPr>
                <a:t>function choice modelling</a:t>
              </a:r>
              <a:endParaRPr kumimoji="0" lang="nl-NL" sz="1800" b="0" i="0" u="none" strike="noStrike" kern="1200" cap="none" spc="0" normalizeH="0" baseline="0" noProof="0" dirty="0">
                <a:ln>
                  <a:noFill/>
                </a:ln>
                <a:solidFill>
                  <a:srgbClr val="24B5B3"/>
                </a:solidFill>
                <a:effectLst/>
                <a:uLnTx/>
                <a:uFillTx/>
                <a:latin typeface="Calibri"/>
                <a:ea typeface="+mn-ea"/>
                <a:cs typeface="+mn-cs"/>
              </a:endParaRPr>
            </a:p>
          </p:txBody>
        </p:sp>
      </p:grpSp>
      <p:grpSp>
        <p:nvGrpSpPr>
          <p:cNvPr id="14" name="Group 13"/>
          <p:cNvGrpSpPr/>
          <p:nvPr/>
        </p:nvGrpSpPr>
        <p:grpSpPr>
          <a:xfrm>
            <a:off x="3467514" y="1661658"/>
            <a:ext cx="5834782" cy="504056"/>
            <a:chOff x="3203848" y="2780928"/>
            <a:chExt cx="5834782" cy="504056"/>
          </a:xfrm>
        </p:grpSpPr>
        <p:sp>
          <p:nvSpPr>
            <p:cNvPr id="15" name="Oval 14"/>
            <p:cNvSpPr/>
            <p:nvPr/>
          </p:nvSpPr>
          <p:spPr>
            <a:xfrm>
              <a:off x="3203848" y="2780928"/>
              <a:ext cx="936104" cy="504056"/>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15"/>
            <p:cNvSpPr txBox="1"/>
            <p:nvPr/>
          </p:nvSpPr>
          <p:spPr>
            <a:xfrm>
              <a:off x="4228727" y="2848290"/>
              <a:ext cx="480990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24B5B3"/>
                  </a:solidFill>
                  <a:effectLst/>
                  <a:uLnTx/>
                  <a:uFillTx/>
                  <a:latin typeface="Calibri"/>
                  <a:ea typeface="+mn-ea"/>
                  <a:cs typeface="+mn-cs"/>
                </a:rPr>
                <a:t>a.k.a. </a:t>
              </a:r>
              <a:r>
                <a:rPr kumimoji="0" lang="en-GB" sz="1800" b="1" i="0" u="none" strike="noStrike" kern="1200" cap="none" spc="0" normalizeH="0" baseline="0" noProof="0" dirty="0">
                  <a:ln>
                    <a:noFill/>
                  </a:ln>
                  <a:solidFill>
                    <a:srgbClr val="24B5B3"/>
                  </a:solidFill>
                  <a:effectLst/>
                  <a:uLnTx/>
                  <a:uFillTx/>
                  <a:latin typeface="Calibri"/>
                  <a:ea typeface="+mn-ea"/>
                  <a:cs typeface="+mn-cs"/>
                </a:rPr>
                <a:t>Binary Logit </a:t>
              </a:r>
              <a:r>
                <a:rPr kumimoji="0" lang="en-GB" sz="1800" b="0" i="0" u="none" strike="noStrike" kern="1200" cap="none" spc="0" normalizeH="0" baseline="0" noProof="0" dirty="0">
                  <a:ln>
                    <a:noFill/>
                  </a:ln>
                  <a:solidFill>
                    <a:srgbClr val="24B5B3"/>
                  </a:solidFill>
                  <a:effectLst/>
                  <a:uLnTx/>
                  <a:uFillTx/>
                  <a:latin typeface="Calibri"/>
                  <a:ea typeface="+mn-ea"/>
                  <a:cs typeface="+mn-cs"/>
                </a:rPr>
                <a:t>function in choice modelling</a:t>
              </a:r>
              <a:endParaRPr kumimoji="0" lang="nl-NL" sz="1800" b="0" i="0" u="none" strike="noStrike" kern="1200" cap="none" spc="0" normalizeH="0" baseline="0" noProof="0" dirty="0">
                <a:ln>
                  <a:noFill/>
                </a:ln>
                <a:solidFill>
                  <a:srgbClr val="24B5B3"/>
                </a:solidFill>
                <a:effectLst/>
                <a:uLnTx/>
                <a:uFillTx/>
                <a:latin typeface="Calibri"/>
                <a:ea typeface="+mn-ea"/>
                <a:cs typeface="+mn-cs"/>
              </a:endParaRPr>
            </a:p>
          </p:txBody>
        </p:sp>
      </p:grpSp>
      <p:pic>
        <p:nvPicPr>
          <p:cNvPr id="10" name="Picture 9">
            <a:extLst>
              <a:ext uri="{FF2B5EF4-FFF2-40B4-BE49-F238E27FC236}">
                <a16:creationId xmlns:a16="http://schemas.microsoft.com/office/drawing/2014/main" id="{2701595C-EF95-BEC3-0067-FC133A2E6D53}"/>
              </a:ext>
            </a:extLst>
          </p:cNvPr>
          <p:cNvPicPr>
            <a:picLocks noChangeAspect="1"/>
          </p:cNvPicPr>
          <p:nvPr/>
        </p:nvPicPr>
        <p:blipFill>
          <a:blip r:embed="rId3"/>
          <a:stretch>
            <a:fillRect/>
          </a:stretch>
        </p:blipFill>
        <p:spPr>
          <a:xfrm>
            <a:off x="3209966" y="2748580"/>
            <a:ext cx="4485479" cy="3887414"/>
          </a:xfrm>
          <a:prstGeom prst="rect">
            <a:avLst/>
          </a:prstGeom>
        </p:spPr>
      </p:pic>
      <p:sp>
        <p:nvSpPr>
          <p:cNvPr id="20" name="TextBox 19"/>
          <p:cNvSpPr txBox="1"/>
          <p:nvPr/>
        </p:nvSpPr>
        <p:spPr>
          <a:xfrm>
            <a:off x="3122627" y="6490466"/>
            <a:ext cx="4896544"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err="1">
                <a:ln>
                  <a:noFill/>
                </a:ln>
                <a:solidFill>
                  <a:prstClr val="white">
                    <a:lumMod val="50000"/>
                  </a:prstClr>
                </a:solidFill>
                <a:effectLst/>
                <a:uLnTx/>
                <a:uFillTx/>
                <a:latin typeface="Calibri"/>
                <a:ea typeface="+mn-ea"/>
                <a:cs typeface="+mn-cs"/>
              </a:rPr>
              <a:t>Softmax</a:t>
            </a:r>
            <a:r>
              <a:rPr kumimoji="0" lang="en-GB" sz="1400" b="0" i="0" u="none" strike="noStrike" kern="1200" cap="none" spc="0" normalizeH="0" baseline="0" noProof="0" dirty="0">
                <a:ln>
                  <a:noFill/>
                </a:ln>
                <a:solidFill>
                  <a:prstClr val="white">
                    <a:lumMod val="50000"/>
                  </a:prstClr>
                </a:solidFill>
                <a:effectLst/>
                <a:uLnTx/>
                <a:uFillTx/>
                <a:latin typeface="Calibri"/>
                <a:ea typeface="+mn-ea"/>
                <a:cs typeface="+mn-cs"/>
              </a:rPr>
              <a:t> function</a:t>
            </a:r>
            <a:endParaRPr kumimoji="0" lang="nl-NL"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1" name="Picture 2" descr="Image result for understand icon">
            <a:extLst>
              <a:ext uri="{FF2B5EF4-FFF2-40B4-BE49-F238E27FC236}">
                <a16:creationId xmlns:a16="http://schemas.microsoft.com/office/drawing/2014/main" id="{29CB5343-F46E-893D-19FE-76AF84EF8FF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90338" y="1447770"/>
            <a:ext cx="1435887" cy="1435887"/>
          </a:xfrm>
          <a:prstGeom prst="rect">
            <a:avLst/>
          </a:prstGeom>
          <a:noFill/>
          <a:extLst>
            <a:ext uri="{909E8E84-426E-40DD-AFC4-6F175D3DCCD1}">
              <a14:hiddenFill xmlns:a14="http://schemas.microsoft.com/office/drawing/2010/main">
                <a:solidFill>
                  <a:srgbClr val="FFFFFF"/>
                </a:solidFill>
              </a14:hiddenFill>
            </a:ext>
          </a:extLst>
        </p:spPr>
      </p:pic>
      <p:sp>
        <p:nvSpPr>
          <p:cNvPr id="12" name="Line 2">
            <a:extLst>
              <a:ext uri="{FF2B5EF4-FFF2-40B4-BE49-F238E27FC236}">
                <a16:creationId xmlns:a16="http://schemas.microsoft.com/office/drawing/2014/main" id="{008A17CC-AFDE-50A8-7273-9235EE775851}"/>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7" name="Line 2">
            <a:extLst>
              <a:ext uri="{FF2B5EF4-FFF2-40B4-BE49-F238E27FC236}">
                <a16:creationId xmlns:a16="http://schemas.microsoft.com/office/drawing/2014/main" id="{D2B29243-8D77-3145-5322-F27A860295A7}"/>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4194090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Artificial neural networks</a:t>
            </a:r>
          </a:p>
          <a:p>
            <a:endParaRPr lang="en-GB" sz="1800" dirty="0"/>
          </a:p>
        </p:txBody>
      </p:sp>
      <p:sp>
        <p:nvSpPr>
          <p:cNvPr id="5" name="AutoShape 2" descr="Image result for zip file icon"/>
          <p:cNvSpPr>
            <a:spLocks noChangeAspect="1" noChangeArrowheads="1"/>
          </p:cNvSpPr>
          <p:nvPr/>
        </p:nvSpPr>
        <p:spPr bwMode="auto">
          <a:xfrm>
            <a:off x="1679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AutoShape 4" descr="Image result for zip file icon"/>
          <p:cNvSpPr>
            <a:spLocks noChangeAspect="1" noChangeArrowheads="1"/>
          </p:cNvSpPr>
          <p:nvPr/>
        </p:nvSpPr>
        <p:spPr bwMode="auto">
          <a:xfrm>
            <a:off x="1831975" y="793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Box 8"/>
          <p:cNvSpPr txBox="1"/>
          <p:nvPr/>
        </p:nvSpPr>
        <p:spPr>
          <a:xfrm>
            <a:off x="720000" y="1163756"/>
            <a:ext cx="10604154" cy="175432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sng" strike="noStrike" kern="1200" cap="none" spc="0" normalizeH="0" baseline="0" noProof="0" dirty="0">
                <a:ln>
                  <a:noFill/>
                </a:ln>
                <a:solidFill>
                  <a:prstClr val="black"/>
                </a:solidFill>
                <a:effectLst/>
                <a:uLnTx/>
                <a:uFillTx/>
                <a:latin typeface="Calibri"/>
                <a:ea typeface="+mn-ea"/>
                <a:cs typeface="+mn-cs"/>
              </a:rPr>
              <a:t>Loss function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The loss function measures the (global) performance of the model given the data. It quantifies the error between predicted values and expected values in a </a:t>
            </a: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single</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real number.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When working with choice data, we (almost always) use the </a:t>
            </a:r>
            <a:r>
              <a:rPr kumimoji="0" lang="en-GB" sz="1800" b="1" i="0" u="none" strike="noStrike" kern="1200" cap="none" spc="0" normalizeH="0" baseline="0" noProof="0" dirty="0">
                <a:ln>
                  <a:noFill/>
                </a:ln>
                <a:solidFill>
                  <a:prstClr val="black"/>
                </a:solidFill>
                <a:effectLst/>
                <a:uLnTx/>
                <a:uFillTx/>
                <a:latin typeface="Calibri"/>
                <a:ea typeface="+mn-ea"/>
                <a:cs typeface="+mn-cs"/>
              </a:rPr>
              <a:t>cross-entropy</a:t>
            </a:r>
            <a:r>
              <a:rPr kumimoji="0" lang="en-GB" sz="1800" b="0" i="0" u="none" strike="noStrike" kern="1200" cap="none" spc="0" normalizeH="0" baseline="0" noProof="0" dirty="0">
                <a:ln>
                  <a:noFill/>
                </a:ln>
                <a:solidFill>
                  <a:prstClr val="black"/>
                </a:solidFill>
                <a:effectLst/>
                <a:uLnTx/>
                <a:uFillTx/>
                <a:latin typeface="Calibri"/>
                <a:ea typeface="+mn-ea"/>
                <a:cs typeface="+mn-cs"/>
              </a:rPr>
              <a:t> (CE) </a:t>
            </a:r>
            <a:r>
              <a:rPr kumimoji="0" lang="en-GB" sz="1800" b="1" i="0" u="none" strike="noStrike" kern="1200" cap="none" spc="0" normalizeH="0" baseline="0" noProof="0" dirty="0">
                <a:ln>
                  <a:noFill/>
                </a:ln>
                <a:solidFill>
                  <a:prstClr val="black"/>
                </a:solidFill>
                <a:effectLst/>
                <a:uLnTx/>
                <a:uFillTx/>
                <a:latin typeface="Calibri"/>
                <a:ea typeface="+mn-ea"/>
                <a:cs typeface="+mn-cs"/>
              </a:rPr>
              <a:t>loss</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4D4017-CCFE-46C6-A9FB-0EFAE082C1AD}"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1" name="Group 10">
            <a:extLst>
              <a:ext uri="{FF2B5EF4-FFF2-40B4-BE49-F238E27FC236}">
                <a16:creationId xmlns:a16="http://schemas.microsoft.com/office/drawing/2014/main" id="{B0036BFF-E934-6D03-62EB-EB5211290C6B}"/>
              </a:ext>
            </a:extLst>
          </p:cNvPr>
          <p:cNvGrpSpPr/>
          <p:nvPr/>
        </p:nvGrpSpPr>
        <p:grpSpPr>
          <a:xfrm>
            <a:off x="396088" y="5103025"/>
            <a:ext cx="11418683" cy="1435887"/>
            <a:chOff x="396088" y="5103025"/>
            <a:chExt cx="11418683" cy="1435887"/>
          </a:xfrm>
        </p:grpSpPr>
        <p:sp>
          <p:nvSpPr>
            <p:cNvPr id="18" name="TextBox 17">
              <a:extLst>
                <a:ext uri="{FF2B5EF4-FFF2-40B4-BE49-F238E27FC236}">
                  <a16:creationId xmlns:a16="http://schemas.microsoft.com/office/drawing/2014/main" id="{E4BA625A-F9F2-7333-C070-139B7C3100AB}"/>
                </a:ext>
              </a:extLst>
            </p:cNvPr>
            <p:cNvSpPr txBox="1"/>
            <p:nvPr/>
          </p:nvSpPr>
          <p:spPr>
            <a:xfrm>
              <a:off x="1831974" y="5343855"/>
              <a:ext cx="9982797" cy="1195057"/>
            </a:xfrm>
            <a:prstGeom prst="rect">
              <a:avLst/>
            </a:prstGeom>
            <a:noFill/>
          </p:spPr>
          <p:txBody>
            <a:bodyPr wrap="square" rtlCol="0">
              <a:noAutofit/>
            </a:bodyPr>
            <a:lstStyle/>
            <a:p>
              <a:pPr marL="285750" marR="0" lvl="0" indent="-285750" algn="l" defTabSz="914400" rtl="0" eaLnBrk="1" fontAlgn="base" latinLnBrk="0" hangingPunct="1">
                <a:lnSpc>
                  <a:spcPct val="100000"/>
                </a:lnSpc>
                <a:spcBef>
                  <a:spcPts val="0"/>
                </a:spcBef>
                <a:spcAft>
                  <a:spcPts val="0"/>
                </a:spcAft>
                <a:buClrTx/>
                <a:buSzTx/>
                <a:buFont typeface="Wingdings" pitchFamily="2" charset="2"/>
                <a:buChar char="Ø"/>
                <a:tabLst/>
                <a:defRPr/>
              </a:pPr>
              <a:r>
                <a:rPr kumimoji="0" lang="en-GB" sz="1800" b="0" i="0" u="none" strike="noStrike" kern="1200" cap="none" spc="0" normalizeH="0" baseline="0" noProof="0" dirty="0">
                  <a:ln>
                    <a:noFill/>
                  </a:ln>
                  <a:solidFill>
                    <a:srgbClr val="24B5B3"/>
                  </a:solidFill>
                  <a:effectLst/>
                  <a:uLnTx/>
                  <a:uFillTx/>
                  <a:latin typeface="Calibri"/>
                  <a:ea typeface="+mn-ea"/>
                  <a:cs typeface="+mn-cs"/>
                </a:rPr>
                <a:t>Minimisation of the cross-entropy is </a:t>
              </a:r>
              <a:r>
                <a:rPr kumimoji="0" lang="en-GB" sz="1800" b="1" i="0" u="none" strike="noStrike" kern="1200" cap="none" spc="0" normalizeH="0" baseline="0" noProof="0" dirty="0">
                  <a:ln>
                    <a:noFill/>
                  </a:ln>
                  <a:solidFill>
                    <a:srgbClr val="24B5B3"/>
                  </a:solidFill>
                  <a:effectLst/>
                  <a:uLnTx/>
                  <a:uFillTx/>
                  <a:latin typeface="Calibri"/>
                  <a:ea typeface="+mn-ea"/>
                  <a:cs typeface="+mn-cs"/>
                </a:rPr>
                <a:t>equivalent</a:t>
              </a:r>
              <a:r>
                <a:rPr kumimoji="0" lang="en-GB" sz="1800" b="0" i="0" u="none" strike="noStrike" kern="1200" cap="none" spc="0" normalizeH="0" baseline="0" noProof="0" dirty="0">
                  <a:ln>
                    <a:noFill/>
                  </a:ln>
                  <a:solidFill>
                    <a:srgbClr val="24B5B3"/>
                  </a:solidFill>
                  <a:effectLst/>
                  <a:uLnTx/>
                  <a:uFillTx/>
                  <a:latin typeface="Calibri"/>
                  <a:ea typeface="+mn-ea"/>
                  <a:cs typeface="+mn-cs"/>
                </a:rPr>
                <a:t> to </a:t>
              </a:r>
              <a:r>
                <a:rPr kumimoji="0" lang="en-GB" sz="1800" b="1" i="0" u="none" strike="noStrike" kern="1200" cap="none" spc="0" normalizeH="0" baseline="0" noProof="0" dirty="0">
                  <a:ln>
                    <a:noFill/>
                  </a:ln>
                  <a:solidFill>
                    <a:srgbClr val="24B5B3"/>
                  </a:solidFill>
                  <a:effectLst/>
                  <a:uLnTx/>
                  <a:uFillTx/>
                  <a:latin typeface="Calibri"/>
                  <a:ea typeface="+mn-ea"/>
                  <a:cs typeface="+mn-cs"/>
                </a:rPr>
                <a:t>maximisation of the (log-)likelihood</a:t>
              </a:r>
            </a:p>
            <a:p>
              <a:pPr marL="285750" marR="0" lvl="0" indent="-285750" algn="l" defTabSz="914400" rtl="0" eaLnBrk="1" fontAlgn="base" latinLnBrk="0" hangingPunct="1">
                <a:lnSpc>
                  <a:spcPct val="100000"/>
                </a:lnSpc>
                <a:spcBef>
                  <a:spcPts val="0"/>
                </a:spcBef>
                <a:spcAft>
                  <a:spcPts val="0"/>
                </a:spcAft>
                <a:buClrTx/>
                <a:buSzTx/>
                <a:buFont typeface="Wingdings" pitchFamily="2" charset="2"/>
                <a:buChar char="Ø"/>
                <a:tabLst/>
                <a:defRPr/>
              </a:pPr>
              <a:endParaRPr kumimoji="0" lang="en-GB" sz="1800" b="1" i="0" u="none" strike="noStrike" kern="1200" cap="none" spc="0" normalizeH="0" baseline="0" noProof="0" dirty="0">
                <a:ln>
                  <a:noFill/>
                </a:ln>
                <a:solidFill>
                  <a:srgbClr val="24B5B3"/>
                </a:solidFill>
                <a:effectLst/>
                <a:uLnTx/>
                <a:uFillTx/>
                <a:latin typeface="Calibri"/>
                <a:ea typeface="+mn-ea"/>
                <a:cs typeface="+mn-cs"/>
                <a:sym typeface="Wingdings" panose="05000000000000000000" pitchFamily="2" charset="2"/>
              </a:endParaRPr>
            </a:p>
            <a:p>
              <a:pPr marL="285750" marR="0" lvl="0" indent="-285750" algn="l" defTabSz="914400" rtl="0" eaLnBrk="1" fontAlgn="base" latinLnBrk="0" hangingPunct="1">
                <a:lnSpc>
                  <a:spcPct val="100000"/>
                </a:lnSpc>
                <a:spcBef>
                  <a:spcPts val="0"/>
                </a:spcBef>
                <a:spcAft>
                  <a:spcPts val="0"/>
                </a:spcAft>
                <a:buClrTx/>
                <a:buSzTx/>
                <a:buFont typeface="Wingdings" pitchFamily="2" charset="2"/>
                <a:buChar char="Ø"/>
                <a:tabLst/>
                <a:defRPr/>
              </a:pPr>
              <a:r>
                <a:rPr kumimoji="0" lang="en-GB" sz="1800" b="1" i="0" u="none" strike="noStrike" kern="1200" cap="none" spc="0" normalizeH="0" baseline="0" noProof="0" dirty="0">
                  <a:ln>
                    <a:noFill/>
                  </a:ln>
                  <a:solidFill>
                    <a:srgbClr val="24B5B3"/>
                  </a:solidFill>
                  <a:effectLst/>
                  <a:uLnTx/>
                  <a:uFillTx/>
                  <a:latin typeface="Calibri"/>
                  <a:ea typeface="+mn-ea"/>
                  <a:cs typeface="+mn-cs"/>
                  <a:sym typeface="Wingdings" panose="05000000000000000000" pitchFamily="2" charset="2"/>
                </a:rPr>
                <a:t>Minimising</a:t>
              </a:r>
              <a:r>
                <a:rPr kumimoji="0" lang="en-GB" sz="1800" b="0" i="0" u="none" strike="noStrike" kern="1200" cap="none" spc="0" normalizeH="0" baseline="0" noProof="0" dirty="0">
                  <a:ln>
                    <a:noFill/>
                  </a:ln>
                  <a:solidFill>
                    <a:srgbClr val="24B5B3"/>
                  </a:solidFill>
                  <a:effectLst/>
                  <a:uLnTx/>
                  <a:uFillTx/>
                  <a:latin typeface="Calibri"/>
                  <a:ea typeface="+mn-ea"/>
                  <a:cs typeface="+mn-cs"/>
                  <a:sym typeface="Wingdings" panose="05000000000000000000" pitchFamily="2" charset="2"/>
                </a:rPr>
                <a:t> the </a:t>
              </a:r>
              <a:r>
                <a:rPr kumimoji="0" lang="en-GB" sz="1800" b="1" i="0" u="none" strike="noStrike" kern="1200" cap="none" spc="0" normalizeH="0" baseline="0" noProof="0" dirty="0">
                  <a:ln>
                    <a:noFill/>
                  </a:ln>
                  <a:solidFill>
                    <a:srgbClr val="24B5B3"/>
                  </a:solidFill>
                  <a:effectLst/>
                  <a:uLnTx/>
                  <a:uFillTx/>
                  <a:latin typeface="Calibri"/>
                  <a:ea typeface="+mn-ea"/>
                  <a:cs typeface="+mn-cs"/>
                  <a:sym typeface="Wingdings" panose="05000000000000000000" pitchFamily="2" charset="2"/>
                </a:rPr>
                <a:t>cross-entropy</a:t>
              </a:r>
              <a:r>
                <a:rPr kumimoji="0" lang="en-GB" sz="1800" b="0" i="0" u="none" strike="noStrike" kern="1200" cap="none" spc="0" normalizeH="0" baseline="0" noProof="0" dirty="0">
                  <a:ln>
                    <a:noFill/>
                  </a:ln>
                  <a:solidFill>
                    <a:srgbClr val="24B5B3"/>
                  </a:solidFill>
                  <a:effectLst/>
                  <a:uLnTx/>
                  <a:uFillTx/>
                  <a:latin typeface="Calibri"/>
                  <a:ea typeface="+mn-ea"/>
                  <a:cs typeface="+mn-cs"/>
                  <a:sym typeface="Wingdings" panose="05000000000000000000" pitchFamily="2" charset="2"/>
                </a:rPr>
                <a:t> implies </a:t>
              </a:r>
              <a:r>
                <a:rPr kumimoji="0" lang="en-GB" sz="1800" b="1" i="0" u="none" strike="noStrike" kern="1200" cap="none" spc="0" normalizeH="0" baseline="0" noProof="0" dirty="0">
                  <a:ln>
                    <a:noFill/>
                  </a:ln>
                  <a:solidFill>
                    <a:srgbClr val="24B5B3"/>
                  </a:solidFill>
                  <a:effectLst/>
                  <a:uLnTx/>
                  <a:uFillTx/>
                  <a:latin typeface="Calibri"/>
                  <a:ea typeface="+mn-ea"/>
                  <a:cs typeface="+mn-cs"/>
                  <a:sym typeface="Wingdings" panose="05000000000000000000" pitchFamily="2" charset="2"/>
                </a:rPr>
                <a:t>maximising</a:t>
              </a:r>
              <a:r>
                <a:rPr kumimoji="0" lang="en-GB" sz="1800" b="0" i="0" u="none" strike="noStrike" kern="1200" cap="none" spc="0" normalizeH="0" baseline="0" noProof="0" dirty="0">
                  <a:ln>
                    <a:noFill/>
                  </a:ln>
                  <a:solidFill>
                    <a:srgbClr val="24B5B3"/>
                  </a:solidFill>
                  <a:effectLst/>
                  <a:uLnTx/>
                  <a:uFillTx/>
                  <a:latin typeface="Calibri"/>
                  <a:ea typeface="+mn-ea"/>
                  <a:cs typeface="+mn-cs"/>
                  <a:sym typeface="Wingdings" panose="05000000000000000000" pitchFamily="2" charset="2"/>
                </a:rPr>
                <a:t> the (log-)</a:t>
              </a:r>
              <a:r>
                <a:rPr kumimoji="0" lang="en-GB" sz="1800" b="1" i="0" u="none" strike="noStrike" kern="1200" cap="none" spc="0" normalizeH="0" baseline="0" noProof="0" dirty="0">
                  <a:ln>
                    <a:noFill/>
                  </a:ln>
                  <a:solidFill>
                    <a:srgbClr val="24B5B3"/>
                  </a:solidFill>
                  <a:effectLst/>
                  <a:uLnTx/>
                  <a:uFillTx/>
                  <a:latin typeface="Calibri"/>
                  <a:ea typeface="+mn-ea"/>
                  <a:cs typeface="+mn-cs"/>
                  <a:sym typeface="Wingdings" panose="05000000000000000000" pitchFamily="2" charset="2"/>
                </a:rPr>
                <a:t>likelihood</a:t>
              </a:r>
              <a:r>
                <a:rPr kumimoji="0" lang="en-GB" sz="1800" b="0" i="0" u="none" strike="noStrike" kern="1200" cap="none" spc="0" normalizeH="0" baseline="0" noProof="0" dirty="0">
                  <a:ln>
                    <a:noFill/>
                  </a:ln>
                  <a:solidFill>
                    <a:srgbClr val="24B5B3"/>
                  </a:solidFill>
                  <a:effectLst/>
                  <a:uLnTx/>
                  <a:uFillTx/>
                  <a:latin typeface="Calibri"/>
                  <a:ea typeface="+mn-ea"/>
                  <a:cs typeface="+mn-cs"/>
                  <a:sym typeface="Wingdings" panose="05000000000000000000" pitchFamily="2" charset="2"/>
                </a:rPr>
                <a:t> of the data, given the model</a:t>
              </a:r>
              <a:endParaRPr kumimoji="0" lang="en-GB" sz="1800" b="0" i="0" u="none" strike="noStrike" kern="1200" cap="none" spc="0" normalizeH="0" baseline="0" noProof="0" dirty="0">
                <a:ln>
                  <a:noFill/>
                </a:ln>
                <a:solidFill>
                  <a:srgbClr val="24B5B3"/>
                </a:solidFill>
                <a:effectLst/>
                <a:uLnTx/>
                <a:uFillTx/>
                <a:latin typeface="Calibri"/>
                <a:ea typeface="+mn-ea"/>
                <a:cs typeface="+mn-cs"/>
              </a:endParaRPr>
            </a:p>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endParaRPr>
            </a:p>
          </p:txBody>
        </p:sp>
        <p:pic>
          <p:nvPicPr>
            <p:cNvPr id="19" name="Picture 2" descr="Image result for understand icon">
              <a:extLst>
                <a:ext uri="{FF2B5EF4-FFF2-40B4-BE49-F238E27FC236}">
                  <a16:creationId xmlns:a16="http://schemas.microsoft.com/office/drawing/2014/main" id="{903C0427-EAD7-A36E-4439-F6C1D69A2B6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6088" y="5103025"/>
              <a:ext cx="1435887" cy="143588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 name="Group 7">
            <a:extLst>
              <a:ext uri="{FF2B5EF4-FFF2-40B4-BE49-F238E27FC236}">
                <a16:creationId xmlns:a16="http://schemas.microsoft.com/office/drawing/2014/main" id="{8D02F940-EB69-CB44-2B6E-EC9CCAAC4FEF}"/>
              </a:ext>
            </a:extLst>
          </p:cNvPr>
          <p:cNvGrpSpPr/>
          <p:nvPr/>
        </p:nvGrpSpPr>
        <p:grpSpPr>
          <a:xfrm>
            <a:off x="1831974" y="2164827"/>
            <a:ext cx="10039146" cy="2506761"/>
            <a:chOff x="1831974" y="2164827"/>
            <a:chExt cx="10039146" cy="2506761"/>
          </a:xfrm>
        </p:grpSpPr>
        <mc:AlternateContent xmlns:mc="http://schemas.openxmlformats.org/markup-compatibility/2006" xmlns:a14="http://schemas.microsoft.com/office/drawing/2010/main">
          <mc:Choice Requires="a14">
            <p:graphicFrame>
              <p:nvGraphicFramePr>
                <p:cNvPr id="16" name="Object 15">
                  <a:extLst>
                    <a:ext uri="{FF2B5EF4-FFF2-40B4-BE49-F238E27FC236}">
                      <a16:creationId xmlns:a16="http://schemas.microsoft.com/office/drawing/2014/main" id="{132A6B56-D32F-E3FB-2B38-446FBD0E1A61}"/>
                    </a:ext>
                  </a:extLst>
                </p:cNvPr>
                <p:cNvGraphicFramePr>
                  <a:graphicFrameLocks noChangeAspect="1"/>
                </p:cNvGraphicFramePr>
                <p:nvPr/>
              </p:nvGraphicFramePr>
              <p:xfrm>
                <a:off x="5589162" y="3273748"/>
                <a:ext cx="6281958" cy="1397840"/>
              </p:xfrm>
              <a:graphic>
                <a:graphicData uri="http://schemas.openxmlformats.org/presentationml/2006/ole">
                  <mc:AlternateContent>
                    <mc:Choice xmlns:v="urn:schemas-microsoft-com:vml" Requires="v">
                      <p:oleObj name="Equation" r:id="rId4" imgW="3797280" imgH="825480" progId="Equation.DSMT4">
                        <p:embed/>
                      </p:oleObj>
                    </mc:Choice>
                    <mc:Fallback>
                      <p:oleObj name="Equation" r:id="rId4" imgW="3797280" imgH="825480" progId="Equation.DSMT4">
                        <p:embed/>
                        <p:pic>
                          <p:nvPicPr>
                            <p:cNvPr id="16" name="Object 15">
                              <a:extLst>
                                <a:ext uri="{FF2B5EF4-FFF2-40B4-BE49-F238E27FC236}">
                                  <a16:creationId xmlns:a16="http://schemas.microsoft.com/office/drawing/2014/main" id="{132A6B56-D32F-E3FB-2B38-446FBD0E1A61}"/>
                                </a:ext>
                              </a:extLst>
                            </p:cNvPr>
                            <p:cNvPicPr/>
                            <p:nvPr/>
                          </p:nvPicPr>
                          <p:blipFill>
                            <a:blip r:embed="rId5"/>
                            <a:stretch>
                              <a:fillRect/>
                            </a:stretch>
                          </p:blipFill>
                          <p:spPr>
                            <a:xfrm>
                              <a:off x="5589162" y="3273748"/>
                              <a:ext cx="6281958" cy="1397840"/>
                            </a:xfrm>
                            <a:prstGeom prst="rect">
                              <a:avLst/>
                            </a:prstGeom>
                          </p:spPr>
                        </p:pic>
                      </p:oleObj>
                    </mc:Fallback>
                  </mc:AlternateContent>
                </a:graphicData>
              </a:graphic>
            </p:graphicFrame>
          </mc:Choice>
          <mc:Fallback xmlns="">
            <p:graphicFrame>
              <p:nvGraphicFramePr>
                <p:cNvPr id="16" name="Object 15">
                  <a:extLst>
                    <a:ext uri="{FF2B5EF4-FFF2-40B4-BE49-F238E27FC236}">
                      <a16:creationId xmlns:a16="http://schemas.microsoft.com/office/drawing/2014/main" id="{132A6B56-D32F-E3FB-2B38-446FBD0E1A61}"/>
                    </a:ext>
                  </a:extLst>
                </p:cNvPr>
                <p:cNvGraphicFramePr>
                  <a:graphicFrameLocks noChangeAspect="1"/>
                </p:cNvGraphicFramePr>
                <p:nvPr/>
              </p:nvGraphicFramePr>
              <p:xfrm>
                <a:off x="5589162" y="3273748"/>
                <a:ext cx="6281958" cy="1397840"/>
              </p:xfrm>
              <a:graphic>
                <a:graphicData uri="http://schemas.openxmlformats.org/presentationml/2006/ole">
                  <mc:AlternateContent>
                    <mc:Choice xmlns:v="urn:schemas-microsoft-com:vml" Requires="v">
                      <p:oleObj name="Equation" r:id="rId6" imgW="3797280" imgH="825480" progId="Equation.DSMT4">
                        <p:embed/>
                      </p:oleObj>
                    </mc:Choice>
                    <mc:Fallback>
                      <p:oleObj name="Equation" r:id="rId6" imgW="3797280" imgH="825480" progId="Equation.DSMT4">
                        <p:embed/>
                        <p:pic>
                          <p:nvPicPr>
                            <p:cNvPr id="16" name="Object 15">
                              <a:extLst>
                                <a:ext uri="{FF2B5EF4-FFF2-40B4-BE49-F238E27FC236}">
                                  <a16:creationId xmlns:a16="http://schemas.microsoft.com/office/drawing/2014/main" id="{132A6B56-D32F-E3FB-2B38-446FBD0E1A61}"/>
                                </a:ext>
                              </a:extLst>
                            </p:cNvPr>
                            <p:cNvPicPr/>
                            <p:nvPr/>
                          </p:nvPicPr>
                          <p:blipFill>
                            <a:blip r:embed="rId7"/>
                            <a:stretch>
                              <a:fillRect/>
                            </a:stretch>
                          </p:blipFill>
                          <p:spPr>
                            <a:xfrm>
                              <a:off x="5589162" y="3273748"/>
                              <a:ext cx="6281958" cy="1397840"/>
                            </a:xfrm>
                            <a:prstGeom prst="rect">
                              <a:avLst/>
                            </a:prstGeom>
                          </p:spPr>
                        </p:pic>
                      </p:oleObj>
                    </mc:Fallback>
                  </mc:AlternateContent>
                </a:graphicData>
              </a:graphic>
            </p:graphicFrame>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0B7476F-9835-5D1F-46E2-E2C500C26B02}"/>
                    </a:ext>
                  </a:extLst>
                </p:cNvPr>
                <p:cNvSpPr txBox="1"/>
                <p:nvPr/>
              </p:nvSpPr>
              <p:spPr>
                <a:xfrm>
                  <a:off x="1831974" y="3378700"/>
                  <a:ext cx="3757188" cy="1104415"/>
                </a:xfrm>
                <a:prstGeom prst="rect">
                  <a:avLst/>
                </a:prstGeom>
                <a:noFill/>
              </p:spPr>
              <p:txBody>
                <a:bodyPr wrap="square" rtlCol="0">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14:m>
                    <m:oMathPara xmlns:m="http://schemas.openxmlformats.org/officeDocument/2006/math">
                      <m:oMathParaPr>
                        <m:jc m:val="left"/>
                      </m:oMathParaPr>
                      <m:oMath xmlns:m="http://schemas.openxmlformats.org/officeDocument/2006/math">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𝐶𝐸</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num>
                          <m:den>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𝑁</m:t>
                            </m:r>
                          </m:den>
                        </m:f>
                        <m:nary>
                          <m:naryPr>
                            <m:chr m:val="∑"/>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naryPr>
                          <m:sub>
                            <m:r>
                              <m:rPr>
                                <m:brk m:alnAt="23"/>
                              </m:r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sub>
                          <m:sup/>
                          <m:e>
                            <m:nary>
                              <m:naryPr>
                                <m:chr m:val="∑"/>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naryPr>
                              <m:sub>
                                <m:r>
                                  <m:rPr>
                                    <m:brk m:alnAt="23"/>
                                  </m:r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sub>
                              <m:sup/>
                              <m:e>
                                <m:sSub>
                                  <m:sSub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e>
                                  <m:sub>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𝑛𝑗</m:t>
                                    </m:r>
                                  </m:sub>
                                </m:sSub>
                                <m:func>
                                  <m:func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uncPr>
                                  <m:fName>
                                    <m:r>
                                      <m:rPr>
                                        <m:sty m:val="p"/>
                                      </m:rPr>
                                      <a:rPr kumimoji="0" lang="en-US" sz="20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log</m:t>
                                    </m:r>
                                  </m:fName>
                                  <m:e>
                                    <m:sSub>
                                      <m:sSub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𝑝</m:t>
                                        </m:r>
                                      </m:e>
                                      <m:sub>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𝑛𝑗</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sub>
                                    </m:sSub>
                                  </m:e>
                                </m:func>
                              </m:e>
                            </m:nary>
                          </m:e>
                        </m:nary>
                      </m:oMath>
                    </m:oMathPara>
                  </a14:m>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endParaRPr>
                </a:p>
              </p:txBody>
            </p:sp>
          </mc:Choice>
          <mc:Fallback xmlns="">
            <p:sp>
              <p:nvSpPr>
                <p:cNvPr id="17" name="TextBox 16">
                  <a:extLst>
                    <a:ext uri="{FF2B5EF4-FFF2-40B4-BE49-F238E27FC236}">
                      <a16:creationId xmlns:a16="http://schemas.microsoft.com/office/drawing/2014/main" id="{60B7476F-9835-5D1F-46E2-E2C500C26B02}"/>
                    </a:ext>
                  </a:extLst>
                </p:cNvPr>
                <p:cNvSpPr txBox="1">
                  <a:spLocks noRot="1" noChangeAspect="1" noMove="1" noResize="1" noEditPoints="1" noAdjustHandles="1" noChangeArrowheads="1" noChangeShapeType="1" noTextEdit="1"/>
                </p:cNvSpPr>
                <p:nvPr/>
              </p:nvSpPr>
              <p:spPr>
                <a:xfrm>
                  <a:off x="1831974" y="3378700"/>
                  <a:ext cx="3757188" cy="1104415"/>
                </a:xfrm>
                <a:prstGeom prst="rect">
                  <a:avLst/>
                </a:prstGeom>
                <a:blipFill>
                  <a:blip r:embed="rId8"/>
                  <a:stretch>
                    <a:fillRect t="-81818" b="-121591"/>
                  </a:stretch>
                </a:blipFill>
              </p:spPr>
              <p:txBody>
                <a:bodyPr/>
                <a:lstStyle/>
                <a:p>
                  <a:r>
                    <a:rPr lang="en-GB">
                      <a:noFill/>
                    </a:rPr>
                    <a:t> </a:t>
                  </a:r>
                </a:p>
              </p:txBody>
            </p:sp>
          </mc:Fallback>
        </mc:AlternateContent>
        <p:sp>
          <p:nvSpPr>
            <p:cNvPr id="7" name="TextBox 6">
              <a:extLst>
                <a:ext uri="{FF2B5EF4-FFF2-40B4-BE49-F238E27FC236}">
                  <a16:creationId xmlns:a16="http://schemas.microsoft.com/office/drawing/2014/main" id="{20FFF708-1621-78C0-990F-ADB43E540371}"/>
                </a:ext>
              </a:extLst>
            </p:cNvPr>
            <p:cNvSpPr txBox="1"/>
            <p:nvPr/>
          </p:nvSpPr>
          <p:spPr>
            <a:xfrm>
              <a:off x="8669699" y="2164827"/>
              <a:ext cx="1448554" cy="411254"/>
            </a:xfrm>
            <a:prstGeom prst="rect">
              <a:avLst/>
            </a:prstGeom>
            <a:solidFill>
              <a:schemeClr val="accent4">
                <a:lumMod val="20000"/>
                <a:lumOff val="80000"/>
              </a:schemeClr>
            </a:solidFill>
            <a:ln w="12700">
              <a:solidFill>
                <a:schemeClr val="accent1"/>
              </a:solidFill>
            </a:ln>
          </p:spPr>
          <p:txBody>
            <a:bodyPr wrap="square" rtlCol="0">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1"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a.k.a. log loss</a:t>
              </a:r>
            </a:p>
          </p:txBody>
        </p:sp>
        <p:cxnSp>
          <p:nvCxnSpPr>
            <p:cNvPr id="10" name="Straight Arrow Connector 9">
              <a:extLst>
                <a:ext uri="{FF2B5EF4-FFF2-40B4-BE49-F238E27FC236}">
                  <a16:creationId xmlns:a16="http://schemas.microsoft.com/office/drawing/2014/main" id="{1CFAC0DD-100B-9770-EDFB-7A4AB8B9280A}"/>
                </a:ext>
              </a:extLst>
            </p:cNvPr>
            <p:cNvCxnSpPr>
              <a:cxnSpLocks/>
              <a:stCxn id="7" idx="1"/>
            </p:cNvCxnSpPr>
            <p:nvPr/>
          </p:nvCxnSpPr>
          <p:spPr>
            <a:xfrm flipH="1">
              <a:off x="8298507" y="2370454"/>
              <a:ext cx="371192" cy="2056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2" name="Line 2">
            <a:extLst>
              <a:ext uri="{FF2B5EF4-FFF2-40B4-BE49-F238E27FC236}">
                <a16:creationId xmlns:a16="http://schemas.microsoft.com/office/drawing/2014/main" id="{6DCEAF19-A17A-CE84-B332-43D7DEFA5B4E}"/>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3" name="Line 2">
            <a:extLst>
              <a:ext uri="{FF2B5EF4-FFF2-40B4-BE49-F238E27FC236}">
                <a16:creationId xmlns:a16="http://schemas.microsoft.com/office/drawing/2014/main" id="{22EBDEE1-2B6D-4B13-FD56-B7EDF168F0E8}"/>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720961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4" end="4"/>
                                            </p:txEl>
                                          </p:spTgt>
                                        </p:tgtEl>
                                        <p:attrNameLst>
                                          <p:attrName>style.visibility</p:attrName>
                                        </p:attrNameLst>
                                      </p:cBhvr>
                                      <p:to>
                                        <p:strVal val="visible"/>
                                      </p:to>
                                    </p:set>
                                    <p:animEffect transition="in" filter="fade">
                                      <p:cBhvr>
                                        <p:cTn id="7" dur="500"/>
                                        <p:tgtEl>
                                          <p:spTgt spid="9">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Artificial neural networks</a:t>
            </a:r>
          </a:p>
          <a:p>
            <a:endParaRPr lang="en-GB" sz="1800" dirty="0"/>
          </a:p>
        </p:txBody>
      </p:sp>
      <p:sp>
        <p:nvSpPr>
          <p:cNvPr id="5" name="AutoShape 2" descr="Image result for zip file icon"/>
          <p:cNvSpPr>
            <a:spLocks noChangeAspect="1" noChangeArrowheads="1"/>
          </p:cNvSpPr>
          <p:nvPr/>
        </p:nvSpPr>
        <p:spPr bwMode="auto">
          <a:xfrm>
            <a:off x="1679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AutoShape 4" descr="Image result for zip file icon"/>
          <p:cNvSpPr>
            <a:spLocks noChangeAspect="1" noChangeArrowheads="1"/>
          </p:cNvSpPr>
          <p:nvPr/>
        </p:nvSpPr>
        <p:spPr bwMode="auto">
          <a:xfrm>
            <a:off x="1831975" y="793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Box 8"/>
          <p:cNvSpPr txBox="1"/>
          <p:nvPr/>
        </p:nvSpPr>
        <p:spPr>
          <a:xfrm>
            <a:off x="1055440" y="1196752"/>
            <a:ext cx="950505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sng" strike="noStrike" kern="1200" cap="none" spc="0" normalizeH="0" baseline="0" noProof="0" dirty="0">
                <a:ln>
                  <a:noFill/>
                </a:ln>
                <a:solidFill>
                  <a:prstClr val="black"/>
                </a:solidFill>
                <a:effectLst/>
                <a:uLnTx/>
                <a:uFillTx/>
                <a:latin typeface="Calibri"/>
                <a:ea typeface="+mn-ea"/>
                <a:cs typeface="+mn-cs"/>
              </a:rPr>
              <a:t>Types</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4D4017-CCFE-46C6-A9FB-0EFAE082C1AD}"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9"/>
          <p:cNvSpPr txBox="1"/>
          <p:nvPr/>
        </p:nvSpPr>
        <p:spPr>
          <a:xfrm>
            <a:off x="1055440" y="1566085"/>
            <a:ext cx="9505057" cy="4247317"/>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ANNs come in many different types: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Shallow and deep </a:t>
            </a:r>
            <a:r>
              <a:rPr kumimoji="0" lang="en-GB" sz="1800" b="0" i="0" u="none" strike="noStrike" kern="1200" cap="none" spc="0" normalizeH="0" baseline="0" noProof="0" dirty="0" err="1">
                <a:ln>
                  <a:noFill/>
                </a:ln>
                <a:solidFill>
                  <a:prstClr val="black"/>
                </a:solidFill>
                <a:effectLst/>
                <a:uLnTx/>
                <a:uFillTx/>
                <a:latin typeface="Calibri"/>
                <a:ea typeface="+mn-ea"/>
                <a:cs typeface="+mn-cs"/>
              </a:rPr>
              <a:t>MultiLayer</a:t>
            </a:r>
            <a:r>
              <a:rPr kumimoji="0" lang="en-GB" sz="1800" b="0" i="0" u="none" strike="noStrike" kern="1200" cap="none" spc="0" normalizeH="0" baseline="0" noProof="0" dirty="0">
                <a:ln>
                  <a:noFill/>
                </a:ln>
                <a:solidFill>
                  <a:prstClr val="black"/>
                </a:solidFill>
                <a:effectLst/>
                <a:uLnTx/>
                <a:uFillTx/>
                <a:latin typeface="Calibri"/>
                <a:ea typeface="+mn-ea"/>
                <a:cs typeface="+mn-cs"/>
              </a:rPr>
              <a:t> </a:t>
            </a:r>
            <a:r>
              <a:rPr kumimoji="0" lang="en-GB" sz="1800" b="0" i="0" u="none" strike="noStrike" kern="1200" cap="none" spc="0" normalizeH="0" baseline="0" noProof="0" dirty="0" err="1">
                <a:ln>
                  <a:noFill/>
                </a:ln>
                <a:solidFill>
                  <a:prstClr val="black"/>
                </a:solidFill>
                <a:effectLst/>
                <a:uLnTx/>
                <a:uFillTx/>
                <a:latin typeface="Calibri"/>
                <a:ea typeface="+mn-ea"/>
                <a:cs typeface="+mn-cs"/>
              </a:rPr>
              <a:t>Perceptrons</a:t>
            </a: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Convolution neural nets (e.g. computer vision)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Recurrent Neural networks (e.g. text, speech)</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7" name="Picture 16" descr="Screen Clippi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00925" y="1632907"/>
            <a:ext cx="4371975" cy="1491922"/>
          </a:xfrm>
          <a:prstGeom prst="rect">
            <a:avLst/>
          </a:prstGeom>
        </p:spPr>
      </p:pic>
      <p:pic>
        <p:nvPicPr>
          <p:cNvPr id="7" name="Picture 6">
            <a:extLst>
              <a:ext uri="{FF2B5EF4-FFF2-40B4-BE49-F238E27FC236}">
                <a16:creationId xmlns:a16="http://schemas.microsoft.com/office/drawing/2014/main" id="{5F9DA8C8-5E55-3E5D-5B6A-1A159F6CB415}"/>
              </a:ext>
            </a:extLst>
          </p:cNvPr>
          <p:cNvPicPr>
            <a:picLocks noChangeAspect="1"/>
          </p:cNvPicPr>
          <p:nvPr/>
        </p:nvPicPr>
        <p:blipFill>
          <a:blip r:embed="rId4"/>
          <a:stretch>
            <a:fillRect/>
          </a:stretch>
        </p:blipFill>
        <p:spPr>
          <a:xfrm>
            <a:off x="7591425" y="4969662"/>
            <a:ext cx="3867150" cy="1678411"/>
          </a:xfrm>
          <a:prstGeom prst="rect">
            <a:avLst/>
          </a:prstGeom>
        </p:spPr>
      </p:pic>
      <p:pic>
        <p:nvPicPr>
          <p:cNvPr id="8" name="Picture 7">
            <a:extLst>
              <a:ext uri="{FF2B5EF4-FFF2-40B4-BE49-F238E27FC236}">
                <a16:creationId xmlns:a16="http://schemas.microsoft.com/office/drawing/2014/main" id="{380D2102-BF54-CA9B-CAE0-01AA59C0B947}"/>
              </a:ext>
            </a:extLst>
          </p:cNvPr>
          <p:cNvPicPr>
            <a:picLocks noChangeAspect="1"/>
          </p:cNvPicPr>
          <p:nvPr/>
        </p:nvPicPr>
        <p:blipFill rotWithShape="1">
          <a:blip r:embed="rId5"/>
          <a:srcRect l="3118" t="11121" r="2913" b="12395"/>
          <a:stretch/>
        </p:blipFill>
        <p:spPr>
          <a:xfrm>
            <a:off x="7467601" y="3425824"/>
            <a:ext cx="4399894" cy="1372961"/>
          </a:xfrm>
          <a:prstGeom prst="rect">
            <a:avLst/>
          </a:prstGeom>
        </p:spPr>
      </p:pic>
      <p:sp>
        <p:nvSpPr>
          <p:cNvPr id="11" name="Line 2">
            <a:extLst>
              <a:ext uri="{FF2B5EF4-FFF2-40B4-BE49-F238E27FC236}">
                <a16:creationId xmlns:a16="http://schemas.microsoft.com/office/drawing/2014/main" id="{C32601B2-613F-F4FC-1301-3C48B73C9EC5}"/>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2" name="Line 2">
            <a:extLst>
              <a:ext uri="{FF2B5EF4-FFF2-40B4-BE49-F238E27FC236}">
                <a16:creationId xmlns:a16="http://schemas.microsoft.com/office/drawing/2014/main" id="{0FD332EA-0ABA-8C33-7664-70A9811592CE}"/>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22273024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659FD-F613-2EB7-C3EA-06025CD4D3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A20381-E1C0-9F56-35CF-BE0909AC17BB}"/>
              </a:ext>
            </a:extLst>
          </p:cNvPr>
          <p:cNvSpPr>
            <a:spLocks noGrp="1"/>
          </p:cNvSpPr>
          <p:nvPr>
            <p:ph type="title"/>
          </p:nvPr>
        </p:nvSpPr>
        <p:spPr/>
        <p:txBody>
          <a:bodyPr/>
          <a:lstStyle/>
          <a:p>
            <a:r>
              <a:rPr lang="en-GB" dirty="0"/>
              <a:t>Artificial neural networks</a:t>
            </a:r>
          </a:p>
          <a:p>
            <a:endParaRPr lang="en-GB" sz="1800" dirty="0"/>
          </a:p>
        </p:txBody>
      </p:sp>
      <p:sp>
        <p:nvSpPr>
          <p:cNvPr id="5" name="AutoShape 2" descr="Image result for zip file icon">
            <a:extLst>
              <a:ext uri="{FF2B5EF4-FFF2-40B4-BE49-F238E27FC236}">
                <a16:creationId xmlns:a16="http://schemas.microsoft.com/office/drawing/2014/main" id="{E85C5260-A329-F73B-331E-D0960EF41F39}"/>
              </a:ext>
            </a:extLst>
          </p:cNvPr>
          <p:cNvSpPr>
            <a:spLocks noChangeAspect="1" noChangeArrowheads="1"/>
          </p:cNvSpPr>
          <p:nvPr/>
        </p:nvSpPr>
        <p:spPr bwMode="auto">
          <a:xfrm>
            <a:off x="1679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AutoShape 4" descr="Image result for zip file icon">
            <a:extLst>
              <a:ext uri="{FF2B5EF4-FFF2-40B4-BE49-F238E27FC236}">
                <a16:creationId xmlns:a16="http://schemas.microsoft.com/office/drawing/2014/main" id="{4F8800E5-6B2A-AAB8-804B-91A552D0CA5B}"/>
              </a:ext>
            </a:extLst>
          </p:cNvPr>
          <p:cNvSpPr>
            <a:spLocks noChangeAspect="1" noChangeArrowheads="1"/>
          </p:cNvSpPr>
          <p:nvPr/>
        </p:nvSpPr>
        <p:spPr bwMode="auto">
          <a:xfrm>
            <a:off x="1831975" y="793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Box 8">
            <a:extLst>
              <a:ext uri="{FF2B5EF4-FFF2-40B4-BE49-F238E27FC236}">
                <a16:creationId xmlns:a16="http://schemas.microsoft.com/office/drawing/2014/main" id="{C1F87139-8508-8CF5-32B4-D3F2A1D76D08}"/>
              </a:ext>
            </a:extLst>
          </p:cNvPr>
          <p:cNvSpPr txBox="1"/>
          <p:nvPr/>
        </p:nvSpPr>
        <p:spPr>
          <a:xfrm>
            <a:off x="1055440" y="1196752"/>
            <a:ext cx="950505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sng" strike="noStrike" kern="1200" cap="none" spc="0" normalizeH="0" baseline="0" noProof="0" dirty="0">
                <a:ln>
                  <a:noFill/>
                </a:ln>
                <a:solidFill>
                  <a:prstClr val="black"/>
                </a:solidFill>
                <a:effectLst/>
                <a:uLnTx/>
                <a:uFillTx/>
                <a:latin typeface="Calibri"/>
                <a:ea typeface="+mn-ea"/>
                <a:cs typeface="+mn-cs"/>
              </a:rPr>
              <a:t>Types</a:t>
            </a:r>
          </a:p>
        </p:txBody>
      </p:sp>
      <p:sp>
        <p:nvSpPr>
          <p:cNvPr id="4" name="Slide Number Placeholder 3">
            <a:extLst>
              <a:ext uri="{FF2B5EF4-FFF2-40B4-BE49-F238E27FC236}">
                <a16:creationId xmlns:a16="http://schemas.microsoft.com/office/drawing/2014/main" id="{8216CBFF-0A36-32CD-99D9-7AE9511F6E6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4D4017-CCFE-46C6-A9FB-0EFAE082C1AD}"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DC4654DC-DDC6-2854-D1F2-BF94052CE0C8}"/>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9">
            <a:extLst>
              <a:ext uri="{FF2B5EF4-FFF2-40B4-BE49-F238E27FC236}">
                <a16:creationId xmlns:a16="http://schemas.microsoft.com/office/drawing/2014/main" id="{7AADF525-5780-2C93-D35F-AED244B34157}"/>
              </a:ext>
            </a:extLst>
          </p:cNvPr>
          <p:cNvSpPr txBox="1"/>
          <p:nvPr/>
        </p:nvSpPr>
        <p:spPr>
          <a:xfrm>
            <a:off x="1055440" y="1566085"/>
            <a:ext cx="9505057" cy="3693319"/>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ANNs come in many different types: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Transformers and attention layers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1" name="Line 2">
            <a:extLst>
              <a:ext uri="{FF2B5EF4-FFF2-40B4-BE49-F238E27FC236}">
                <a16:creationId xmlns:a16="http://schemas.microsoft.com/office/drawing/2014/main" id="{58FDE910-6991-C466-2AD5-58DD37C64A72}"/>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2" name="Line 2">
            <a:extLst>
              <a:ext uri="{FF2B5EF4-FFF2-40B4-BE49-F238E27FC236}">
                <a16:creationId xmlns:a16="http://schemas.microsoft.com/office/drawing/2014/main" id="{1EAB550B-ED74-99A1-8711-3403EC0021A5}"/>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pic>
        <p:nvPicPr>
          <p:cNvPr id="14" name="Picture 13">
            <a:extLst>
              <a:ext uri="{FF2B5EF4-FFF2-40B4-BE49-F238E27FC236}">
                <a16:creationId xmlns:a16="http://schemas.microsoft.com/office/drawing/2014/main" id="{CC69EBB0-E416-9B28-6CBA-E174F008E336}"/>
              </a:ext>
            </a:extLst>
          </p:cNvPr>
          <p:cNvPicPr>
            <a:picLocks noChangeAspect="1"/>
          </p:cNvPicPr>
          <p:nvPr/>
        </p:nvPicPr>
        <p:blipFill>
          <a:blip r:embed="rId3"/>
          <a:stretch>
            <a:fillRect/>
          </a:stretch>
        </p:blipFill>
        <p:spPr>
          <a:xfrm>
            <a:off x="4851457" y="2437819"/>
            <a:ext cx="5823631" cy="3783206"/>
          </a:xfrm>
          <a:prstGeom prst="rect">
            <a:avLst/>
          </a:prstGeom>
        </p:spPr>
      </p:pic>
      <p:pic>
        <p:nvPicPr>
          <p:cNvPr id="16" name="Picture 15">
            <a:extLst>
              <a:ext uri="{FF2B5EF4-FFF2-40B4-BE49-F238E27FC236}">
                <a16:creationId xmlns:a16="http://schemas.microsoft.com/office/drawing/2014/main" id="{09EFD335-156A-F3E7-79F8-75D08040AC3E}"/>
              </a:ext>
            </a:extLst>
          </p:cNvPr>
          <p:cNvPicPr>
            <a:picLocks noChangeAspect="1"/>
          </p:cNvPicPr>
          <p:nvPr/>
        </p:nvPicPr>
        <p:blipFill>
          <a:blip r:embed="rId4"/>
          <a:stretch>
            <a:fillRect/>
          </a:stretch>
        </p:blipFill>
        <p:spPr>
          <a:xfrm>
            <a:off x="1200622" y="2437819"/>
            <a:ext cx="3324495" cy="3799423"/>
          </a:xfrm>
          <a:prstGeom prst="rect">
            <a:avLst/>
          </a:prstGeom>
        </p:spPr>
      </p:pic>
    </p:spTree>
    <p:extLst>
      <p:ext uri="{BB962C8B-B14F-4D97-AF65-F5344CB8AC3E}">
        <p14:creationId xmlns:p14="http://schemas.microsoft.com/office/powerpoint/2010/main" val="29300830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6466730"/>
          </a:xfrm>
        </p:spPr>
        <p:txBody>
          <a:bodyPr/>
          <a:lstStyle/>
          <a:p>
            <a:r>
              <a:rPr lang="en-GB" sz="4000" dirty="0"/>
              <a:t>Training ANNs</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nl-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00665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Content Placeholder 2"/>
          <p:cNvSpPr>
            <a:spLocks noGrp="1"/>
          </p:cNvSpPr>
          <p:nvPr>
            <p:ph idx="1"/>
          </p:nvPr>
        </p:nvSpPr>
        <p:spPr>
          <a:xfrm>
            <a:off x="720000" y="1268760"/>
            <a:ext cx="11017224" cy="5400600"/>
          </a:xfrm>
        </p:spPr>
        <p:txBody>
          <a:bodyPr>
            <a:normAutofit/>
          </a:bodyPr>
          <a:lstStyle/>
          <a:p>
            <a:pPr marL="360363" lvl="1" indent="-360363">
              <a:buFont typeface="Arial" panose="020B0604020202020204" pitchFamily="34" charset="0"/>
              <a:buChar char="•"/>
              <a:tabLst>
                <a:tab pos="3138488" algn="l"/>
              </a:tabLst>
            </a:pPr>
            <a:r>
              <a:rPr lang="en-GB" sz="1800" b="1" dirty="0"/>
              <a:t>Training ANNs is nontrivial</a:t>
            </a:r>
          </a:p>
          <a:p>
            <a:pPr marL="360363" lvl="1" indent="-360363">
              <a:buFont typeface="Arial" panose="020B0604020202020204" pitchFamily="34" charset="0"/>
              <a:buChar char="•"/>
              <a:tabLst>
                <a:tab pos="3138488" algn="l"/>
              </a:tabLst>
            </a:pPr>
            <a:endParaRPr lang="en-GB" sz="1800" dirty="0"/>
          </a:p>
          <a:p>
            <a:pPr marL="360363" lvl="1" indent="-360363">
              <a:buFont typeface="Arial" panose="020B0604020202020204" pitchFamily="34" charset="0"/>
              <a:buChar char="•"/>
              <a:tabLst>
                <a:tab pos="3138488" algn="l"/>
              </a:tabLst>
            </a:pPr>
            <a:r>
              <a:rPr lang="en-GB" sz="1800" dirty="0"/>
              <a:t>Before we can train an ANN, we must </a:t>
            </a:r>
            <a:r>
              <a:rPr lang="en-GB" sz="1800" b="1" dirty="0"/>
              <a:t>pre-process</a:t>
            </a:r>
            <a:r>
              <a:rPr lang="en-GB" sz="1800" dirty="0"/>
              <a:t> our data</a:t>
            </a:r>
          </a:p>
          <a:p>
            <a:pPr marL="360363" lvl="1" indent="-360363">
              <a:buFont typeface="Arial" panose="020B0604020202020204" pitchFamily="34" charset="0"/>
              <a:buChar char="•"/>
              <a:tabLst>
                <a:tab pos="3138488" algn="l"/>
              </a:tabLst>
            </a:pPr>
            <a:endParaRPr lang="en-GB" dirty="0"/>
          </a:p>
          <a:p>
            <a:pPr marL="360363" lvl="1" indent="-360363">
              <a:buFont typeface="Arial" panose="020B0604020202020204" pitchFamily="34" charset="0"/>
              <a:buChar char="•"/>
              <a:tabLst>
                <a:tab pos="3138488" algn="l"/>
              </a:tabLst>
            </a:pPr>
            <a:r>
              <a:rPr lang="en-GB" b="1" dirty="0"/>
              <a:t>Pre-processing </a:t>
            </a:r>
            <a:r>
              <a:rPr lang="en-GB" dirty="0"/>
              <a:t>makes </a:t>
            </a:r>
            <a:r>
              <a:rPr lang="en-GB" sz="1800" dirty="0"/>
              <a:t>training ANNs more </a:t>
            </a:r>
            <a:r>
              <a:rPr lang="en-GB" sz="1800" b="1" dirty="0"/>
              <a:t>efficiently</a:t>
            </a:r>
          </a:p>
          <a:p>
            <a:pPr marL="760413" lvl="2" indent="-360363">
              <a:buFont typeface="Wingdings" panose="05000000000000000000" pitchFamily="2" charset="2"/>
              <a:buChar char="Ø"/>
              <a:tabLst>
                <a:tab pos="3138488" algn="l"/>
              </a:tabLst>
            </a:pPr>
            <a:r>
              <a:rPr lang="en-GB" dirty="0"/>
              <a:t>Efficiently here refers to finding a better solution with the same amount of data</a:t>
            </a:r>
          </a:p>
          <a:p>
            <a:pPr marL="760413" lvl="2" indent="-360363">
              <a:buFont typeface="+mj-lt"/>
              <a:buAutoNum type="arabicPeriod"/>
              <a:tabLst>
                <a:tab pos="3138488" algn="l"/>
              </a:tabLst>
            </a:pPr>
            <a:endParaRPr lang="en-GB" b="1" dirty="0"/>
          </a:p>
          <a:p>
            <a:pPr marL="1217613" lvl="3" indent="-360363">
              <a:buFont typeface="+mj-lt"/>
              <a:buAutoNum type="arabicPeriod"/>
              <a:tabLst>
                <a:tab pos="3138488" algn="l"/>
              </a:tabLst>
            </a:pPr>
            <a:r>
              <a:rPr lang="en-GB" b="1" dirty="0"/>
              <a:t>Features must be scaled</a:t>
            </a:r>
            <a:endParaRPr lang="en-GB" dirty="0"/>
          </a:p>
          <a:p>
            <a:pPr marL="1217613" lvl="3" indent="-360363">
              <a:buFont typeface="+mj-lt"/>
              <a:buAutoNum type="arabicPeriod"/>
              <a:tabLst>
                <a:tab pos="3138488" algn="l"/>
              </a:tabLst>
            </a:pPr>
            <a:endParaRPr lang="en-GB" b="1" dirty="0"/>
          </a:p>
          <a:p>
            <a:pPr marL="1217613" lvl="3" indent="-360363">
              <a:buFont typeface="+mj-lt"/>
              <a:buAutoNum type="arabicPeriod"/>
              <a:tabLst>
                <a:tab pos="3138488" algn="l"/>
              </a:tabLst>
            </a:pPr>
            <a:r>
              <a:rPr lang="en-GB" b="1" dirty="0"/>
              <a:t>Categorical features must be dummy encoded</a:t>
            </a:r>
          </a:p>
          <a:p>
            <a:pPr marL="1217613" lvl="3" indent="-360363">
              <a:buFont typeface="+mj-lt"/>
              <a:buAutoNum type="arabicPeriod"/>
              <a:tabLst>
                <a:tab pos="3138488" algn="l"/>
              </a:tabLst>
            </a:pPr>
            <a:endParaRPr lang="en-GB" b="1" dirty="0"/>
          </a:p>
          <a:p>
            <a:pPr marL="1217613" lvl="3" indent="-360363">
              <a:buFont typeface="+mj-lt"/>
              <a:buAutoNum type="arabicPeriod"/>
              <a:tabLst>
                <a:tab pos="3138488" algn="l"/>
              </a:tabLst>
            </a:pPr>
            <a:r>
              <a:rPr lang="en-GB" b="1" dirty="0"/>
              <a:t>Missing values must be handled</a:t>
            </a:r>
            <a:endParaRPr lang="en-GB" dirty="0"/>
          </a:p>
        </p:txBody>
      </p:sp>
      <p:sp>
        <p:nvSpPr>
          <p:cNvPr id="6" name="Title 1"/>
          <p:cNvSpPr>
            <a:spLocks noGrp="1"/>
          </p:cNvSpPr>
          <p:nvPr>
            <p:ph type="title"/>
          </p:nvPr>
        </p:nvSpPr>
        <p:spPr>
          <a:xfrm>
            <a:off x="1981200" y="-58697"/>
            <a:ext cx="8229600" cy="1143000"/>
          </a:xfrm>
        </p:spPr>
        <p:txBody>
          <a:bodyPr/>
          <a:lstStyle/>
          <a:p>
            <a:r>
              <a:rPr lang="en-GB" dirty="0"/>
              <a:t>Training ANNs</a:t>
            </a:r>
            <a:endParaRPr lang="en-GB" sz="1800" dirty="0"/>
          </a:p>
        </p:txBody>
      </p:sp>
      <p:sp>
        <p:nvSpPr>
          <p:cNvPr id="2" name="Right Brace 1">
            <a:extLst>
              <a:ext uri="{FF2B5EF4-FFF2-40B4-BE49-F238E27FC236}">
                <a16:creationId xmlns:a16="http://schemas.microsoft.com/office/drawing/2014/main" id="{F86190AF-2C65-CF34-82F7-49687212CF7F}"/>
              </a:ext>
            </a:extLst>
          </p:cNvPr>
          <p:cNvSpPr/>
          <p:nvPr/>
        </p:nvSpPr>
        <p:spPr>
          <a:xfrm>
            <a:off x="6456891" y="3979327"/>
            <a:ext cx="346509" cy="104915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3FD8C99E-03E2-F5D4-3DF6-8144846B8DA9}"/>
              </a:ext>
            </a:extLst>
          </p:cNvPr>
          <p:cNvSpPr txBox="1"/>
          <p:nvPr/>
        </p:nvSpPr>
        <p:spPr>
          <a:xfrm>
            <a:off x="7255788" y="4181457"/>
            <a:ext cx="2675823" cy="940870"/>
          </a:xfrm>
          <a:prstGeom prst="rect">
            <a:avLst/>
          </a:prstGeom>
          <a:noFill/>
        </p:spPr>
        <p:txBody>
          <a:bodyPr wrap="square" rtlCol="0">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US"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Just like in case of traditional choice models</a:t>
            </a:r>
          </a:p>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endParaRPr kumimoji="0" lang="en-US"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endParaRPr>
          </a:p>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endParaRPr kumimoji="0" lang="en-NL"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endParaRPr>
          </a:p>
        </p:txBody>
      </p:sp>
      <p:sp>
        <p:nvSpPr>
          <p:cNvPr id="7" name="Line 2">
            <a:extLst>
              <a:ext uri="{FF2B5EF4-FFF2-40B4-BE49-F238E27FC236}">
                <a16:creationId xmlns:a16="http://schemas.microsoft.com/office/drawing/2014/main" id="{F7B2907E-061E-DA22-E4D7-9B55C691573D}"/>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8" name="Line 2">
            <a:extLst>
              <a:ext uri="{FF2B5EF4-FFF2-40B4-BE49-F238E27FC236}">
                <a16:creationId xmlns:a16="http://schemas.microsoft.com/office/drawing/2014/main" id="{DA6E75BF-B99D-96FE-8E20-92985257BC26}"/>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32912631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Screen Clipping">
            <a:extLst>
              <a:ext uri="{FF2B5EF4-FFF2-40B4-BE49-F238E27FC236}">
                <a16:creationId xmlns:a16="http://schemas.microsoft.com/office/drawing/2014/main" id="{7D519E19-022E-F8ED-0573-CFA95DCF3B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7451" y="2992767"/>
            <a:ext cx="5805687" cy="1799591"/>
          </a:xfrm>
          <a:prstGeom prst="rect">
            <a:avLst/>
          </a:prstGeom>
          <a:ln>
            <a:noFill/>
          </a:ln>
          <a:effectLst>
            <a:outerShdw blurRad="292100" dist="139700" dir="2700000" algn="tl" rotWithShape="0">
              <a:srgbClr val="333333">
                <a:alpha val="65000"/>
              </a:srgbClr>
            </a:outerShdw>
          </a:effectLst>
        </p:spPr>
      </p:pic>
      <p:pic>
        <p:nvPicPr>
          <p:cNvPr id="18" name="Picture 17" descr="Screen Clipping">
            <a:extLst>
              <a:ext uri="{FF2B5EF4-FFF2-40B4-BE49-F238E27FC236}">
                <a16:creationId xmlns:a16="http://schemas.microsoft.com/office/drawing/2014/main" id="{F6D57E0D-0123-2A36-0835-1BA12FC199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17451" y="5056437"/>
            <a:ext cx="5804325" cy="1695267"/>
          </a:xfrm>
          <a:prstGeom prst="rect">
            <a:avLst/>
          </a:prstGeom>
          <a:ln>
            <a:noFill/>
          </a:ln>
          <a:effectLst>
            <a:outerShdw blurRad="292100" dist="139700" dir="2700000" algn="tl" rotWithShape="0">
              <a:srgbClr val="333333">
                <a:alpha val="65000"/>
              </a:srgbClr>
            </a:outerShdw>
          </a:effectLst>
        </p:spPr>
      </p:pic>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6" name="Picture 15"/>
          <p:cNvPicPr>
            <a:picLocks noChangeAspect="1"/>
          </p:cNvPicPr>
          <p:nvPr/>
        </p:nvPicPr>
        <p:blipFill rotWithShape="1">
          <a:blip r:embed="rId5">
            <a:extLst>
              <a:ext uri="{28A0092B-C50C-407E-A947-70E740481C1C}">
                <a14:useLocalDpi xmlns:a14="http://schemas.microsoft.com/office/drawing/2010/main" val="0"/>
              </a:ext>
            </a:extLst>
          </a:blip>
          <a:srcRect b="51237"/>
          <a:stretch/>
        </p:blipFill>
        <p:spPr>
          <a:xfrm>
            <a:off x="7644007" y="2992914"/>
            <a:ext cx="1762413" cy="1743472"/>
          </a:xfrm>
          <a:prstGeom prst="rect">
            <a:avLst/>
          </a:prstGeom>
          <a:ln>
            <a:noFill/>
          </a:ln>
          <a:effectLst>
            <a:outerShdw blurRad="190500" dist="63500" dir="2700000" sx="95000" sy="95000" algn="tl" rotWithShape="0">
              <a:srgbClr val="333333">
                <a:alpha val="20000"/>
              </a:srgbClr>
            </a:outerShdw>
          </a:effectLst>
        </p:spPr>
      </p:pic>
      <p:sp>
        <p:nvSpPr>
          <p:cNvPr id="11" name="Content Placeholder 2"/>
          <p:cNvSpPr txBox="1">
            <a:spLocks/>
          </p:cNvSpPr>
          <p:nvPr/>
        </p:nvSpPr>
        <p:spPr>
          <a:xfrm>
            <a:off x="720000" y="1268760"/>
            <a:ext cx="11017224" cy="174347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60363" marR="0" lvl="1" indent="-360363"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tab pos="3138488" algn="l"/>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Scaling</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greatly reduces the likelihood of getting stuck in </a:t>
            </a: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poor local solutions</a:t>
            </a:r>
          </a:p>
          <a:p>
            <a:pPr marL="360363" marR="0" lvl="1" indent="-360363"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tab pos="3138488" algn="l"/>
              </a:tabLst>
              <a:defRPr/>
            </a:pPr>
            <a:r>
              <a:rPr kumimoji="0" lang="en-GB" sz="1800" b="0" i="0" u="none" strike="noStrike" kern="1200" cap="none" spc="0" normalizeH="0" baseline="0" noProof="0" dirty="0" err="1">
                <a:ln>
                  <a:noFill/>
                </a:ln>
                <a:solidFill>
                  <a:prstClr val="black"/>
                </a:solidFill>
                <a:effectLst/>
                <a:uLnTx/>
                <a:uFillTx/>
                <a:latin typeface="Calibri" panose="020F0502020204030204"/>
                <a:ea typeface="+mn-ea"/>
                <a:cs typeface="+mn-cs"/>
              </a:rPr>
              <a:t>SciKit-learn’s</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1800" b="1" i="0" u="none" strike="noStrike" kern="1200" cap="none" spc="0" normalizeH="0" baseline="0" noProof="0" dirty="0" err="1">
                <a:ln>
                  <a:noFill/>
                </a:ln>
                <a:solidFill>
                  <a:prstClr val="black"/>
                </a:solidFill>
                <a:effectLst/>
                <a:uLnTx/>
                <a:uFillTx/>
                <a:latin typeface="Calibri" panose="020F0502020204030204"/>
                <a:ea typeface="+mn-ea"/>
                <a:cs typeface="+mn-cs"/>
              </a:rPr>
              <a:t>StandardScaler</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is a commonly used scaler, which shifts the mean of each feature to zero and its standard deviation to 1</a:t>
            </a:r>
          </a:p>
        </p:txBody>
      </p:sp>
      <p:sp>
        <p:nvSpPr>
          <p:cNvPr id="3" name="Rectangle 2"/>
          <p:cNvSpPr/>
          <p:nvPr/>
        </p:nvSpPr>
        <p:spPr>
          <a:xfrm>
            <a:off x="1559496" y="5657285"/>
            <a:ext cx="5762280" cy="18017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p:sp>
        <p:nvSpPr>
          <p:cNvPr id="12" name="TextBox 11"/>
          <p:cNvSpPr txBox="1"/>
          <p:nvPr/>
        </p:nvSpPr>
        <p:spPr>
          <a:xfrm>
            <a:off x="47328" y="5183900"/>
            <a:ext cx="1512168" cy="1385762"/>
          </a:xfrm>
          <a:prstGeom prst="rect">
            <a:avLst/>
          </a:prstGeom>
          <a:noFill/>
          <a:ln>
            <a:noFill/>
          </a:ln>
        </p:spPr>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err="1">
                <a:ln>
                  <a:noFill/>
                </a:ln>
                <a:solidFill>
                  <a:srgbClr val="00B050"/>
                </a:solidFill>
                <a:effectLst/>
                <a:uLnTx/>
                <a:uFillTx/>
                <a:latin typeface="Calibri" panose="020F0502020204030204"/>
                <a:ea typeface="+mn-ea"/>
                <a:cs typeface="+mn-cs"/>
              </a:rPr>
              <a:t>StandardScaler</a:t>
            </a:r>
            <a:endParaRPr kumimoji="0" lang="en-GB" sz="1600" b="1"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p:sp>
        <p:nvSpPr>
          <p:cNvPr id="14" name="TextBox 13"/>
          <p:cNvSpPr txBox="1"/>
          <p:nvPr/>
        </p:nvSpPr>
        <p:spPr>
          <a:xfrm>
            <a:off x="0" y="3437173"/>
            <a:ext cx="1559496" cy="1304697"/>
          </a:xfrm>
          <a:prstGeom prst="rect">
            <a:avLst/>
          </a:prstGeom>
          <a:noFill/>
          <a:ln>
            <a:noFill/>
          </a:ln>
        </p:spPr>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0B050"/>
                </a:solidFill>
                <a:effectLst/>
                <a:uLnTx/>
                <a:uFillTx/>
                <a:latin typeface="Calibri" panose="020F0502020204030204"/>
                <a:ea typeface="+mn-ea"/>
                <a:cs typeface="+mn-cs"/>
              </a:rPr>
              <a:t>Original data</a:t>
            </a:r>
          </a:p>
        </p:txBody>
      </p:sp>
      <p:cxnSp>
        <p:nvCxnSpPr>
          <p:cNvPr id="5" name="Straight Connector 4">
            <a:extLst>
              <a:ext uri="{FF2B5EF4-FFF2-40B4-BE49-F238E27FC236}">
                <a16:creationId xmlns:a16="http://schemas.microsoft.com/office/drawing/2014/main" id="{7900870A-0BEF-AB98-F30B-F2E19AEF5180}"/>
              </a:ext>
            </a:extLst>
          </p:cNvPr>
          <p:cNvCxnSpPr/>
          <p:nvPr/>
        </p:nvCxnSpPr>
        <p:spPr>
          <a:xfrm>
            <a:off x="1526842" y="4911164"/>
            <a:ext cx="90000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6462CE8-B1EC-6FE6-15B9-35BE22A31B18}"/>
              </a:ext>
            </a:extLst>
          </p:cNvPr>
          <p:cNvCxnSpPr/>
          <p:nvPr/>
        </p:nvCxnSpPr>
        <p:spPr>
          <a:xfrm>
            <a:off x="1526840" y="2949013"/>
            <a:ext cx="90000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5C8A7FC-0BB9-4040-9A6C-EA7D841D7504}"/>
              </a:ext>
            </a:extLst>
          </p:cNvPr>
          <p:cNvCxnSpPr/>
          <p:nvPr/>
        </p:nvCxnSpPr>
        <p:spPr>
          <a:xfrm>
            <a:off x="1518676" y="6798262"/>
            <a:ext cx="90000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C951CE58-48A3-6BD6-8E22-6F03E4128D3B}"/>
              </a:ext>
            </a:extLst>
          </p:cNvPr>
          <p:cNvPicPr>
            <a:picLocks noChangeAspect="1"/>
          </p:cNvPicPr>
          <p:nvPr/>
        </p:nvPicPr>
        <p:blipFill rotWithShape="1">
          <a:blip r:embed="rId5">
            <a:extLst>
              <a:ext uri="{28A0092B-C50C-407E-A947-70E740481C1C}">
                <a14:useLocalDpi xmlns:a14="http://schemas.microsoft.com/office/drawing/2010/main" val="0"/>
              </a:ext>
            </a:extLst>
          </a:blip>
          <a:srcRect t="50694"/>
          <a:stretch/>
        </p:blipFill>
        <p:spPr>
          <a:xfrm>
            <a:off x="7644008" y="5051710"/>
            <a:ext cx="1762413" cy="1762880"/>
          </a:xfrm>
          <a:prstGeom prst="rect">
            <a:avLst/>
          </a:prstGeom>
          <a:ln>
            <a:noFill/>
          </a:ln>
          <a:effectLst>
            <a:outerShdw blurRad="190500" dist="63500" dir="2700000" sx="95000" sy="95000" algn="tl" rotWithShape="0">
              <a:srgbClr val="333333">
                <a:alpha val="20000"/>
              </a:srgbClr>
            </a:outerShdw>
          </a:effectLst>
        </p:spPr>
      </p:pic>
      <p:sp>
        <p:nvSpPr>
          <p:cNvPr id="2" name="TextBox 1">
            <a:extLst>
              <a:ext uri="{FF2B5EF4-FFF2-40B4-BE49-F238E27FC236}">
                <a16:creationId xmlns:a16="http://schemas.microsoft.com/office/drawing/2014/main" id="{82F4A968-879D-16D3-8321-9F8F3DD4C5EF}"/>
              </a:ext>
            </a:extLst>
          </p:cNvPr>
          <p:cNvSpPr txBox="1"/>
          <p:nvPr/>
        </p:nvSpPr>
        <p:spPr>
          <a:xfrm>
            <a:off x="10057868" y="3235462"/>
            <a:ext cx="1923454" cy="1387698"/>
          </a:xfrm>
          <a:prstGeom prst="rect">
            <a:avLst/>
          </a:prstGeom>
          <a:solidFill>
            <a:schemeClr val="accent4">
              <a:lumMod val="20000"/>
              <a:lumOff val="80000"/>
            </a:schemeClr>
          </a:solidFill>
          <a:ln>
            <a:solidFill>
              <a:srgbClr val="24B5B3"/>
            </a:solid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mn-cs"/>
              </a:rPr>
              <a:t>Important: always use </a:t>
            </a:r>
            <a:r>
              <a:rPr kumimoji="0" lang="en-GB" sz="1800" b="1" i="0" u="none" strike="noStrike" kern="1200" cap="none" spc="0" normalizeH="0" baseline="0" noProof="0" dirty="0">
                <a:ln>
                  <a:noFill/>
                </a:ln>
                <a:solidFill>
                  <a:srgbClr val="24B5B3"/>
                </a:solidFill>
                <a:effectLst/>
                <a:uLnTx/>
                <a:uFillTx/>
                <a:latin typeface="Calibri" panose="020F0502020204030204"/>
                <a:ea typeface="+mn-ea"/>
                <a:cs typeface="+mn-cs"/>
              </a:rPr>
              <a:t>the same </a:t>
            </a:r>
            <a:r>
              <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mn-cs"/>
              </a:rPr>
              <a:t>scaler for the train and test data!</a:t>
            </a:r>
          </a:p>
        </p:txBody>
      </p:sp>
      <p:sp>
        <p:nvSpPr>
          <p:cNvPr id="13" name="Title 1">
            <a:extLst>
              <a:ext uri="{FF2B5EF4-FFF2-40B4-BE49-F238E27FC236}">
                <a16:creationId xmlns:a16="http://schemas.microsoft.com/office/drawing/2014/main" id="{FC59C73A-A1E3-2B37-2D17-AD97DE60B257}"/>
              </a:ext>
            </a:extLst>
          </p:cNvPr>
          <p:cNvSpPr>
            <a:spLocks noGrp="1"/>
          </p:cNvSpPr>
          <p:nvPr>
            <p:ph type="title"/>
          </p:nvPr>
        </p:nvSpPr>
        <p:spPr>
          <a:xfrm>
            <a:off x="1981200" y="-58697"/>
            <a:ext cx="8229600" cy="1143000"/>
          </a:xfrm>
        </p:spPr>
        <p:txBody>
          <a:bodyPr/>
          <a:lstStyle/>
          <a:p>
            <a:r>
              <a:rPr lang="en-GB" dirty="0"/>
              <a:t>Training ANNs</a:t>
            </a:r>
            <a:endParaRPr lang="en-GB" sz="1800" dirty="0"/>
          </a:p>
        </p:txBody>
      </p:sp>
      <p:sp>
        <p:nvSpPr>
          <p:cNvPr id="19" name="Line 2">
            <a:extLst>
              <a:ext uri="{FF2B5EF4-FFF2-40B4-BE49-F238E27FC236}">
                <a16:creationId xmlns:a16="http://schemas.microsoft.com/office/drawing/2014/main" id="{20E74320-51DA-A9CB-B25E-7DF5FE6A24B8}"/>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20" name="Line 2">
            <a:extLst>
              <a:ext uri="{FF2B5EF4-FFF2-40B4-BE49-F238E27FC236}">
                <a16:creationId xmlns:a16="http://schemas.microsoft.com/office/drawing/2014/main" id="{ABBD5855-08C7-83B1-C1C0-CADE8ECDBEE6}"/>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35125803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8265521" y="1988840"/>
            <a:ext cx="3807143" cy="2016224"/>
          </a:xfrm>
          <a:prstGeom prst="roundRect">
            <a:avLst/>
          </a:prstGeom>
          <a:solidFill>
            <a:schemeClr val="accent1">
              <a:lumMod val="20000"/>
              <a:lumOff val="80000"/>
            </a:schemeClr>
          </a:solidFill>
          <a:ln w="9525">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DE7A00"/>
              </a:solidFill>
              <a:effectLst/>
              <a:uLnTx/>
              <a:uFillTx/>
              <a:latin typeface="Calibri" panose="020F0502020204030204"/>
              <a:ea typeface="+mn-ea"/>
              <a:cs typeface="+mn-cs"/>
            </a:endParaRPr>
          </a:p>
        </p:txBody>
      </p:sp>
      <p:sp>
        <p:nvSpPr>
          <p:cNvPr id="5" name="Content Placeholder 2"/>
          <p:cNvSpPr>
            <a:spLocks noGrp="1"/>
          </p:cNvSpPr>
          <p:nvPr>
            <p:ph idx="1"/>
          </p:nvPr>
        </p:nvSpPr>
        <p:spPr>
          <a:xfrm>
            <a:off x="720000" y="1268760"/>
            <a:ext cx="7290703" cy="5400600"/>
          </a:xfrm>
        </p:spPr>
        <p:txBody>
          <a:bodyPr>
            <a:noAutofit/>
          </a:bodyPr>
          <a:lstStyle/>
          <a:p>
            <a:pPr marL="360363" lvl="1" indent="-360363">
              <a:buFont typeface="Arial" panose="020B0604020202020204" pitchFamily="34" charset="0"/>
              <a:buChar char="•"/>
              <a:tabLst>
                <a:tab pos="3138488" algn="l"/>
              </a:tabLst>
            </a:pPr>
            <a:r>
              <a:rPr lang="en-GB" dirty="0"/>
              <a:t>Training ANNs involves finding the weights </a:t>
            </a:r>
            <a:r>
              <a:rPr lang="en-GB" i="1" dirty="0"/>
              <a:t>w</a:t>
            </a:r>
            <a:r>
              <a:rPr lang="en-GB" dirty="0"/>
              <a:t> that </a:t>
            </a:r>
            <a:r>
              <a:rPr lang="en-GB" b="1" dirty="0"/>
              <a:t>minimise</a:t>
            </a:r>
            <a:r>
              <a:rPr lang="en-GB" dirty="0"/>
              <a:t> the </a:t>
            </a:r>
            <a:r>
              <a:rPr lang="en-GB" b="1" dirty="0"/>
              <a:t>loss function</a:t>
            </a:r>
            <a:endParaRPr lang="en-GB" dirty="0"/>
          </a:p>
          <a:p>
            <a:pPr marL="360363" lvl="1" indent="-360363">
              <a:buFont typeface="Arial" panose="020B0604020202020204" pitchFamily="34" charset="0"/>
              <a:buChar char="•"/>
              <a:tabLst>
                <a:tab pos="3138488" algn="l"/>
              </a:tabLst>
            </a:pPr>
            <a:endParaRPr lang="en-GB" dirty="0"/>
          </a:p>
          <a:p>
            <a:pPr marL="360363" lvl="1" indent="-360363">
              <a:buFont typeface="Arial" panose="020B0604020202020204" pitchFamily="34" charset="0"/>
              <a:buChar char="•"/>
              <a:tabLst>
                <a:tab pos="3138488" algn="l"/>
              </a:tabLst>
            </a:pPr>
            <a:endParaRPr lang="en-GB" dirty="0"/>
          </a:p>
          <a:p>
            <a:pPr marL="360363" lvl="1" indent="-360363">
              <a:buFont typeface="Arial" panose="020B0604020202020204" pitchFamily="34" charset="0"/>
              <a:buChar char="•"/>
              <a:tabLst>
                <a:tab pos="3138488" algn="l"/>
              </a:tabLst>
            </a:pPr>
            <a:endParaRPr lang="en-GB" dirty="0"/>
          </a:p>
          <a:p>
            <a:pPr marL="360363" lvl="1" indent="-360363">
              <a:buFont typeface="Arial" panose="020B0604020202020204" pitchFamily="34" charset="0"/>
              <a:buChar char="•"/>
              <a:tabLst>
                <a:tab pos="3138488" algn="l"/>
              </a:tabLst>
            </a:pPr>
            <a:endParaRPr lang="en-GB" dirty="0"/>
          </a:p>
          <a:p>
            <a:pPr marL="360363" lvl="1" indent="-360363">
              <a:buFont typeface="Arial" panose="020B0604020202020204" pitchFamily="34" charset="0"/>
              <a:buChar char="•"/>
              <a:tabLst>
                <a:tab pos="3138488" algn="l"/>
              </a:tabLst>
            </a:pPr>
            <a:r>
              <a:rPr lang="en-GB" dirty="0"/>
              <a:t>Mathematically training an ANN is an </a:t>
            </a:r>
            <a:r>
              <a:rPr lang="en-GB" b="1" dirty="0"/>
              <a:t>ill-posed</a:t>
            </a:r>
            <a:r>
              <a:rPr lang="en-GB" dirty="0"/>
              <a:t> problem (“singular”)</a:t>
            </a:r>
          </a:p>
          <a:p>
            <a:pPr marL="360363" lvl="1" indent="-360363">
              <a:buFont typeface="Arial" panose="020B0604020202020204" pitchFamily="34" charset="0"/>
              <a:buChar char="•"/>
              <a:tabLst>
                <a:tab pos="3138488" algn="l"/>
              </a:tabLst>
            </a:pPr>
            <a:endParaRPr lang="en-GB" dirty="0"/>
          </a:p>
          <a:p>
            <a:pPr marL="360363" lvl="1" indent="-360363">
              <a:buFont typeface="Arial" panose="020B0604020202020204" pitchFamily="34" charset="0"/>
              <a:buChar char="•"/>
              <a:tabLst>
                <a:tab pos="3138488" algn="l"/>
              </a:tabLst>
            </a:pPr>
            <a:endParaRPr lang="en-GB" dirty="0"/>
          </a:p>
          <a:p>
            <a:pPr marL="360363" lvl="1" indent="-360363">
              <a:buFont typeface="Arial" panose="020B0604020202020204" pitchFamily="34" charset="0"/>
              <a:buChar char="•"/>
              <a:tabLst>
                <a:tab pos="3138488" algn="l"/>
              </a:tabLst>
            </a:pPr>
            <a:r>
              <a:rPr lang="en-GB" dirty="0"/>
              <a:t>Unlike choice models, ANNs are not uniquely identifiable: i.e., numerous sets of weights give </a:t>
            </a:r>
            <a:r>
              <a:rPr lang="en-GB" b="1" dirty="0"/>
              <a:t>the same output probability distribution </a:t>
            </a:r>
            <a:r>
              <a:rPr lang="en-GB" dirty="0"/>
              <a:t>on any data.</a:t>
            </a:r>
          </a:p>
          <a:p>
            <a:pPr marL="360363" lvl="1" indent="-360363">
              <a:buFont typeface="Arial" panose="020B0604020202020204" pitchFamily="34" charset="0"/>
              <a:buChar char="•"/>
              <a:tabLst>
                <a:tab pos="3138488" algn="l"/>
              </a:tabLst>
            </a:pPr>
            <a:endParaRPr lang="en-US" sz="1700" dirty="0"/>
          </a:p>
          <a:p>
            <a:pPr marL="360363" lvl="1" indent="-360363">
              <a:buFont typeface="Arial" panose="020B0604020202020204" pitchFamily="34" charset="0"/>
              <a:buChar char="•"/>
              <a:tabLst>
                <a:tab pos="3138488" algn="l"/>
              </a:tabLst>
            </a:pPr>
            <a:endParaRPr lang="en-US" sz="1700" dirty="0"/>
          </a:p>
          <a:p>
            <a:pPr marL="360363" lvl="1" indent="-360363">
              <a:buFont typeface="Arial" panose="020B0604020202020204" pitchFamily="34" charset="0"/>
              <a:buChar char="•"/>
              <a:tabLst>
                <a:tab pos="3138488" algn="l"/>
              </a:tabLst>
            </a:pPr>
            <a:endParaRPr lang="en-US" sz="1700" dirty="0"/>
          </a:p>
          <a:p>
            <a:pPr marL="360363" lvl="1" indent="-360363">
              <a:buFont typeface="Arial" panose="020B0604020202020204" pitchFamily="34" charset="0"/>
              <a:buChar char="•"/>
              <a:tabLst>
                <a:tab pos="3138488" algn="l"/>
              </a:tabLst>
            </a:pPr>
            <a:endParaRPr lang="en-US" sz="1700" dirty="0"/>
          </a:p>
          <a:p>
            <a:pPr marL="360363" lvl="1" indent="-360363">
              <a:buFont typeface="Arial" panose="020B0604020202020204" pitchFamily="34" charset="0"/>
              <a:buChar char="•"/>
              <a:tabLst>
                <a:tab pos="3138488" algn="l"/>
              </a:tabLst>
            </a:pPr>
            <a:endParaRPr lang="en-US" sz="1700" dirty="0"/>
          </a:p>
          <a:p>
            <a:pPr marL="360363" lvl="1" indent="-360363">
              <a:buFont typeface="Arial" panose="020B0604020202020204" pitchFamily="34" charset="0"/>
              <a:buChar char="•"/>
              <a:tabLst>
                <a:tab pos="3138488" algn="l"/>
              </a:tabLst>
            </a:pPr>
            <a:endParaRPr lang="en-US" sz="1700" dirty="0"/>
          </a:p>
          <a:p>
            <a:pPr marL="360363" lvl="1" indent="-360363">
              <a:buFont typeface="Arial" panose="020B0604020202020204" pitchFamily="34" charset="0"/>
              <a:buChar char="•"/>
              <a:tabLst>
                <a:tab pos="3138488" algn="l"/>
              </a:tabLst>
            </a:pPr>
            <a:endParaRPr lang="en-GB" sz="1700" dirty="0"/>
          </a:p>
          <a:p>
            <a:endParaRPr lang="en-GB" sz="1700" dirty="0"/>
          </a:p>
          <a:p>
            <a:pPr marL="0" indent="0">
              <a:buNone/>
              <a:tabLst>
                <a:tab pos="361950" algn="l"/>
              </a:tabLst>
            </a:pPr>
            <a:r>
              <a:rPr lang="en-GB" sz="1700" dirty="0"/>
              <a:t>	</a:t>
            </a:r>
          </a:p>
          <a:p>
            <a:pPr marL="0" indent="0">
              <a:buNone/>
              <a:tabLst>
                <a:tab pos="361950" algn="l"/>
              </a:tabLst>
            </a:pPr>
            <a:endParaRPr lang="en-GB" sz="1700" dirty="0"/>
          </a:p>
          <a:p>
            <a:pPr marL="358775" indent="-358775">
              <a:tabLst>
                <a:tab pos="3314700" algn="l"/>
              </a:tabLst>
            </a:pPr>
            <a:endParaRPr lang="en-GB" sz="1700" dirty="0"/>
          </a:p>
          <a:p>
            <a:endParaRPr lang="en-GB" sz="17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pSp>
        <p:nvGrpSpPr>
          <p:cNvPr id="3" name="Group 2"/>
          <p:cNvGrpSpPr/>
          <p:nvPr/>
        </p:nvGrpSpPr>
        <p:grpSpPr>
          <a:xfrm>
            <a:off x="8256240" y="2132856"/>
            <a:ext cx="3960440" cy="1756430"/>
            <a:chOff x="8256240" y="2132856"/>
            <a:chExt cx="3960440" cy="1756430"/>
          </a:xfrm>
        </p:grpSpPr>
        <p:sp>
          <p:nvSpPr>
            <p:cNvPr id="13" name="TextBox 12"/>
            <p:cNvSpPr txBox="1"/>
            <p:nvPr/>
          </p:nvSpPr>
          <p:spPr>
            <a:xfrm>
              <a:off x="8265521" y="2481315"/>
              <a:ext cx="1296144" cy="338554"/>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dirty="0">
                  <a:ln>
                    <a:noFill/>
                  </a:ln>
                  <a:solidFill>
                    <a:srgbClr val="DE7A00"/>
                  </a:solidFill>
                  <a:effectLst/>
                  <a:uLnTx/>
                  <a:uFillTx/>
                  <a:latin typeface="Calibri"/>
                  <a:ea typeface="+mn-ea"/>
                  <a:cs typeface="+mn-cs"/>
                </a:rPr>
                <a:t>A + B = 4</a:t>
              </a:r>
              <a:endParaRPr kumimoji="0" lang="nl-NL" sz="1800" b="0" i="0" u="none" strike="noStrike" kern="1200" cap="none" spc="0" normalizeH="0" baseline="0" noProof="0" dirty="0">
                <a:ln>
                  <a:noFill/>
                </a:ln>
                <a:solidFill>
                  <a:srgbClr val="DE7A00"/>
                </a:solidFill>
                <a:effectLst/>
                <a:uLnTx/>
                <a:uFillTx/>
                <a:latin typeface="Calibri"/>
                <a:ea typeface="+mn-ea"/>
                <a:cs typeface="+mn-cs"/>
              </a:endParaRPr>
            </a:p>
          </p:txBody>
        </p:sp>
        <p:sp>
          <p:nvSpPr>
            <p:cNvPr id="14" name="TextBox 13"/>
            <p:cNvSpPr txBox="1"/>
            <p:nvPr/>
          </p:nvSpPr>
          <p:spPr>
            <a:xfrm>
              <a:off x="8256240" y="3304511"/>
              <a:ext cx="1800200" cy="58477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dirty="0">
                  <a:ln>
                    <a:noFill/>
                  </a:ln>
                  <a:solidFill>
                    <a:srgbClr val="DE7A00"/>
                  </a:solidFill>
                  <a:effectLst/>
                  <a:uLnTx/>
                  <a:uFillTx/>
                  <a:latin typeface="Calibri"/>
                  <a:ea typeface="+mn-ea"/>
                  <a:cs typeface="+mn-cs"/>
                </a:rPr>
                <a:t>A + B = 4</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dirty="0">
                  <a:ln>
                    <a:noFill/>
                  </a:ln>
                  <a:solidFill>
                    <a:srgbClr val="DE7A00"/>
                  </a:solidFill>
                  <a:effectLst/>
                  <a:uLnTx/>
                  <a:uFillTx/>
                  <a:latin typeface="Calibri"/>
                  <a:ea typeface="+mn-ea"/>
                  <a:cs typeface="+mn-cs"/>
                </a:rPr>
                <a:t>A – B = 2</a:t>
              </a:r>
              <a:endParaRPr kumimoji="0" lang="nl-NL" sz="1800" b="0" i="0" u="none" strike="noStrike" kern="1200" cap="none" spc="0" normalizeH="0" baseline="0" noProof="0" dirty="0">
                <a:ln>
                  <a:noFill/>
                </a:ln>
                <a:solidFill>
                  <a:srgbClr val="DE7A00"/>
                </a:solidFill>
                <a:effectLst/>
                <a:uLnTx/>
                <a:uFillTx/>
                <a:latin typeface="Calibri"/>
                <a:ea typeface="+mn-ea"/>
                <a:cs typeface="+mn-cs"/>
              </a:endParaRPr>
            </a:p>
          </p:txBody>
        </p:sp>
        <p:sp>
          <p:nvSpPr>
            <p:cNvPr id="15" name="TextBox 14"/>
            <p:cNvSpPr txBox="1"/>
            <p:nvPr/>
          </p:nvSpPr>
          <p:spPr>
            <a:xfrm>
              <a:off x="9807202" y="2466477"/>
              <a:ext cx="129614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DE7A00"/>
                  </a:solidFill>
                  <a:effectLst/>
                  <a:uLnTx/>
                  <a:uFillTx/>
                  <a:latin typeface="Calibri"/>
                  <a:ea typeface="+mn-ea"/>
                  <a:cs typeface="+mn-cs"/>
                </a:rPr>
                <a:t>not uniquely identifiable: </a:t>
              </a:r>
              <a:endParaRPr kumimoji="0" lang="nl-NL" sz="1800" b="0" i="0" u="none" strike="noStrike" kern="1200" cap="none" spc="0" normalizeH="0" baseline="0" noProof="0" dirty="0">
                <a:ln>
                  <a:noFill/>
                </a:ln>
                <a:solidFill>
                  <a:srgbClr val="DE7A00"/>
                </a:solidFill>
                <a:effectLst/>
                <a:uLnTx/>
                <a:uFillTx/>
                <a:latin typeface="Calibri"/>
                <a:ea typeface="+mn-ea"/>
                <a:cs typeface="+mn-cs"/>
              </a:endParaRPr>
            </a:p>
          </p:txBody>
        </p:sp>
        <p:sp>
          <p:nvSpPr>
            <p:cNvPr id="16" name="TextBox 15"/>
            <p:cNvSpPr txBox="1"/>
            <p:nvPr/>
          </p:nvSpPr>
          <p:spPr>
            <a:xfrm>
              <a:off x="9797921" y="3304510"/>
              <a:ext cx="129614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DE7A00"/>
                  </a:solidFill>
                  <a:effectLst/>
                  <a:uLnTx/>
                  <a:uFillTx/>
                  <a:latin typeface="Calibri"/>
                  <a:ea typeface="+mn-ea"/>
                  <a:cs typeface="+mn-cs"/>
                </a:rPr>
                <a:t>uniquely identifiable</a:t>
              </a:r>
              <a:endParaRPr kumimoji="0" lang="nl-NL" sz="1800" b="0" i="0" u="none" strike="noStrike" kern="1200" cap="none" spc="0" normalizeH="0" baseline="0" noProof="0" dirty="0">
                <a:ln>
                  <a:noFill/>
                </a:ln>
                <a:solidFill>
                  <a:srgbClr val="DE7A00"/>
                </a:solidFill>
                <a:effectLst/>
                <a:uLnTx/>
                <a:uFillTx/>
                <a:latin typeface="Calibri"/>
                <a:ea typeface="+mn-ea"/>
                <a:cs typeface="+mn-cs"/>
              </a:endParaRPr>
            </a:p>
          </p:txBody>
        </p:sp>
        <p:sp>
          <p:nvSpPr>
            <p:cNvPr id="10" name="TextBox 9"/>
            <p:cNvSpPr txBox="1"/>
            <p:nvPr/>
          </p:nvSpPr>
          <p:spPr>
            <a:xfrm>
              <a:off x="11169724" y="2132856"/>
              <a:ext cx="1046956"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DE7A00"/>
                  </a:solidFill>
                  <a:effectLst/>
                  <a:uLnTx/>
                  <a:uFillTx/>
                  <a:latin typeface="Calibri"/>
                  <a:ea typeface="+mn-ea"/>
                  <a:cs typeface="+mn-cs"/>
                </a:rPr>
                <a:t>A=0,B=4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DE7A00"/>
                  </a:solidFill>
                  <a:effectLst/>
                  <a:uLnTx/>
                  <a:uFillTx/>
                  <a:latin typeface="Calibri"/>
                  <a:ea typeface="+mn-ea"/>
                  <a:cs typeface="+mn-cs"/>
                </a:rPr>
                <a:t>A=1,B=3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DE7A00"/>
                  </a:solidFill>
                  <a:effectLst/>
                  <a:uLnTx/>
                  <a:uFillTx/>
                  <a:latin typeface="Calibri"/>
                  <a:ea typeface="+mn-ea"/>
                  <a:cs typeface="+mn-cs"/>
                </a:rPr>
                <a:t>A=2,B=2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DE7A00"/>
                  </a:solidFill>
                  <a:effectLst/>
                  <a:uLnTx/>
                  <a:uFillTx/>
                  <a:latin typeface="Calibri"/>
                  <a:ea typeface="+mn-ea"/>
                  <a:cs typeface="+mn-cs"/>
                </a:rPr>
                <a:t>A=3,B=1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DE7A00"/>
                  </a:solidFill>
                  <a:effectLst/>
                  <a:uLnTx/>
                  <a:uFillTx/>
                  <a:latin typeface="Calibri"/>
                  <a:ea typeface="+mn-ea"/>
                  <a:cs typeface="+mn-cs"/>
                </a:rPr>
                <a:t>A=4,B=0</a:t>
              </a:r>
              <a:endParaRPr kumimoji="0" lang="nl-NL" sz="1800" b="0" i="0" u="none" strike="noStrike" kern="1200" cap="none" spc="0" normalizeH="0" baseline="0" noProof="0" dirty="0">
                <a:ln>
                  <a:noFill/>
                </a:ln>
                <a:solidFill>
                  <a:srgbClr val="DE7A00"/>
                </a:solidFill>
                <a:effectLst/>
                <a:uLnTx/>
                <a:uFillTx/>
                <a:latin typeface="Calibri"/>
                <a:ea typeface="+mn-ea"/>
                <a:cs typeface="+mn-cs"/>
              </a:endParaRPr>
            </a:p>
          </p:txBody>
        </p:sp>
        <p:sp>
          <p:nvSpPr>
            <p:cNvPr id="11" name="TextBox 10"/>
            <p:cNvSpPr txBox="1"/>
            <p:nvPr/>
          </p:nvSpPr>
          <p:spPr>
            <a:xfrm>
              <a:off x="11169724" y="3498419"/>
              <a:ext cx="104695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FF0000"/>
                  </a:solidFill>
                  <a:effectLst/>
                  <a:uLnTx/>
                  <a:uFillTx/>
                  <a:latin typeface="Calibri"/>
                  <a:ea typeface="+mn-ea"/>
                  <a:cs typeface="+mn-cs"/>
                </a:rPr>
                <a:t>A=3,B=1</a:t>
              </a:r>
            </a:p>
          </p:txBody>
        </p:sp>
      </p:grpSp>
      <p:graphicFrame>
        <p:nvGraphicFramePr>
          <p:cNvPr id="12" name="Object 11"/>
          <p:cNvGraphicFramePr>
            <a:graphicFrameLocks noChangeAspect="1"/>
          </p:cNvGraphicFramePr>
          <p:nvPr/>
        </p:nvGraphicFramePr>
        <p:xfrm>
          <a:off x="2495600" y="2064296"/>
          <a:ext cx="4583113" cy="585787"/>
        </p:xfrm>
        <a:graphic>
          <a:graphicData uri="http://schemas.openxmlformats.org/presentationml/2006/ole">
            <mc:AlternateContent xmlns:mc="http://schemas.openxmlformats.org/markup-compatibility/2006">
              <mc:Choice xmlns:v="urn:schemas-microsoft-com:vml" Requires="v">
                <p:oleObj name="Equation" r:id="rId3" imgW="2387520" imgH="304560" progId="Equation.DSMT4">
                  <p:embed/>
                </p:oleObj>
              </mc:Choice>
              <mc:Fallback>
                <p:oleObj name="Equation" r:id="rId3" imgW="2387520" imgH="304560" progId="Equation.DSMT4">
                  <p:embed/>
                  <p:pic>
                    <p:nvPicPr>
                      <p:cNvPr id="12" name="Object 11"/>
                      <p:cNvPicPr/>
                      <p:nvPr/>
                    </p:nvPicPr>
                    <p:blipFill>
                      <a:blip r:embed="rId4"/>
                      <a:stretch>
                        <a:fillRect/>
                      </a:stretch>
                    </p:blipFill>
                    <p:spPr>
                      <a:xfrm>
                        <a:off x="2495600" y="2064296"/>
                        <a:ext cx="4583113" cy="585787"/>
                      </a:xfrm>
                      <a:prstGeom prst="rect">
                        <a:avLst/>
                      </a:prstGeom>
                    </p:spPr>
                  </p:pic>
                </p:oleObj>
              </mc:Fallback>
            </mc:AlternateContent>
          </a:graphicData>
        </a:graphic>
      </p:graphicFrame>
      <p:sp>
        <p:nvSpPr>
          <p:cNvPr id="2" name="TextBox 1"/>
          <p:cNvSpPr txBox="1"/>
          <p:nvPr/>
        </p:nvSpPr>
        <p:spPr>
          <a:xfrm>
            <a:off x="1055440" y="5156022"/>
            <a:ext cx="10416560" cy="646331"/>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a:ln>
                  <a:noFill/>
                </a:ln>
                <a:solidFill>
                  <a:srgbClr val="00B050"/>
                </a:solidFill>
                <a:effectLst/>
                <a:uLnTx/>
                <a:uFillTx/>
                <a:latin typeface="Calibri" panose="020F0502020204030204"/>
                <a:ea typeface="+mn-ea"/>
                <a:cs typeface="+mn-cs"/>
                <a:sym typeface="Wingdings" panose="05000000000000000000" pitchFamily="2" charset="2"/>
              </a:rPr>
              <a:t>But lack of identifiability is not a problem: the model weights cannot be interpreted anyway </a:t>
            </a:r>
            <a:endParaRPr kumimoji="0" lang="en-GB" sz="1800" b="1" i="0" u="none" strike="noStrike" kern="1200" cap="none" spc="0" normalizeH="0" baseline="0" noProof="0" dirty="0">
              <a:ln>
                <a:noFill/>
              </a:ln>
              <a:solidFill>
                <a:srgbClr val="00B050"/>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itle 1">
            <a:extLst>
              <a:ext uri="{FF2B5EF4-FFF2-40B4-BE49-F238E27FC236}">
                <a16:creationId xmlns:a16="http://schemas.microsoft.com/office/drawing/2014/main" id="{FC4B8D2B-9DA1-7113-1BE4-57B110B22E0A}"/>
              </a:ext>
            </a:extLst>
          </p:cNvPr>
          <p:cNvSpPr>
            <a:spLocks noGrp="1"/>
          </p:cNvSpPr>
          <p:nvPr>
            <p:ph type="title"/>
          </p:nvPr>
        </p:nvSpPr>
        <p:spPr>
          <a:xfrm>
            <a:off x="1981200" y="-58697"/>
            <a:ext cx="8229600" cy="1143000"/>
          </a:xfrm>
        </p:spPr>
        <p:txBody>
          <a:bodyPr/>
          <a:lstStyle/>
          <a:p>
            <a:r>
              <a:rPr lang="en-GB" dirty="0"/>
              <a:t>Training ANNs</a:t>
            </a:r>
            <a:endParaRPr lang="en-GB" sz="1800" dirty="0"/>
          </a:p>
        </p:txBody>
      </p:sp>
      <p:sp>
        <p:nvSpPr>
          <p:cNvPr id="21" name="Line 2">
            <a:extLst>
              <a:ext uri="{FF2B5EF4-FFF2-40B4-BE49-F238E27FC236}">
                <a16:creationId xmlns:a16="http://schemas.microsoft.com/office/drawing/2014/main" id="{1E9FE278-E056-8A89-AE72-657B58762E64}"/>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22" name="Line 2">
            <a:extLst>
              <a:ext uri="{FF2B5EF4-FFF2-40B4-BE49-F238E27FC236}">
                <a16:creationId xmlns:a16="http://schemas.microsoft.com/office/drawing/2014/main" id="{3B3E48A2-D572-C386-8321-277F053D203F}"/>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4164238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animEffect transition="in" filter="fade">
                                      <p:cBhvr>
                                        <p:cTn id="7" dur="500"/>
                                        <p:tgtEl>
                                          <p:spTgt spid="5">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8" end="8"/>
                                            </p:txEl>
                                          </p:spTgt>
                                        </p:tgtEl>
                                        <p:attrNameLst>
                                          <p:attrName>style.visibility</p:attrName>
                                        </p:attrNameLst>
                                      </p:cBhvr>
                                      <p:to>
                                        <p:strVal val="visible"/>
                                      </p:to>
                                    </p:set>
                                    <p:animEffect transition="in" filter="fade">
                                      <p:cBhvr>
                                        <p:cTn id="10" dur="500"/>
                                        <p:tgtEl>
                                          <p:spTgt spid="5">
                                            <p:txEl>
                                              <p:pRg st="8" end="8"/>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p:cNvPicPr>
            <a:picLocks noChangeAspect="1"/>
          </p:cNvPicPr>
          <p:nvPr/>
        </p:nvPicPr>
        <p:blipFill>
          <a:blip r:embed="rId3"/>
          <a:stretch>
            <a:fillRect/>
          </a:stretch>
        </p:blipFill>
        <p:spPr>
          <a:xfrm>
            <a:off x="6609039" y="2855301"/>
            <a:ext cx="5078985" cy="3527073"/>
          </a:xfrm>
          <a:prstGeom prst="rect">
            <a:avLst/>
          </a:prstGeom>
        </p:spPr>
      </p:pic>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Content Placeholder 2"/>
          <p:cNvSpPr>
            <a:spLocks noGrp="1"/>
          </p:cNvSpPr>
          <p:nvPr>
            <p:ph idx="1"/>
          </p:nvPr>
        </p:nvSpPr>
        <p:spPr>
          <a:xfrm>
            <a:off x="720000" y="1260000"/>
            <a:ext cx="5564650" cy="5400600"/>
          </a:xfrm>
        </p:spPr>
        <p:txBody>
          <a:bodyPr>
            <a:normAutofit/>
          </a:bodyPr>
          <a:lstStyle/>
          <a:p>
            <a:pPr marL="360363" lvl="1" indent="-360363">
              <a:buFont typeface="Arial" panose="020B0604020202020204" pitchFamily="34" charset="0"/>
              <a:buChar char="•"/>
              <a:tabLst>
                <a:tab pos="3138488" algn="l"/>
              </a:tabLst>
            </a:pPr>
            <a:r>
              <a:rPr lang="en-GB" sz="1800" dirty="0"/>
              <a:t>Data must always be </a:t>
            </a:r>
            <a:r>
              <a:rPr lang="en-GB" sz="1800" b="1" dirty="0"/>
              <a:t>split</a:t>
            </a:r>
            <a:r>
              <a:rPr lang="en-GB" sz="1800" dirty="0"/>
              <a:t> in two parts:</a:t>
            </a:r>
          </a:p>
          <a:p>
            <a:pPr marL="760413" lvl="2" indent="-360363">
              <a:buFont typeface="+mj-lt"/>
              <a:buAutoNum type="arabicPeriod"/>
              <a:tabLst>
                <a:tab pos="3138488" algn="l"/>
              </a:tabLst>
            </a:pPr>
            <a:r>
              <a:rPr lang="en-GB" sz="1800" dirty="0"/>
              <a:t>Train set</a:t>
            </a:r>
          </a:p>
          <a:p>
            <a:pPr marL="760413" lvl="2" indent="-360363">
              <a:buFont typeface="+mj-lt"/>
              <a:buAutoNum type="arabicPeriod"/>
              <a:tabLst>
                <a:tab pos="3138488" algn="l"/>
              </a:tabLst>
            </a:pPr>
            <a:r>
              <a:rPr lang="en-GB" sz="1800" dirty="0"/>
              <a:t>Test set</a:t>
            </a:r>
          </a:p>
          <a:p>
            <a:pPr marL="760413" lvl="2" indent="-360363">
              <a:tabLst>
                <a:tab pos="3138488" algn="l"/>
              </a:tabLst>
            </a:pPr>
            <a:endParaRPr lang="en-GB" sz="1800" dirty="0"/>
          </a:p>
          <a:p>
            <a:pPr marL="760413" lvl="2" indent="-360363">
              <a:tabLst>
                <a:tab pos="3138488" algn="l"/>
              </a:tabLst>
            </a:pPr>
            <a:endParaRPr lang="en-GB" sz="1800" dirty="0"/>
          </a:p>
          <a:p>
            <a:pPr marL="342900" lvl="1" indent="-342900">
              <a:buFont typeface="Arial" panose="020B0604020202020204" pitchFamily="34" charset="0"/>
              <a:buChar char="•"/>
              <a:tabLst>
                <a:tab pos="3138488" algn="l"/>
              </a:tabLst>
            </a:pPr>
            <a:r>
              <a:rPr lang="en-GB" sz="1800" dirty="0"/>
              <a:t>The ANN is trained on the </a:t>
            </a:r>
            <a:r>
              <a:rPr lang="en-GB" sz="1800" b="1" dirty="0"/>
              <a:t>training set</a:t>
            </a:r>
          </a:p>
          <a:p>
            <a:pPr marL="760413" lvl="2" indent="-360363">
              <a:buFont typeface="Wingdings" panose="05000000000000000000" pitchFamily="2" charset="2"/>
              <a:buChar char="Ø"/>
              <a:tabLst>
                <a:tab pos="3138488" algn="l"/>
              </a:tabLst>
            </a:pPr>
            <a:r>
              <a:rPr lang="en-GB" sz="1800" dirty="0"/>
              <a:t>The training </a:t>
            </a:r>
            <a:r>
              <a:rPr lang="en-GB" sz="1800" b="1" dirty="0"/>
              <a:t>stops</a:t>
            </a:r>
            <a:r>
              <a:rPr lang="en-GB" sz="1800" dirty="0"/>
              <a:t> when:</a:t>
            </a:r>
          </a:p>
          <a:p>
            <a:pPr marL="1217613" lvl="3" indent="-360363">
              <a:buFont typeface="+mj-lt"/>
              <a:buAutoNum type="arabicPeriod"/>
              <a:tabLst>
                <a:tab pos="3138488" algn="l"/>
              </a:tabLst>
            </a:pPr>
            <a:r>
              <a:rPr lang="en-GB" dirty="0"/>
              <a:t>The performance on the </a:t>
            </a:r>
            <a:r>
              <a:rPr lang="en-GB" b="1" dirty="0"/>
              <a:t>training set </a:t>
            </a:r>
            <a:r>
              <a:rPr lang="en-GB" dirty="0"/>
              <a:t>no longer improves</a:t>
            </a:r>
          </a:p>
          <a:p>
            <a:pPr marL="1217613" lvl="3" indent="-360363">
              <a:buFont typeface="+mj-lt"/>
              <a:buAutoNum type="arabicPeriod"/>
              <a:tabLst>
                <a:tab pos="3138488" algn="l"/>
              </a:tabLst>
            </a:pPr>
            <a:r>
              <a:rPr lang="en-GB" dirty="0"/>
              <a:t>Maximum epochs is reached</a:t>
            </a:r>
            <a:endParaRPr lang="en-GB" sz="1800" dirty="0"/>
          </a:p>
        </p:txBody>
      </p:sp>
      <p:cxnSp>
        <p:nvCxnSpPr>
          <p:cNvPr id="8" name="Straight Arrow Connector 7"/>
          <p:cNvCxnSpPr/>
          <p:nvPr/>
        </p:nvCxnSpPr>
        <p:spPr>
          <a:xfrm>
            <a:off x="5159896" y="3140968"/>
            <a:ext cx="2088232" cy="648072"/>
          </a:xfrm>
          <a:prstGeom prst="straightConnector1">
            <a:avLst/>
          </a:prstGeom>
          <a:ln w="19050">
            <a:solidFill>
              <a:srgbClr val="157DB7"/>
            </a:solidFill>
            <a:prstDash val="sysDash"/>
            <a:headEnd type="none" w="med" len="med"/>
            <a:tailEnd type="triangle" w="lg" len="med"/>
          </a:ln>
        </p:spPr>
        <p:style>
          <a:lnRef idx="1">
            <a:schemeClr val="accent2"/>
          </a:lnRef>
          <a:fillRef idx="0">
            <a:schemeClr val="accent2"/>
          </a:fillRef>
          <a:effectRef idx="0">
            <a:schemeClr val="accent2"/>
          </a:effectRef>
          <a:fontRef idx="minor">
            <a:schemeClr val="tx1"/>
          </a:fontRef>
        </p:style>
      </p:cxnSp>
      <p:grpSp>
        <p:nvGrpSpPr>
          <p:cNvPr id="11" name="Group 10"/>
          <p:cNvGrpSpPr/>
          <p:nvPr/>
        </p:nvGrpSpPr>
        <p:grpSpPr>
          <a:xfrm>
            <a:off x="5311701" y="4109814"/>
            <a:ext cx="6279292" cy="1876871"/>
            <a:chOff x="5311701" y="4109814"/>
            <a:chExt cx="6279292" cy="1876871"/>
          </a:xfrm>
        </p:grpSpPr>
        <p:sp>
          <p:nvSpPr>
            <p:cNvPr id="9" name="Oval 8"/>
            <p:cNvSpPr/>
            <p:nvPr/>
          </p:nvSpPr>
          <p:spPr>
            <a:xfrm>
              <a:off x="10366857" y="5737233"/>
              <a:ext cx="1224136" cy="249452"/>
            </a:xfrm>
            <a:prstGeom prst="ellipse">
              <a:avLst/>
            </a:prstGeom>
            <a:noFill/>
            <a:ln w="12700">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p:cxnSp>
          <p:nvCxnSpPr>
            <p:cNvPr id="27" name="Straight Arrow Connector 26"/>
            <p:cNvCxnSpPr>
              <a:cxnSpLocks/>
            </p:cNvCxnSpPr>
            <p:nvPr/>
          </p:nvCxnSpPr>
          <p:spPr>
            <a:xfrm>
              <a:off x="5311701" y="4109814"/>
              <a:ext cx="5055156" cy="1709631"/>
            </a:xfrm>
            <a:prstGeom prst="straightConnector1">
              <a:avLst/>
            </a:prstGeom>
            <a:ln w="19050">
              <a:solidFill>
                <a:srgbClr val="FF3300"/>
              </a:solidFill>
              <a:prstDash val="sysDash"/>
              <a:headEnd type="none" w="med" len="med"/>
              <a:tailEnd type="triangle" w="lg" len="med"/>
            </a:ln>
          </p:spPr>
          <p:style>
            <a:lnRef idx="1">
              <a:schemeClr val="accent2"/>
            </a:lnRef>
            <a:fillRef idx="0">
              <a:schemeClr val="accent2"/>
            </a:fillRef>
            <a:effectRef idx="0">
              <a:schemeClr val="accent2"/>
            </a:effectRef>
            <a:fontRef idx="minor">
              <a:schemeClr val="tx1"/>
            </a:fontRef>
          </p:style>
        </p:cxnSp>
      </p:grpSp>
      <p:sp>
        <p:nvSpPr>
          <p:cNvPr id="19" name="TextBox 18"/>
          <p:cNvSpPr txBox="1"/>
          <p:nvPr/>
        </p:nvSpPr>
        <p:spPr>
          <a:xfrm>
            <a:off x="6946726" y="2577076"/>
            <a:ext cx="474129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Learning curve plot</a:t>
            </a:r>
          </a:p>
        </p:txBody>
      </p:sp>
      <p:pic>
        <p:nvPicPr>
          <p:cNvPr id="2" name="Picture 2">
            <a:extLst>
              <a:ext uri="{FF2B5EF4-FFF2-40B4-BE49-F238E27FC236}">
                <a16:creationId xmlns:a16="http://schemas.microsoft.com/office/drawing/2014/main" id="{AD72AE4C-6BBB-B6EA-183F-BB18DA13BB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76281" y="1016900"/>
            <a:ext cx="2282188" cy="1298213"/>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1">
            <a:extLst>
              <a:ext uri="{FF2B5EF4-FFF2-40B4-BE49-F238E27FC236}">
                <a16:creationId xmlns:a16="http://schemas.microsoft.com/office/drawing/2014/main" id="{3AB6F89C-B942-6FB0-73A4-753706D7D50C}"/>
              </a:ext>
            </a:extLst>
          </p:cNvPr>
          <p:cNvSpPr>
            <a:spLocks noGrp="1"/>
          </p:cNvSpPr>
          <p:nvPr>
            <p:ph type="title"/>
          </p:nvPr>
        </p:nvSpPr>
        <p:spPr>
          <a:xfrm>
            <a:off x="1981200" y="-58697"/>
            <a:ext cx="8229600" cy="1143000"/>
          </a:xfrm>
        </p:spPr>
        <p:txBody>
          <a:bodyPr/>
          <a:lstStyle/>
          <a:p>
            <a:r>
              <a:rPr lang="en-GB" dirty="0"/>
              <a:t>Training ANNs</a:t>
            </a:r>
            <a:endParaRPr lang="en-GB" sz="1800" dirty="0"/>
          </a:p>
        </p:txBody>
      </p:sp>
      <p:sp>
        <p:nvSpPr>
          <p:cNvPr id="12" name="Line 2">
            <a:extLst>
              <a:ext uri="{FF2B5EF4-FFF2-40B4-BE49-F238E27FC236}">
                <a16:creationId xmlns:a16="http://schemas.microsoft.com/office/drawing/2014/main" id="{A70B8102-78D3-50C2-C9B8-68404E1F3D3C}"/>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3" name="Line 2">
            <a:extLst>
              <a:ext uri="{FF2B5EF4-FFF2-40B4-BE49-F238E27FC236}">
                <a16:creationId xmlns:a16="http://schemas.microsoft.com/office/drawing/2014/main" id="{93A2A64B-B864-A3EA-D3DD-B5C2EC5F2047}"/>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33724218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Content Placeholder 2"/>
          <p:cNvSpPr>
            <a:spLocks noGrp="1"/>
          </p:cNvSpPr>
          <p:nvPr>
            <p:ph idx="1"/>
          </p:nvPr>
        </p:nvSpPr>
        <p:spPr>
          <a:xfrm>
            <a:off x="720000" y="1260000"/>
            <a:ext cx="5540264" cy="5400600"/>
          </a:xfrm>
        </p:spPr>
        <p:txBody>
          <a:bodyPr>
            <a:normAutofit/>
          </a:bodyPr>
          <a:lstStyle/>
          <a:p>
            <a:pPr marL="360363" lvl="1" indent="-360363">
              <a:buFont typeface="Arial" panose="020B0604020202020204" pitchFamily="34" charset="0"/>
              <a:buChar char="•"/>
              <a:tabLst>
                <a:tab pos="3138488" algn="l"/>
              </a:tabLst>
            </a:pPr>
            <a:r>
              <a:rPr lang="en-GB" sz="1800" dirty="0"/>
              <a:t>Data must always be </a:t>
            </a:r>
            <a:r>
              <a:rPr lang="en-GB" sz="1800" b="1" dirty="0"/>
              <a:t>split</a:t>
            </a:r>
            <a:r>
              <a:rPr lang="en-GB" sz="1800" dirty="0"/>
              <a:t> in two parts:</a:t>
            </a:r>
          </a:p>
          <a:p>
            <a:pPr marL="760413" lvl="2" indent="-360363">
              <a:buFont typeface="+mj-lt"/>
              <a:buAutoNum type="arabicPeriod"/>
              <a:tabLst>
                <a:tab pos="3138488" algn="l"/>
              </a:tabLst>
            </a:pPr>
            <a:r>
              <a:rPr lang="en-GB" sz="1800" dirty="0"/>
              <a:t>Train set</a:t>
            </a:r>
          </a:p>
          <a:p>
            <a:pPr marL="760413" lvl="2" indent="-360363">
              <a:buFont typeface="+mj-lt"/>
              <a:buAutoNum type="arabicPeriod"/>
              <a:tabLst>
                <a:tab pos="3138488" algn="l"/>
              </a:tabLst>
            </a:pPr>
            <a:r>
              <a:rPr lang="en-GB" sz="1800" dirty="0"/>
              <a:t>Test set</a:t>
            </a:r>
          </a:p>
          <a:p>
            <a:pPr marL="760413" lvl="2" indent="-360363">
              <a:tabLst>
                <a:tab pos="3138488" algn="l"/>
              </a:tabLst>
            </a:pPr>
            <a:endParaRPr lang="en-GB" sz="1800" dirty="0"/>
          </a:p>
          <a:p>
            <a:pPr marL="760413" lvl="2" indent="-360363">
              <a:tabLst>
                <a:tab pos="3138488" algn="l"/>
              </a:tabLst>
            </a:pPr>
            <a:endParaRPr lang="en-GB" sz="1800" dirty="0"/>
          </a:p>
          <a:p>
            <a:pPr marL="342900" lvl="1" indent="-342900">
              <a:buFont typeface="Arial" panose="020B0604020202020204" pitchFamily="34" charset="0"/>
              <a:buChar char="•"/>
              <a:tabLst>
                <a:tab pos="3138488" algn="l"/>
              </a:tabLst>
            </a:pPr>
            <a:r>
              <a:rPr lang="en-GB" dirty="0"/>
              <a:t>The ANN is trained on the </a:t>
            </a:r>
            <a:r>
              <a:rPr lang="en-GB" b="1" dirty="0"/>
              <a:t>training set</a:t>
            </a:r>
          </a:p>
          <a:p>
            <a:pPr marL="760413" lvl="2" indent="-360363">
              <a:buFont typeface="Wingdings" panose="05000000000000000000" pitchFamily="2" charset="2"/>
              <a:buChar char="Ø"/>
              <a:tabLst>
                <a:tab pos="3138488" algn="l"/>
              </a:tabLst>
            </a:pPr>
            <a:r>
              <a:rPr lang="en-GB" dirty="0"/>
              <a:t>The training </a:t>
            </a:r>
            <a:r>
              <a:rPr lang="en-GB" b="1" dirty="0"/>
              <a:t>stops</a:t>
            </a:r>
            <a:r>
              <a:rPr lang="en-GB" dirty="0"/>
              <a:t> when:</a:t>
            </a:r>
          </a:p>
          <a:p>
            <a:pPr marL="1217613" lvl="3" indent="-360363">
              <a:buFont typeface="+mj-lt"/>
              <a:buAutoNum type="arabicPeriod"/>
              <a:tabLst>
                <a:tab pos="3138488" algn="l"/>
              </a:tabLst>
            </a:pPr>
            <a:r>
              <a:rPr lang="en-GB" dirty="0"/>
              <a:t>The performance on the </a:t>
            </a:r>
            <a:r>
              <a:rPr lang="en-GB" b="1" dirty="0"/>
              <a:t>training set </a:t>
            </a:r>
            <a:r>
              <a:rPr lang="en-GB" dirty="0"/>
              <a:t>no longer improves</a:t>
            </a:r>
          </a:p>
          <a:p>
            <a:pPr marL="1217613" lvl="3" indent="-360363">
              <a:buFont typeface="+mj-lt"/>
              <a:buAutoNum type="arabicPeriod"/>
              <a:tabLst>
                <a:tab pos="3138488" algn="l"/>
              </a:tabLst>
            </a:pPr>
            <a:r>
              <a:rPr lang="en-GB" dirty="0"/>
              <a:t>Maximum epochs is reached</a:t>
            </a:r>
          </a:p>
          <a:p>
            <a:pPr marL="400050" lvl="2" indent="0">
              <a:buNone/>
              <a:tabLst>
                <a:tab pos="3138488" algn="l"/>
              </a:tabLst>
            </a:pPr>
            <a:endParaRPr lang="en-GB" sz="1800" dirty="0"/>
          </a:p>
          <a:p>
            <a:pPr marL="285750" lvl="1">
              <a:buFont typeface="Arial" panose="020B0604020202020204" pitchFamily="34" charset="0"/>
              <a:buChar char="•"/>
              <a:tabLst>
                <a:tab pos="3138488" algn="l"/>
              </a:tabLst>
            </a:pPr>
            <a:r>
              <a:rPr lang="en-GB" b="1" dirty="0"/>
              <a:t>Early stopping (main idea)</a:t>
            </a:r>
          </a:p>
          <a:p>
            <a:pPr marL="760413" lvl="2" indent="-360363">
              <a:buFont typeface="Wingdings" panose="05000000000000000000" pitchFamily="2" charset="2"/>
              <a:buChar char="Ø"/>
              <a:tabLst>
                <a:tab pos="3138488" algn="l"/>
              </a:tabLst>
            </a:pPr>
            <a:r>
              <a:rPr lang="en-GB" sz="1800" dirty="0"/>
              <a:t>After each epoch, the performance of the model is evaluated on </a:t>
            </a:r>
            <a:r>
              <a:rPr lang="en-GB" sz="1800" b="1" dirty="0"/>
              <a:t>test set</a:t>
            </a:r>
          </a:p>
          <a:p>
            <a:pPr marL="760413" lvl="2" indent="-360363">
              <a:buFont typeface="Wingdings" panose="05000000000000000000" pitchFamily="2" charset="2"/>
              <a:buChar char="Ø"/>
              <a:tabLst>
                <a:tab pos="3138488" algn="l"/>
              </a:tabLst>
            </a:pPr>
            <a:r>
              <a:rPr lang="en-GB" dirty="0"/>
              <a:t>To avoid the model from </a:t>
            </a:r>
            <a:r>
              <a:rPr lang="en-GB" b="1" dirty="0"/>
              <a:t>overfitting</a:t>
            </a:r>
            <a:r>
              <a:rPr lang="en-GB" dirty="0"/>
              <a:t>, training stops when the performance of the </a:t>
            </a:r>
            <a:r>
              <a:rPr lang="en-GB" b="1" dirty="0"/>
              <a:t>test data</a:t>
            </a:r>
            <a:r>
              <a:rPr lang="en-GB" dirty="0"/>
              <a:t> no longer improves</a:t>
            </a:r>
            <a:endParaRPr lang="en-GB" sz="1800" dirty="0"/>
          </a:p>
        </p:txBody>
      </p:sp>
      <p:grpSp>
        <p:nvGrpSpPr>
          <p:cNvPr id="17" name="Group 16"/>
          <p:cNvGrpSpPr/>
          <p:nvPr/>
        </p:nvGrpSpPr>
        <p:grpSpPr>
          <a:xfrm>
            <a:off x="6470573" y="2642056"/>
            <a:ext cx="5302830" cy="3888432"/>
            <a:chOff x="6470573" y="2642056"/>
            <a:chExt cx="5302830" cy="3888432"/>
          </a:xfrm>
        </p:grpSpPr>
        <p:pic>
          <p:nvPicPr>
            <p:cNvPr id="2" name="Picture 1"/>
            <p:cNvPicPr>
              <a:picLocks noChangeAspect="1"/>
            </p:cNvPicPr>
            <p:nvPr/>
          </p:nvPicPr>
          <p:blipFill rotWithShape="1">
            <a:blip r:embed="rId3"/>
            <a:srcRect l="2670" t="11244" r="7881"/>
            <a:stretch/>
          </p:blipFill>
          <p:spPr>
            <a:xfrm>
              <a:off x="6470573" y="2642056"/>
              <a:ext cx="5302830" cy="3888432"/>
            </a:xfrm>
            <a:prstGeom prst="rect">
              <a:avLst/>
            </a:prstGeom>
          </p:spPr>
        </p:pic>
        <p:grpSp>
          <p:nvGrpSpPr>
            <p:cNvPr id="14" name="Group 13"/>
            <p:cNvGrpSpPr/>
            <p:nvPr/>
          </p:nvGrpSpPr>
          <p:grpSpPr>
            <a:xfrm>
              <a:off x="7452224" y="2714802"/>
              <a:ext cx="1020040" cy="426166"/>
              <a:chOff x="7452224" y="2714802"/>
              <a:chExt cx="1020040" cy="426166"/>
            </a:xfrm>
          </p:grpSpPr>
          <p:sp>
            <p:nvSpPr>
              <p:cNvPr id="13" name="Rectangle 12"/>
              <p:cNvSpPr/>
              <p:nvPr/>
            </p:nvSpPr>
            <p:spPr>
              <a:xfrm>
                <a:off x="7476080" y="2761054"/>
                <a:ext cx="996184" cy="37991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p:sp>
            <p:nvSpPr>
              <p:cNvPr id="12" name="TextBox 11"/>
              <p:cNvSpPr txBox="1"/>
              <p:nvPr/>
            </p:nvSpPr>
            <p:spPr>
              <a:xfrm>
                <a:off x="7452224" y="2878691"/>
                <a:ext cx="702556" cy="216024"/>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Calibri" panose="020F0502020204030204"/>
                    <a:ea typeface="+mn-ea"/>
                    <a:cs typeface="+mn-cs"/>
                  </a:rPr>
                  <a:t>Test loss</a:t>
                </a:r>
              </a:p>
            </p:txBody>
          </p:sp>
          <p:sp>
            <p:nvSpPr>
              <p:cNvPr id="15" name="TextBox 14"/>
              <p:cNvSpPr txBox="1"/>
              <p:nvPr/>
            </p:nvSpPr>
            <p:spPr>
              <a:xfrm>
                <a:off x="7452224" y="2714802"/>
                <a:ext cx="948032" cy="216024"/>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Calibri" panose="020F0502020204030204"/>
                    <a:ea typeface="+mn-ea"/>
                    <a:cs typeface="+mn-cs"/>
                  </a:rPr>
                  <a:t>Training loss</a:t>
                </a:r>
              </a:p>
            </p:txBody>
          </p:sp>
        </p:grpSp>
      </p:grpSp>
      <p:cxnSp>
        <p:nvCxnSpPr>
          <p:cNvPr id="7" name="Straight Arrow Connector 6"/>
          <p:cNvCxnSpPr>
            <a:cxnSpLocks/>
          </p:cNvCxnSpPr>
          <p:nvPr/>
        </p:nvCxnSpPr>
        <p:spPr>
          <a:xfrm flipV="1">
            <a:off x="5888736" y="5454106"/>
            <a:ext cx="1534838" cy="196726"/>
          </a:xfrm>
          <a:prstGeom prst="straightConnector1">
            <a:avLst/>
          </a:prstGeom>
          <a:ln w="19050">
            <a:solidFill>
              <a:srgbClr val="E09351"/>
            </a:solidFill>
            <a:prstDash val="sysDash"/>
            <a:headEnd type="none" w="med" len="med"/>
            <a:tailEnd type="triangle" w="lg" len="med"/>
          </a:ln>
        </p:spPr>
        <p:style>
          <a:lnRef idx="1">
            <a:schemeClr val="accent2"/>
          </a:lnRef>
          <a:fillRef idx="0">
            <a:schemeClr val="accent2"/>
          </a:fillRef>
          <a:effectRef idx="0">
            <a:schemeClr val="accent2"/>
          </a:effectRef>
          <a:fontRef idx="minor">
            <a:schemeClr val="tx1"/>
          </a:fontRef>
        </p:style>
      </p:cxnSp>
      <p:sp>
        <p:nvSpPr>
          <p:cNvPr id="19" name="TextBox 18"/>
          <p:cNvSpPr txBox="1"/>
          <p:nvPr/>
        </p:nvSpPr>
        <p:spPr>
          <a:xfrm>
            <a:off x="7032105" y="2218915"/>
            <a:ext cx="474129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Learning curve plot</a:t>
            </a:r>
          </a:p>
        </p:txBody>
      </p:sp>
      <p:grpSp>
        <p:nvGrpSpPr>
          <p:cNvPr id="34" name="Group 33"/>
          <p:cNvGrpSpPr/>
          <p:nvPr/>
        </p:nvGrpSpPr>
        <p:grpSpPr>
          <a:xfrm>
            <a:off x="9199218" y="2714802"/>
            <a:ext cx="2310081" cy="3365148"/>
            <a:chOff x="9199218" y="2714802"/>
            <a:chExt cx="2310081" cy="3365148"/>
          </a:xfrm>
        </p:grpSpPr>
        <p:sp>
          <p:nvSpPr>
            <p:cNvPr id="28" name="Oval 27"/>
            <p:cNvSpPr/>
            <p:nvPr/>
          </p:nvSpPr>
          <p:spPr>
            <a:xfrm>
              <a:off x="9199218" y="5401380"/>
              <a:ext cx="936104" cy="249452"/>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p:cxnSp>
          <p:nvCxnSpPr>
            <p:cNvPr id="30" name="Straight Connector 29"/>
            <p:cNvCxnSpPr/>
            <p:nvPr/>
          </p:nvCxnSpPr>
          <p:spPr>
            <a:xfrm flipH="1">
              <a:off x="10128448" y="2714802"/>
              <a:ext cx="6874" cy="3365148"/>
            </a:xfrm>
            <a:prstGeom prst="line">
              <a:avLst/>
            </a:prstGeom>
            <a:ln w="19050">
              <a:solidFill>
                <a:srgbClr val="FF0000"/>
              </a:solidFill>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33" name="Rectangle 32"/>
            <p:cNvSpPr/>
            <p:nvPr/>
          </p:nvSpPr>
          <p:spPr>
            <a:xfrm>
              <a:off x="10152830" y="2761054"/>
              <a:ext cx="1356469" cy="3188226"/>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p:grpSp>
      <p:sp>
        <p:nvSpPr>
          <p:cNvPr id="40" name="TextBox 39"/>
          <p:cNvSpPr txBox="1"/>
          <p:nvPr/>
        </p:nvSpPr>
        <p:spPr>
          <a:xfrm>
            <a:off x="10107527" y="3289450"/>
            <a:ext cx="723537" cy="199051"/>
          </a:xfrm>
          <a:prstGeom prst="rect">
            <a:avLst/>
          </a:prstGeom>
          <a:noFill/>
          <a:ln>
            <a:no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0000"/>
                </a:solidFill>
                <a:effectLst/>
                <a:uLnTx/>
                <a:uFillTx/>
                <a:latin typeface="Calibri" panose="020F0502020204030204"/>
                <a:ea typeface="+mn-ea"/>
                <a:cs typeface="+mn-cs"/>
              </a:rPr>
              <a:t>STOP</a:t>
            </a:r>
          </a:p>
        </p:txBody>
      </p:sp>
      <p:sp>
        <p:nvSpPr>
          <p:cNvPr id="41" name="Oval 40"/>
          <p:cNvSpPr/>
          <p:nvPr/>
        </p:nvSpPr>
        <p:spPr>
          <a:xfrm>
            <a:off x="9156356" y="5454106"/>
            <a:ext cx="144000" cy="144000"/>
          </a:xfrm>
          <a:prstGeom prst="ellipse">
            <a:avLst/>
          </a:prstGeom>
          <a:noFill/>
          <a:ln w="1270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p:cxnSp>
        <p:nvCxnSpPr>
          <p:cNvPr id="43" name="Straight Connector 42"/>
          <p:cNvCxnSpPr/>
          <p:nvPr/>
        </p:nvCxnSpPr>
        <p:spPr>
          <a:xfrm flipH="1">
            <a:off x="9239566" y="2714802"/>
            <a:ext cx="0" cy="3355817"/>
          </a:xfrm>
          <a:prstGeom prst="line">
            <a:avLst/>
          </a:prstGeom>
          <a:ln w="9525">
            <a:solidFill>
              <a:srgbClr val="00B050"/>
            </a:solidFill>
            <a:prstDash val="sys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45" name="TextBox 44"/>
          <p:cNvSpPr txBox="1"/>
          <p:nvPr/>
        </p:nvSpPr>
        <p:spPr>
          <a:xfrm>
            <a:off x="9300356" y="2951011"/>
            <a:ext cx="778521" cy="143704"/>
          </a:xfrm>
          <a:prstGeom prst="rect">
            <a:avLst/>
          </a:prstGeom>
          <a:noFill/>
          <a:ln>
            <a:no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5 epochs</a:t>
            </a:r>
          </a:p>
        </p:txBody>
      </p:sp>
      <p:cxnSp>
        <p:nvCxnSpPr>
          <p:cNvPr id="47" name="Straight Connector 46"/>
          <p:cNvCxnSpPr/>
          <p:nvPr/>
        </p:nvCxnSpPr>
        <p:spPr>
          <a:xfrm>
            <a:off x="9300356" y="2822814"/>
            <a:ext cx="778521" cy="0"/>
          </a:xfrm>
          <a:prstGeom prst="line">
            <a:avLst/>
          </a:prstGeom>
          <a:ln w="6350">
            <a:solidFill>
              <a:schemeClr val="bg1">
                <a:lumMod val="50000"/>
              </a:schemeClr>
            </a:solidFill>
            <a:headEnd type="triangle" w="sm" len="med"/>
            <a:tailEnd type="triangle" w="sm" len="med"/>
          </a:ln>
        </p:spPr>
        <p:style>
          <a:lnRef idx="1">
            <a:schemeClr val="accent2"/>
          </a:lnRef>
          <a:fillRef idx="0">
            <a:schemeClr val="accent2"/>
          </a:fillRef>
          <a:effectRef idx="0">
            <a:schemeClr val="accent2"/>
          </a:effectRef>
          <a:fontRef idx="minor">
            <a:schemeClr val="tx1"/>
          </a:fontRef>
        </p:style>
      </p:cxnSp>
      <p:sp>
        <p:nvSpPr>
          <p:cNvPr id="9" name="Title 1">
            <a:extLst>
              <a:ext uri="{FF2B5EF4-FFF2-40B4-BE49-F238E27FC236}">
                <a16:creationId xmlns:a16="http://schemas.microsoft.com/office/drawing/2014/main" id="{502250C4-7C51-E6BD-BEC3-2565F269343B}"/>
              </a:ext>
            </a:extLst>
          </p:cNvPr>
          <p:cNvSpPr>
            <a:spLocks noGrp="1"/>
          </p:cNvSpPr>
          <p:nvPr>
            <p:ph type="title"/>
          </p:nvPr>
        </p:nvSpPr>
        <p:spPr>
          <a:xfrm>
            <a:off x="1981200" y="-58697"/>
            <a:ext cx="8229600" cy="1143000"/>
          </a:xfrm>
        </p:spPr>
        <p:txBody>
          <a:bodyPr/>
          <a:lstStyle/>
          <a:p>
            <a:r>
              <a:rPr lang="en-GB" dirty="0"/>
              <a:t>Training ANNs</a:t>
            </a:r>
            <a:endParaRPr lang="en-GB" sz="1800" dirty="0"/>
          </a:p>
        </p:txBody>
      </p:sp>
      <p:sp>
        <p:nvSpPr>
          <p:cNvPr id="10" name="Line 2">
            <a:extLst>
              <a:ext uri="{FF2B5EF4-FFF2-40B4-BE49-F238E27FC236}">
                <a16:creationId xmlns:a16="http://schemas.microsoft.com/office/drawing/2014/main" id="{4FD49330-DA08-2EEA-56EC-86BC6DFC0F0C}"/>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1" name="Line 2">
            <a:extLst>
              <a:ext uri="{FF2B5EF4-FFF2-40B4-BE49-F238E27FC236}">
                <a16:creationId xmlns:a16="http://schemas.microsoft.com/office/drawing/2014/main" id="{17B4D30A-26F9-BAC1-B439-659021F788AE}"/>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34985716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8B30B-C1A9-61EF-90A6-F98F375FED7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A94BF9C-654A-1BB2-3002-5D6C280FF75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9" name="Title 1">
            <a:extLst>
              <a:ext uri="{FF2B5EF4-FFF2-40B4-BE49-F238E27FC236}">
                <a16:creationId xmlns:a16="http://schemas.microsoft.com/office/drawing/2014/main" id="{F40C0217-2D71-26BA-822E-D132797CAB33}"/>
              </a:ext>
            </a:extLst>
          </p:cNvPr>
          <p:cNvSpPr>
            <a:spLocks noGrp="1"/>
          </p:cNvSpPr>
          <p:nvPr>
            <p:ph type="title"/>
          </p:nvPr>
        </p:nvSpPr>
        <p:spPr>
          <a:xfrm>
            <a:off x="1981200" y="-58697"/>
            <a:ext cx="8229600" cy="1143000"/>
          </a:xfrm>
        </p:spPr>
        <p:txBody>
          <a:bodyPr/>
          <a:lstStyle/>
          <a:p>
            <a:r>
              <a:rPr lang="en-GB" dirty="0"/>
              <a:t>Training ANNs</a:t>
            </a:r>
            <a:endParaRPr lang="en-GB" sz="1800" dirty="0"/>
          </a:p>
        </p:txBody>
      </p:sp>
      <p:sp>
        <p:nvSpPr>
          <p:cNvPr id="10" name="Line 2">
            <a:extLst>
              <a:ext uri="{FF2B5EF4-FFF2-40B4-BE49-F238E27FC236}">
                <a16:creationId xmlns:a16="http://schemas.microsoft.com/office/drawing/2014/main" id="{3BF683AD-BE50-3897-4CFD-8B265B8DC5ED}"/>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1" name="Line 2">
            <a:extLst>
              <a:ext uri="{FF2B5EF4-FFF2-40B4-BE49-F238E27FC236}">
                <a16:creationId xmlns:a16="http://schemas.microsoft.com/office/drawing/2014/main" id="{2D3ABFE5-4655-C873-C81D-513DE5392479}"/>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pic>
        <p:nvPicPr>
          <p:cNvPr id="3074" name="Picture 2" descr="machine learning - General question regarding Over-fitting vs Complexity of  Models - Cross Validated">
            <a:extLst>
              <a:ext uri="{FF2B5EF4-FFF2-40B4-BE49-F238E27FC236}">
                <a16:creationId xmlns:a16="http://schemas.microsoft.com/office/drawing/2014/main" id="{6FDD9F61-FB49-7058-7037-BAA661A35FF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811" b="13250"/>
          <a:stretch>
            <a:fillRect/>
          </a:stretch>
        </p:blipFill>
        <p:spPr bwMode="auto">
          <a:xfrm>
            <a:off x="1764102" y="1380067"/>
            <a:ext cx="9144000" cy="4864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66221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720000" y="1259999"/>
            <a:ext cx="8148344" cy="2534120"/>
          </a:xfrm>
        </p:spPr>
        <p:txBody>
          <a:bodyPr>
            <a:noAutofit/>
          </a:bodyPr>
          <a:lstStyle/>
          <a:p>
            <a:pPr marL="355600" lvl="1" indent="-355600">
              <a:buFont typeface="Arial" panose="020B0604020202020204" pitchFamily="34" charset="0"/>
              <a:buChar char="•"/>
              <a:tabLst>
                <a:tab pos="3138488" algn="l"/>
              </a:tabLst>
            </a:pPr>
            <a:r>
              <a:rPr lang="en-GB" sz="1800" dirty="0"/>
              <a:t>When training an ANN a researcher needs to set the </a:t>
            </a:r>
            <a:r>
              <a:rPr lang="en-GB" sz="1800" b="1" dirty="0" err="1"/>
              <a:t>hyperparameters</a:t>
            </a:r>
            <a:endParaRPr lang="en-GB" sz="1800" dirty="0"/>
          </a:p>
          <a:p>
            <a:pPr marL="800100" lvl="2" indent="-400050">
              <a:buFont typeface="+mj-lt"/>
              <a:buAutoNum type="arabicPeriod"/>
              <a:tabLst>
                <a:tab pos="3138488" algn="l"/>
              </a:tabLst>
            </a:pPr>
            <a:r>
              <a:rPr lang="en-GB" sz="1800" u="sng" dirty="0"/>
              <a:t>Batch size</a:t>
            </a:r>
          </a:p>
          <a:p>
            <a:pPr marL="800100" lvl="2" indent="-400050">
              <a:buFont typeface="+mj-lt"/>
              <a:buAutoNum type="arabicPeriod"/>
              <a:tabLst>
                <a:tab pos="3138488" algn="l"/>
              </a:tabLst>
            </a:pPr>
            <a:r>
              <a:rPr lang="en-GB" sz="1800" u="sng" dirty="0"/>
              <a:t>Optimisation algorithms</a:t>
            </a:r>
          </a:p>
          <a:p>
            <a:pPr marL="800100" lvl="2" indent="-400050">
              <a:buFont typeface="+mj-lt"/>
              <a:buAutoNum type="arabicPeriod"/>
              <a:tabLst>
                <a:tab pos="3138488" algn="l"/>
              </a:tabLst>
            </a:pPr>
            <a:r>
              <a:rPr lang="en-GB" sz="1800" u="sng" dirty="0"/>
              <a:t>Learning rate</a:t>
            </a:r>
          </a:p>
          <a:p>
            <a:pPr marL="800100" lvl="2" indent="-400050">
              <a:buFont typeface="+mj-lt"/>
              <a:buAutoNum type="arabicPeriod"/>
              <a:tabLst>
                <a:tab pos="3138488" algn="l"/>
              </a:tabLst>
            </a:pPr>
            <a:r>
              <a:rPr lang="en-GB" sz="1800" u="sng" dirty="0"/>
              <a:t>Regularisation</a:t>
            </a:r>
          </a:p>
          <a:p>
            <a:pPr marL="400050" lvl="1" indent="-400050">
              <a:buFont typeface="Arial" panose="020B0604020202020204" pitchFamily="34" charset="0"/>
              <a:buChar char="•"/>
              <a:tabLst>
                <a:tab pos="3138488" algn="l"/>
              </a:tabLst>
            </a:pPr>
            <a:endParaRPr lang="en-GB" sz="1800" u="sng" dirty="0"/>
          </a:p>
          <a:p>
            <a:pPr marL="400050" lvl="1" indent="-400050">
              <a:buFont typeface="Arial" panose="020B0604020202020204" pitchFamily="34" charset="0"/>
              <a:buChar char="•"/>
              <a:tabLst>
                <a:tab pos="3138488" algn="l"/>
              </a:tabLst>
            </a:pPr>
            <a:endParaRPr lang="en-GB" sz="1800" u="sng" dirty="0"/>
          </a:p>
          <a:p>
            <a:pPr marL="360363" lvl="1" indent="-360363">
              <a:buFont typeface="Arial" panose="020B0604020202020204" pitchFamily="34" charset="0"/>
              <a:buChar char="•"/>
              <a:tabLst>
                <a:tab pos="3138488" algn="l"/>
              </a:tabLst>
            </a:pPr>
            <a:r>
              <a:rPr lang="en-GB" sz="1800" b="1" dirty="0"/>
              <a:t>Hyperparameter</a:t>
            </a:r>
            <a:r>
              <a:rPr lang="en-GB" sz="1800" dirty="0"/>
              <a:t> </a:t>
            </a:r>
            <a:r>
              <a:rPr lang="en-GB" sz="1800" b="1" dirty="0"/>
              <a:t>tuning</a:t>
            </a:r>
            <a:r>
              <a:rPr lang="en-GB" sz="1800" dirty="0"/>
              <a:t> often involves the </a:t>
            </a:r>
            <a:r>
              <a:rPr lang="en-GB" sz="1800" b="1" dirty="0"/>
              <a:t>finding the optimal combination of hyperparameters</a:t>
            </a:r>
            <a:r>
              <a:rPr lang="en-GB" sz="1800" dirty="0"/>
              <a:t>, and often can considerably improve the model performance</a:t>
            </a:r>
          </a:p>
          <a:p>
            <a:pPr marL="360363" lvl="1" indent="-360363">
              <a:buFont typeface="Arial" panose="020B0604020202020204" pitchFamily="34" charset="0"/>
              <a:buChar char="•"/>
              <a:tabLst>
                <a:tab pos="3138488" algn="l"/>
              </a:tabLst>
            </a:pPr>
            <a:endParaRPr lang="en-GB" sz="1800" dirty="0"/>
          </a:p>
          <a:p>
            <a:pPr marL="360363" lvl="1" indent="-360363">
              <a:buFont typeface="Arial" panose="020B0604020202020204" pitchFamily="34" charset="0"/>
              <a:buChar char="•"/>
              <a:tabLst>
                <a:tab pos="3138488" algn="l"/>
              </a:tabLst>
            </a:pPr>
            <a:endParaRPr lang="en-GB" dirty="0"/>
          </a:p>
          <a:p>
            <a:pPr marL="360363" lvl="1" indent="-360363">
              <a:tabLst>
                <a:tab pos="3138488" algn="l"/>
              </a:tabLst>
            </a:pPr>
            <a:r>
              <a:rPr lang="en-GB" dirty="0">
                <a:solidFill>
                  <a:prstClr val="black"/>
                </a:solidFill>
              </a:rPr>
              <a:t>To tune the hyperparameters often a simple </a:t>
            </a:r>
            <a:r>
              <a:rPr lang="en-GB" b="1" dirty="0">
                <a:solidFill>
                  <a:prstClr val="black"/>
                </a:solidFill>
              </a:rPr>
              <a:t>grid search</a:t>
            </a:r>
            <a:r>
              <a:rPr lang="en-GB" dirty="0">
                <a:solidFill>
                  <a:prstClr val="black"/>
                </a:solidFill>
              </a:rPr>
              <a:t> is used.</a:t>
            </a:r>
          </a:p>
          <a:p>
            <a:pPr marL="360363" lvl="1" indent="-360363">
              <a:buFont typeface="Arial" panose="020B0604020202020204" pitchFamily="34" charset="0"/>
              <a:buChar char="•"/>
              <a:tabLst>
                <a:tab pos="3138488" algn="l"/>
              </a:tabLst>
            </a:pPr>
            <a:endParaRPr lang="en-GB" sz="1800" dirty="0"/>
          </a:p>
          <a:p>
            <a:pPr marL="360363" lvl="1" indent="-360363">
              <a:tabLst>
                <a:tab pos="3138488" algn="l"/>
              </a:tabLst>
            </a:pPr>
            <a:r>
              <a:rPr lang="en-GB" dirty="0">
                <a:solidFill>
                  <a:prstClr val="black"/>
                </a:solidFill>
              </a:rPr>
              <a:t>But, hyperparameter tuning can quickly become computationally excessive…</a:t>
            </a:r>
          </a:p>
          <a:p>
            <a:pPr marL="360363" lvl="1" indent="-360363">
              <a:buFont typeface="Arial" panose="020B0604020202020204" pitchFamily="34" charset="0"/>
              <a:buChar char="•"/>
              <a:tabLst>
                <a:tab pos="3138488" algn="l"/>
              </a:tabLst>
            </a:pPr>
            <a:endParaRPr lang="en-GB" sz="18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grpSp>
        <p:nvGrpSpPr>
          <p:cNvPr id="10" name="Group 9"/>
          <p:cNvGrpSpPr/>
          <p:nvPr/>
        </p:nvGrpSpPr>
        <p:grpSpPr>
          <a:xfrm>
            <a:off x="720000" y="1381694"/>
            <a:ext cx="11124206" cy="3197693"/>
            <a:chOff x="1044000" y="1381694"/>
            <a:chExt cx="11124206" cy="3197693"/>
          </a:xfrm>
        </p:grpSpPr>
        <p:pic>
          <p:nvPicPr>
            <p:cNvPr id="3" name="Picture 2"/>
            <p:cNvPicPr>
              <a:picLocks noChangeAspect="1"/>
            </p:cNvPicPr>
            <p:nvPr/>
          </p:nvPicPr>
          <p:blipFill rotWithShape="1">
            <a:blip r:embed="rId2"/>
            <a:srcRect l="19519" t="19764" r="18025" b="19708"/>
            <a:stretch/>
          </p:blipFill>
          <p:spPr>
            <a:xfrm>
              <a:off x="10295998" y="1381694"/>
              <a:ext cx="1872208" cy="1911212"/>
            </a:xfrm>
            <a:prstGeom prst="rect">
              <a:avLst/>
            </a:prstGeom>
          </p:spPr>
        </p:pic>
        <p:sp>
          <p:nvSpPr>
            <p:cNvPr id="8" name="TextBox 7"/>
            <p:cNvSpPr txBox="1"/>
            <p:nvPr/>
          </p:nvSpPr>
          <p:spPr>
            <a:xfrm>
              <a:off x="1044000" y="3933056"/>
              <a:ext cx="6967340" cy="646331"/>
            </a:xfrm>
            <a:prstGeom prst="rect">
              <a:avLst/>
            </a:prstGeom>
            <a:noFill/>
          </p:spPr>
          <p:txBody>
            <a:bodyPr wrap="square" rtlCol="0">
              <a:spAutoFit/>
            </a:bodyPr>
            <a:lstStyle/>
            <a:p>
              <a:pPr marL="3429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3" name="Title 1">
            <a:extLst>
              <a:ext uri="{FF2B5EF4-FFF2-40B4-BE49-F238E27FC236}">
                <a16:creationId xmlns:a16="http://schemas.microsoft.com/office/drawing/2014/main" id="{9EDCE169-4E92-EE1C-22EE-F33114447826}"/>
              </a:ext>
            </a:extLst>
          </p:cNvPr>
          <p:cNvSpPr>
            <a:spLocks noGrp="1"/>
          </p:cNvSpPr>
          <p:nvPr>
            <p:ph type="title"/>
          </p:nvPr>
        </p:nvSpPr>
        <p:spPr>
          <a:xfrm>
            <a:off x="1981200" y="-58697"/>
            <a:ext cx="8229600" cy="1143000"/>
          </a:xfrm>
        </p:spPr>
        <p:txBody>
          <a:bodyPr/>
          <a:lstStyle/>
          <a:p>
            <a:r>
              <a:rPr lang="en-GB" dirty="0"/>
              <a:t>Training ANNs</a:t>
            </a:r>
            <a:endParaRPr lang="en-GB" sz="1800" dirty="0"/>
          </a:p>
        </p:txBody>
      </p:sp>
      <p:sp>
        <p:nvSpPr>
          <p:cNvPr id="14" name="Line 2">
            <a:extLst>
              <a:ext uri="{FF2B5EF4-FFF2-40B4-BE49-F238E27FC236}">
                <a16:creationId xmlns:a16="http://schemas.microsoft.com/office/drawing/2014/main" id="{303C234A-7B17-1E2F-57C5-68C93D5F0317}"/>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5" name="Line 2">
            <a:extLst>
              <a:ext uri="{FF2B5EF4-FFF2-40B4-BE49-F238E27FC236}">
                <a16:creationId xmlns:a16="http://schemas.microsoft.com/office/drawing/2014/main" id="{3B6CFE75-7A99-64EE-B1BA-914FC8E4F58D}"/>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2031213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720000" y="1260000"/>
            <a:ext cx="11136560" cy="5400600"/>
          </a:xfrm>
        </p:spPr>
        <p:txBody>
          <a:bodyPr>
            <a:noAutofit/>
          </a:bodyPr>
          <a:lstStyle/>
          <a:p>
            <a:pPr marL="0" lvl="1" indent="0">
              <a:buNone/>
              <a:tabLst>
                <a:tab pos="3138488" algn="l"/>
              </a:tabLst>
            </a:pPr>
            <a:r>
              <a:rPr lang="en-GB" sz="1800" b="1" dirty="0" err="1"/>
              <a:t>Hyperparameters</a:t>
            </a:r>
            <a:endParaRPr lang="en-GB" sz="1800" dirty="0"/>
          </a:p>
          <a:p>
            <a:pPr marL="808038" lvl="2" indent="-407988">
              <a:buFont typeface="+mj-lt"/>
              <a:buAutoNum type="arabicPeriod"/>
              <a:tabLst>
                <a:tab pos="3138488" algn="l"/>
              </a:tabLst>
            </a:pPr>
            <a:r>
              <a:rPr lang="en-GB" sz="1800" u="sng" dirty="0"/>
              <a:t>Batch size</a:t>
            </a:r>
            <a:r>
              <a:rPr lang="en-GB" sz="1800" dirty="0"/>
              <a:t>: number of observations (aka instances) utilized in </a:t>
            </a:r>
            <a:r>
              <a:rPr lang="en-GB" sz="1800" b="1" dirty="0"/>
              <a:t>1 iteration</a:t>
            </a:r>
          </a:p>
          <a:p>
            <a:pPr marL="400050" lvl="2" indent="0">
              <a:buNone/>
              <a:tabLst>
                <a:tab pos="3138488" algn="l"/>
              </a:tabLst>
            </a:pPr>
            <a:r>
              <a:rPr lang="en-GB" sz="1800" b="1" dirty="0"/>
              <a:t>			Stability			Robustness towards saddles 							and local minima	</a:t>
            </a:r>
          </a:p>
          <a:p>
            <a:pPr marL="1257300" lvl="3" indent="-400050">
              <a:tabLst>
                <a:tab pos="3138488" algn="l"/>
              </a:tabLst>
            </a:pPr>
            <a:r>
              <a:rPr lang="en-GB" sz="1800" dirty="0"/>
              <a:t>All instances (i.e. all data)</a:t>
            </a:r>
            <a:r>
              <a:rPr lang="en-GB" sz="1800" dirty="0">
                <a:sym typeface="Wingdings" panose="05000000000000000000" pitchFamily="2" charset="2"/>
              </a:rPr>
              <a:t>		Very stable		Not so robust</a:t>
            </a:r>
          </a:p>
          <a:p>
            <a:pPr marL="857250" lvl="3" indent="0">
              <a:buNone/>
              <a:tabLst>
                <a:tab pos="1257300" algn="l"/>
                <a:tab pos="3138488" algn="l"/>
              </a:tabLst>
            </a:pPr>
            <a:r>
              <a:rPr lang="en-GB" sz="1800" i="1" dirty="0">
                <a:solidFill>
                  <a:srgbClr val="4886B3"/>
                </a:solidFill>
                <a:sym typeface="Wingdings" panose="05000000000000000000" pitchFamily="2" charset="2"/>
              </a:rPr>
              <a:t>	Batch gradient descent</a:t>
            </a:r>
            <a:r>
              <a:rPr lang="en-GB" sz="1800" dirty="0">
                <a:solidFill>
                  <a:srgbClr val="4886B3"/>
                </a:solidFill>
                <a:sym typeface="Wingdings" panose="05000000000000000000" pitchFamily="2" charset="2"/>
              </a:rPr>
              <a:t>							</a:t>
            </a:r>
          </a:p>
          <a:p>
            <a:pPr marL="1257300" lvl="3" indent="-400050">
              <a:tabLst>
                <a:tab pos="3138488" algn="l"/>
              </a:tabLst>
            </a:pPr>
            <a:r>
              <a:rPr lang="en-GB" sz="1800" dirty="0">
                <a:sym typeface="Wingdings" panose="05000000000000000000" pitchFamily="2" charset="2"/>
              </a:rPr>
              <a:t>One instance randomly sampled	Very instable		Robust</a:t>
            </a:r>
          </a:p>
          <a:p>
            <a:pPr marL="857250" lvl="3" indent="0">
              <a:buNone/>
              <a:tabLst>
                <a:tab pos="1257300" algn="l"/>
                <a:tab pos="3138488" algn="l"/>
              </a:tabLst>
            </a:pPr>
            <a:r>
              <a:rPr lang="en-GB" sz="1800" i="1" dirty="0">
                <a:solidFill>
                  <a:srgbClr val="8754AD"/>
                </a:solidFill>
                <a:sym typeface="Wingdings" panose="05000000000000000000" pitchFamily="2" charset="2"/>
              </a:rPr>
              <a:t>	Stochastic gradient descent</a:t>
            </a:r>
            <a:endParaRPr lang="en-GB" sz="1800" dirty="0">
              <a:solidFill>
                <a:srgbClr val="8754AD"/>
              </a:solidFill>
              <a:sym typeface="Wingdings" panose="05000000000000000000" pitchFamily="2" charset="2"/>
            </a:endParaRPr>
          </a:p>
          <a:p>
            <a:pPr marL="1257300" lvl="3" indent="-400050">
              <a:tabLst>
                <a:tab pos="3138488" algn="l"/>
              </a:tabLst>
            </a:pPr>
            <a:r>
              <a:rPr lang="en-GB" sz="1800" i="1" dirty="0"/>
              <a:t>N</a:t>
            </a:r>
            <a:r>
              <a:rPr lang="en-GB" sz="1800" dirty="0"/>
              <a:t> instances </a:t>
            </a:r>
            <a:r>
              <a:rPr lang="en-GB" sz="1800" dirty="0">
                <a:sym typeface="Wingdings" panose="05000000000000000000" pitchFamily="2" charset="2"/>
              </a:rPr>
              <a:t>randomly sampled	Fairly stable		Fairly robust</a:t>
            </a:r>
          </a:p>
          <a:p>
            <a:pPr marL="857250" lvl="3" indent="0">
              <a:buNone/>
              <a:tabLst>
                <a:tab pos="1257300" algn="l"/>
                <a:tab pos="3138488" algn="l"/>
              </a:tabLst>
            </a:pPr>
            <a:r>
              <a:rPr lang="en-GB" sz="1800" i="1" dirty="0">
                <a:solidFill>
                  <a:srgbClr val="23BB67"/>
                </a:solidFill>
                <a:sym typeface="Wingdings" panose="05000000000000000000" pitchFamily="2" charset="2"/>
              </a:rPr>
              <a:t>	Mini batch gradient </a:t>
            </a:r>
            <a:endParaRPr lang="en-GB" sz="1800" dirty="0">
              <a:solidFill>
                <a:srgbClr val="23BB67"/>
              </a:solidFill>
            </a:endParaRPr>
          </a:p>
        </p:txBody>
      </p:sp>
      <p:sp>
        <p:nvSpPr>
          <p:cNvPr id="4" name="Slide Number Placeholder 3"/>
          <p:cNvSpPr>
            <a:spLocks noGrp="1"/>
          </p:cNvSpPr>
          <p:nvPr>
            <p:ph type="sldNum" sz="quarter" idx="12"/>
          </p:nvPr>
        </p:nvSpPr>
        <p:spPr>
          <a:xfrm>
            <a:off x="10154579" y="6356350"/>
            <a:ext cx="1353059" cy="365125"/>
          </a:xfrm>
          <a:solidFill>
            <a:schemeClr val="bg1"/>
          </a:solid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9" name="Picture 8"/>
          <p:cNvPicPr>
            <a:picLocks noChangeAspect="1"/>
          </p:cNvPicPr>
          <p:nvPr/>
        </p:nvPicPr>
        <p:blipFill>
          <a:blip r:embed="rId3"/>
          <a:stretch>
            <a:fillRect/>
          </a:stretch>
        </p:blipFill>
        <p:spPr>
          <a:xfrm>
            <a:off x="3763349" y="4488330"/>
            <a:ext cx="5062817" cy="2233146"/>
          </a:xfrm>
          <a:prstGeom prst="rect">
            <a:avLst/>
          </a:prstGeom>
        </p:spPr>
      </p:pic>
      <p:cxnSp>
        <p:nvCxnSpPr>
          <p:cNvPr id="3" name="Straight Arrow Connector 2"/>
          <p:cNvCxnSpPr>
            <a:cxnSpLocks/>
          </p:cNvCxnSpPr>
          <p:nvPr/>
        </p:nvCxnSpPr>
        <p:spPr>
          <a:xfrm flipH="1">
            <a:off x="6075904" y="3960300"/>
            <a:ext cx="143827" cy="517110"/>
          </a:xfrm>
          <a:prstGeom prst="straightConnector1">
            <a:avLst/>
          </a:prstGeom>
          <a:ln>
            <a:solidFill>
              <a:schemeClr val="tx1"/>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10" name="Rectangle 9"/>
          <p:cNvSpPr/>
          <p:nvPr/>
        </p:nvSpPr>
        <p:spPr>
          <a:xfrm>
            <a:off x="7849354" y="1844824"/>
            <a:ext cx="3575238" cy="252028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Rectangle 1"/>
          <p:cNvSpPr/>
          <p:nvPr/>
        </p:nvSpPr>
        <p:spPr>
          <a:xfrm>
            <a:off x="5257809" y="1844824"/>
            <a:ext cx="5976664" cy="26435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p:sp>
        <p:nvSpPr>
          <p:cNvPr id="11" name="Title 1">
            <a:extLst>
              <a:ext uri="{FF2B5EF4-FFF2-40B4-BE49-F238E27FC236}">
                <a16:creationId xmlns:a16="http://schemas.microsoft.com/office/drawing/2014/main" id="{0A310088-AC7C-FB33-5566-EDD3EA0B2071}"/>
              </a:ext>
            </a:extLst>
          </p:cNvPr>
          <p:cNvSpPr>
            <a:spLocks noGrp="1"/>
          </p:cNvSpPr>
          <p:nvPr>
            <p:ph type="title"/>
          </p:nvPr>
        </p:nvSpPr>
        <p:spPr>
          <a:xfrm>
            <a:off x="1981200" y="-58697"/>
            <a:ext cx="8229600" cy="1143000"/>
          </a:xfrm>
        </p:spPr>
        <p:txBody>
          <a:bodyPr/>
          <a:lstStyle/>
          <a:p>
            <a:r>
              <a:rPr lang="en-GB" dirty="0"/>
              <a:t>Training ANNs</a:t>
            </a:r>
            <a:endParaRPr lang="en-GB" sz="1800" dirty="0"/>
          </a:p>
        </p:txBody>
      </p:sp>
      <p:sp>
        <p:nvSpPr>
          <p:cNvPr id="12" name="Line 2">
            <a:extLst>
              <a:ext uri="{FF2B5EF4-FFF2-40B4-BE49-F238E27FC236}">
                <a16:creationId xmlns:a16="http://schemas.microsoft.com/office/drawing/2014/main" id="{18AC96C1-FE7F-7F3D-84C3-BD5559139DC0}"/>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3" name="Line 2">
            <a:extLst>
              <a:ext uri="{FF2B5EF4-FFF2-40B4-BE49-F238E27FC236}">
                <a16:creationId xmlns:a16="http://schemas.microsoft.com/office/drawing/2014/main" id="{1855F425-93A9-4903-C196-953B4E63EA43}"/>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2101733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500"/>
                                        <p:tgtEl>
                                          <p:spTgt spid="5">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3" end="3"/>
                                            </p:txEl>
                                          </p:spTgt>
                                        </p:tgtEl>
                                        <p:attrNameLst>
                                          <p:attrName>style.visibility</p:attrName>
                                        </p:attrNameLst>
                                      </p:cBhvr>
                                      <p:to>
                                        <p:strVal val="visible"/>
                                      </p:to>
                                    </p:set>
                                    <p:animEffect transition="in" filter="fade">
                                      <p:cBhvr>
                                        <p:cTn id="10" dur="500"/>
                                        <p:tgtEl>
                                          <p:spTgt spid="5">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animEffect transition="in" filter="fade">
                                      <p:cBhvr>
                                        <p:cTn id="13" dur="500"/>
                                        <p:tgtEl>
                                          <p:spTgt spid="5">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5" end="5"/>
                                            </p:txEl>
                                          </p:spTgt>
                                        </p:tgtEl>
                                        <p:attrNameLst>
                                          <p:attrName>style.visibility</p:attrName>
                                        </p:attrNameLst>
                                      </p:cBhvr>
                                      <p:to>
                                        <p:strVal val="visible"/>
                                      </p:to>
                                    </p:set>
                                    <p:animEffect transition="in" filter="fade">
                                      <p:cBhvr>
                                        <p:cTn id="16" dur="500"/>
                                        <p:tgtEl>
                                          <p:spTgt spid="5">
                                            <p:txEl>
                                              <p:pRg st="5" end="5"/>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animEffect transition="in" filter="fade">
                                      <p:cBhvr>
                                        <p:cTn id="19" dur="500"/>
                                        <p:tgtEl>
                                          <p:spTgt spid="5">
                                            <p:txEl>
                                              <p:pRg st="6" end="6"/>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5">
                                            <p:txEl>
                                              <p:pRg st="7" end="7"/>
                                            </p:txEl>
                                          </p:spTgt>
                                        </p:tgtEl>
                                        <p:attrNameLst>
                                          <p:attrName>style.visibility</p:attrName>
                                        </p:attrNameLst>
                                      </p:cBhvr>
                                      <p:to>
                                        <p:strVal val="visible"/>
                                      </p:to>
                                    </p:set>
                                    <p:animEffect transition="in" filter="fade">
                                      <p:cBhvr>
                                        <p:cTn id="22" dur="500"/>
                                        <p:tgtEl>
                                          <p:spTgt spid="5">
                                            <p:txEl>
                                              <p:pRg st="7" end="7"/>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animEffect transition="in" filter="fade">
                                      <p:cBhvr>
                                        <p:cTn id="25" dur="500"/>
                                        <p:tgtEl>
                                          <p:spTgt spid="5">
                                            <p:txEl>
                                              <p:pRg st="8" end="8"/>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grpId="0" nodeType="clickEffect">
                                  <p:stCondLst>
                                    <p:cond delay="0"/>
                                  </p:stCondLst>
                                  <p:childTnLst>
                                    <p:animEffect transition="out" filter="fade">
                                      <p:cBhvr>
                                        <p:cTn id="29" dur="500"/>
                                        <p:tgtEl>
                                          <p:spTgt spid="2"/>
                                        </p:tgtEl>
                                      </p:cBhvr>
                                    </p:animEffect>
                                    <p:set>
                                      <p:cBhvr>
                                        <p:cTn id="30" dur="1" fill="hold">
                                          <p:stCondLst>
                                            <p:cond delay="499"/>
                                          </p:stCondLst>
                                        </p:cTn>
                                        <p:tgtEl>
                                          <p:spTgt spid="2"/>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par>
                                <p:cTn id="36" presetID="10" presetClass="entr" presetSubtype="0" fill="hold"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500"/>
                                        <p:tgtEl>
                                          <p:spTgt spid="9"/>
                                        </p:tgtEl>
                                      </p:cBhvr>
                                    </p:animEffect>
                                  </p:childTnLst>
                                </p:cTn>
                              </p:par>
                              <p:par>
                                <p:cTn id="39" presetID="10" presetClass="entr" presetSubtype="0" fill="hold" nodeType="withEffect">
                                  <p:stCondLst>
                                    <p:cond delay="0"/>
                                  </p:stCondLst>
                                  <p:childTnLst>
                                    <p:set>
                                      <p:cBhvr>
                                        <p:cTn id="40" dur="1" fill="hold">
                                          <p:stCondLst>
                                            <p:cond delay="0"/>
                                          </p:stCondLst>
                                        </p:cTn>
                                        <p:tgtEl>
                                          <p:spTgt spid="3"/>
                                        </p:tgtEl>
                                        <p:attrNameLst>
                                          <p:attrName>style.visibility</p:attrName>
                                        </p:attrNameLst>
                                      </p:cBhvr>
                                      <p:to>
                                        <p:strVal val="visible"/>
                                      </p:to>
                                    </p:set>
                                    <p:animEffect transition="in" filter="fade">
                                      <p:cBhvr>
                                        <p:cTn id="4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3" name="Content Placeholder 2"/>
          <p:cNvSpPr>
            <a:spLocks noGrp="1"/>
          </p:cNvSpPr>
          <p:nvPr>
            <p:ph idx="1"/>
          </p:nvPr>
        </p:nvSpPr>
        <p:spPr>
          <a:xfrm>
            <a:off x="720000" y="1260000"/>
            <a:ext cx="11136560" cy="5400600"/>
          </a:xfrm>
        </p:spPr>
        <p:txBody>
          <a:bodyPr>
            <a:noAutofit/>
          </a:bodyPr>
          <a:lstStyle/>
          <a:p>
            <a:pPr marL="0" lvl="2" indent="0">
              <a:buNone/>
              <a:tabLst>
                <a:tab pos="3138488" algn="l"/>
              </a:tabLst>
            </a:pPr>
            <a:r>
              <a:rPr lang="en-GB" sz="1800" b="1" dirty="0" err="1"/>
              <a:t>Hyperparameters</a:t>
            </a:r>
            <a:endParaRPr lang="en-GB" sz="1800" dirty="0"/>
          </a:p>
          <a:p>
            <a:pPr marL="800100" lvl="2" indent="-400050">
              <a:buFont typeface="+mj-lt"/>
              <a:buAutoNum type="arabicPeriod"/>
              <a:tabLst>
                <a:tab pos="3138488" algn="l"/>
              </a:tabLst>
            </a:pPr>
            <a:r>
              <a:rPr lang="en-GB" sz="1800" u="sng" dirty="0"/>
              <a:t>Batch size</a:t>
            </a:r>
            <a:r>
              <a:rPr lang="en-GB" sz="1800" dirty="0"/>
              <a:t>:</a:t>
            </a:r>
            <a:r>
              <a:rPr lang="en-GB" sz="1800" b="1" dirty="0"/>
              <a:t> </a:t>
            </a:r>
            <a:r>
              <a:rPr lang="en-GB" sz="1800" dirty="0"/>
              <a:t>number of observations (aka instances) utilized in </a:t>
            </a:r>
            <a:r>
              <a:rPr lang="en-GB" sz="1800" b="1" dirty="0"/>
              <a:t>1 iteration</a:t>
            </a:r>
          </a:p>
          <a:p>
            <a:pPr marL="400050" lvl="2" indent="0">
              <a:buNone/>
              <a:tabLst>
                <a:tab pos="3138488" algn="l"/>
              </a:tabLst>
            </a:pPr>
            <a:r>
              <a:rPr lang="en-GB" sz="1800" b="1" dirty="0"/>
              <a:t>			Stability			Robustness towards saddles 							and local minima	</a:t>
            </a:r>
          </a:p>
          <a:p>
            <a:pPr marL="1257300" lvl="3" indent="-400050">
              <a:tabLst>
                <a:tab pos="3138488" algn="l"/>
              </a:tabLst>
            </a:pPr>
            <a:r>
              <a:rPr lang="en-GB" sz="1800" dirty="0"/>
              <a:t>All data</a:t>
            </a:r>
            <a:r>
              <a:rPr lang="en-GB" sz="1800" dirty="0">
                <a:sym typeface="Wingdings" panose="05000000000000000000" pitchFamily="2" charset="2"/>
              </a:rPr>
              <a:t> 			Very stable		Not so robust</a:t>
            </a:r>
          </a:p>
          <a:p>
            <a:pPr marL="857250" lvl="3" indent="0">
              <a:buNone/>
              <a:tabLst>
                <a:tab pos="1257300" algn="l"/>
                <a:tab pos="3138488" algn="l"/>
              </a:tabLst>
            </a:pPr>
            <a:r>
              <a:rPr lang="en-GB" sz="1800" i="1" dirty="0">
                <a:solidFill>
                  <a:srgbClr val="4886B3"/>
                </a:solidFill>
                <a:sym typeface="Wingdings" panose="05000000000000000000" pitchFamily="2" charset="2"/>
              </a:rPr>
              <a:t>	Batch gradient descent</a:t>
            </a:r>
            <a:r>
              <a:rPr lang="en-GB" sz="1800" dirty="0">
                <a:solidFill>
                  <a:srgbClr val="4886B3"/>
                </a:solidFill>
                <a:sym typeface="Wingdings" panose="05000000000000000000" pitchFamily="2" charset="2"/>
              </a:rPr>
              <a:t>							</a:t>
            </a:r>
          </a:p>
          <a:p>
            <a:pPr marL="1257300" lvl="3" indent="-400050">
              <a:tabLst>
                <a:tab pos="3138488" algn="l"/>
              </a:tabLst>
            </a:pPr>
            <a:r>
              <a:rPr lang="en-GB" sz="1800" dirty="0">
                <a:sym typeface="Wingdings" panose="05000000000000000000" pitchFamily="2" charset="2"/>
              </a:rPr>
              <a:t>One instance randomly sampled	Very instable		Robust</a:t>
            </a:r>
          </a:p>
          <a:p>
            <a:pPr marL="857250" lvl="3" indent="0">
              <a:buNone/>
              <a:tabLst>
                <a:tab pos="1257300" algn="l"/>
                <a:tab pos="3138488" algn="l"/>
              </a:tabLst>
            </a:pPr>
            <a:r>
              <a:rPr lang="en-GB" sz="1800" i="1" dirty="0">
                <a:solidFill>
                  <a:srgbClr val="8754AD"/>
                </a:solidFill>
                <a:sym typeface="Wingdings" panose="05000000000000000000" pitchFamily="2" charset="2"/>
              </a:rPr>
              <a:t>	Stochastic gradient descent</a:t>
            </a:r>
            <a:endParaRPr lang="en-GB" sz="1800" dirty="0">
              <a:solidFill>
                <a:srgbClr val="8754AD"/>
              </a:solidFill>
              <a:sym typeface="Wingdings" panose="05000000000000000000" pitchFamily="2" charset="2"/>
            </a:endParaRPr>
          </a:p>
          <a:p>
            <a:pPr marL="1257300" lvl="3" indent="-400050">
              <a:tabLst>
                <a:tab pos="3138488" algn="l"/>
              </a:tabLst>
            </a:pPr>
            <a:r>
              <a:rPr lang="en-GB" sz="1800" i="1" dirty="0"/>
              <a:t>N</a:t>
            </a:r>
            <a:r>
              <a:rPr lang="en-GB" sz="1800" dirty="0"/>
              <a:t> instances </a:t>
            </a:r>
            <a:r>
              <a:rPr lang="en-GB" sz="1800" dirty="0">
                <a:sym typeface="Wingdings" panose="05000000000000000000" pitchFamily="2" charset="2"/>
              </a:rPr>
              <a:t>randomly sampled	Fairly stable		Fairly robust</a:t>
            </a:r>
          </a:p>
          <a:p>
            <a:pPr marL="857250" lvl="3" indent="0">
              <a:buNone/>
              <a:tabLst>
                <a:tab pos="1257300" algn="l"/>
                <a:tab pos="3138488" algn="l"/>
              </a:tabLst>
            </a:pPr>
            <a:r>
              <a:rPr lang="en-GB" sz="1800" i="1" dirty="0">
                <a:solidFill>
                  <a:srgbClr val="23BB67"/>
                </a:solidFill>
                <a:sym typeface="Wingdings" panose="05000000000000000000" pitchFamily="2" charset="2"/>
              </a:rPr>
              <a:t>	Mini batch gradient </a:t>
            </a:r>
            <a:endParaRPr lang="en-GB" sz="1800" dirty="0">
              <a:solidFill>
                <a:srgbClr val="23BB67"/>
              </a:solidFill>
            </a:endParaRPr>
          </a:p>
        </p:txBody>
      </p:sp>
      <p:sp>
        <p:nvSpPr>
          <p:cNvPr id="14" name="Rectangle 13"/>
          <p:cNvSpPr/>
          <p:nvPr/>
        </p:nvSpPr>
        <p:spPr>
          <a:xfrm>
            <a:off x="1631504" y="2276872"/>
            <a:ext cx="6192688" cy="38164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8" name="Group 7"/>
          <p:cNvGrpSpPr/>
          <p:nvPr/>
        </p:nvGrpSpPr>
        <p:grpSpPr>
          <a:xfrm>
            <a:off x="1847528" y="2276872"/>
            <a:ext cx="5057775" cy="3968709"/>
            <a:chOff x="1543050" y="1933575"/>
            <a:chExt cx="5057775" cy="3968709"/>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6875" y="1933575"/>
              <a:ext cx="4933950" cy="3819832"/>
            </a:xfrm>
            <a:prstGeom prst="rect">
              <a:avLst/>
            </a:prstGeom>
          </p:spPr>
        </p:pic>
        <p:sp>
          <p:nvSpPr>
            <p:cNvPr id="10" name="Rectangle 9"/>
            <p:cNvSpPr/>
            <p:nvPr/>
          </p:nvSpPr>
          <p:spPr>
            <a:xfrm>
              <a:off x="5105400" y="2082453"/>
              <a:ext cx="1362075" cy="1317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p:cNvSpPr txBox="1"/>
            <p:nvPr/>
          </p:nvSpPr>
          <p:spPr>
            <a:xfrm>
              <a:off x="5105399" y="2086501"/>
              <a:ext cx="1362076"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Robustness of different optimisation algorithms</a:t>
              </a:r>
            </a:p>
          </p:txBody>
        </p:sp>
        <p:sp>
          <p:nvSpPr>
            <p:cNvPr id="12" name="Rectangle 11"/>
            <p:cNvSpPr/>
            <p:nvPr/>
          </p:nvSpPr>
          <p:spPr>
            <a:xfrm>
              <a:off x="1543050" y="1933575"/>
              <a:ext cx="5057775" cy="3968709"/>
            </a:xfrm>
            <a:prstGeom prst="rect">
              <a:avLst/>
            </a:pr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 name="Rectangle 1"/>
          <p:cNvSpPr/>
          <p:nvPr/>
        </p:nvSpPr>
        <p:spPr>
          <a:xfrm>
            <a:off x="5266019" y="1942873"/>
            <a:ext cx="1180009" cy="257536"/>
          </a:xfrm>
          <a:prstGeom prst="rect">
            <a:avLst/>
          </a:prstGeom>
          <a:solidFill>
            <a:schemeClr val="bg1">
              <a:alpha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9" name="Straight Arrow Connector 8"/>
          <p:cNvCxnSpPr>
            <a:cxnSpLocks/>
          </p:cNvCxnSpPr>
          <p:nvPr/>
        </p:nvCxnSpPr>
        <p:spPr>
          <a:xfrm flipH="1">
            <a:off x="7178947" y="2200409"/>
            <a:ext cx="853884" cy="374734"/>
          </a:xfrm>
          <a:prstGeom prst="straightConnector1">
            <a:avLst/>
          </a:prstGeom>
          <a:ln w="19050">
            <a:solidFill>
              <a:schemeClr val="tx1"/>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15" name="Title 1">
            <a:extLst>
              <a:ext uri="{FF2B5EF4-FFF2-40B4-BE49-F238E27FC236}">
                <a16:creationId xmlns:a16="http://schemas.microsoft.com/office/drawing/2014/main" id="{5CE46552-4E5D-51ED-9F64-E64AFA846EF3}"/>
              </a:ext>
            </a:extLst>
          </p:cNvPr>
          <p:cNvSpPr>
            <a:spLocks noGrp="1"/>
          </p:cNvSpPr>
          <p:nvPr>
            <p:ph type="title"/>
          </p:nvPr>
        </p:nvSpPr>
        <p:spPr>
          <a:xfrm>
            <a:off x="1981200" y="-58697"/>
            <a:ext cx="8229600" cy="1143000"/>
          </a:xfrm>
        </p:spPr>
        <p:txBody>
          <a:bodyPr/>
          <a:lstStyle/>
          <a:p>
            <a:r>
              <a:rPr lang="en-GB" dirty="0"/>
              <a:t>Training ANNs</a:t>
            </a:r>
            <a:endParaRPr lang="en-GB" sz="1800" dirty="0"/>
          </a:p>
        </p:txBody>
      </p:sp>
      <p:sp>
        <p:nvSpPr>
          <p:cNvPr id="16" name="Line 2">
            <a:extLst>
              <a:ext uri="{FF2B5EF4-FFF2-40B4-BE49-F238E27FC236}">
                <a16:creationId xmlns:a16="http://schemas.microsoft.com/office/drawing/2014/main" id="{6D506571-833B-1E27-4F82-4DBCC466F307}"/>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7" name="Line 2">
            <a:extLst>
              <a:ext uri="{FF2B5EF4-FFF2-40B4-BE49-F238E27FC236}">
                <a16:creationId xmlns:a16="http://schemas.microsoft.com/office/drawing/2014/main" id="{55A4B096-A231-69A8-DC98-36093CDE6B98}"/>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2802001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788400" y="6356351"/>
            <a:ext cx="28448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3" name="Content Placeholder 2"/>
          <p:cNvSpPr>
            <a:spLocks noGrp="1"/>
          </p:cNvSpPr>
          <p:nvPr>
            <p:ph idx="1"/>
          </p:nvPr>
        </p:nvSpPr>
        <p:spPr>
          <a:xfrm>
            <a:off x="720000" y="1268760"/>
            <a:ext cx="11136560" cy="4059987"/>
          </a:xfrm>
        </p:spPr>
        <p:txBody>
          <a:bodyPr>
            <a:noAutofit/>
          </a:bodyPr>
          <a:lstStyle/>
          <a:p>
            <a:pPr marL="0" lvl="1" indent="0">
              <a:buNone/>
              <a:tabLst>
                <a:tab pos="3138488" algn="l"/>
              </a:tabLst>
            </a:pPr>
            <a:r>
              <a:rPr lang="en-GB" sz="1800" b="1" dirty="0" err="1"/>
              <a:t>Hyperparameters</a:t>
            </a:r>
            <a:endParaRPr lang="en-GB" sz="1800" dirty="0"/>
          </a:p>
          <a:p>
            <a:pPr marL="800100" lvl="2" indent="-400050">
              <a:buFont typeface="+mj-lt"/>
              <a:buAutoNum type="arabicPeriod"/>
              <a:tabLst>
                <a:tab pos="3138488" algn="l"/>
              </a:tabLst>
            </a:pPr>
            <a:r>
              <a:rPr lang="en-GB" sz="1800" u="sng" dirty="0"/>
              <a:t>Batch size</a:t>
            </a:r>
            <a:r>
              <a:rPr lang="en-GB" sz="1800" dirty="0"/>
              <a:t>:</a:t>
            </a:r>
            <a:r>
              <a:rPr lang="en-GB" sz="1800" b="1" dirty="0"/>
              <a:t> </a:t>
            </a:r>
            <a:r>
              <a:rPr lang="en-GB" sz="1800" dirty="0"/>
              <a:t>number of observations (aka instances) utilized in </a:t>
            </a:r>
            <a:r>
              <a:rPr lang="en-GB" sz="1800" b="1" dirty="0"/>
              <a:t>1 iteration</a:t>
            </a:r>
          </a:p>
          <a:p>
            <a:pPr marL="400050" lvl="2" indent="0">
              <a:buNone/>
              <a:tabLst>
                <a:tab pos="3138488" algn="l"/>
              </a:tabLst>
            </a:pPr>
            <a:r>
              <a:rPr lang="en-GB" sz="1800" b="1" dirty="0"/>
              <a:t>			Stability			Robustness towards saddles 							and local minima	</a:t>
            </a:r>
          </a:p>
          <a:p>
            <a:pPr marL="1257300" lvl="3" indent="-400050">
              <a:tabLst>
                <a:tab pos="3138488" algn="l"/>
              </a:tabLst>
            </a:pPr>
            <a:r>
              <a:rPr lang="en-GB" sz="1800" dirty="0"/>
              <a:t>All instances (i.e. all data)</a:t>
            </a:r>
            <a:r>
              <a:rPr lang="en-GB" sz="1800" dirty="0">
                <a:sym typeface="Wingdings" panose="05000000000000000000" pitchFamily="2" charset="2"/>
              </a:rPr>
              <a:t>		Very stable		Not so robust</a:t>
            </a:r>
          </a:p>
          <a:p>
            <a:pPr marL="857250" lvl="3" indent="0">
              <a:buNone/>
              <a:tabLst>
                <a:tab pos="1257300" algn="l"/>
                <a:tab pos="3138488" algn="l"/>
              </a:tabLst>
            </a:pPr>
            <a:r>
              <a:rPr lang="en-GB" sz="1800" i="1" dirty="0">
                <a:solidFill>
                  <a:srgbClr val="4886B3"/>
                </a:solidFill>
                <a:sym typeface="Wingdings" panose="05000000000000000000" pitchFamily="2" charset="2"/>
              </a:rPr>
              <a:t>	Batch gradient descent</a:t>
            </a:r>
            <a:r>
              <a:rPr lang="en-GB" sz="1800" dirty="0">
                <a:solidFill>
                  <a:srgbClr val="4886B3"/>
                </a:solidFill>
                <a:sym typeface="Wingdings" panose="05000000000000000000" pitchFamily="2" charset="2"/>
              </a:rPr>
              <a:t>							</a:t>
            </a:r>
          </a:p>
          <a:p>
            <a:pPr marL="1257300" lvl="3" indent="-400050">
              <a:tabLst>
                <a:tab pos="3138488" algn="l"/>
              </a:tabLst>
            </a:pPr>
            <a:r>
              <a:rPr lang="en-GB" sz="1800" dirty="0">
                <a:sym typeface="Wingdings" panose="05000000000000000000" pitchFamily="2" charset="2"/>
              </a:rPr>
              <a:t>One instance randomly sampled	Very instable		Robust</a:t>
            </a:r>
          </a:p>
          <a:p>
            <a:pPr marL="857250" lvl="3" indent="0">
              <a:buNone/>
              <a:tabLst>
                <a:tab pos="1257300" algn="l"/>
                <a:tab pos="3138488" algn="l"/>
              </a:tabLst>
            </a:pPr>
            <a:r>
              <a:rPr lang="en-GB" sz="1800" i="1" dirty="0">
                <a:solidFill>
                  <a:srgbClr val="8754AD"/>
                </a:solidFill>
                <a:sym typeface="Wingdings" panose="05000000000000000000" pitchFamily="2" charset="2"/>
              </a:rPr>
              <a:t>	Stochastic gradient descent</a:t>
            </a:r>
            <a:endParaRPr lang="en-GB" sz="1800" dirty="0">
              <a:solidFill>
                <a:srgbClr val="8754AD"/>
              </a:solidFill>
              <a:sym typeface="Wingdings" panose="05000000000000000000" pitchFamily="2" charset="2"/>
            </a:endParaRPr>
          </a:p>
          <a:p>
            <a:pPr marL="1257300" lvl="3" indent="-400050">
              <a:tabLst>
                <a:tab pos="3138488" algn="l"/>
              </a:tabLst>
            </a:pPr>
            <a:r>
              <a:rPr lang="en-GB" sz="1800" i="1" dirty="0"/>
              <a:t>N</a:t>
            </a:r>
            <a:r>
              <a:rPr lang="en-GB" sz="1800" dirty="0"/>
              <a:t> instances </a:t>
            </a:r>
            <a:r>
              <a:rPr lang="en-GB" sz="1800" dirty="0">
                <a:sym typeface="Wingdings" panose="05000000000000000000" pitchFamily="2" charset="2"/>
              </a:rPr>
              <a:t>randomly sampled	Fairly stable		Fairly robust</a:t>
            </a:r>
          </a:p>
          <a:p>
            <a:pPr marL="857250" lvl="3" indent="0">
              <a:buNone/>
              <a:tabLst>
                <a:tab pos="1257300" algn="l"/>
                <a:tab pos="3138488" algn="l"/>
              </a:tabLst>
            </a:pPr>
            <a:r>
              <a:rPr lang="en-GB" sz="1800" i="1" dirty="0">
                <a:solidFill>
                  <a:srgbClr val="23BB67"/>
                </a:solidFill>
                <a:sym typeface="Wingdings" panose="05000000000000000000" pitchFamily="2" charset="2"/>
              </a:rPr>
              <a:t>	Mini batch gradient </a:t>
            </a:r>
          </a:p>
          <a:p>
            <a:pPr marL="857250" lvl="3" indent="0">
              <a:buNone/>
              <a:tabLst>
                <a:tab pos="1257300" algn="l"/>
                <a:tab pos="3138488" algn="l"/>
              </a:tabLst>
            </a:pPr>
            <a:endParaRPr lang="en-GB" sz="1800" i="1" dirty="0">
              <a:solidFill>
                <a:srgbClr val="23BB67"/>
              </a:solidFill>
              <a:sym typeface="Wingdings" panose="05000000000000000000" pitchFamily="2" charset="2"/>
            </a:endParaRPr>
          </a:p>
          <a:p>
            <a:pPr marL="857250" lvl="3" indent="0">
              <a:buNone/>
              <a:tabLst>
                <a:tab pos="1257300" algn="l"/>
                <a:tab pos="3138488" algn="l"/>
              </a:tabLst>
            </a:pPr>
            <a:r>
              <a:rPr lang="en-GB" sz="1800" dirty="0">
                <a:sym typeface="Wingdings" panose="05000000000000000000" pitchFamily="2" charset="2"/>
              </a:rPr>
              <a:t>In 1 </a:t>
            </a:r>
            <a:r>
              <a:rPr lang="en-GB" sz="1800" b="1" dirty="0">
                <a:sym typeface="Wingdings" panose="05000000000000000000" pitchFamily="2" charset="2"/>
              </a:rPr>
              <a:t>epoch</a:t>
            </a:r>
            <a:r>
              <a:rPr lang="en-GB" sz="1800" dirty="0">
                <a:sym typeface="Wingdings" panose="05000000000000000000" pitchFamily="2" charset="2"/>
              </a:rPr>
              <a:t> all the observations (instances) in the data has been utilised ones</a:t>
            </a:r>
            <a:endParaRPr lang="en-GB" sz="1800" dirty="0"/>
          </a:p>
        </p:txBody>
      </p:sp>
      <p:grpSp>
        <p:nvGrpSpPr>
          <p:cNvPr id="16" name="Group 15"/>
          <p:cNvGrpSpPr/>
          <p:nvPr/>
        </p:nvGrpSpPr>
        <p:grpSpPr>
          <a:xfrm>
            <a:off x="3678560" y="5373216"/>
            <a:ext cx="4834880" cy="1348260"/>
            <a:chOff x="1985040" y="5397192"/>
            <a:chExt cx="4834880" cy="1348260"/>
          </a:xfrm>
        </p:grpSpPr>
        <p:sp>
          <p:nvSpPr>
            <p:cNvPr id="2" name="Rounded Rectangle 1"/>
            <p:cNvSpPr/>
            <p:nvPr/>
          </p:nvSpPr>
          <p:spPr>
            <a:xfrm>
              <a:off x="1985040" y="5397192"/>
              <a:ext cx="4834880" cy="1348260"/>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1" u="none" strike="noStrike" kern="1200" cap="none" spc="0" normalizeH="0" baseline="0" noProof="0" dirty="0">
                  <a:ln>
                    <a:noFill/>
                  </a:ln>
                  <a:solidFill>
                    <a:prstClr val="black"/>
                  </a:solidFill>
                  <a:effectLst/>
                  <a:uLnTx/>
                  <a:uFillTx/>
                  <a:latin typeface="Calibri" panose="020F0502020204030204"/>
                  <a:ea typeface="+mn-ea"/>
                  <a:cs typeface="+mn-cs"/>
                </a:rPr>
                <a:t>Relationship batch size, iteration, epoch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N = 10,000 </a:t>
              </a: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observations</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BS = 1,000  (</a:t>
              </a: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mini)batch size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Right Arrow 4"/>
            <p:cNvSpPr/>
            <p:nvPr/>
          </p:nvSpPr>
          <p:spPr>
            <a:xfrm>
              <a:off x="4857258" y="5877272"/>
              <a:ext cx="432048" cy="360040"/>
            </a:xfrm>
            <a:prstGeom prst="rightArrow">
              <a:avLst/>
            </a:prstGeom>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Box 8"/>
            <p:cNvSpPr txBox="1"/>
            <p:nvPr/>
          </p:nvSpPr>
          <p:spPr>
            <a:xfrm>
              <a:off x="5375920" y="5725922"/>
              <a:ext cx="144016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10 </a:t>
              </a: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iterations</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per </a:t>
              </a: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Epoch</a:t>
              </a:r>
            </a:p>
          </p:txBody>
        </p:sp>
      </p:grpSp>
      <p:sp>
        <p:nvSpPr>
          <p:cNvPr id="8" name="Title 1">
            <a:extLst>
              <a:ext uri="{FF2B5EF4-FFF2-40B4-BE49-F238E27FC236}">
                <a16:creationId xmlns:a16="http://schemas.microsoft.com/office/drawing/2014/main" id="{F5697CBB-66A4-FD29-3A20-4ECDED77EE47}"/>
              </a:ext>
            </a:extLst>
          </p:cNvPr>
          <p:cNvSpPr>
            <a:spLocks noGrp="1"/>
          </p:cNvSpPr>
          <p:nvPr>
            <p:ph type="title"/>
          </p:nvPr>
        </p:nvSpPr>
        <p:spPr>
          <a:xfrm>
            <a:off x="1981200" y="-58697"/>
            <a:ext cx="8229600" cy="1143000"/>
          </a:xfrm>
        </p:spPr>
        <p:txBody>
          <a:bodyPr/>
          <a:lstStyle/>
          <a:p>
            <a:r>
              <a:rPr lang="en-GB" dirty="0"/>
              <a:t>Training ANNs</a:t>
            </a:r>
            <a:endParaRPr lang="en-GB" sz="1800" dirty="0"/>
          </a:p>
        </p:txBody>
      </p:sp>
      <p:sp>
        <p:nvSpPr>
          <p:cNvPr id="10" name="Line 2">
            <a:extLst>
              <a:ext uri="{FF2B5EF4-FFF2-40B4-BE49-F238E27FC236}">
                <a16:creationId xmlns:a16="http://schemas.microsoft.com/office/drawing/2014/main" id="{24737A1A-6139-60DF-42E8-457EF68555F3}"/>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1" name="Line 2">
            <a:extLst>
              <a:ext uri="{FF2B5EF4-FFF2-40B4-BE49-F238E27FC236}">
                <a16:creationId xmlns:a16="http://schemas.microsoft.com/office/drawing/2014/main" id="{60746430-8BA1-82BF-759B-BE51A0FC42C7}"/>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5825585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720000" y="1260000"/>
            <a:ext cx="8724408" cy="5400600"/>
          </a:xfrm>
        </p:spPr>
        <p:txBody>
          <a:bodyPr>
            <a:noAutofit/>
          </a:bodyPr>
          <a:lstStyle/>
          <a:p>
            <a:pPr marL="0" lvl="1" indent="0">
              <a:buNone/>
              <a:tabLst>
                <a:tab pos="3138488" algn="l"/>
              </a:tabLst>
            </a:pPr>
            <a:r>
              <a:rPr lang="en-GB" sz="1800" b="1" dirty="0" err="1"/>
              <a:t>Hyperparameters</a:t>
            </a:r>
            <a:endParaRPr lang="en-GB" sz="1800" dirty="0"/>
          </a:p>
          <a:p>
            <a:pPr marL="800100" lvl="2" indent="-400050">
              <a:buFont typeface="+mj-lt"/>
              <a:buAutoNum type="arabicPeriod" startAt="2"/>
              <a:tabLst>
                <a:tab pos="3138488" algn="l"/>
              </a:tabLst>
            </a:pPr>
            <a:r>
              <a:rPr lang="en-GB" sz="1800" u="sng" dirty="0"/>
              <a:t>Optimisation algorithms: </a:t>
            </a:r>
            <a:r>
              <a:rPr lang="en-US" sz="1800" dirty="0"/>
              <a:t>procedure for finding the weights that result in the minimum or maximum output of the function</a:t>
            </a:r>
            <a:endParaRPr lang="en-GB" sz="1800" b="1" dirty="0"/>
          </a:p>
          <a:p>
            <a:pPr marL="1217613" lvl="3" indent="-360363">
              <a:buFont typeface="Wingdings" panose="05000000000000000000" pitchFamily="2" charset="2"/>
              <a:buChar char="Ø"/>
              <a:tabLst>
                <a:tab pos="3138488" algn="l"/>
              </a:tabLst>
            </a:pPr>
            <a:r>
              <a:rPr lang="en-GB" sz="1800" dirty="0"/>
              <a:t>Gradient Descent (GD) [most commonly used: e.g. </a:t>
            </a:r>
            <a:r>
              <a:rPr lang="en-GB" sz="1800" b="1" dirty="0"/>
              <a:t>Adam</a:t>
            </a:r>
            <a:r>
              <a:rPr lang="en-GB" sz="1800" dirty="0"/>
              <a:t>, </a:t>
            </a:r>
            <a:r>
              <a:rPr lang="en-GB" sz="1800" dirty="0" err="1"/>
              <a:t>Adagrad</a:t>
            </a:r>
            <a:r>
              <a:rPr lang="en-GB" sz="1800" dirty="0"/>
              <a:t>, </a:t>
            </a:r>
            <a:r>
              <a:rPr lang="en-GB" sz="1800" dirty="0" err="1"/>
              <a:t>RMSprop</a:t>
            </a:r>
            <a:r>
              <a:rPr lang="en-GB" sz="1800" dirty="0"/>
              <a:t>] </a:t>
            </a:r>
          </a:p>
          <a:p>
            <a:pPr marL="1217613" lvl="3" indent="-360363">
              <a:buFont typeface="Wingdings" panose="05000000000000000000" pitchFamily="2" charset="2"/>
              <a:buChar char="Ø"/>
              <a:tabLst>
                <a:tab pos="3138488" algn="l"/>
              </a:tabLst>
            </a:pPr>
            <a:r>
              <a:rPr lang="en-GB" sz="1800" dirty="0"/>
              <a:t>L-BFGS</a:t>
            </a:r>
          </a:p>
          <a:p>
            <a:pPr marL="1217613" lvl="3" indent="-360363">
              <a:buFont typeface="Wingdings" panose="05000000000000000000" pitchFamily="2" charset="2"/>
              <a:buChar char="Ø"/>
              <a:tabLst>
                <a:tab pos="3138488" algn="l"/>
              </a:tabLst>
            </a:pPr>
            <a:r>
              <a:rPr lang="en-GB" sz="1800" dirty="0" err="1"/>
              <a:t>Levenberg</a:t>
            </a:r>
            <a:r>
              <a:rPr lang="en-GB" sz="1800" dirty="0"/>
              <a:t>–Marquardt  (combination ↑)</a:t>
            </a:r>
          </a:p>
          <a:p>
            <a:pPr marL="857250" lvl="3" indent="0">
              <a:buNone/>
              <a:tabLst>
                <a:tab pos="3138488" algn="l"/>
              </a:tabLst>
            </a:pPr>
            <a:endParaRPr lang="en-GB" sz="1800" dirty="0"/>
          </a:p>
          <a:p>
            <a:pPr marL="800100" lvl="2" indent="-400050">
              <a:tabLst>
                <a:tab pos="3138488" algn="l"/>
              </a:tabLst>
            </a:pPr>
            <a:r>
              <a:rPr lang="en-GB" sz="1800" dirty="0"/>
              <a:t>Optimisation algorithms differ from one another in terms of:</a:t>
            </a:r>
          </a:p>
          <a:p>
            <a:pPr marL="1257300" lvl="3" indent="-400050">
              <a:buFont typeface="Wingdings" panose="05000000000000000000" pitchFamily="2" charset="2"/>
              <a:buChar char="Ø"/>
              <a:tabLst>
                <a:tab pos="3138488" algn="l"/>
              </a:tabLst>
            </a:pPr>
            <a:r>
              <a:rPr lang="en-GB" sz="1800" dirty="0"/>
              <a:t>Speed to converge to a solution</a:t>
            </a:r>
          </a:p>
          <a:p>
            <a:pPr marL="1257300" lvl="3" indent="-400050">
              <a:buFont typeface="Wingdings" panose="05000000000000000000" pitchFamily="2" charset="2"/>
              <a:buChar char="Ø"/>
              <a:tabLst>
                <a:tab pos="3138488" algn="l"/>
              </a:tabLst>
            </a:pPr>
            <a:r>
              <a:rPr lang="en-GB" sz="1800" dirty="0"/>
              <a:t>Robustness towards </a:t>
            </a:r>
            <a:r>
              <a:rPr lang="en-GB" sz="1800" b="1" dirty="0"/>
              <a:t>local minima and saddle points</a:t>
            </a:r>
          </a:p>
          <a:p>
            <a:pPr marL="400050" lvl="2" indent="0">
              <a:buNone/>
              <a:tabLst>
                <a:tab pos="3138488" algn="l"/>
              </a:tabLst>
            </a:pPr>
            <a:endParaRPr lang="en-GB" sz="1800" b="1" dirty="0"/>
          </a:p>
          <a:p>
            <a:pPr marL="800100" lvl="2" indent="-400050">
              <a:tabLst>
                <a:tab pos="3138488" algn="l"/>
              </a:tabLst>
            </a:pPr>
            <a:endParaRPr lang="en-GB" sz="1800" dirty="0"/>
          </a:p>
        </p:txBody>
      </p:sp>
      <p:pic>
        <p:nvPicPr>
          <p:cNvPr id="7" name="Picture 6" descr="Screen Clippi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06702" y="4536474"/>
            <a:ext cx="2646425" cy="2202371"/>
          </a:xfrm>
          <a:prstGeom prst="rect">
            <a:avLst/>
          </a:prstGeom>
        </p:spPr>
      </p:pic>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68408" y="1417638"/>
            <a:ext cx="2148637" cy="23581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13" name="Picture 12"/>
          <p:cNvPicPr>
            <a:picLocks noChangeAspect="1"/>
          </p:cNvPicPr>
          <p:nvPr/>
        </p:nvPicPr>
        <p:blipFill rotWithShape="1">
          <a:blip r:embed="rId4"/>
          <a:srcRect l="65931" t="10789" r="7611"/>
          <a:stretch/>
        </p:blipFill>
        <p:spPr>
          <a:xfrm>
            <a:off x="5618800" y="4761068"/>
            <a:ext cx="2313431" cy="2124316"/>
          </a:xfrm>
          <a:prstGeom prst="rect">
            <a:avLst/>
          </a:prstGeom>
        </p:spPr>
      </p:pic>
      <p:grpSp>
        <p:nvGrpSpPr>
          <p:cNvPr id="2" name="Group 1"/>
          <p:cNvGrpSpPr/>
          <p:nvPr/>
        </p:nvGrpSpPr>
        <p:grpSpPr>
          <a:xfrm>
            <a:off x="3093720" y="4489290"/>
            <a:ext cx="4592320" cy="1175519"/>
            <a:chOff x="3093720" y="4489290"/>
            <a:chExt cx="4592320" cy="1175519"/>
          </a:xfrm>
        </p:grpSpPr>
        <p:sp>
          <p:nvSpPr>
            <p:cNvPr id="15" name="Oval 14"/>
            <p:cNvSpPr/>
            <p:nvPr/>
          </p:nvSpPr>
          <p:spPr>
            <a:xfrm rot="807032">
              <a:off x="6867905" y="5603133"/>
              <a:ext cx="98552" cy="6167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TextBox 15"/>
            <p:cNvSpPr txBox="1"/>
            <p:nvPr/>
          </p:nvSpPr>
          <p:spPr>
            <a:xfrm>
              <a:off x="3093720" y="4489290"/>
              <a:ext cx="1859407"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black"/>
                  </a:solidFill>
                  <a:effectLst/>
                  <a:uLnTx/>
                  <a:uFillTx/>
                  <a:latin typeface="Calibri" panose="020F0502020204030204"/>
                  <a:ea typeface="+mn-ea"/>
                  <a:cs typeface="+mn-cs"/>
                </a:rPr>
                <a:t>Local minima</a:t>
              </a:r>
            </a:p>
          </p:txBody>
        </p:sp>
        <p:sp>
          <p:nvSpPr>
            <p:cNvPr id="18" name="TextBox 17"/>
            <p:cNvSpPr txBox="1"/>
            <p:nvPr/>
          </p:nvSpPr>
          <p:spPr>
            <a:xfrm>
              <a:off x="5811521" y="4489290"/>
              <a:ext cx="1874519"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black"/>
                  </a:solidFill>
                  <a:effectLst/>
                  <a:uLnTx/>
                  <a:uFillTx/>
                  <a:latin typeface="Calibri" panose="020F0502020204030204"/>
                  <a:ea typeface="+mn-ea"/>
                  <a:cs typeface="+mn-cs"/>
                </a:rPr>
                <a:t>Saddle point</a:t>
              </a:r>
            </a:p>
          </p:txBody>
        </p:sp>
      </p:grpSp>
      <p:sp>
        <p:nvSpPr>
          <p:cNvPr id="17" name="Rectangular Callout 16"/>
          <p:cNvSpPr/>
          <p:nvPr/>
        </p:nvSpPr>
        <p:spPr>
          <a:xfrm>
            <a:off x="8040216" y="5127626"/>
            <a:ext cx="4038600" cy="1228725"/>
          </a:xfrm>
          <a:prstGeom prst="wedgeRectCallout">
            <a:avLst>
              <a:gd name="adj1" fmla="val -56368"/>
              <a:gd name="adj2" fmla="val 81104"/>
            </a:avLst>
          </a:prstGeom>
          <a:noFill/>
          <a:ln>
            <a:solidFill>
              <a:srgbClr val="4886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1" indent="0" algn="l" defTabSz="914400" rtl="0" eaLnBrk="1" fontAlgn="auto" latinLnBrk="0" hangingPunct="1">
              <a:lnSpc>
                <a:spcPct val="100000"/>
              </a:lnSpc>
              <a:spcBef>
                <a:spcPts val="0"/>
              </a:spcBef>
              <a:spcAft>
                <a:spcPts val="0"/>
              </a:spcAft>
              <a:buClrTx/>
              <a:buSzTx/>
              <a:buFontTx/>
              <a:buNone/>
              <a:tabLst>
                <a:tab pos="3138488" algn="l"/>
              </a:tabLst>
              <a:defRPr/>
            </a:pPr>
            <a:r>
              <a:rPr kumimoji="0" lang="en-GB" sz="1700" b="0" i="0" u="none" strike="noStrike" kern="1200" cap="none" spc="0" normalizeH="0" baseline="0" noProof="0" dirty="0">
                <a:ln>
                  <a:noFill/>
                </a:ln>
                <a:solidFill>
                  <a:srgbClr val="0070C0"/>
                </a:solidFill>
                <a:effectLst/>
                <a:uLnTx/>
                <a:uFillTx/>
                <a:latin typeface="Calibri" panose="020F0502020204030204"/>
                <a:ea typeface="+mn-ea"/>
                <a:cs typeface="+mn-cs"/>
              </a:rPr>
              <a:t>While the global minimum is seldom found, this is not necessarily a problem. </a:t>
            </a:r>
          </a:p>
          <a:p>
            <a:pPr marL="285750" marR="0" lvl="1" indent="0" algn="l" defTabSz="914400" rtl="0" eaLnBrk="1" fontAlgn="auto" latinLnBrk="0" hangingPunct="1">
              <a:lnSpc>
                <a:spcPct val="100000"/>
              </a:lnSpc>
              <a:spcBef>
                <a:spcPts val="0"/>
              </a:spcBef>
              <a:spcAft>
                <a:spcPts val="0"/>
              </a:spcAft>
              <a:buClrTx/>
              <a:buSzTx/>
              <a:buFontTx/>
              <a:buNone/>
              <a:tabLst>
                <a:tab pos="3138488" algn="l"/>
              </a:tabLst>
              <a:defRPr/>
            </a:pPr>
            <a:endParaRPr kumimoji="0" lang="en-GB" sz="1700" b="0" i="0" u="none" strike="noStrike" kern="1200" cap="none" spc="0" normalizeH="0" baseline="0" noProof="0" dirty="0">
              <a:ln>
                <a:noFill/>
              </a:ln>
              <a:solidFill>
                <a:srgbClr val="0070C0"/>
              </a:solidFill>
              <a:effectLst/>
              <a:uLnTx/>
              <a:uFillTx/>
              <a:latin typeface="Calibri" panose="020F0502020204030204"/>
              <a:ea typeface="+mn-ea"/>
              <a:cs typeface="+mn-cs"/>
            </a:endParaRPr>
          </a:p>
          <a:p>
            <a:pPr marL="285750" marR="0" lvl="1" indent="0" algn="l" defTabSz="914400" rtl="0" eaLnBrk="1" fontAlgn="auto" latinLnBrk="0" hangingPunct="1">
              <a:lnSpc>
                <a:spcPct val="100000"/>
              </a:lnSpc>
              <a:spcBef>
                <a:spcPts val="0"/>
              </a:spcBef>
              <a:spcAft>
                <a:spcPts val="0"/>
              </a:spcAft>
              <a:buClrTx/>
              <a:buSzTx/>
              <a:buFontTx/>
              <a:buNone/>
              <a:tabLst>
                <a:tab pos="3138488" algn="l"/>
              </a:tabLst>
              <a:defRPr/>
            </a:pPr>
            <a:r>
              <a:rPr kumimoji="0" lang="en-GB" sz="1700" b="0" i="0" u="none" strike="noStrike" kern="1200" cap="none" spc="0" normalizeH="0" baseline="0" noProof="0" dirty="0">
                <a:ln>
                  <a:noFill/>
                </a:ln>
                <a:solidFill>
                  <a:srgbClr val="0070C0"/>
                </a:solidFill>
                <a:effectLst/>
                <a:uLnTx/>
                <a:uFillTx/>
                <a:latin typeface="Calibri" panose="020F0502020204030204"/>
                <a:ea typeface="+mn-ea"/>
                <a:cs typeface="+mn-cs"/>
              </a:rPr>
              <a:t>A ‘good’ local minimum can still be good</a:t>
            </a: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itle 1">
            <a:extLst>
              <a:ext uri="{FF2B5EF4-FFF2-40B4-BE49-F238E27FC236}">
                <a16:creationId xmlns:a16="http://schemas.microsoft.com/office/drawing/2014/main" id="{6223BB5D-1130-7E43-BA5F-F9FB36561467}"/>
              </a:ext>
            </a:extLst>
          </p:cNvPr>
          <p:cNvSpPr>
            <a:spLocks noGrp="1"/>
          </p:cNvSpPr>
          <p:nvPr>
            <p:ph type="title"/>
          </p:nvPr>
        </p:nvSpPr>
        <p:spPr>
          <a:xfrm>
            <a:off x="1981200" y="-58697"/>
            <a:ext cx="8229600" cy="1143000"/>
          </a:xfrm>
        </p:spPr>
        <p:txBody>
          <a:bodyPr/>
          <a:lstStyle/>
          <a:p>
            <a:r>
              <a:rPr lang="en-GB" dirty="0"/>
              <a:t>Training ANNs</a:t>
            </a:r>
            <a:endParaRPr lang="en-GB" sz="1800" dirty="0"/>
          </a:p>
        </p:txBody>
      </p:sp>
      <p:sp>
        <p:nvSpPr>
          <p:cNvPr id="10" name="Line 2">
            <a:extLst>
              <a:ext uri="{FF2B5EF4-FFF2-40B4-BE49-F238E27FC236}">
                <a16:creationId xmlns:a16="http://schemas.microsoft.com/office/drawing/2014/main" id="{0FB7CAD4-5E15-0343-7BF8-8C0FDACAF1A8}"/>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1" name="Line 2">
            <a:extLst>
              <a:ext uri="{FF2B5EF4-FFF2-40B4-BE49-F238E27FC236}">
                <a16:creationId xmlns:a16="http://schemas.microsoft.com/office/drawing/2014/main" id="{8F6150AE-0A13-318E-DE9E-B93868585AC7}"/>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332750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500"/>
                                        <p:tgtEl>
                                          <p:spTgt spid="5">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3" end="3"/>
                                            </p:txEl>
                                          </p:spTgt>
                                        </p:tgtEl>
                                        <p:attrNameLst>
                                          <p:attrName>style.visibility</p:attrName>
                                        </p:attrNameLst>
                                      </p:cBhvr>
                                      <p:to>
                                        <p:strVal val="visible"/>
                                      </p:to>
                                    </p:set>
                                    <p:animEffect transition="in" filter="fade">
                                      <p:cBhvr>
                                        <p:cTn id="10" dur="500"/>
                                        <p:tgtEl>
                                          <p:spTgt spid="5">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animEffect transition="in" filter="fade">
                                      <p:cBhvr>
                                        <p:cTn id="13" dur="500"/>
                                        <p:tgtEl>
                                          <p:spTgt spid="5">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
                                            <p:txEl>
                                              <p:pRg st="6" end="6"/>
                                            </p:txEl>
                                          </p:spTgt>
                                        </p:tgtEl>
                                        <p:attrNameLst>
                                          <p:attrName>style.visibility</p:attrName>
                                        </p:attrNameLst>
                                      </p:cBhvr>
                                      <p:to>
                                        <p:strVal val="visible"/>
                                      </p:to>
                                    </p:set>
                                    <p:animEffect transition="in" filter="fade">
                                      <p:cBhvr>
                                        <p:cTn id="18" dur="500"/>
                                        <p:tgtEl>
                                          <p:spTgt spid="5">
                                            <p:txEl>
                                              <p:pRg st="6" end="6"/>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animEffect transition="in" filter="fade">
                                      <p:cBhvr>
                                        <p:cTn id="21" dur="500"/>
                                        <p:tgtEl>
                                          <p:spTgt spid="5">
                                            <p:txEl>
                                              <p:pRg st="7" end="7"/>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5">
                                            <p:txEl>
                                              <p:pRg st="8" end="8"/>
                                            </p:txEl>
                                          </p:spTgt>
                                        </p:tgtEl>
                                        <p:attrNameLst>
                                          <p:attrName>style.visibility</p:attrName>
                                        </p:attrNameLst>
                                      </p:cBhvr>
                                      <p:to>
                                        <p:strVal val="visible"/>
                                      </p:to>
                                    </p:set>
                                    <p:animEffect transition="in" filter="fade">
                                      <p:cBhvr>
                                        <p:cTn id="24" dur="500"/>
                                        <p:tgtEl>
                                          <p:spTgt spid="5">
                                            <p:txEl>
                                              <p:pRg st="8" end="8"/>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par>
                                <p:cTn id="28" presetID="10" presetClass="entr" presetSubtype="0"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childTnLst>
                                </p:cTn>
                              </p:par>
                              <p:par>
                                <p:cTn id="34" presetID="10" presetClass="entr" presetSubtype="0" fill="hold" nodeType="with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fade">
                                      <p:cBhvr>
                                        <p:cTn id="3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720000" y="1268760"/>
            <a:ext cx="8498135" cy="5400600"/>
          </a:xfrm>
        </p:spPr>
        <p:txBody>
          <a:bodyPr>
            <a:noAutofit/>
          </a:bodyPr>
          <a:lstStyle/>
          <a:p>
            <a:pPr marL="0" lvl="1" indent="0">
              <a:buNone/>
              <a:tabLst>
                <a:tab pos="3138488" algn="l"/>
              </a:tabLst>
            </a:pPr>
            <a:r>
              <a:rPr lang="en-GB" sz="1800" b="1" dirty="0" err="1"/>
              <a:t>Hyperparameters</a:t>
            </a:r>
            <a:endParaRPr lang="en-GB" sz="1800" dirty="0"/>
          </a:p>
          <a:p>
            <a:pPr marL="800100" lvl="2" indent="-400050">
              <a:buFont typeface="+mj-lt"/>
              <a:buAutoNum type="arabicPeriod" startAt="3"/>
              <a:tabLst>
                <a:tab pos="3138488" algn="l"/>
              </a:tabLst>
            </a:pPr>
            <a:r>
              <a:rPr lang="en-GB" sz="1800" u="sng" dirty="0"/>
              <a:t>Learning rate</a:t>
            </a:r>
            <a:r>
              <a:rPr lang="en-GB" sz="1800" dirty="0"/>
              <a:t>: determines the </a:t>
            </a:r>
            <a:r>
              <a:rPr lang="en-GB" sz="1800" b="1" dirty="0"/>
              <a:t>step size </a:t>
            </a:r>
            <a:r>
              <a:rPr lang="en-GB" sz="1800" dirty="0"/>
              <a:t>at an iteration </a:t>
            </a:r>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TextBox 1"/>
          <p:cNvSpPr txBox="1"/>
          <p:nvPr/>
        </p:nvSpPr>
        <p:spPr>
          <a:xfrm>
            <a:off x="2721326" y="5530194"/>
            <a:ext cx="3106504"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C00000"/>
                </a:solidFill>
                <a:effectLst/>
                <a:uLnTx/>
                <a:uFillTx/>
                <a:latin typeface="Calibri"/>
                <a:ea typeface="+mn-ea"/>
                <a:cs typeface="+mn-cs"/>
              </a:rPr>
              <a:t>Too big </a:t>
            </a:r>
            <a:r>
              <a:rPr kumimoji="0" lang="en-GB" sz="1600" b="0" i="0" u="none" strike="noStrike" kern="1200" cap="none" spc="0" normalizeH="0" baseline="0" noProof="0" dirty="0">
                <a:ln>
                  <a:noFill/>
                </a:ln>
                <a:solidFill>
                  <a:srgbClr val="C00000"/>
                </a:solidFill>
                <a:effectLst/>
                <a:uLnTx/>
                <a:uFillTx/>
                <a:latin typeface="Calibri"/>
                <a:ea typeface="+mn-ea"/>
                <a:cs typeface="+mn-cs"/>
                <a:sym typeface="Wingdings" panose="05000000000000000000" pitchFamily="2" charset="2"/>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C00000"/>
                </a:solidFill>
                <a:effectLst/>
                <a:uLnTx/>
                <a:uFillTx/>
                <a:latin typeface="Calibri"/>
                <a:ea typeface="+mn-ea"/>
                <a:cs typeface="+mn-cs"/>
                <a:sym typeface="Wingdings" panose="05000000000000000000" pitchFamily="2" charset="2"/>
              </a:rPr>
              <a:t>Overshooting (instability)</a:t>
            </a:r>
            <a:endParaRPr kumimoji="0" lang="en-GB" sz="1600" b="0" i="0" u="none" strike="noStrike" kern="1200" cap="none" spc="0" normalizeH="0" baseline="0" noProof="0" dirty="0">
              <a:ln>
                <a:noFill/>
              </a:ln>
              <a:solidFill>
                <a:srgbClr val="C00000"/>
              </a:solidFill>
              <a:effectLst/>
              <a:uLnTx/>
              <a:uFillTx/>
              <a:latin typeface="Calibri"/>
              <a:ea typeface="+mn-ea"/>
              <a:cs typeface="+mn-cs"/>
            </a:endParaRPr>
          </a:p>
        </p:txBody>
      </p:sp>
      <p:sp>
        <p:nvSpPr>
          <p:cNvPr id="8" name="TextBox 7"/>
          <p:cNvSpPr txBox="1"/>
          <p:nvPr/>
        </p:nvSpPr>
        <p:spPr>
          <a:xfrm>
            <a:off x="5827830" y="5530194"/>
            <a:ext cx="2909769"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C00000"/>
                </a:solidFill>
                <a:effectLst/>
                <a:uLnTx/>
                <a:uFillTx/>
                <a:latin typeface="Calibri"/>
                <a:ea typeface="+mn-ea"/>
                <a:cs typeface="+mn-cs"/>
              </a:rPr>
              <a:t>Too small </a:t>
            </a:r>
            <a:r>
              <a:rPr kumimoji="0" lang="en-GB" sz="1600" b="0" i="0" u="none" strike="noStrike" kern="1200" cap="none" spc="0" normalizeH="0" baseline="0" noProof="0" dirty="0">
                <a:ln>
                  <a:noFill/>
                </a:ln>
                <a:solidFill>
                  <a:srgbClr val="C00000"/>
                </a:solidFill>
                <a:effectLst/>
                <a:uLnTx/>
                <a:uFillTx/>
                <a:latin typeface="Calibri"/>
                <a:ea typeface="+mn-ea"/>
                <a:cs typeface="+mn-cs"/>
                <a:sym typeface="Wingdings" panose="05000000000000000000" pitchFamily="2" charset="2"/>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C00000"/>
                </a:solidFill>
                <a:effectLst/>
                <a:uLnTx/>
                <a:uFillTx/>
                <a:latin typeface="Calibri"/>
                <a:ea typeface="+mn-ea"/>
                <a:cs typeface="+mn-cs"/>
                <a:sym typeface="Wingdings" panose="05000000000000000000" pitchFamily="2" charset="2"/>
              </a:rPr>
              <a:t>Slow to converge</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dirty="0">
                <a:solidFill>
                  <a:srgbClr val="C00000"/>
                </a:solidFill>
                <a:latin typeface="Calibri"/>
                <a:sym typeface="Wingdings" panose="05000000000000000000" pitchFamily="2" charset="2"/>
              </a:rPr>
              <a:t>Get stuck in local solutions</a:t>
            </a:r>
            <a:endParaRPr kumimoji="0" lang="en-GB" sz="1600" b="0" i="0" u="none" strike="noStrike" kern="1200" cap="none" spc="0" normalizeH="0" baseline="0" noProof="0" dirty="0">
              <a:ln>
                <a:noFill/>
              </a:ln>
              <a:solidFill>
                <a:srgbClr val="C00000"/>
              </a:solidFill>
              <a:effectLst/>
              <a:uLnTx/>
              <a:uFillTx/>
              <a:latin typeface="Calibri"/>
              <a:ea typeface="+mn-ea"/>
              <a:cs typeface="+mn-cs"/>
            </a:endParaRPr>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23053" y="2719277"/>
            <a:ext cx="3014546" cy="2608992"/>
          </a:xfrm>
          <a:prstGeom prst="rect">
            <a:avLst/>
          </a:prstGeo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21325" y="2719277"/>
            <a:ext cx="3106505" cy="2557689"/>
          </a:xfrm>
          <a:prstGeom prst="rect">
            <a:avLst/>
          </a:prstGeom>
        </p:spPr>
      </p:pic>
      <p:sp>
        <p:nvSpPr>
          <p:cNvPr id="13" name="TextBox 12"/>
          <p:cNvSpPr txBox="1"/>
          <p:nvPr/>
        </p:nvSpPr>
        <p:spPr>
          <a:xfrm>
            <a:off x="2721325" y="2303145"/>
            <a:ext cx="3001729"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black"/>
                </a:solidFill>
                <a:effectLst/>
                <a:uLnTx/>
                <a:uFillTx/>
                <a:latin typeface="Calibri" panose="020F0502020204030204"/>
                <a:ea typeface="+mn-ea"/>
                <a:cs typeface="+mn-cs"/>
              </a:rPr>
              <a:t>Large learning rate</a:t>
            </a:r>
          </a:p>
        </p:txBody>
      </p:sp>
      <p:sp>
        <p:nvSpPr>
          <p:cNvPr id="16" name="TextBox 15"/>
          <p:cNvSpPr txBox="1"/>
          <p:nvPr/>
        </p:nvSpPr>
        <p:spPr>
          <a:xfrm>
            <a:off x="5723054" y="2303145"/>
            <a:ext cx="3014546"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black"/>
                </a:solidFill>
                <a:effectLst/>
                <a:uLnTx/>
                <a:uFillTx/>
                <a:latin typeface="Calibri" panose="020F0502020204030204"/>
                <a:ea typeface="+mn-ea"/>
                <a:cs typeface="+mn-cs"/>
              </a:rPr>
              <a:t>Small learning rate</a:t>
            </a:r>
          </a:p>
        </p:txBody>
      </p:sp>
      <p:sp>
        <p:nvSpPr>
          <p:cNvPr id="9" name="Title 1">
            <a:extLst>
              <a:ext uri="{FF2B5EF4-FFF2-40B4-BE49-F238E27FC236}">
                <a16:creationId xmlns:a16="http://schemas.microsoft.com/office/drawing/2014/main" id="{35C67FC3-1FCB-8AD1-982E-CB8C45027ACE}"/>
              </a:ext>
            </a:extLst>
          </p:cNvPr>
          <p:cNvSpPr>
            <a:spLocks noGrp="1"/>
          </p:cNvSpPr>
          <p:nvPr>
            <p:ph type="title"/>
          </p:nvPr>
        </p:nvSpPr>
        <p:spPr>
          <a:xfrm>
            <a:off x="1981200" y="-58697"/>
            <a:ext cx="8229600" cy="1143000"/>
          </a:xfrm>
        </p:spPr>
        <p:txBody>
          <a:bodyPr/>
          <a:lstStyle/>
          <a:p>
            <a:r>
              <a:rPr lang="en-GB" dirty="0"/>
              <a:t>Training ANNs</a:t>
            </a:r>
            <a:endParaRPr lang="en-GB" sz="1800" dirty="0"/>
          </a:p>
        </p:txBody>
      </p:sp>
      <p:sp>
        <p:nvSpPr>
          <p:cNvPr id="10" name="Line 2">
            <a:extLst>
              <a:ext uri="{FF2B5EF4-FFF2-40B4-BE49-F238E27FC236}">
                <a16:creationId xmlns:a16="http://schemas.microsoft.com/office/drawing/2014/main" id="{B8D9F923-4671-CDC0-CC7F-9F669535EDF3}"/>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4" name="Line 2">
            <a:extLst>
              <a:ext uri="{FF2B5EF4-FFF2-40B4-BE49-F238E27FC236}">
                <a16:creationId xmlns:a16="http://schemas.microsoft.com/office/drawing/2014/main" id="{CD2A009A-E3CB-6EBA-4434-F1037124B79A}"/>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19536105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720000" y="1268760"/>
            <a:ext cx="10225136" cy="5400600"/>
          </a:xfrm>
        </p:spPr>
        <p:txBody>
          <a:bodyPr>
            <a:noAutofit/>
          </a:bodyPr>
          <a:lstStyle/>
          <a:p>
            <a:pPr marL="0" lvl="1" indent="0">
              <a:buNone/>
              <a:tabLst>
                <a:tab pos="3138488" algn="l"/>
              </a:tabLst>
            </a:pPr>
            <a:r>
              <a:rPr lang="en-GB" sz="1800" b="1" dirty="0" err="1"/>
              <a:t>Hyperparameters</a:t>
            </a:r>
            <a:endParaRPr lang="en-GB" sz="1800" dirty="0"/>
          </a:p>
          <a:p>
            <a:pPr marL="800100" lvl="2" indent="-400050">
              <a:buFont typeface="+mj-lt"/>
              <a:buAutoNum type="arabicPeriod" startAt="4"/>
              <a:tabLst>
                <a:tab pos="3138488" algn="l"/>
              </a:tabLst>
            </a:pPr>
            <a:r>
              <a:rPr lang="en-GB" sz="1800" u="sng" dirty="0"/>
              <a:t>Regularisation</a:t>
            </a:r>
            <a:r>
              <a:rPr lang="en-GB" sz="1800" dirty="0"/>
              <a:t>: </a:t>
            </a:r>
            <a:r>
              <a:rPr lang="en-GB" sz="1800" b="1" dirty="0"/>
              <a:t>penalises</a:t>
            </a:r>
            <a:r>
              <a:rPr lang="en-GB" sz="1800" dirty="0"/>
              <a:t> the magnitudes of the </a:t>
            </a:r>
            <a:r>
              <a:rPr lang="en-GB" sz="1800" b="1" dirty="0"/>
              <a:t>weights</a:t>
            </a:r>
            <a:r>
              <a:rPr lang="en-GB" sz="1800" dirty="0"/>
              <a:t>, to avoid overfitting</a:t>
            </a:r>
          </a:p>
          <a:p>
            <a:pPr marL="400050" lvl="2" indent="0">
              <a:buNone/>
              <a:tabLst>
                <a:tab pos="3138488" algn="l"/>
              </a:tabLst>
            </a:pPr>
            <a:endParaRPr lang="en-GB" sz="1800" dirty="0"/>
          </a:p>
          <a:p>
            <a:pPr marL="1257300" lvl="3" indent="-400050">
              <a:buFont typeface="Wingdings" panose="05000000000000000000" pitchFamily="2" charset="2"/>
              <a:buChar char="Ø"/>
              <a:tabLst>
                <a:tab pos="3138488" algn="l"/>
              </a:tabLst>
            </a:pPr>
            <a:r>
              <a:rPr lang="en-GB" sz="1800" dirty="0"/>
              <a:t>L1 regularisation (aka Lasso) penalises the sum of the absolute values of the weights</a:t>
            </a:r>
          </a:p>
          <a:p>
            <a:pPr marL="1257300" lvl="3" indent="-400050">
              <a:buFont typeface="Wingdings" panose="05000000000000000000" pitchFamily="2" charset="2"/>
              <a:buChar char="Ø"/>
              <a:tabLst>
                <a:tab pos="3138488" algn="l"/>
              </a:tabLst>
            </a:pPr>
            <a:endParaRPr lang="en-GB" sz="1800" dirty="0"/>
          </a:p>
          <a:p>
            <a:pPr marL="1257300" lvl="3" indent="-400050">
              <a:buFont typeface="Wingdings" panose="05000000000000000000" pitchFamily="2" charset="2"/>
              <a:buChar char="Ø"/>
              <a:tabLst>
                <a:tab pos="3138488" algn="l"/>
              </a:tabLst>
            </a:pPr>
            <a:endParaRPr lang="en-GB" sz="1800" dirty="0"/>
          </a:p>
          <a:p>
            <a:pPr marL="1257300" lvl="3" indent="-400050">
              <a:buFont typeface="Wingdings" panose="05000000000000000000" pitchFamily="2" charset="2"/>
              <a:buChar char="Ø"/>
              <a:tabLst>
                <a:tab pos="3138488" algn="l"/>
              </a:tabLst>
            </a:pPr>
            <a:r>
              <a:rPr lang="en-GB" sz="1800" dirty="0"/>
              <a:t>L2 regularisation (aka ridge) penalises the sum of the squared values of the weights</a:t>
            </a:r>
          </a:p>
          <a:p>
            <a:pPr marL="1257300" lvl="3" indent="-400050">
              <a:buFont typeface="Wingdings" panose="05000000000000000000" pitchFamily="2" charset="2"/>
              <a:buChar char="Ø"/>
              <a:tabLst>
                <a:tab pos="3138488" algn="l"/>
              </a:tabLst>
            </a:pPr>
            <a:endParaRPr lang="en-GB" sz="1800" dirty="0"/>
          </a:p>
          <a:p>
            <a:pPr marL="800100" lvl="2" indent="-400050">
              <a:tabLst>
                <a:tab pos="3138488" algn="l"/>
              </a:tabLst>
            </a:pPr>
            <a:r>
              <a:rPr lang="en-GB" sz="1800" dirty="0"/>
              <a:t>The </a:t>
            </a:r>
            <a:r>
              <a:rPr lang="en-GB" sz="1800" b="1" dirty="0"/>
              <a:t>penalty</a:t>
            </a:r>
            <a:r>
              <a:rPr lang="en-GB" sz="1800" dirty="0"/>
              <a:t> is added to the cost (loss) function:</a:t>
            </a:r>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r>
              <a:rPr lang="en-GB" sz="1800" dirty="0"/>
              <a:t>The hyperparameter </a:t>
            </a:r>
            <a:r>
              <a:rPr lang="el-GR" sz="1800" b="1" dirty="0"/>
              <a:t>α</a:t>
            </a:r>
            <a:r>
              <a:rPr lang="en-GB" sz="1800" dirty="0"/>
              <a:t> governs the strength of the </a:t>
            </a:r>
            <a:r>
              <a:rPr lang="en-GB" sz="1800" b="1" dirty="0"/>
              <a:t>penalty</a:t>
            </a:r>
            <a:r>
              <a:rPr lang="en-GB" sz="1800" dirty="0"/>
              <a:t> relative to the </a:t>
            </a:r>
            <a:r>
              <a:rPr lang="en-GB" sz="1800" b="1" dirty="0"/>
              <a:t>cost function</a:t>
            </a:r>
          </a:p>
          <a:p>
            <a:pPr marL="1257300" lvl="3" indent="-400050">
              <a:buFont typeface="Wingdings" panose="05000000000000000000" pitchFamily="2" charset="2"/>
              <a:buChar char="Ø"/>
              <a:tabLst>
                <a:tab pos="2419350" algn="l"/>
              </a:tabLst>
            </a:pPr>
            <a:r>
              <a:rPr lang="en-GB" sz="1800" dirty="0"/>
              <a:t>Too high </a:t>
            </a:r>
            <a:r>
              <a:rPr lang="el-GR" sz="1800" dirty="0"/>
              <a:t>α</a:t>
            </a:r>
            <a:r>
              <a:rPr lang="en-GB" sz="1800" dirty="0"/>
              <a:t> 	</a:t>
            </a:r>
            <a:r>
              <a:rPr lang="en-GB" sz="1800" dirty="0">
                <a:sym typeface="Wingdings" panose="05000000000000000000" pitchFamily="2" charset="2"/>
              </a:rPr>
              <a:t> risks </a:t>
            </a:r>
            <a:r>
              <a:rPr lang="en-GB" sz="1800" dirty="0" err="1">
                <a:sym typeface="Wingdings" panose="05000000000000000000" pitchFamily="2" charset="2"/>
              </a:rPr>
              <a:t>underfitting</a:t>
            </a:r>
            <a:endParaRPr lang="en-GB" sz="1800" dirty="0">
              <a:sym typeface="Wingdings" panose="05000000000000000000" pitchFamily="2" charset="2"/>
            </a:endParaRPr>
          </a:p>
          <a:p>
            <a:pPr marL="1257300" lvl="3" indent="-400050">
              <a:buFont typeface="Wingdings" panose="05000000000000000000" pitchFamily="2" charset="2"/>
              <a:buChar char="Ø"/>
              <a:tabLst>
                <a:tab pos="2419350" algn="l"/>
              </a:tabLst>
            </a:pPr>
            <a:r>
              <a:rPr lang="en-GB" sz="1800" dirty="0"/>
              <a:t>Too low </a:t>
            </a:r>
            <a:r>
              <a:rPr lang="el-GR" sz="1800" dirty="0"/>
              <a:t>α</a:t>
            </a:r>
            <a:r>
              <a:rPr lang="en-GB" sz="1800" dirty="0"/>
              <a:t> 	</a:t>
            </a:r>
            <a:r>
              <a:rPr lang="en-GB" sz="1800" dirty="0">
                <a:sym typeface="Wingdings" panose="05000000000000000000" pitchFamily="2" charset="2"/>
              </a:rPr>
              <a:t> risks overfitting</a:t>
            </a:r>
            <a:endParaRPr lang="en-GB" sz="1800" dirty="0"/>
          </a:p>
          <a:p>
            <a:pPr marL="1257300" lvl="3"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pSp>
        <p:nvGrpSpPr>
          <p:cNvPr id="2" name="Group 1"/>
          <p:cNvGrpSpPr/>
          <p:nvPr/>
        </p:nvGrpSpPr>
        <p:grpSpPr>
          <a:xfrm>
            <a:off x="2054225" y="4252445"/>
            <a:ext cx="9417775" cy="1210143"/>
            <a:chOff x="2054225" y="4252445"/>
            <a:chExt cx="9417775" cy="1210143"/>
          </a:xfrm>
        </p:grpSpPr>
        <p:graphicFrame>
          <p:nvGraphicFramePr>
            <p:cNvPr id="3" name="Object 2"/>
            <p:cNvGraphicFramePr>
              <a:graphicFrameLocks noChangeAspect="1"/>
            </p:cNvGraphicFramePr>
            <p:nvPr/>
          </p:nvGraphicFramePr>
          <p:xfrm>
            <a:off x="2054225" y="4437063"/>
            <a:ext cx="2682875" cy="1025525"/>
          </p:xfrm>
          <a:graphic>
            <a:graphicData uri="http://schemas.openxmlformats.org/presentationml/2006/ole">
              <mc:AlternateContent xmlns:mc="http://schemas.openxmlformats.org/markup-compatibility/2006">
                <mc:Choice xmlns:v="urn:schemas-microsoft-com:vml" Requires="v">
                  <p:oleObj name="Equation" r:id="rId2" imgW="1726920" imgH="660240" progId="Equation.DSMT4">
                    <p:embed/>
                  </p:oleObj>
                </mc:Choice>
                <mc:Fallback>
                  <p:oleObj name="Equation" r:id="rId2" imgW="1726920" imgH="660240" progId="Equation.DSMT4">
                    <p:embed/>
                    <p:pic>
                      <p:nvPicPr>
                        <p:cNvPr id="3" name="Object 2"/>
                        <p:cNvPicPr/>
                        <p:nvPr/>
                      </p:nvPicPr>
                      <p:blipFill>
                        <a:blip r:embed="rId3"/>
                        <a:stretch>
                          <a:fillRect/>
                        </a:stretch>
                      </p:blipFill>
                      <p:spPr>
                        <a:xfrm>
                          <a:off x="2054225" y="4437063"/>
                          <a:ext cx="2682875" cy="1025525"/>
                        </a:xfrm>
                        <a:prstGeom prst="rect">
                          <a:avLst/>
                        </a:prstGeom>
                      </p:spPr>
                    </p:pic>
                  </p:oleObj>
                </mc:Fallback>
              </mc:AlternateContent>
            </a:graphicData>
          </a:graphic>
        </p:graphicFrame>
        <p:cxnSp>
          <p:nvCxnSpPr>
            <p:cNvPr id="7" name="Elbow Connector 6"/>
            <p:cNvCxnSpPr/>
            <p:nvPr/>
          </p:nvCxnSpPr>
          <p:spPr>
            <a:xfrm rot="10800000" flipV="1">
              <a:off x="2934544" y="4365111"/>
              <a:ext cx="1944216" cy="144000"/>
            </a:xfrm>
            <a:prstGeom prst="bentConnector3">
              <a:avLst>
                <a:gd name="adj1" fmla="val 100138"/>
              </a:avLst>
            </a:prstGeom>
            <a:ln w="19050">
              <a:solidFill>
                <a:srgbClr val="0070C0"/>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4878759" y="4252445"/>
              <a:ext cx="659324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mn-cs"/>
                </a:rPr>
                <a:t>Cross-entropy (</a:t>
              </a:r>
              <a:r>
                <a:rPr kumimoji="0" lang="en-GB" sz="1800" b="1" i="0" u="none" strike="noStrike" kern="1200" cap="none" spc="0" normalizeH="0" baseline="0" noProof="0" dirty="0">
                  <a:ln>
                    <a:noFill/>
                  </a:ln>
                  <a:solidFill>
                    <a:srgbClr val="0070C0"/>
                  </a:solidFill>
                  <a:effectLst/>
                  <a:uLnTx/>
                  <a:uFillTx/>
                  <a:latin typeface="Calibri"/>
                  <a:ea typeface="+mn-ea"/>
                  <a:cs typeface="+mn-cs"/>
                  <a:sym typeface="Wingdings" panose="05000000000000000000" pitchFamily="2" charset="2"/>
                </a:rPr>
                <a:t>minimising</a:t>
              </a:r>
              <a:r>
                <a:rPr kumimoji="0" lang="en-GB" sz="1800" b="0" i="0" u="none" strike="noStrike" kern="1200" cap="none" spc="0" normalizeH="0" baseline="0" noProof="0" dirty="0">
                  <a:ln>
                    <a:noFill/>
                  </a:ln>
                  <a:solidFill>
                    <a:srgbClr val="0070C0"/>
                  </a:solidFill>
                  <a:effectLst/>
                  <a:uLnTx/>
                  <a:uFillTx/>
                  <a:latin typeface="Calibri"/>
                  <a:ea typeface="+mn-ea"/>
                  <a:cs typeface="+mn-cs"/>
                  <a:sym typeface="Wingdings" panose="05000000000000000000" pitchFamily="2" charset="2"/>
                </a:rPr>
                <a:t> the </a:t>
              </a:r>
              <a:r>
                <a:rPr kumimoji="0" lang="en-GB" sz="1800" b="1" i="0" u="none" strike="noStrike" kern="1200" cap="none" spc="0" normalizeH="0" baseline="0" noProof="0" dirty="0">
                  <a:ln>
                    <a:noFill/>
                  </a:ln>
                  <a:solidFill>
                    <a:srgbClr val="0070C0"/>
                  </a:solidFill>
                  <a:effectLst/>
                  <a:uLnTx/>
                  <a:uFillTx/>
                  <a:latin typeface="Calibri"/>
                  <a:ea typeface="+mn-ea"/>
                  <a:cs typeface="+mn-cs"/>
                  <a:sym typeface="Wingdings" panose="05000000000000000000" pitchFamily="2" charset="2"/>
                </a:rPr>
                <a:t>cross-entropy</a:t>
              </a:r>
              <a:r>
                <a:rPr kumimoji="0" lang="en-GB" sz="1800" b="0" i="0" u="none" strike="noStrike" kern="1200" cap="none" spc="0" normalizeH="0" baseline="0" noProof="0" dirty="0">
                  <a:ln>
                    <a:noFill/>
                  </a:ln>
                  <a:solidFill>
                    <a:srgbClr val="0070C0"/>
                  </a:solidFill>
                  <a:effectLst/>
                  <a:uLnTx/>
                  <a:uFillTx/>
                  <a:latin typeface="Calibri"/>
                  <a:ea typeface="+mn-ea"/>
                  <a:cs typeface="+mn-cs"/>
                  <a:sym typeface="Wingdings" panose="05000000000000000000" pitchFamily="2" charset="2"/>
                </a:rPr>
                <a:t> implies </a:t>
              </a:r>
              <a:r>
                <a:rPr kumimoji="0" lang="en-GB" sz="1800" b="1" i="0" u="none" strike="noStrike" kern="1200" cap="none" spc="0" normalizeH="0" baseline="0" noProof="0" dirty="0">
                  <a:ln>
                    <a:noFill/>
                  </a:ln>
                  <a:solidFill>
                    <a:srgbClr val="0070C0"/>
                  </a:solidFill>
                  <a:effectLst/>
                  <a:uLnTx/>
                  <a:uFillTx/>
                  <a:latin typeface="Calibri"/>
                  <a:ea typeface="+mn-ea"/>
                  <a:cs typeface="+mn-cs"/>
                  <a:sym typeface="Wingdings" panose="05000000000000000000" pitchFamily="2" charset="2"/>
                </a:rPr>
                <a:t>maximising</a:t>
              </a:r>
              <a:r>
                <a:rPr kumimoji="0" lang="en-GB" sz="1800" b="0" i="0" u="none" strike="noStrike" kern="1200" cap="none" spc="0" normalizeH="0" baseline="0" noProof="0" dirty="0">
                  <a:ln>
                    <a:noFill/>
                  </a:ln>
                  <a:solidFill>
                    <a:srgbClr val="0070C0"/>
                  </a:solidFill>
                  <a:effectLst/>
                  <a:uLnTx/>
                  <a:uFillTx/>
                  <a:latin typeface="Calibri"/>
                  <a:ea typeface="+mn-ea"/>
                  <a:cs typeface="+mn-cs"/>
                  <a:sym typeface="Wingdings" panose="05000000000000000000" pitchFamily="2" charset="2"/>
                </a:rPr>
                <a:t> LL)</a:t>
              </a:r>
              <a:endPar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p:sp>
          <p:nvSpPr>
            <p:cNvPr id="11" name="TextBox 10"/>
            <p:cNvSpPr txBox="1"/>
            <p:nvPr/>
          </p:nvSpPr>
          <p:spPr>
            <a:xfrm>
              <a:off x="5484629" y="4765159"/>
              <a:ext cx="208823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mn-cs"/>
                </a:rPr>
                <a:t>Penalty</a:t>
              </a:r>
            </a:p>
          </p:txBody>
        </p:sp>
        <p:cxnSp>
          <p:nvCxnSpPr>
            <p:cNvPr id="12" name="Elbow Connector 11"/>
            <p:cNvCxnSpPr/>
            <p:nvPr/>
          </p:nvCxnSpPr>
          <p:spPr>
            <a:xfrm rot="10800000">
              <a:off x="3514350" y="4806443"/>
              <a:ext cx="1944216" cy="144000"/>
            </a:xfrm>
            <a:prstGeom prst="bentConnector3">
              <a:avLst>
                <a:gd name="adj1" fmla="val 100138"/>
              </a:avLst>
            </a:prstGeom>
            <a:ln w="19050">
              <a:solidFill>
                <a:srgbClr val="0070C0"/>
              </a:solidFill>
              <a:headEnd type="none" w="med" len="med"/>
              <a:tailEnd type="triangle"/>
            </a:ln>
          </p:spPr>
          <p:style>
            <a:lnRef idx="1">
              <a:schemeClr val="accent2"/>
            </a:lnRef>
            <a:fillRef idx="0">
              <a:schemeClr val="accent2"/>
            </a:fillRef>
            <a:effectRef idx="0">
              <a:schemeClr val="accent2"/>
            </a:effectRef>
            <a:fontRef idx="minor">
              <a:schemeClr val="tx1"/>
            </a:fontRef>
          </p:style>
        </p:cxnSp>
      </p:grpSp>
      <p:grpSp>
        <p:nvGrpSpPr>
          <p:cNvPr id="13" name="Group 12"/>
          <p:cNvGrpSpPr/>
          <p:nvPr/>
        </p:nvGrpSpPr>
        <p:grpSpPr>
          <a:xfrm>
            <a:off x="10030370" y="2151462"/>
            <a:ext cx="684000" cy="1340438"/>
            <a:chOff x="10419670" y="2241403"/>
            <a:chExt cx="684000" cy="1319168"/>
          </a:xfrm>
        </p:grpSpPr>
        <p:graphicFrame>
          <p:nvGraphicFramePr>
            <p:cNvPr id="8" name="Object 7"/>
            <p:cNvGraphicFramePr>
              <a:graphicFrameLocks noChangeAspect="1"/>
            </p:cNvGraphicFramePr>
            <p:nvPr/>
          </p:nvGraphicFramePr>
          <p:xfrm>
            <a:off x="10419670" y="2241403"/>
            <a:ext cx="655637" cy="400050"/>
          </p:xfrm>
          <a:graphic>
            <a:graphicData uri="http://schemas.openxmlformats.org/presentationml/2006/ole">
              <mc:AlternateContent xmlns:mc="http://schemas.openxmlformats.org/markup-compatibility/2006">
                <mc:Choice xmlns:v="urn:schemas-microsoft-com:vml" Requires="v">
                  <p:oleObj name="Equation" r:id="rId4" imgW="393480" imgH="241200" progId="Equation.DSMT4">
                    <p:embed/>
                  </p:oleObj>
                </mc:Choice>
                <mc:Fallback>
                  <p:oleObj name="Equation" r:id="rId4" imgW="393480" imgH="241200" progId="Equation.DSMT4">
                    <p:embed/>
                    <p:pic>
                      <p:nvPicPr>
                        <p:cNvPr id="8" name="Object 7"/>
                        <p:cNvPicPr/>
                        <p:nvPr/>
                      </p:nvPicPr>
                      <p:blipFill>
                        <a:blip r:embed="rId5"/>
                        <a:stretch>
                          <a:fillRect/>
                        </a:stretch>
                      </p:blipFill>
                      <p:spPr>
                        <a:xfrm>
                          <a:off x="10419670" y="2241403"/>
                          <a:ext cx="655637" cy="400050"/>
                        </a:xfrm>
                        <a:prstGeom prst="rect">
                          <a:avLst/>
                        </a:prstGeom>
                      </p:spPr>
                    </p:pic>
                  </p:oleObj>
                </mc:Fallback>
              </mc:AlternateContent>
            </a:graphicData>
          </a:graphic>
        </p:graphicFrame>
        <p:graphicFrame>
          <p:nvGraphicFramePr>
            <p:cNvPr id="9" name="Object 8"/>
            <p:cNvGraphicFramePr>
              <a:graphicFrameLocks noChangeAspect="1"/>
            </p:cNvGraphicFramePr>
            <p:nvPr/>
          </p:nvGraphicFramePr>
          <p:xfrm>
            <a:off x="10419670" y="3130626"/>
            <a:ext cx="684000" cy="429945"/>
          </p:xfrm>
          <a:graphic>
            <a:graphicData uri="http://schemas.openxmlformats.org/presentationml/2006/ole">
              <mc:AlternateContent xmlns:mc="http://schemas.openxmlformats.org/markup-compatibility/2006">
                <mc:Choice xmlns:v="urn:schemas-microsoft-com:vml" Requires="v">
                  <p:oleObj name="Equation" r:id="rId6" imgW="444240" imgH="279360" progId="Equation.DSMT4">
                    <p:embed/>
                  </p:oleObj>
                </mc:Choice>
                <mc:Fallback>
                  <p:oleObj name="Equation" r:id="rId6" imgW="444240" imgH="279360" progId="Equation.DSMT4">
                    <p:embed/>
                    <p:pic>
                      <p:nvPicPr>
                        <p:cNvPr id="9" name="Object 8"/>
                        <p:cNvPicPr/>
                        <p:nvPr/>
                      </p:nvPicPr>
                      <p:blipFill>
                        <a:blip r:embed="rId7"/>
                        <a:stretch>
                          <a:fillRect/>
                        </a:stretch>
                      </p:blipFill>
                      <p:spPr>
                        <a:xfrm>
                          <a:off x="10419670" y="3130626"/>
                          <a:ext cx="684000" cy="429945"/>
                        </a:xfrm>
                        <a:prstGeom prst="rect">
                          <a:avLst/>
                        </a:prstGeom>
                      </p:spPr>
                    </p:pic>
                  </p:oleObj>
                </mc:Fallback>
              </mc:AlternateContent>
            </a:graphicData>
          </a:graphic>
        </p:graphicFrame>
      </p:grpSp>
      <p:sp>
        <p:nvSpPr>
          <p:cNvPr id="16" name="Title 1">
            <a:extLst>
              <a:ext uri="{FF2B5EF4-FFF2-40B4-BE49-F238E27FC236}">
                <a16:creationId xmlns:a16="http://schemas.microsoft.com/office/drawing/2014/main" id="{A002B591-7DBA-1DCD-6B2B-80612B6D9C8C}"/>
              </a:ext>
            </a:extLst>
          </p:cNvPr>
          <p:cNvSpPr>
            <a:spLocks noGrp="1"/>
          </p:cNvSpPr>
          <p:nvPr>
            <p:ph type="title"/>
          </p:nvPr>
        </p:nvSpPr>
        <p:spPr>
          <a:xfrm>
            <a:off x="1981200" y="-58697"/>
            <a:ext cx="8229600" cy="1143000"/>
          </a:xfrm>
        </p:spPr>
        <p:txBody>
          <a:bodyPr/>
          <a:lstStyle/>
          <a:p>
            <a:r>
              <a:rPr lang="en-GB" dirty="0"/>
              <a:t>Training ANNs</a:t>
            </a:r>
            <a:endParaRPr lang="en-GB" sz="1800" dirty="0"/>
          </a:p>
        </p:txBody>
      </p:sp>
      <p:sp>
        <p:nvSpPr>
          <p:cNvPr id="17" name="Line 2">
            <a:extLst>
              <a:ext uri="{FF2B5EF4-FFF2-40B4-BE49-F238E27FC236}">
                <a16:creationId xmlns:a16="http://schemas.microsoft.com/office/drawing/2014/main" id="{71EFDC39-957A-54EA-A47C-5714FBA6EBE1}"/>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8" name="Line 2">
            <a:extLst>
              <a:ext uri="{FF2B5EF4-FFF2-40B4-BE49-F238E27FC236}">
                <a16:creationId xmlns:a16="http://schemas.microsoft.com/office/drawing/2014/main" id="{B6A402E7-C1BE-ABCA-7ABD-B87285DC8C31}"/>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945435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fade">
                                      <p:cBhvr>
                                        <p:cTn id="7" dur="500"/>
                                        <p:tgtEl>
                                          <p:spTgt spid="5">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6" end="6"/>
                                            </p:txEl>
                                          </p:spTgt>
                                        </p:tgtEl>
                                        <p:attrNameLst>
                                          <p:attrName>style.visibility</p:attrName>
                                        </p:attrNameLst>
                                      </p:cBhvr>
                                      <p:to>
                                        <p:strVal val="visible"/>
                                      </p:to>
                                    </p:set>
                                    <p:animEffect transition="in" filter="fade">
                                      <p:cBhvr>
                                        <p:cTn id="10" dur="500"/>
                                        <p:tgtEl>
                                          <p:spTgt spid="5">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
                                            <p:txEl>
                                              <p:pRg st="8" end="8"/>
                                            </p:txEl>
                                          </p:spTgt>
                                        </p:tgtEl>
                                        <p:attrNameLst>
                                          <p:attrName>style.visibility</p:attrName>
                                        </p:attrNameLst>
                                      </p:cBhvr>
                                      <p:to>
                                        <p:strVal val="visible"/>
                                      </p:to>
                                    </p:set>
                                    <p:animEffect transition="in" filter="fade">
                                      <p:cBhvr>
                                        <p:cTn id="18" dur="500"/>
                                        <p:tgtEl>
                                          <p:spTgt spid="5">
                                            <p:txEl>
                                              <p:pRg st="8" end="8"/>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
                                            <p:txEl>
                                              <p:pRg st="14" end="14"/>
                                            </p:txEl>
                                          </p:spTgt>
                                        </p:tgtEl>
                                        <p:attrNameLst>
                                          <p:attrName>style.visibility</p:attrName>
                                        </p:attrNameLst>
                                      </p:cBhvr>
                                      <p:to>
                                        <p:strVal val="visible"/>
                                      </p:to>
                                    </p:set>
                                    <p:animEffect transition="in" filter="fade">
                                      <p:cBhvr>
                                        <p:cTn id="26" dur="500"/>
                                        <p:tgtEl>
                                          <p:spTgt spid="5">
                                            <p:txEl>
                                              <p:pRg st="14" end="14"/>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5">
                                            <p:txEl>
                                              <p:pRg st="15" end="15"/>
                                            </p:txEl>
                                          </p:spTgt>
                                        </p:tgtEl>
                                        <p:attrNameLst>
                                          <p:attrName>style.visibility</p:attrName>
                                        </p:attrNameLst>
                                      </p:cBhvr>
                                      <p:to>
                                        <p:strVal val="visible"/>
                                      </p:to>
                                    </p:set>
                                    <p:animEffect transition="in" filter="fade">
                                      <p:cBhvr>
                                        <p:cTn id="29" dur="500"/>
                                        <p:tgtEl>
                                          <p:spTgt spid="5">
                                            <p:txEl>
                                              <p:pRg st="15" end="1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5">
                                            <p:txEl>
                                              <p:pRg st="16" end="16"/>
                                            </p:txEl>
                                          </p:spTgt>
                                        </p:tgtEl>
                                        <p:attrNameLst>
                                          <p:attrName>style.visibility</p:attrName>
                                        </p:attrNameLst>
                                      </p:cBhvr>
                                      <p:to>
                                        <p:strVal val="visible"/>
                                      </p:to>
                                    </p:set>
                                    <p:animEffect transition="in" filter="fade">
                                      <p:cBhvr>
                                        <p:cTn id="32" dur="500"/>
                                        <p:tgtEl>
                                          <p:spTgt spid="5">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720000" y="1268760"/>
            <a:ext cx="10225136" cy="5400600"/>
          </a:xfrm>
        </p:spPr>
        <p:txBody>
          <a:bodyPr>
            <a:noAutofit/>
          </a:bodyPr>
          <a:lstStyle/>
          <a:p>
            <a:pPr marL="0" lvl="1" indent="0">
              <a:buNone/>
              <a:tabLst>
                <a:tab pos="3138488" algn="l"/>
              </a:tabLst>
            </a:pPr>
            <a:r>
              <a:rPr lang="en-GB" sz="1800" b="1" dirty="0" err="1"/>
              <a:t>Hyperparameter</a:t>
            </a:r>
            <a:r>
              <a:rPr lang="en-GB" sz="1800" b="1" dirty="0"/>
              <a:t> tuning in practice</a:t>
            </a:r>
          </a:p>
          <a:p>
            <a:pPr marL="0" lvl="1" indent="0">
              <a:buNone/>
              <a:tabLst>
                <a:tab pos="3138488" algn="l"/>
              </a:tabLst>
            </a:pPr>
            <a:endParaRPr lang="en-GB" dirty="0"/>
          </a:p>
          <a:p>
            <a:pPr marL="0" lvl="1" indent="0">
              <a:buNone/>
              <a:tabLst>
                <a:tab pos="3138488" algn="l"/>
              </a:tabLst>
            </a:pPr>
            <a:r>
              <a:rPr lang="en-GB" sz="1800" dirty="0"/>
              <a:t>For </a:t>
            </a:r>
            <a:r>
              <a:rPr lang="en-GB" sz="1800" dirty="0" err="1"/>
              <a:t>hyperparameter</a:t>
            </a:r>
            <a:r>
              <a:rPr lang="en-GB" sz="1800" dirty="0"/>
              <a:t> tuning we can use </a:t>
            </a:r>
            <a:r>
              <a:rPr lang="en-GB" sz="1800" dirty="0" err="1"/>
              <a:t>SciKit-learn’s</a:t>
            </a:r>
            <a:r>
              <a:rPr lang="en-GB" sz="1800" dirty="0"/>
              <a:t> </a:t>
            </a:r>
            <a:r>
              <a:rPr lang="en-GB" b="1" dirty="0" err="1"/>
              <a:t>GridSearchCV</a:t>
            </a:r>
            <a:endParaRPr lang="en-GB" b="1" dirty="0"/>
          </a:p>
          <a:p>
            <a:pPr marL="0" lvl="1" indent="0">
              <a:buNone/>
              <a:tabLst>
                <a:tab pos="3138488" algn="l"/>
              </a:tabLst>
            </a:pPr>
            <a:endParaRPr lang="en-GB" b="1" dirty="0"/>
          </a:p>
          <a:p>
            <a:pPr marL="0" lvl="1" indent="0">
              <a:buNone/>
              <a:tabLst>
                <a:tab pos="3138488" algn="l"/>
              </a:tabLst>
            </a:pPr>
            <a:endParaRPr lang="en-GB" sz="1800" dirty="0"/>
          </a:p>
          <a:p>
            <a:pPr marL="1257300" lvl="3"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5" name="Picture 14"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8660" y="2443758"/>
            <a:ext cx="7897327" cy="3667637"/>
          </a:xfrm>
          <a:prstGeom prst="rect">
            <a:avLst/>
          </a:prstGeom>
        </p:spPr>
      </p:pic>
      <p:sp>
        <p:nvSpPr>
          <p:cNvPr id="16" name="Rectangle 15"/>
          <p:cNvSpPr/>
          <p:nvPr/>
        </p:nvSpPr>
        <p:spPr>
          <a:xfrm>
            <a:off x="2639616" y="5229200"/>
            <a:ext cx="1152128" cy="2880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p:pic>
        <p:nvPicPr>
          <p:cNvPr id="2" name="Picture 1">
            <a:extLst>
              <a:ext uri="{FF2B5EF4-FFF2-40B4-BE49-F238E27FC236}">
                <a16:creationId xmlns:a16="http://schemas.microsoft.com/office/drawing/2014/main" id="{F516F3B6-04F4-9B89-A082-1F7EE8772298}"/>
              </a:ext>
            </a:extLst>
          </p:cNvPr>
          <p:cNvPicPr>
            <a:picLocks noChangeAspect="1"/>
          </p:cNvPicPr>
          <p:nvPr/>
        </p:nvPicPr>
        <p:blipFill rotWithShape="1">
          <a:blip r:embed="rId3"/>
          <a:srcRect l="19519" t="19764" r="18025" b="19708"/>
          <a:stretch/>
        </p:blipFill>
        <p:spPr>
          <a:xfrm>
            <a:off x="9635430" y="975092"/>
            <a:ext cx="1872208" cy="1911212"/>
          </a:xfrm>
          <a:prstGeom prst="rect">
            <a:avLst/>
          </a:prstGeom>
        </p:spPr>
      </p:pic>
      <p:sp>
        <p:nvSpPr>
          <p:cNvPr id="8" name="Title 1">
            <a:extLst>
              <a:ext uri="{FF2B5EF4-FFF2-40B4-BE49-F238E27FC236}">
                <a16:creationId xmlns:a16="http://schemas.microsoft.com/office/drawing/2014/main" id="{92EB79EE-3776-99E3-8928-07CCE7C7AA45}"/>
              </a:ext>
            </a:extLst>
          </p:cNvPr>
          <p:cNvSpPr>
            <a:spLocks noGrp="1"/>
          </p:cNvSpPr>
          <p:nvPr>
            <p:ph type="title"/>
          </p:nvPr>
        </p:nvSpPr>
        <p:spPr>
          <a:xfrm>
            <a:off x="1981200" y="-58697"/>
            <a:ext cx="8229600" cy="1143000"/>
          </a:xfrm>
        </p:spPr>
        <p:txBody>
          <a:bodyPr/>
          <a:lstStyle/>
          <a:p>
            <a:r>
              <a:rPr lang="en-GB" dirty="0"/>
              <a:t>Training ANNs</a:t>
            </a:r>
            <a:endParaRPr lang="en-GB" sz="1800" dirty="0"/>
          </a:p>
        </p:txBody>
      </p:sp>
      <p:sp>
        <p:nvSpPr>
          <p:cNvPr id="9" name="Line 2">
            <a:extLst>
              <a:ext uri="{FF2B5EF4-FFF2-40B4-BE49-F238E27FC236}">
                <a16:creationId xmlns:a16="http://schemas.microsoft.com/office/drawing/2014/main" id="{36C57E04-C4E9-4639-DB5D-BB0E9731438A}"/>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0" name="Line 2">
            <a:extLst>
              <a:ext uri="{FF2B5EF4-FFF2-40B4-BE49-F238E27FC236}">
                <a16:creationId xmlns:a16="http://schemas.microsoft.com/office/drawing/2014/main" id="{7808DFF5-554D-50B3-B9F5-421F0C6D719A}"/>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36759329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196633" y="1700808"/>
            <a:ext cx="7632848" cy="5182899"/>
          </a:xfrm>
          <a:prstGeom prst="rect">
            <a:avLst/>
          </a:prstGeom>
        </p:spPr>
      </p:pic>
      <p:sp>
        <p:nvSpPr>
          <p:cNvPr id="5" name="Content Placeholder 2"/>
          <p:cNvSpPr>
            <a:spLocks noGrp="1"/>
          </p:cNvSpPr>
          <p:nvPr>
            <p:ph idx="1"/>
          </p:nvPr>
        </p:nvSpPr>
        <p:spPr>
          <a:xfrm>
            <a:off x="720000" y="1268760"/>
            <a:ext cx="10225136" cy="1152128"/>
          </a:xfrm>
        </p:spPr>
        <p:txBody>
          <a:bodyPr>
            <a:noAutofit/>
          </a:bodyPr>
          <a:lstStyle/>
          <a:p>
            <a:pPr marL="0" lvl="1" indent="0">
              <a:buNone/>
              <a:tabLst>
                <a:tab pos="3138488" algn="l"/>
              </a:tabLst>
            </a:pPr>
            <a:r>
              <a:rPr lang="en-GB" sz="1800" b="1" dirty="0" err="1"/>
              <a:t>Hyperparameter</a:t>
            </a:r>
            <a:r>
              <a:rPr lang="en-GB" sz="1800" b="1" dirty="0"/>
              <a:t> tuning in practice</a:t>
            </a:r>
          </a:p>
          <a:p>
            <a:pPr marL="0" lvl="1" indent="0">
              <a:buNone/>
              <a:tabLst>
                <a:tab pos="3138488" algn="l"/>
              </a:tabLst>
            </a:pPr>
            <a:endParaRPr lang="en-GB" dirty="0"/>
          </a:p>
          <a:p>
            <a:pPr marL="0" lvl="1" indent="0">
              <a:buNone/>
              <a:tabLst>
                <a:tab pos="3138488" algn="l"/>
              </a:tabLst>
            </a:pPr>
            <a:r>
              <a:rPr lang="en-GB" sz="1800" dirty="0"/>
              <a:t>For hyperparameter tuning we can use </a:t>
            </a:r>
            <a:r>
              <a:rPr lang="en-GB" sz="1800" dirty="0" err="1"/>
              <a:t>SciKit-learn’s</a:t>
            </a:r>
            <a:r>
              <a:rPr lang="en-GB" sz="1800" dirty="0"/>
              <a:t> </a:t>
            </a:r>
            <a:r>
              <a:rPr lang="en-GB" b="1" dirty="0" err="1"/>
              <a:t>GridSearchCV</a:t>
            </a: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TextBox 2"/>
          <p:cNvSpPr txBox="1"/>
          <p:nvPr/>
        </p:nvSpPr>
        <p:spPr>
          <a:xfrm>
            <a:off x="461727" y="3856776"/>
            <a:ext cx="3929204" cy="2864699"/>
          </a:xfrm>
          <a:prstGeom prst="rect">
            <a:avLst/>
          </a:prstGeom>
          <a:noFill/>
          <a:ln>
            <a:solidFill>
              <a:srgbClr val="00B050"/>
            </a:solidFill>
          </a:ln>
        </p:spPr>
        <p:txBody>
          <a:bodyPr wrap="square" rtlCol="0" anchor="ctr">
            <a:no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srgbClr val="00B050"/>
                </a:solidFill>
                <a:effectLst/>
                <a:uLnTx/>
                <a:uFillTx/>
                <a:latin typeface="Calibri" panose="020F0502020204030204"/>
                <a:ea typeface="+mn-ea"/>
                <a:cs typeface="+mn-cs"/>
              </a:rPr>
              <a:t>In this case, these hyperparameters:</a:t>
            </a:r>
          </a:p>
          <a:p>
            <a:pPr marL="630238" marR="0" lvl="1"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B050"/>
                </a:solidFill>
                <a:effectLst/>
                <a:uLnTx/>
                <a:uFillTx/>
                <a:latin typeface="Calibri" panose="020F0502020204030204"/>
                <a:ea typeface="+mn-ea"/>
                <a:cs typeface="+mn-cs"/>
              </a:rPr>
              <a:t>L2 = 0.0001</a:t>
            </a:r>
          </a:p>
          <a:p>
            <a:pPr marL="630238" marR="0" lvl="1"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B050"/>
                </a:solidFill>
                <a:effectLst/>
                <a:uLnTx/>
                <a:uFillTx/>
                <a:latin typeface="Calibri" panose="020F0502020204030204"/>
                <a:ea typeface="+mn-ea"/>
                <a:cs typeface="+mn-cs"/>
              </a:rPr>
              <a:t>Lr = 0.001</a:t>
            </a:r>
          </a:p>
          <a:p>
            <a:pPr marL="630238" marR="0" lvl="1"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B050"/>
                </a:solidFill>
                <a:effectLst/>
                <a:uLnTx/>
                <a:uFillTx/>
                <a:latin typeface="Calibri" panose="020F0502020204030204"/>
                <a:ea typeface="+mn-ea"/>
                <a:cs typeface="+mn-cs"/>
              </a:rPr>
              <a:t>Layers = (30,30)</a:t>
            </a:r>
          </a:p>
          <a:p>
            <a:pPr marL="314325" marR="0" lvl="1" indent="0" algn="l" defTabSz="914400" rtl="0" eaLnBrk="1" fontAlgn="auto" latinLnBrk="0" hangingPunct="1">
              <a:lnSpc>
                <a:spcPct val="100000"/>
              </a:lnSpc>
              <a:spcBef>
                <a:spcPts val="0"/>
              </a:spcBef>
              <a:spcAft>
                <a:spcPts val="0"/>
              </a:spcAft>
              <a:buClrTx/>
              <a:buSzTx/>
              <a:buFontTx/>
              <a:buNone/>
              <a:tabLst>
                <a:tab pos="260350" algn="l"/>
              </a:tabLst>
              <a:defRPr/>
            </a:pPr>
            <a:r>
              <a:rPr kumimoji="0" lang="en-GB" sz="1800" b="0" i="0" u="none" strike="noStrike" kern="1200" cap="none" spc="0" normalizeH="0" baseline="0" noProof="0" dirty="0">
                <a:ln>
                  <a:noFill/>
                </a:ln>
                <a:solidFill>
                  <a:srgbClr val="00B050"/>
                </a:solidFill>
                <a:effectLst/>
                <a:uLnTx/>
                <a:uFillTx/>
                <a:latin typeface="Calibri" panose="020F0502020204030204"/>
                <a:ea typeface="+mn-ea"/>
                <a:cs typeface="+mn-cs"/>
              </a:rPr>
              <a:t>result in the best </a:t>
            </a:r>
            <a:r>
              <a:rPr kumimoji="0" lang="en-GB" sz="1800" b="1" i="0" u="none" strike="noStrike" kern="1200" cap="none" spc="0" normalizeH="0" baseline="0" noProof="0" dirty="0">
                <a:ln>
                  <a:noFill/>
                </a:ln>
                <a:solidFill>
                  <a:srgbClr val="00B050"/>
                </a:solidFill>
                <a:effectLst/>
                <a:uLnTx/>
                <a:uFillTx/>
                <a:latin typeface="Calibri" panose="020F0502020204030204"/>
                <a:ea typeface="+mn-ea"/>
                <a:cs typeface="+mn-cs"/>
              </a:rPr>
              <a:t>generalisation performance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00B050"/>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srgbClr val="00B050"/>
                </a:solidFill>
                <a:effectLst/>
                <a:uLnTx/>
                <a:uFillTx/>
                <a:latin typeface="Calibri" panose="020F0502020204030204"/>
                <a:ea typeface="+mn-ea"/>
                <a:cs typeface="+mn-cs"/>
              </a:rPr>
              <a:t>Note: we do </a:t>
            </a:r>
            <a:r>
              <a:rPr kumimoji="0" lang="en-GB" sz="1800" b="1" i="0" u="none" strike="noStrike" kern="1200" cap="none" spc="0" normalizeH="0" baseline="0" noProof="0" dirty="0">
                <a:ln>
                  <a:noFill/>
                </a:ln>
                <a:solidFill>
                  <a:srgbClr val="00B050"/>
                </a:solidFill>
                <a:effectLst/>
                <a:uLnTx/>
                <a:uFillTx/>
                <a:latin typeface="Calibri" panose="020F0502020204030204"/>
                <a:ea typeface="+mn-ea"/>
                <a:cs typeface="+mn-cs"/>
              </a:rPr>
              <a:t>not</a:t>
            </a:r>
            <a:r>
              <a:rPr kumimoji="0" lang="en-GB" sz="1800" b="0" i="0" u="none" strike="noStrike" kern="1200" cap="none" spc="0" normalizeH="0" baseline="0" noProof="0" dirty="0">
                <a:ln>
                  <a:noFill/>
                </a:ln>
                <a:solidFill>
                  <a:srgbClr val="00B050"/>
                </a:solidFill>
                <a:effectLst/>
                <a:uLnTx/>
                <a:uFillTx/>
                <a:latin typeface="Calibri" panose="020F0502020204030204"/>
                <a:ea typeface="+mn-ea"/>
                <a:cs typeface="+mn-cs"/>
              </a:rPr>
              <a:t> consider the weights of the model to assess its performance</a:t>
            </a:r>
          </a:p>
        </p:txBody>
      </p:sp>
      <p:sp>
        <p:nvSpPr>
          <p:cNvPr id="7" name="Rectangle 6"/>
          <p:cNvSpPr/>
          <p:nvPr/>
        </p:nvSpPr>
        <p:spPr>
          <a:xfrm>
            <a:off x="4572484" y="4437112"/>
            <a:ext cx="227372" cy="2284364"/>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p:sp>
        <p:nvSpPr>
          <p:cNvPr id="10" name="Title 1">
            <a:extLst>
              <a:ext uri="{FF2B5EF4-FFF2-40B4-BE49-F238E27FC236}">
                <a16:creationId xmlns:a16="http://schemas.microsoft.com/office/drawing/2014/main" id="{A79899C6-A490-A567-0A67-1E48EFEDB551}"/>
              </a:ext>
            </a:extLst>
          </p:cNvPr>
          <p:cNvSpPr>
            <a:spLocks noGrp="1"/>
          </p:cNvSpPr>
          <p:nvPr>
            <p:ph type="title"/>
          </p:nvPr>
        </p:nvSpPr>
        <p:spPr>
          <a:xfrm>
            <a:off x="1981200" y="-58697"/>
            <a:ext cx="8229600" cy="1143000"/>
          </a:xfrm>
        </p:spPr>
        <p:txBody>
          <a:bodyPr/>
          <a:lstStyle/>
          <a:p>
            <a:r>
              <a:rPr lang="en-GB" dirty="0"/>
              <a:t>Training ANNs</a:t>
            </a:r>
            <a:endParaRPr lang="en-GB" sz="1800" dirty="0"/>
          </a:p>
        </p:txBody>
      </p:sp>
      <p:sp>
        <p:nvSpPr>
          <p:cNvPr id="11" name="Line 2">
            <a:extLst>
              <a:ext uri="{FF2B5EF4-FFF2-40B4-BE49-F238E27FC236}">
                <a16:creationId xmlns:a16="http://schemas.microsoft.com/office/drawing/2014/main" id="{5D3DED44-DC1E-2F07-F6F5-B94D2D3C0C36}"/>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2" name="Line 2">
            <a:extLst>
              <a:ext uri="{FF2B5EF4-FFF2-40B4-BE49-F238E27FC236}">
                <a16:creationId xmlns:a16="http://schemas.microsoft.com/office/drawing/2014/main" id="{C3C71804-3C20-8D50-F90B-2F078DC29884}"/>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17406062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000" dirty="0"/>
              <a:t>K-fold cross validation</a:t>
            </a:r>
          </a:p>
        </p:txBody>
      </p:sp>
      <p:sp>
        <p:nvSpPr>
          <p:cNvPr id="3" name="Content Placeholder 2"/>
          <p:cNvSpPr>
            <a:spLocks noGrp="1"/>
          </p:cNvSpPr>
          <p:nvPr>
            <p:ph idx="1"/>
          </p:nvPr>
        </p:nvSpPr>
        <p:spPr>
          <a:xfrm>
            <a:off x="585926" y="1260000"/>
            <a:ext cx="7377344" cy="5400600"/>
          </a:xfrm>
        </p:spPr>
        <p:txBody>
          <a:bodyPr>
            <a:normAutofit/>
          </a:bodyPr>
          <a:lstStyle/>
          <a:p>
            <a:pPr marL="285750" lvl="1">
              <a:buFont typeface="Arial" panose="020B0604020202020204" pitchFamily="34" charset="0"/>
              <a:buChar char="•"/>
              <a:tabLst>
                <a:tab pos="3138488" algn="l"/>
              </a:tabLst>
            </a:pPr>
            <a:r>
              <a:rPr lang="en-GB" sz="1800" dirty="0"/>
              <a:t>K-fold cross validation is a method</a:t>
            </a:r>
            <a:r>
              <a:rPr lang="en-US" sz="1800" dirty="0"/>
              <a:t> to </a:t>
            </a:r>
            <a:r>
              <a:rPr lang="en-US" sz="1800" b="1" dirty="0"/>
              <a:t>more rigorously evaluate the </a:t>
            </a:r>
            <a:r>
              <a:rPr lang="en-US" sz="1800" b="1" dirty="0" err="1"/>
              <a:t>generalisation</a:t>
            </a:r>
            <a:r>
              <a:rPr lang="en-US" sz="1800" b="1" dirty="0"/>
              <a:t> performance </a:t>
            </a:r>
            <a:r>
              <a:rPr lang="en-US" sz="1800" dirty="0"/>
              <a:t>(vs train/test)</a:t>
            </a:r>
          </a:p>
          <a:p>
            <a:pPr marL="285750" lvl="1">
              <a:buFont typeface="Arial" panose="020B0604020202020204" pitchFamily="34" charset="0"/>
              <a:buChar char="•"/>
              <a:tabLst>
                <a:tab pos="3138488" algn="l"/>
              </a:tabLst>
            </a:pPr>
            <a:endParaRPr lang="en-US" sz="1800" dirty="0"/>
          </a:p>
          <a:p>
            <a:pPr marL="285750" lvl="1">
              <a:buFont typeface="Arial" panose="020B0604020202020204" pitchFamily="34" charset="0"/>
              <a:buChar char="•"/>
              <a:tabLst>
                <a:tab pos="3138488" algn="l"/>
              </a:tabLst>
            </a:pPr>
            <a:r>
              <a:rPr lang="en-US" sz="1800" dirty="0"/>
              <a:t>K-fold cross validations is a ‘</a:t>
            </a:r>
            <a:r>
              <a:rPr lang="en-US" sz="1800" b="1" dirty="0"/>
              <a:t>must use</a:t>
            </a:r>
            <a:r>
              <a:rPr lang="en-US" sz="1800" dirty="0"/>
              <a:t>’ when </a:t>
            </a:r>
            <a:r>
              <a:rPr lang="en-GB" sz="1800" dirty="0"/>
              <a:t>tuning the </a:t>
            </a:r>
            <a:r>
              <a:rPr lang="en-GB" sz="1800" dirty="0" err="1"/>
              <a:t>hyperparameters</a:t>
            </a:r>
            <a:endParaRPr lang="en-GB" sz="1800" dirty="0"/>
          </a:p>
          <a:p>
            <a:pPr marL="285750" lvl="1">
              <a:buFont typeface="Arial" panose="020B0604020202020204" pitchFamily="34" charset="0"/>
              <a:buChar char="•"/>
              <a:tabLst>
                <a:tab pos="3138488" algn="l"/>
              </a:tabLst>
            </a:pPr>
            <a:endParaRPr lang="en-GB" sz="1800" dirty="0"/>
          </a:p>
          <a:p>
            <a:pPr marL="285750" lvl="1">
              <a:buFont typeface="Arial" panose="020B0604020202020204" pitchFamily="34" charset="0"/>
              <a:buChar char="•"/>
              <a:tabLst>
                <a:tab pos="3138488" algn="l"/>
              </a:tabLst>
            </a:pPr>
            <a:r>
              <a:rPr lang="en-GB" sz="1800" dirty="0"/>
              <a:t>When tuning </a:t>
            </a:r>
            <a:r>
              <a:rPr lang="en-GB" sz="1800" dirty="0" err="1"/>
              <a:t>hyperparameters</a:t>
            </a:r>
            <a:r>
              <a:rPr lang="en-GB" sz="1800" dirty="0"/>
              <a:t> on a simple train/test split, one risks overfitting on the particular manifestation of the test-split</a:t>
            </a:r>
          </a:p>
          <a:p>
            <a:pPr marL="285750" lvl="1">
              <a:buFont typeface="Arial" panose="020B0604020202020204" pitchFamily="34" charset="0"/>
              <a:buChar char="•"/>
              <a:tabLst>
                <a:tab pos="3138488" algn="l"/>
              </a:tabLst>
            </a:pPr>
            <a:endParaRPr lang="en-GB" sz="1800" dirty="0"/>
          </a:p>
          <a:p>
            <a:pPr marL="285750" lvl="1">
              <a:buFont typeface="Arial" panose="020B0604020202020204" pitchFamily="34" charset="0"/>
              <a:buChar char="•"/>
              <a:tabLst>
                <a:tab pos="3138488" algn="l"/>
              </a:tabLst>
            </a:pPr>
            <a:endParaRPr lang="en-GB" sz="1800" dirty="0"/>
          </a:p>
          <a:p>
            <a:endParaRPr lang="en-GB" sz="1800" dirty="0"/>
          </a:p>
          <a:p>
            <a:pPr marL="0" indent="0">
              <a:buNone/>
              <a:tabLst>
                <a:tab pos="361950" algn="l"/>
              </a:tabLst>
            </a:pPr>
            <a:r>
              <a:rPr lang="en-GB" sz="1800" dirty="0"/>
              <a:t>	</a:t>
            </a:r>
          </a:p>
          <a:p>
            <a:pPr marL="0" indent="0">
              <a:buNone/>
              <a:tabLst>
                <a:tab pos="361950" algn="l"/>
              </a:tabLst>
            </a:pPr>
            <a:endParaRPr lang="en-GB" sz="1800" dirty="0"/>
          </a:p>
          <a:p>
            <a:pPr marL="358775" indent="-358775">
              <a:tabLst>
                <a:tab pos="3314700" algn="l"/>
              </a:tabLst>
            </a:pPr>
            <a:endParaRPr lang="en-GB" sz="1800" dirty="0"/>
          </a:p>
          <a:p>
            <a:endParaRPr lang="en-GB" sz="1800" dirty="0"/>
          </a:p>
        </p:txBody>
      </p:sp>
      <p:sp>
        <p:nvSpPr>
          <p:cNvPr id="4" name="Slide Number Placeholder 3"/>
          <p:cNvSpPr>
            <a:spLocks noGrp="1"/>
          </p:cNvSpPr>
          <p:nvPr>
            <p:ph type="sldNum" sz="quarter" idx="12"/>
          </p:nvPr>
        </p:nvSpPr>
        <p:spPr/>
        <p:txBody>
          <a:bodyPr/>
          <a:lstStyle/>
          <a:p>
            <a:fld id="{B8038A88-BFD1-4DDE-9255-0657B8D83B52}" type="slidenum">
              <a:rPr lang="nl-NL" smtClean="0">
                <a:solidFill>
                  <a:prstClr val="black">
                    <a:tint val="75000"/>
                  </a:prstClr>
                </a:solidFill>
              </a:rPr>
              <a:pPr/>
              <a:t>43</a:t>
            </a:fld>
            <a:endParaRPr lang="nl-NL">
              <a:solidFill>
                <a:prstClr val="black">
                  <a:tint val="75000"/>
                </a:prstClr>
              </a:solidFill>
            </a:endParaRPr>
          </a:p>
        </p:txBody>
      </p:sp>
      <p:grpSp>
        <p:nvGrpSpPr>
          <p:cNvPr id="6" name="Group 5"/>
          <p:cNvGrpSpPr/>
          <p:nvPr/>
        </p:nvGrpSpPr>
        <p:grpSpPr>
          <a:xfrm>
            <a:off x="8202510" y="1260000"/>
            <a:ext cx="3556264" cy="2534708"/>
            <a:chOff x="8026136" y="3328962"/>
            <a:chExt cx="3556264" cy="2534708"/>
          </a:xfrm>
        </p:grpSpPr>
        <p:pic>
          <p:nvPicPr>
            <p:cNvPr id="12" name="Picture 11"/>
            <p:cNvPicPr>
              <a:picLocks noChangeAspect="1"/>
            </p:cNvPicPr>
            <p:nvPr/>
          </p:nvPicPr>
          <p:blipFill rotWithShape="1">
            <a:blip r:embed="rId2"/>
            <a:srcRect t="31045" r="29022" b="10956"/>
            <a:stretch/>
          </p:blipFill>
          <p:spPr>
            <a:xfrm>
              <a:off x="8026136" y="3850846"/>
              <a:ext cx="3556264" cy="2012824"/>
            </a:xfrm>
            <a:prstGeom prst="rect">
              <a:avLst/>
            </a:prstGeom>
          </p:spPr>
        </p:pic>
        <p:sp>
          <p:nvSpPr>
            <p:cNvPr id="5" name="Rectangle 4"/>
            <p:cNvSpPr/>
            <p:nvPr/>
          </p:nvSpPr>
          <p:spPr>
            <a:xfrm>
              <a:off x="8472264" y="3328962"/>
              <a:ext cx="3094735" cy="275544"/>
            </a:xfrm>
            <a:prstGeom prst="rect">
              <a:avLst/>
            </a:prstGeom>
            <a:solidFill>
              <a:schemeClr val="bg1">
                <a:lumMod val="85000"/>
              </a:schemeClr>
            </a:solidFill>
            <a:ln w="1270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All data</a:t>
              </a:r>
            </a:p>
          </p:txBody>
        </p:sp>
      </p:grpSp>
      <p:sp>
        <p:nvSpPr>
          <p:cNvPr id="7" name="TextBox 6">
            <a:extLst>
              <a:ext uri="{FF2B5EF4-FFF2-40B4-BE49-F238E27FC236}">
                <a16:creationId xmlns:a16="http://schemas.microsoft.com/office/drawing/2014/main" id="{0BC3FC14-AED0-08E3-4884-B9D25864682D}"/>
              </a:ext>
            </a:extLst>
          </p:cNvPr>
          <p:cNvSpPr txBox="1"/>
          <p:nvPr/>
        </p:nvSpPr>
        <p:spPr>
          <a:xfrm>
            <a:off x="585926" y="3662852"/>
            <a:ext cx="7616584" cy="2823099"/>
          </a:xfrm>
          <a:prstGeom prst="rect">
            <a:avLst/>
          </a:prstGeom>
          <a:noFill/>
        </p:spPr>
        <p:txBody>
          <a:bodyPr wrap="square" rtlCol="0">
            <a:noAutofit/>
          </a:bodyPr>
          <a:lstStyle/>
          <a:p>
            <a:pPr marL="28575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tab pos="3138488" algn="l"/>
              </a:tabLst>
              <a:defRPr/>
            </a:pPr>
            <a:r>
              <a:rPr kumimoji="0" lang="en-GB" sz="1700" b="1" i="0" u="none" strike="noStrike" kern="1200" cap="none" spc="0" normalizeH="0" baseline="0" noProof="0" dirty="0">
                <a:ln>
                  <a:noFill/>
                </a:ln>
                <a:solidFill>
                  <a:prstClr val="black"/>
                </a:solidFill>
                <a:effectLst/>
                <a:uLnTx/>
                <a:uFillTx/>
                <a:latin typeface="Calibri" panose="020F0502020204030204"/>
                <a:ea typeface="+mn-ea"/>
                <a:cs typeface="+mn-cs"/>
              </a:rPr>
              <a:t>K-fold cross validation procedure for </a:t>
            </a:r>
            <a:r>
              <a:rPr kumimoji="0" lang="en-GB" sz="1700" b="1" i="0" u="none" strike="noStrike" kern="1200" cap="none" spc="0" normalizeH="0" baseline="0" noProof="0" dirty="0" err="1">
                <a:ln>
                  <a:noFill/>
                </a:ln>
                <a:solidFill>
                  <a:prstClr val="black"/>
                </a:solidFill>
                <a:effectLst/>
                <a:uLnTx/>
                <a:uFillTx/>
                <a:latin typeface="Calibri" panose="020F0502020204030204"/>
                <a:ea typeface="+mn-ea"/>
                <a:cs typeface="+mn-cs"/>
              </a:rPr>
              <a:t>hypertuning</a:t>
            </a:r>
            <a:r>
              <a:rPr kumimoji="0" lang="en-GB" sz="17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800100" marR="0" lvl="2" indent="-342900" algn="l" defTabSz="914400" rtl="0" eaLnBrk="1" fontAlgn="auto" latinLnBrk="0" hangingPunct="1">
              <a:lnSpc>
                <a:spcPct val="90000"/>
              </a:lnSpc>
              <a:spcBef>
                <a:spcPts val="500"/>
              </a:spcBef>
              <a:spcAft>
                <a:spcPts val="0"/>
              </a:spcAft>
              <a:buClrTx/>
              <a:buSzTx/>
              <a:buFont typeface="+mj-lt"/>
              <a:buAutoNum type="arabicPeriod"/>
              <a:tabLst>
                <a:tab pos="3138488" algn="l"/>
              </a:tabLst>
              <a:defRPr/>
            </a:pPr>
            <a:r>
              <a:rPr kumimoji="0" lang="en-GB" sz="1700" b="0" i="0" u="none" strike="noStrike" kern="1200" cap="none" spc="0" normalizeH="0" baseline="0" noProof="0" dirty="0">
                <a:ln>
                  <a:noFill/>
                </a:ln>
                <a:solidFill>
                  <a:prstClr val="black"/>
                </a:solidFill>
                <a:effectLst/>
                <a:uLnTx/>
                <a:uFillTx/>
                <a:latin typeface="Calibri" panose="020F0502020204030204"/>
                <a:ea typeface="+mn-ea"/>
                <a:cs typeface="+mn-cs"/>
              </a:rPr>
              <a:t>Split data in K-folds</a:t>
            </a:r>
          </a:p>
          <a:p>
            <a:pPr marL="800100" marR="0" lvl="2" indent="-342900" algn="l" defTabSz="914400" rtl="0" eaLnBrk="1" fontAlgn="auto" latinLnBrk="0" hangingPunct="1">
              <a:lnSpc>
                <a:spcPct val="90000"/>
              </a:lnSpc>
              <a:spcBef>
                <a:spcPts val="500"/>
              </a:spcBef>
              <a:spcAft>
                <a:spcPts val="0"/>
              </a:spcAft>
              <a:buClrTx/>
              <a:buSzTx/>
              <a:buFont typeface="+mj-lt"/>
              <a:buAutoNum type="arabicPeriod"/>
              <a:tabLst>
                <a:tab pos="3138488" algn="l"/>
              </a:tabLst>
              <a:defRPr/>
            </a:pPr>
            <a:r>
              <a:rPr kumimoji="0" lang="en-GB" sz="1700" b="0" i="0" u="none" strike="noStrike" kern="1200" cap="none" spc="0" normalizeH="0" baseline="0" noProof="0" dirty="0">
                <a:ln>
                  <a:noFill/>
                </a:ln>
                <a:solidFill>
                  <a:prstClr val="black"/>
                </a:solidFill>
                <a:effectLst/>
                <a:uLnTx/>
                <a:uFillTx/>
                <a:latin typeface="Calibri" panose="020F0502020204030204"/>
                <a:ea typeface="+mn-ea"/>
                <a:cs typeface="+mn-cs"/>
              </a:rPr>
              <a:t>For </a:t>
            </a:r>
            <a:r>
              <a:rPr kumimoji="0" lang="en-GB" sz="1700" b="0" i="1" u="none" strike="noStrike" kern="1200" cap="none" spc="0" normalizeH="0" baseline="0" noProof="0" dirty="0">
                <a:ln>
                  <a:noFill/>
                </a:ln>
                <a:solidFill>
                  <a:prstClr val="black"/>
                </a:solidFill>
                <a:effectLst/>
                <a:uLnTx/>
                <a:uFillTx/>
                <a:latin typeface="Calibri" panose="020F0502020204030204"/>
                <a:ea typeface="+mn-ea"/>
                <a:cs typeface="+mn-cs"/>
              </a:rPr>
              <a:t>m</a:t>
            </a:r>
            <a:r>
              <a:rPr kumimoji="0" lang="en-GB" sz="1700" b="0" i="0" u="none" strike="noStrike" kern="1200" cap="none" spc="0" normalizeH="0" baseline="0" noProof="0" dirty="0">
                <a:ln>
                  <a:noFill/>
                </a:ln>
                <a:solidFill>
                  <a:prstClr val="black"/>
                </a:solidFill>
                <a:effectLst/>
                <a:uLnTx/>
                <a:uFillTx/>
                <a:latin typeface="Calibri" panose="020F0502020204030204"/>
                <a:ea typeface="+mn-ea"/>
                <a:cs typeface="+mn-cs"/>
              </a:rPr>
              <a:t> = 1…</a:t>
            </a:r>
            <a:r>
              <a:rPr kumimoji="0" lang="en-GB" sz="1700" b="0" i="1" u="none" strike="noStrike" kern="1200" cap="none" spc="0" normalizeH="0" baseline="0" noProof="0" dirty="0">
                <a:ln>
                  <a:noFill/>
                </a:ln>
                <a:solidFill>
                  <a:prstClr val="black"/>
                </a:solidFill>
                <a:effectLst/>
                <a:uLnTx/>
                <a:uFillTx/>
                <a:latin typeface="Calibri" panose="020F0502020204030204"/>
                <a:ea typeface="+mn-ea"/>
                <a:cs typeface="+mn-cs"/>
              </a:rPr>
              <a:t>M</a:t>
            </a:r>
            <a:r>
              <a:rPr kumimoji="0" lang="en-GB" sz="1700" b="0" i="0" u="none" strike="noStrike" kern="1200" cap="none" spc="0" normalizeH="0" baseline="0" noProof="0" dirty="0">
                <a:ln>
                  <a:noFill/>
                </a:ln>
                <a:solidFill>
                  <a:prstClr val="black"/>
                </a:solidFill>
                <a:effectLst/>
                <a:uLnTx/>
                <a:uFillTx/>
                <a:latin typeface="Calibri" panose="020F0502020204030204"/>
                <a:ea typeface="+mn-ea"/>
                <a:cs typeface="+mn-cs"/>
              </a:rPr>
              <a:t> (models with hyperparameter settings)</a:t>
            </a:r>
          </a:p>
          <a:p>
            <a:pPr marL="1257300" marR="0" lvl="3" indent="-342900" algn="l" defTabSz="914400" rtl="0" eaLnBrk="1" fontAlgn="auto" latinLnBrk="0" hangingPunct="1">
              <a:lnSpc>
                <a:spcPct val="90000"/>
              </a:lnSpc>
              <a:spcBef>
                <a:spcPts val="500"/>
              </a:spcBef>
              <a:spcAft>
                <a:spcPts val="0"/>
              </a:spcAft>
              <a:buClrTx/>
              <a:buSzTx/>
              <a:buFont typeface="+mj-lt"/>
              <a:buAutoNum type="arabicPeriod" startAt="3"/>
              <a:tabLst>
                <a:tab pos="3138488" algn="l"/>
              </a:tabLst>
              <a:defRPr/>
            </a:pPr>
            <a:r>
              <a:rPr kumimoji="0" lang="en-GB" sz="1700" b="0" i="0" u="none" strike="noStrike" kern="1200" cap="none" spc="0" normalizeH="0" baseline="0" noProof="0" dirty="0">
                <a:ln>
                  <a:noFill/>
                </a:ln>
                <a:solidFill>
                  <a:prstClr val="black"/>
                </a:solidFill>
                <a:effectLst/>
                <a:uLnTx/>
                <a:uFillTx/>
                <a:latin typeface="Calibri" panose="020F0502020204030204"/>
                <a:ea typeface="+mn-ea"/>
                <a:cs typeface="+mn-cs"/>
              </a:rPr>
              <a:t>For </a:t>
            </a:r>
            <a:r>
              <a:rPr kumimoji="0" lang="en-GB" sz="1700" b="0" i="1" u="none" strike="noStrike" kern="1200" cap="none" spc="0" normalizeH="0" baseline="0" noProof="0" dirty="0">
                <a:ln>
                  <a:noFill/>
                </a:ln>
                <a:solidFill>
                  <a:prstClr val="black"/>
                </a:solidFill>
                <a:effectLst/>
                <a:uLnTx/>
                <a:uFillTx/>
                <a:latin typeface="Calibri" panose="020F0502020204030204"/>
                <a:ea typeface="+mn-ea"/>
                <a:cs typeface="+mn-cs"/>
              </a:rPr>
              <a:t>k</a:t>
            </a:r>
            <a:r>
              <a:rPr kumimoji="0" lang="en-GB" sz="1700" b="0" i="0" u="none" strike="noStrike" kern="1200" cap="none" spc="0" normalizeH="0" baseline="0" noProof="0" dirty="0">
                <a:ln>
                  <a:noFill/>
                </a:ln>
                <a:solidFill>
                  <a:prstClr val="black"/>
                </a:solidFill>
                <a:effectLst/>
                <a:uLnTx/>
                <a:uFillTx/>
                <a:latin typeface="Calibri" panose="020F0502020204030204"/>
                <a:ea typeface="+mn-ea"/>
                <a:cs typeface="+mn-cs"/>
              </a:rPr>
              <a:t> = 1…</a:t>
            </a:r>
            <a:r>
              <a:rPr kumimoji="0" lang="en-GB" sz="1700" b="0" i="1" u="none" strike="noStrike" kern="1200" cap="none" spc="0" normalizeH="0" baseline="0" noProof="0" dirty="0">
                <a:ln>
                  <a:noFill/>
                </a:ln>
                <a:solidFill>
                  <a:prstClr val="black"/>
                </a:solidFill>
                <a:effectLst/>
                <a:uLnTx/>
                <a:uFillTx/>
                <a:latin typeface="Calibri" panose="020F0502020204030204"/>
                <a:ea typeface="+mn-ea"/>
                <a:cs typeface="+mn-cs"/>
              </a:rPr>
              <a:t>K</a:t>
            </a:r>
          </a:p>
          <a:p>
            <a:pPr marL="1771650" marR="0" lvl="4" indent="-400050" algn="l" defTabSz="914400" rtl="0" eaLnBrk="1" fontAlgn="auto" latinLnBrk="0" hangingPunct="1">
              <a:lnSpc>
                <a:spcPct val="90000"/>
              </a:lnSpc>
              <a:spcBef>
                <a:spcPts val="500"/>
              </a:spcBef>
              <a:spcAft>
                <a:spcPts val="0"/>
              </a:spcAft>
              <a:buClrTx/>
              <a:buSzTx/>
              <a:buFont typeface="+mj-lt"/>
              <a:buAutoNum type="romanUcPeriod"/>
              <a:tabLst>
                <a:tab pos="3138488" algn="l"/>
              </a:tabLst>
              <a:defRPr/>
            </a:pPr>
            <a:r>
              <a:rPr kumimoji="0" lang="en-GB" sz="1500" b="0" i="0" u="none" strike="noStrike" kern="1200" cap="none" spc="0" normalizeH="0" baseline="0" noProof="0" dirty="0">
                <a:ln>
                  <a:noFill/>
                </a:ln>
                <a:solidFill>
                  <a:prstClr val="black"/>
                </a:solidFill>
                <a:effectLst/>
                <a:uLnTx/>
                <a:uFillTx/>
                <a:latin typeface="Calibri" panose="020F0502020204030204"/>
                <a:ea typeface="+mn-ea"/>
                <a:cs typeface="+mn-cs"/>
              </a:rPr>
              <a:t>Train the model, while leaving fold </a:t>
            </a:r>
            <a:r>
              <a:rPr kumimoji="0" lang="en-GB" sz="1500" b="0" i="1" u="none" strike="noStrike" kern="1200" cap="none" spc="0" normalizeH="0" baseline="0" noProof="0" dirty="0">
                <a:ln>
                  <a:noFill/>
                </a:ln>
                <a:solidFill>
                  <a:prstClr val="black"/>
                </a:solidFill>
                <a:effectLst/>
                <a:uLnTx/>
                <a:uFillTx/>
                <a:latin typeface="Calibri" panose="020F0502020204030204"/>
                <a:ea typeface="+mn-ea"/>
                <a:cs typeface="+mn-cs"/>
              </a:rPr>
              <a:t>k</a:t>
            </a:r>
            <a:r>
              <a:rPr kumimoji="0" lang="en-GB" sz="1500" b="0" i="0" u="none" strike="noStrike" kern="1200" cap="none" spc="0" normalizeH="0" baseline="0" noProof="0" dirty="0">
                <a:ln>
                  <a:noFill/>
                </a:ln>
                <a:solidFill>
                  <a:prstClr val="black"/>
                </a:solidFill>
                <a:effectLst/>
                <a:uLnTx/>
                <a:uFillTx/>
                <a:latin typeface="Calibri" panose="020F0502020204030204"/>
                <a:ea typeface="+mn-ea"/>
                <a:cs typeface="+mn-cs"/>
              </a:rPr>
              <a:t> out</a:t>
            </a:r>
          </a:p>
          <a:p>
            <a:pPr marL="1771650" marR="0" lvl="4" indent="-400050" algn="l" defTabSz="914400" rtl="0" eaLnBrk="1" fontAlgn="auto" latinLnBrk="0" hangingPunct="1">
              <a:lnSpc>
                <a:spcPct val="90000"/>
              </a:lnSpc>
              <a:spcBef>
                <a:spcPts val="500"/>
              </a:spcBef>
              <a:spcAft>
                <a:spcPts val="0"/>
              </a:spcAft>
              <a:buClrTx/>
              <a:buSzTx/>
              <a:buFont typeface="+mj-lt"/>
              <a:buAutoNum type="romanUcPeriod"/>
              <a:tabLst>
                <a:tab pos="3138488" algn="l"/>
              </a:tabLst>
              <a:defRPr/>
            </a:pPr>
            <a:r>
              <a:rPr kumimoji="0" lang="en-GB" sz="1500" b="0" i="0" u="none" strike="noStrike" kern="1200" cap="none" spc="0" normalizeH="0" baseline="0" noProof="0" dirty="0">
                <a:ln>
                  <a:noFill/>
                </a:ln>
                <a:solidFill>
                  <a:prstClr val="black"/>
                </a:solidFill>
                <a:effectLst/>
                <a:uLnTx/>
                <a:uFillTx/>
                <a:latin typeface="Calibri" panose="020F0502020204030204"/>
                <a:ea typeface="+mn-ea"/>
                <a:cs typeface="+mn-cs"/>
              </a:rPr>
              <a:t>Evaluate the model performance on fold </a:t>
            </a:r>
            <a:r>
              <a:rPr kumimoji="0" lang="en-GB" sz="1500" b="0" i="1" u="none" strike="noStrike" kern="1200" cap="none" spc="0" normalizeH="0" baseline="0" noProof="0" dirty="0">
                <a:ln>
                  <a:noFill/>
                </a:ln>
                <a:solidFill>
                  <a:prstClr val="black"/>
                </a:solidFill>
                <a:effectLst/>
                <a:uLnTx/>
                <a:uFillTx/>
                <a:latin typeface="Calibri" panose="020F0502020204030204"/>
                <a:ea typeface="+mn-ea"/>
                <a:cs typeface="+mn-cs"/>
              </a:rPr>
              <a:t>k</a:t>
            </a:r>
          </a:p>
          <a:p>
            <a:pPr marL="1257300" marR="0" lvl="3" indent="-342900" algn="l" defTabSz="914400" rtl="0" eaLnBrk="1" fontAlgn="auto" latinLnBrk="0" hangingPunct="1">
              <a:lnSpc>
                <a:spcPct val="90000"/>
              </a:lnSpc>
              <a:spcBef>
                <a:spcPts val="500"/>
              </a:spcBef>
              <a:spcAft>
                <a:spcPts val="0"/>
              </a:spcAft>
              <a:buClrTx/>
              <a:buSzTx/>
              <a:buFont typeface="+mj-lt"/>
              <a:buAutoNum type="arabicPeriod" startAt="3"/>
              <a:tabLst>
                <a:tab pos="3138488" algn="l"/>
              </a:tabLst>
              <a:defRPr/>
            </a:pPr>
            <a:r>
              <a:rPr kumimoji="0" lang="en-GB" sz="1700" b="0" i="0" u="none" strike="noStrike" kern="1200" cap="none" spc="0" normalizeH="0" baseline="0" noProof="0" dirty="0">
                <a:ln>
                  <a:noFill/>
                </a:ln>
                <a:solidFill>
                  <a:prstClr val="black"/>
                </a:solidFill>
                <a:effectLst/>
                <a:uLnTx/>
                <a:uFillTx/>
                <a:latin typeface="Calibri" panose="020F0502020204030204"/>
                <a:ea typeface="+mn-ea"/>
                <a:cs typeface="+mn-cs"/>
              </a:rPr>
              <a:t>Compute avg. performance of model </a:t>
            </a:r>
            <a:r>
              <a:rPr kumimoji="0" lang="en-GB" sz="1700" b="0" i="1" u="none" strike="noStrike" kern="1200" cap="none" spc="0" normalizeH="0" baseline="0" noProof="0" dirty="0">
                <a:ln>
                  <a:noFill/>
                </a:ln>
                <a:solidFill>
                  <a:prstClr val="black"/>
                </a:solidFill>
                <a:effectLst/>
                <a:uLnTx/>
                <a:uFillTx/>
                <a:latin typeface="Calibri" panose="020F0502020204030204"/>
                <a:ea typeface="+mn-ea"/>
                <a:cs typeface="+mn-cs"/>
              </a:rPr>
              <a:t>m</a:t>
            </a:r>
            <a:r>
              <a:rPr kumimoji="0" lang="en-GB" sz="1700" b="0" i="0" u="none" strike="noStrike" kern="1200" cap="none" spc="0" normalizeH="0" baseline="0" noProof="0" dirty="0">
                <a:ln>
                  <a:noFill/>
                </a:ln>
                <a:solidFill>
                  <a:prstClr val="black"/>
                </a:solidFill>
                <a:effectLst/>
                <a:uLnTx/>
                <a:uFillTx/>
                <a:latin typeface="Calibri" panose="020F0502020204030204"/>
                <a:ea typeface="+mn-ea"/>
                <a:cs typeface="+mn-cs"/>
              </a:rPr>
              <a:t> across all </a:t>
            </a:r>
            <a:r>
              <a:rPr kumimoji="0" lang="en-GB" sz="1700" b="0" i="1" u="none" strike="noStrike" kern="1200" cap="none" spc="0" normalizeH="0" baseline="0" noProof="0" dirty="0">
                <a:ln>
                  <a:noFill/>
                </a:ln>
                <a:solidFill>
                  <a:prstClr val="black"/>
                </a:solidFill>
                <a:effectLst/>
                <a:uLnTx/>
                <a:uFillTx/>
                <a:latin typeface="Calibri" panose="020F0502020204030204"/>
                <a:ea typeface="+mn-ea"/>
                <a:cs typeface="+mn-cs"/>
              </a:rPr>
              <a:t>K</a:t>
            </a:r>
            <a:r>
              <a:rPr kumimoji="0" lang="en-GB" sz="1700" b="0" i="0" u="none" strike="noStrike" kern="1200" cap="none" spc="0" normalizeH="0" baseline="0" noProof="0" dirty="0">
                <a:ln>
                  <a:noFill/>
                </a:ln>
                <a:solidFill>
                  <a:prstClr val="black"/>
                </a:solidFill>
                <a:effectLst/>
                <a:uLnTx/>
                <a:uFillTx/>
                <a:latin typeface="Calibri" panose="020F0502020204030204"/>
                <a:ea typeface="+mn-ea"/>
                <a:cs typeface="+mn-cs"/>
              </a:rPr>
              <a:t> folds</a:t>
            </a:r>
          </a:p>
          <a:p>
            <a:pPr marL="800100" marR="0" lvl="2" indent="-342900" algn="l" defTabSz="914400" rtl="0" eaLnBrk="1" fontAlgn="auto" latinLnBrk="0" hangingPunct="1">
              <a:lnSpc>
                <a:spcPct val="90000"/>
              </a:lnSpc>
              <a:spcBef>
                <a:spcPts val="500"/>
              </a:spcBef>
              <a:spcAft>
                <a:spcPts val="0"/>
              </a:spcAft>
              <a:buClrTx/>
              <a:buSzTx/>
              <a:buFont typeface="+mj-lt"/>
              <a:buAutoNum type="arabicPeriod" startAt="5"/>
              <a:tabLst>
                <a:tab pos="3138488" algn="l"/>
              </a:tabLst>
              <a:defRPr/>
            </a:pPr>
            <a:r>
              <a:rPr kumimoji="0" lang="en-GB" sz="1700" b="0" i="0" u="none" strike="noStrike" kern="1200" cap="none" spc="0" normalizeH="0" baseline="0" noProof="0" dirty="0">
                <a:ln>
                  <a:noFill/>
                </a:ln>
                <a:solidFill>
                  <a:prstClr val="black"/>
                </a:solidFill>
                <a:effectLst/>
                <a:uLnTx/>
                <a:uFillTx/>
                <a:latin typeface="Calibri" panose="020F0502020204030204"/>
                <a:ea typeface="+mn-ea"/>
                <a:cs typeface="+mn-cs"/>
              </a:rPr>
              <a:t>Identify hyperparameters based on the best avg. performance across folds</a:t>
            </a:r>
          </a:p>
          <a:p>
            <a:pPr marL="800100" marR="0" lvl="2" indent="-342900" algn="l" defTabSz="914400" rtl="0" eaLnBrk="1" fontAlgn="auto" latinLnBrk="0" hangingPunct="1">
              <a:lnSpc>
                <a:spcPct val="90000"/>
              </a:lnSpc>
              <a:spcBef>
                <a:spcPts val="500"/>
              </a:spcBef>
              <a:spcAft>
                <a:spcPts val="0"/>
              </a:spcAft>
              <a:buClrTx/>
              <a:buSzTx/>
              <a:buFont typeface="+mj-lt"/>
              <a:buAutoNum type="arabicPeriod" startAt="5"/>
              <a:tabLst>
                <a:tab pos="3138488" algn="l"/>
              </a:tabLst>
              <a:defRPr/>
            </a:pPr>
            <a:r>
              <a:rPr kumimoji="0" lang="en-GB" sz="1700" b="0" i="0" u="none" strike="noStrike" kern="1200" cap="none" spc="0" normalizeH="0" baseline="0" noProof="0" dirty="0">
                <a:ln>
                  <a:noFill/>
                </a:ln>
                <a:solidFill>
                  <a:prstClr val="black"/>
                </a:solidFill>
                <a:effectLst/>
                <a:uLnTx/>
                <a:uFillTx/>
                <a:latin typeface="Calibri" panose="020F0502020204030204"/>
                <a:ea typeface="+mn-ea"/>
                <a:cs typeface="+mn-cs"/>
              </a:rPr>
              <a:t>For deployment: train model with optimised hyperparameters on </a:t>
            </a:r>
            <a:r>
              <a:rPr kumimoji="0" lang="en-GB" sz="1700" b="0" i="0" u="sng" strike="noStrike" kern="1200" cap="none" spc="0" normalizeH="0" baseline="0" noProof="0" dirty="0">
                <a:ln>
                  <a:noFill/>
                </a:ln>
                <a:solidFill>
                  <a:prstClr val="black"/>
                </a:solidFill>
                <a:effectLst/>
                <a:uLnTx/>
                <a:uFillTx/>
                <a:latin typeface="Calibri" panose="020F0502020204030204"/>
                <a:ea typeface="+mn-ea"/>
                <a:cs typeface="+mn-cs"/>
              </a:rPr>
              <a:t>all</a:t>
            </a:r>
            <a:r>
              <a:rPr kumimoji="0" lang="en-GB" sz="1700" b="0" i="0" u="none" strike="noStrike" kern="1200" cap="none" spc="0" normalizeH="0" baseline="0" noProof="0" dirty="0">
                <a:ln>
                  <a:noFill/>
                </a:ln>
                <a:solidFill>
                  <a:prstClr val="black"/>
                </a:solidFill>
                <a:effectLst/>
                <a:uLnTx/>
                <a:uFillTx/>
                <a:latin typeface="Calibri" panose="020F0502020204030204"/>
                <a:ea typeface="+mn-ea"/>
                <a:cs typeface="+mn-cs"/>
              </a:rPr>
              <a:t> data</a:t>
            </a:r>
          </a:p>
          <a:p>
            <a:pPr marL="28575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tab pos="3138488" algn="l"/>
              </a:tabLst>
              <a:defRPr/>
            </a:pPr>
            <a:endParaRPr kumimoji="0" lang="en-GB" sz="1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algn="l" defTabSz="904875">
              <a:tabLst>
                <a:tab pos="715963" algn="l"/>
                <a:tab pos="3228975" algn="l"/>
              </a:tabLst>
            </a:pPr>
            <a:endParaRPr lang="en-GB" dirty="0">
              <a:cs typeface="Calibri" panose="020F0502020204030204" pitchFamily="34" charset="0"/>
              <a:sym typeface="Wingdings" panose="05000000000000000000" pitchFamily="2" charset="2"/>
            </a:endParaRPr>
          </a:p>
        </p:txBody>
      </p:sp>
      <p:sp>
        <p:nvSpPr>
          <p:cNvPr id="9" name="Line 2">
            <a:extLst>
              <a:ext uri="{FF2B5EF4-FFF2-40B4-BE49-F238E27FC236}">
                <a16:creationId xmlns:a16="http://schemas.microsoft.com/office/drawing/2014/main" id="{7AB2EDE4-1CDF-3BDC-D679-1EBF27040509}"/>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0" name="Line 2">
            <a:extLst>
              <a:ext uri="{FF2B5EF4-FFF2-40B4-BE49-F238E27FC236}">
                <a16:creationId xmlns:a16="http://schemas.microsoft.com/office/drawing/2014/main" id="{38257F78-8124-C71F-4B23-0E158B94746B}"/>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2600100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981200" y="0"/>
            <a:ext cx="8229600" cy="6858000"/>
          </a:xfrm>
        </p:spPr>
        <p:txBody>
          <a:bodyPr/>
          <a:lstStyle/>
          <a:p>
            <a:r>
              <a:rPr lang="en-GB" dirty="0"/>
              <a:t>Model performance metrics</a:t>
            </a:r>
            <a:endParaRPr lang="en-GB" sz="1800" dirty="0"/>
          </a:p>
        </p:txBody>
      </p:sp>
      <p:sp>
        <p:nvSpPr>
          <p:cNvPr id="5" name="Content Placeholder 2"/>
          <p:cNvSpPr>
            <a:spLocks noGrp="1"/>
          </p:cNvSpPr>
          <p:nvPr>
            <p:ph idx="1"/>
          </p:nvPr>
        </p:nvSpPr>
        <p:spPr>
          <a:xfrm>
            <a:off x="1981200" y="1268760"/>
            <a:ext cx="8507288" cy="5400600"/>
          </a:xfrm>
        </p:spPr>
        <p:txBody>
          <a:bodyPr>
            <a:normAutofit/>
          </a:bodyPr>
          <a:lstStyle/>
          <a:p>
            <a:pPr marL="0" lvl="1" indent="0">
              <a:buNone/>
              <a:tabLst>
                <a:tab pos="3138488" algn="l"/>
              </a:tabLst>
            </a:pPr>
            <a:endParaRPr lang="en-GB" sz="1800" b="1" dirty="0"/>
          </a:p>
          <a:p>
            <a:pPr marL="0" lvl="1" indent="0">
              <a:buNone/>
              <a:tabLst>
                <a:tab pos="3138488" algn="l"/>
              </a:tabLst>
            </a:pPr>
            <a:endParaRPr lang="en-GB" sz="1800" b="1" dirty="0"/>
          </a:p>
          <a:p>
            <a:pPr marL="360363" lvl="1" indent="-360363">
              <a:buFont typeface="Arial" panose="020B0604020202020204" pitchFamily="34" charset="0"/>
              <a:buChar char="•"/>
              <a:tabLst>
                <a:tab pos="3138488" algn="l"/>
              </a:tabLst>
            </a:pPr>
            <a:endParaRPr lang="en-US" sz="1800" dirty="0"/>
          </a:p>
          <a:p>
            <a:pPr marL="360363" lvl="1" indent="-360363">
              <a:buFont typeface="Arial" panose="020B0604020202020204" pitchFamily="34" charset="0"/>
              <a:buChar char="•"/>
              <a:tabLst>
                <a:tab pos="3138488" algn="l"/>
              </a:tabLst>
            </a:pPr>
            <a:endParaRPr lang="en-US" sz="1800" dirty="0"/>
          </a:p>
          <a:p>
            <a:pPr marL="360363" lvl="1" indent="-360363">
              <a:buFont typeface="Arial" panose="020B0604020202020204" pitchFamily="34" charset="0"/>
              <a:buChar char="•"/>
              <a:tabLst>
                <a:tab pos="3138488" algn="l"/>
              </a:tabLst>
            </a:pPr>
            <a:endParaRPr lang="en-US" sz="1800" dirty="0"/>
          </a:p>
          <a:p>
            <a:pPr marL="360363" lvl="1" indent="-360363">
              <a:buFont typeface="Arial" panose="020B0604020202020204" pitchFamily="34" charset="0"/>
              <a:buChar char="•"/>
              <a:tabLst>
                <a:tab pos="3138488" algn="l"/>
              </a:tabLst>
            </a:pPr>
            <a:endParaRPr lang="en-US" sz="1800" dirty="0"/>
          </a:p>
          <a:p>
            <a:pPr marL="360363" lvl="1" indent="-360363">
              <a:buFont typeface="Arial" panose="020B0604020202020204" pitchFamily="34" charset="0"/>
              <a:buChar char="•"/>
              <a:tabLst>
                <a:tab pos="3138488" algn="l"/>
              </a:tabLst>
            </a:pPr>
            <a:endParaRPr lang="en-US" sz="1800" dirty="0"/>
          </a:p>
          <a:p>
            <a:pPr marL="360363" lvl="1" indent="-360363">
              <a:buFont typeface="Arial" panose="020B0604020202020204" pitchFamily="34" charset="0"/>
              <a:buChar char="•"/>
              <a:tabLst>
                <a:tab pos="3138488" algn="l"/>
              </a:tabLst>
            </a:pPr>
            <a:endParaRPr lang="en-US" sz="1800" dirty="0"/>
          </a:p>
          <a:p>
            <a:pPr marL="360363" lvl="1" indent="-360363">
              <a:buFont typeface="Arial" panose="020B0604020202020204" pitchFamily="34" charset="0"/>
              <a:buChar char="•"/>
              <a:tabLst>
                <a:tab pos="3138488" algn="l"/>
              </a:tabLst>
            </a:pPr>
            <a:endParaRPr lang="en-US" sz="1800" dirty="0"/>
          </a:p>
          <a:p>
            <a:pPr marL="360363" lvl="1" indent="-360363">
              <a:buFont typeface="Arial" panose="020B0604020202020204" pitchFamily="34" charset="0"/>
              <a:buChar char="•"/>
              <a:tabLst>
                <a:tab pos="3138488" algn="l"/>
              </a:tabLst>
            </a:pPr>
            <a:endParaRPr lang="en-US" sz="1800" dirty="0"/>
          </a:p>
          <a:p>
            <a:pPr marL="360363" lvl="1" indent="-360363">
              <a:buFont typeface="Arial" panose="020B0604020202020204" pitchFamily="34" charset="0"/>
              <a:buChar char="•"/>
              <a:tabLst>
                <a:tab pos="3138488" algn="l"/>
              </a:tabLst>
            </a:pPr>
            <a:endParaRPr lang="en-GB" sz="1800" dirty="0"/>
          </a:p>
          <a:p>
            <a:endParaRPr lang="en-GB" sz="1800" dirty="0"/>
          </a:p>
          <a:p>
            <a:pPr marL="0" indent="0">
              <a:buNone/>
              <a:tabLst>
                <a:tab pos="361950" algn="l"/>
              </a:tabLst>
            </a:pPr>
            <a:r>
              <a:rPr lang="en-GB" sz="1800" dirty="0"/>
              <a:t>	</a:t>
            </a:r>
          </a:p>
          <a:p>
            <a:pPr marL="0" indent="0">
              <a:buNone/>
              <a:tabLst>
                <a:tab pos="361950" algn="l"/>
              </a:tabLst>
            </a:pPr>
            <a:endParaRPr lang="en-GB" sz="1800" dirty="0"/>
          </a:p>
          <a:p>
            <a:pPr marL="358775" indent="-358775">
              <a:tabLst>
                <a:tab pos="3314700" algn="l"/>
              </a:tabLst>
            </a:pPr>
            <a:endParaRPr lang="en-GB" sz="1800" dirty="0"/>
          </a:p>
          <a:p>
            <a:endParaRPr lang="en-GB" sz="18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5705360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032000" y="-79300"/>
            <a:ext cx="8229600" cy="1143000"/>
          </a:xfrm>
        </p:spPr>
        <p:txBody>
          <a:bodyPr/>
          <a:lstStyle/>
          <a:p>
            <a:r>
              <a:rPr lang="en-GB" dirty="0"/>
              <a:t>Model performance metrics</a:t>
            </a:r>
            <a:endParaRPr lang="en-GB" sz="18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5" name="Content Placeholder 2"/>
          <p:cNvSpPr txBox="1">
            <a:spLocks/>
          </p:cNvSpPr>
          <p:nvPr/>
        </p:nvSpPr>
        <p:spPr>
          <a:xfrm>
            <a:off x="1981200" y="1239505"/>
            <a:ext cx="8507288" cy="5400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a:ln>
                <a:noFill/>
              </a:ln>
              <a:solidFill>
                <a:prstClr val="black"/>
              </a:solidFill>
              <a:effectLst/>
              <a:uLnTx/>
              <a:uFillTx/>
              <a:latin typeface="Calibri"/>
              <a:ea typeface="+mn-ea"/>
              <a:cs typeface="+mn-cs"/>
            </a:endParaRPr>
          </a:p>
          <a:p>
            <a:pPr marL="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61950" algn="l"/>
              </a:tabLst>
              <a:defRPr/>
            </a:pPr>
            <a:r>
              <a:rPr kumimoji="0" lang="en-GB" sz="1800" b="0" i="0" u="none" strike="noStrike" kern="1200" cap="none" spc="0" normalizeH="0" baseline="0" noProof="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61950"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58775" marR="0" lvl="0" indent="-358775" algn="l" defTabSz="914400" rtl="0" eaLnBrk="1" fontAlgn="auto" latinLnBrk="0" hangingPunct="1">
              <a:lnSpc>
                <a:spcPct val="100000"/>
              </a:lnSpc>
              <a:spcBef>
                <a:spcPct val="20000"/>
              </a:spcBef>
              <a:spcAft>
                <a:spcPts val="0"/>
              </a:spcAft>
              <a:buClrTx/>
              <a:buSzTx/>
              <a:buFont typeface="Arial" pitchFamily="34" charset="0"/>
              <a:buChar char="•"/>
              <a:tabLst>
                <a:tab pos="3314700"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 name="Content Placeholder 2"/>
          <p:cNvSpPr txBox="1">
            <a:spLocks/>
          </p:cNvSpPr>
          <p:nvPr/>
        </p:nvSpPr>
        <p:spPr>
          <a:xfrm>
            <a:off x="1043999" y="1389921"/>
            <a:ext cx="10439163" cy="4502879"/>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60363" lvl="1" indent="-360363">
              <a:buFont typeface="Arial" panose="020B0604020202020204" pitchFamily="34" charset="0"/>
              <a:buChar char="•"/>
              <a:tabLst>
                <a:tab pos="3138488" algn="l"/>
              </a:tabLst>
            </a:pPr>
            <a:r>
              <a:rPr kumimoji="0" lang="en-GB" sz="1800" b="0" i="0" u="none" strike="noStrike" kern="1200" cap="none" spc="0" normalizeH="0" baseline="0" noProof="0" dirty="0">
                <a:ln>
                  <a:noFill/>
                </a:ln>
                <a:solidFill>
                  <a:prstClr val="black"/>
                </a:solidFill>
                <a:effectLst/>
                <a:uLnTx/>
                <a:uFillTx/>
                <a:latin typeface="Calibri"/>
                <a:ea typeface="+mn-ea"/>
                <a:cs typeface="+mn-cs"/>
              </a:rPr>
              <a:t>While in choice modelling </a:t>
            </a:r>
            <a:r>
              <a:rPr lang="en-GB" sz="1800" dirty="0">
                <a:solidFill>
                  <a:prstClr val="black"/>
                </a:solidFill>
              </a:rPr>
              <a:t>almost exclusively, </a:t>
            </a:r>
            <a:r>
              <a:rPr kumimoji="0" lang="en-GB" sz="1800" b="0" i="0" u="none" strike="noStrike" kern="1200" cap="none" spc="0" normalizeH="0" baseline="0" noProof="0" dirty="0">
                <a:ln>
                  <a:noFill/>
                </a:ln>
                <a:solidFill>
                  <a:prstClr val="black"/>
                </a:solidFill>
                <a:effectLst/>
                <a:uLnTx/>
                <a:uFillTx/>
                <a:latin typeface="Calibri"/>
                <a:ea typeface="+mn-ea"/>
                <a:cs typeface="+mn-cs"/>
              </a:rPr>
              <a:t>the </a:t>
            </a:r>
            <a:r>
              <a:rPr kumimoji="0" lang="en-GB" sz="1800" b="1" i="0" u="none" strike="noStrike" kern="1200" cap="none" spc="0" normalizeH="0" baseline="0" noProof="0" dirty="0">
                <a:ln>
                  <a:noFill/>
                </a:ln>
                <a:solidFill>
                  <a:prstClr val="black"/>
                </a:solidFill>
                <a:effectLst/>
                <a:uLnTx/>
                <a:uFillTx/>
                <a:latin typeface="Calibri"/>
                <a:ea typeface="+mn-ea"/>
                <a:cs typeface="+mn-cs"/>
              </a:rPr>
              <a:t>LL</a:t>
            </a:r>
            <a:r>
              <a:rPr kumimoji="0" lang="en-GB" sz="1800" b="0" i="0" u="none" strike="noStrike" kern="1200" cap="none" spc="0" normalizeH="0" baseline="0" noProof="0" dirty="0">
                <a:ln>
                  <a:noFill/>
                </a:ln>
                <a:solidFill>
                  <a:prstClr val="black"/>
                </a:solidFill>
                <a:effectLst/>
                <a:uLnTx/>
                <a:uFillTx/>
                <a:latin typeface="Calibri"/>
                <a:ea typeface="+mn-ea"/>
                <a:cs typeface="+mn-cs"/>
              </a:rPr>
              <a:t> is used as </a:t>
            </a:r>
            <a:r>
              <a:rPr kumimoji="0" lang="en-GB" sz="1800" b="1" i="1" u="none" strike="noStrike" kern="1200" cap="none" spc="0" normalizeH="0" baseline="0" noProof="0" dirty="0">
                <a:ln>
                  <a:noFill/>
                </a:ln>
                <a:solidFill>
                  <a:prstClr val="black"/>
                </a:solidFill>
                <a:effectLst/>
                <a:uLnTx/>
                <a:uFillTx/>
                <a:latin typeface="Calibri"/>
                <a:ea typeface="+mn-ea"/>
                <a:cs typeface="+mn-cs"/>
              </a:rPr>
              <a:t>the</a:t>
            </a:r>
            <a:r>
              <a:rPr kumimoji="0" lang="en-GB" sz="1800" b="0" i="0" u="none" strike="noStrike" kern="1200" cap="none" spc="0" normalizeH="0" baseline="0" noProof="0" dirty="0">
                <a:ln>
                  <a:noFill/>
                </a:ln>
                <a:solidFill>
                  <a:prstClr val="black"/>
                </a:solidFill>
                <a:effectLst/>
                <a:uLnTx/>
                <a:uFillTx/>
                <a:latin typeface="Calibri"/>
                <a:ea typeface="+mn-ea"/>
                <a:cs typeface="+mn-cs"/>
              </a:rPr>
              <a:t> </a:t>
            </a:r>
            <a:r>
              <a:rPr kumimoji="0" lang="en-GB" sz="1800" b="1" i="0" u="none" strike="noStrike" kern="1200" cap="none" spc="0" normalizeH="0" baseline="0" noProof="0" dirty="0">
                <a:ln>
                  <a:noFill/>
                </a:ln>
                <a:solidFill>
                  <a:prstClr val="black"/>
                </a:solidFill>
                <a:effectLst/>
                <a:uLnTx/>
                <a:uFillTx/>
                <a:latin typeface="Calibri"/>
                <a:ea typeface="+mn-ea"/>
                <a:cs typeface="+mn-cs"/>
              </a:rPr>
              <a:t>yardstick</a:t>
            </a:r>
            <a:r>
              <a:rPr kumimoji="0" lang="en-GB" sz="1800" b="0" i="0" u="none" strike="noStrike" kern="1200" cap="none" spc="0" normalizeH="0" baseline="0" noProof="0" dirty="0">
                <a:ln>
                  <a:noFill/>
                </a:ln>
                <a:solidFill>
                  <a:prstClr val="black"/>
                </a:solidFill>
                <a:effectLst/>
                <a:uLnTx/>
                <a:uFillTx/>
                <a:latin typeface="Calibri"/>
                <a:ea typeface="+mn-ea"/>
                <a:cs typeface="+mn-cs"/>
              </a:rPr>
              <a:t> for model performance, in machine </a:t>
            </a:r>
            <a:r>
              <a:rPr lang="en-GB" sz="1800" dirty="0">
                <a:solidFill>
                  <a:prstClr val="black"/>
                </a:solidFill>
              </a:rPr>
              <a:t>learning, </a:t>
            </a:r>
            <a:r>
              <a:rPr kumimoji="0" lang="en-GB" sz="1800" b="0" i="0" u="none" strike="noStrike" kern="1200" cap="none" spc="0" normalizeH="0" baseline="0" noProof="0" dirty="0">
                <a:ln>
                  <a:noFill/>
                </a:ln>
                <a:solidFill>
                  <a:prstClr val="black"/>
                </a:solidFill>
                <a:effectLst/>
                <a:uLnTx/>
                <a:uFillTx/>
                <a:latin typeface="Calibri"/>
                <a:ea typeface="+mn-ea"/>
                <a:cs typeface="+mn-cs"/>
              </a:rPr>
              <a:t>various other </a:t>
            </a:r>
            <a:r>
              <a:rPr kumimoji="0" lang="en-GB" sz="1800" b="1" i="0" u="none" strike="noStrike" kern="1200" cap="none" spc="0" normalizeH="0" baseline="0" noProof="0" dirty="0">
                <a:ln>
                  <a:noFill/>
                </a:ln>
                <a:solidFill>
                  <a:prstClr val="black"/>
                </a:solidFill>
                <a:effectLst/>
                <a:uLnTx/>
                <a:uFillTx/>
                <a:latin typeface="Calibri"/>
                <a:ea typeface="+mn-ea"/>
                <a:cs typeface="+mn-cs"/>
              </a:rPr>
              <a:t>metrics </a:t>
            </a:r>
            <a:r>
              <a:rPr kumimoji="0" lang="en-GB" sz="1800" i="0" u="none" strike="noStrike" kern="1200" cap="none" spc="0" normalizeH="0" baseline="0" noProof="0" dirty="0">
                <a:ln>
                  <a:noFill/>
                </a:ln>
                <a:solidFill>
                  <a:prstClr val="black"/>
                </a:solidFill>
                <a:effectLst/>
                <a:uLnTx/>
                <a:uFillTx/>
                <a:latin typeface="Calibri"/>
                <a:ea typeface="+mn-ea"/>
                <a:cs typeface="+mn-cs"/>
              </a:rPr>
              <a:t>are used</a:t>
            </a:r>
          </a:p>
          <a:p>
            <a:pPr marL="360363" lvl="1" indent="-360363">
              <a:buFont typeface="Arial" panose="020B0604020202020204" pitchFamily="34" charset="0"/>
              <a:buChar char="•"/>
              <a:tabLst>
                <a:tab pos="3138488" algn="l"/>
              </a:tabLst>
            </a:pPr>
            <a:endParaRPr kumimoji="0" lang="en-GB" sz="1800" i="0" u="none" strike="noStrike" kern="1200" cap="none" spc="0" normalizeH="0" baseline="0" noProof="0" dirty="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tab pos="3138488" algn="l"/>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The following metrics are commonly used in ML in </a:t>
            </a:r>
            <a:r>
              <a:rPr kumimoji="0" lang="en-GB" sz="1800" b="1" i="0" u="none" strike="noStrike" kern="1200" cap="none" spc="0" normalizeH="0" baseline="0" noProof="0" dirty="0">
                <a:ln>
                  <a:noFill/>
                </a:ln>
                <a:solidFill>
                  <a:prstClr val="black"/>
                </a:solidFill>
                <a:effectLst/>
                <a:uLnTx/>
                <a:uFillTx/>
                <a:latin typeface="Calibri"/>
                <a:ea typeface="+mn-ea"/>
                <a:cs typeface="+mn-cs"/>
              </a:rPr>
              <a:t>classification tasks</a:t>
            </a:r>
            <a:r>
              <a:rPr kumimoji="0" lang="en-GB" sz="1800" b="0" i="0" u="none" strike="noStrike" kern="1200" cap="none" spc="0" normalizeH="0" baseline="0" noProof="0" dirty="0">
                <a:ln>
                  <a:noFill/>
                </a:ln>
                <a:solidFill>
                  <a:prstClr val="black"/>
                </a:solidFill>
                <a:effectLst/>
                <a:uLnTx/>
                <a:uFillTx/>
                <a:latin typeface="Calibri"/>
                <a:ea typeface="+mn-ea"/>
                <a:cs typeface="+mn-cs"/>
              </a:rPr>
              <a:t>:</a:t>
            </a:r>
          </a:p>
          <a:p>
            <a:pPr marL="800100" marR="0" lvl="2" indent="-342900" algn="l" defTabSz="914400" rtl="0" eaLnBrk="1" fontAlgn="auto" latinLnBrk="0" hangingPunct="1">
              <a:lnSpc>
                <a:spcPct val="100000"/>
              </a:lnSpc>
              <a:spcBef>
                <a:spcPct val="20000"/>
              </a:spcBef>
              <a:spcAft>
                <a:spcPts val="0"/>
              </a:spcAft>
              <a:buClrTx/>
              <a:buSzTx/>
              <a:buFont typeface="Symbol" panose="05050102010706020507" pitchFamily="18" charset="2"/>
              <a:buChar char="-"/>
              <a:tabLst>
                <a:tab pos="3138488" algn="l"/>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Accuracy</a:t>
            </a:r>
          </a:p>
          <a:p>
            <a:pPr marL="800100" marR="0" lvl="2" indent="-342900" algn="l" defTabSz="914400" rtl="0" eaLnBrk="1" fontAlgn="auto" latinLnBrk="0" hangingPunct="1">
              <a:lnSpc>
                <a:spcPct val="100000"/>
              </a:lnSpc>
              <a:spcBef>
                <a:spcPct val="20000"/>
              </a:spcBef>
              <a:spcAft>
                <a:spcPts val="0"/>
              </a:spcAft>
              <a:buClrTx/>
              <a:buSzTx/>
              <a:buFont typeface="Symbol" panose="05050102010706020507" pitchFamily="18" charset="2"/>
              <a:buChar char="-"/>
              <a:tabLst>
                <a:tab pos="3138488" algn="l"/>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Precision</a:t>
            </a:r>
          </a:p>
          <a:p>
            <a:pPr marL="800100" marR="0" lvl="2" indent="-342900" algn="l" defTabSz="914400" rtl="0" eaLnBrk="1" fontAlgn="auto" latinLnBrk="0" hangingPunct="1">
              <a:lnSpc>
                <a:spcPct val="100000"/>
              </a:lnSpc>
              <a:spcBef>
                <a:spcPct val="20000"/>
              </a:spcBef>
              <a:spcAft>
                <a:spcPts val="0"/>
              </a:spcAft>
              <a:buClrTx/>
              <a:buSzTx/>
              <a:buFont typeface="Symbol" panose="05050102010706020507" pitchFamily="18" charset="2"/>
              <a:buChar char="-"/>
              <a:tabLst>
                <a:tab pos="3138488" algn="l"/>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Recall</a:t>
            </a:r>
          </a:p>
          <a:p>
            <a:pPr marL="800100" marR="0" lvl="2" indent="-342900" algn="l" defTabSz="914400" rtl="0" eaLnBrk="1" fontAlgn="auto" latinLnBrk="0" hangingPunct="1">
              <a:lnSpc>
                <a:spcPct val="100000"/>
              </a:lnSpc>
              <a:spcBef>
                <a:spcPct val="20000"/>
              </a:spcBef>
              <a:spcAft>
                <a:spcPts val="0"/>
              </a:spcAft>
              <a:buClrTx/>
              <a:buSzTx/>
              <a:buFont typeface="Symbol" panose="05050102010706020507" pitchFamily="18" charset="2"/>
              <a:buChar char="-"/>
              <a:tabLst>
                <a:tab pos="3138488" algn="l"/>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Matthew’s coefficient</a:t>
            </a:r>
          </a:p>
          <a:p>
            <a:pPr marL="457200" marR="0" lvl="2"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400050" marR="0" lvl="1"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tab pos="3138488" algn="l"/>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These metrics are computed based on the </a:t>
            </a:r>
            <a:r>
              <a:rPr kumimoji="0" lang="en-GB" sz="1800" b="1"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confusion matrix</a:t>
            </a:r>
          </a:p>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1" indent="-285750"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GB" sz="17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285750" marR="0" lvl="1"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à"/>
              <a:tabLst>
                <a:tab pos="3138488" algn="l"/>
              </a:tabLst>
              <a:defRPr/>
            </a:pPr>
            <a:endParaRPr kumimoji="0" lang="en-GB" sz="1700" b="0" i="0" u="none" strike="noStrike" kern="1200" cap="none" spc="0" normalizeH="0" baseline="0" noProof="0" dirty="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tab pos="3138488" algn="l"/>
              </a:tabLst>
              <a:defRPr/>
            </a:pPr>
            <a:endParaRPr kumimoji="0" lang="en-GB" sz="1700" b="0" i="0" u="none" strike="noStrike" kern="1200" cap="none" spc="0" normalizeH="0" baseline="0" noProof="0" dirty="0">
              <a:ln>
                <a:noFill/>
              </a:ln>
              <a:solidFill>
                <a:prstClr val="black"/>
              </a:solidFill>
              <a:effectLst/>
              <a:uLnTx/>
              <a:uFillTx/>
              <a:latin typeface="Calibri"/>
              <a:ea typeface="+mn-ea"/>
              <a:cs typeface="+mn-cs"/>
            </a:endParaRPr>
          </a:p>
          <a:p>
            <a:pPr marL="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700" b="0" i="0" u="none" strike="noStrike" kern="1200" cap="none" spc="0" normalizeH="0" baseline="0" noProof="0" dirty="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tab pos="3138488" algn="l"/>
              </a:tabLst>
              <a:defRPr/>
            </a:pPr>
            <a:endParaRPr kumimoji="0" lang="en-US" sz="1700" b="0" i="0" u="none" strike="noStrike" kern="1200" cap="none" spc="0" normalizeH="0" baseline="0" noProof="0" dirty="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tab pos="3138488" algn="l"/>
              </a:tabLst>
              <a:defRPr/>
            </a:pPr>
            <a:endParaRPr kumimoji="0" lang="en-US" sz="1700" b="0" i="0" u="none" strike="noStrike" kern="1200" cap="none" spc="0" normalizeH="0" baseline="0" noProof="0" dirty="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tab pos="3138488" algn="l"/>
              </a:tabLst>
              <a:defRPr/>
            </a:pPr>
            <a:endParaRPr kumimoji="0" lang="en-US" sz="1700" b="0" i="0" u="none" strike="noStrike" kern="1200" cap="none" spc="0" normalizeH="0" baseline="0" noProof="0" dirty="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tab pos="3138488" algn="l"/>
              </a:tabLst>
              <a:defRPr/>
            </a:pPr>
            <a:endParaRPr kumimoji="0" lang="en-US" sz="1700" b="0" i="0" u="none" strike="noStrike" kern="1200" cap="none" spc="0" normalizeH="0" baseline="0" noProof="0" dirty="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tab pos="3138488" algn="l"/>
              </a:tabLst>
              <a:defRPr/>
            </a:pPr>
            <a:endParaRPr kumimoji="0" lang="en-US" sz="1700" b="0" i="0" u="none" strike="noStrike" kern="1200" cap="none" spc="0" normalizeH="0" baseline="0" noProof="0" dirty="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tab pos="3138488" algn="l"/>
              </a:tabLst>
              <a:defRPr/>
            </a:pPr>
            <a:endParaRPr kumimoji="0" lang="en-US" sz="1700" b="0" i="0" u="none" strike="noStrike" kern="1200" cap="none" spc="0" normalizeH="0" baseline="0" noProof="0" dirty="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tab pos="3138488" algn="l"/>
              </a:tabLst>
              <a:defRPr/>
            </a:pPr>
            <a:endParaRPr kumimoji="0" lang="en-US" sz="1700" b="0" i="0" u="none" strike="noStrike" kern="1200" cap="none" spc="0" normalizeH="0" baseline="0" noProof="0" dirty="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tab pos="3138488" algn="l"/>
              </a:tabLst>
              <a:defRPr/>
            </a:pPr>
            <a:endParaRPr kumimoji="0" lang="en-US" sz="1700" b="0" i="0" u="none" strike="noStrike" kern="1200" cap="none" spc="0" normalizeH="0" baseline="0" noProof="0" dirty="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tab pos="3138488" algn="l"/>
              </a:tabLst>
              <a:defRPr/>
            </a:pPr>
            <a:endParaRPr kumimoji="0" lang="en-GB" sz="17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7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61950" algn="l"/>
              </a:tabLst>
              <a:defRPr/>
            </a:pPr>
            <a:r>
              <a:rPr kumimoji="0" lang="en-GB" sz="17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61950" algn="l"/>
              </a:tabLst>
              <a:defRPr/>
            </a:pPr>
            <a:endParaRPr kumimoji="0" lang="en-GB" sz="1700" b="0" i="0" u="none" strike="noStrike" kern="1200" cap="none" spc="0" normalizeH="0" baseline="0" noProof="0" dirty="0">
              <a:ln>
                <a:noFill/>
              </a:ln>
              <a:solidFill>
                <a:prstClr val="black"/>
              </a:solidFill>
              <a:effectLst/>
              <a:uLnTx/>
              <a:uFillTx/>
              <a:latin typeface="Calibri"/>
              <a:ea typeface="+mn-ea"/>
              <a:cs typeface="+mn-cs"/>
            </a:endParaRPr>
          </a:p>
          <a:p>
            <a:pPr marL="358775" marR="0" lvl="0" indent="-358775" algn="l" defTabSz="914400" rtl="0" eaLnBrk="1" fontAlgn="auto" latinLnBrk="0" hangingPunct="1">
              <a:lnSpc>
                <a:spcPct val="100000"/>
              </a:lnSpc>
              <a:spcBef>
                <a:spcPct val="20000"/>
              </a:spcBef>
              <a:spcAft>
                <a:spcPts val="0"/>
              </a:spcAft>
              <a:buClrTx/>
              <a:buSzTx/>
              <a:buFont typeface="Arial" pitchFamily="34" charset="0"/>
              <a:buChar char="•"/>
              <a:tabLst>
                <a:tab pos="3314700" algn="l"/>
              </a:tabLst>
              <a:defRPr/>
            </a:pPr>
            <a:endParaRPr kumimoji="0" lang="en-GB" sz="17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700" b="0" i="0" u="none" strike="noStrike" kern="1200" cap="none" spc="0" normalizeH="0" baseline="0" noProof="0" dirty="0" err="1">
                <a:ln>
                  <a:noFill/>
                </a:ln>
                <a:solidFill>
                  <a:prstClr val="black"/>
                </a:solidFill>
                <a:effectLst/>
                <a:uLnTx/>
                <a:uFillTx/>
                <a:latin typeface="Calibri"/>
                <a:ea typeface="+mn-ea"/>
                <a:cs typeface="+mn-cs"/>
              </a:rPr>
              <a:t>vc</a:t>
            </a:r>
            <a:endParaRPr kumimoji="0" lang="en-GB" sz="17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Line 2">
            <a:extLst>
              <a:ext uri="{FF2B5EF4-FFF2-40B4-BE49-F238E27FC236}">
                <a16:creationId xmlns:a16="http://schemas.microsoft.com/office/drawing/2014/main" id="{8F3015AF-0A6F-C07C-2BB6-FA099B75B730}"/>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5" name="Line 2">
            <a:extLst>
              <a:ext uri="{FF2B5EF4-FFF2-40B4-BE49-F238E27FC236}">
                <a16:creationId xmlns:a16="http://schemas.microsoft.com/office/drawing/2014/main" id="{E364099D-29D3-EBFF-32EF-F1F88E8AC7B4}"/>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225867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xEl>
                                              <p:pRg st="3" end="3"/>
                                            </p:txEl>
                                          </p:spTgt>
                                        </p:tgtEl>
                                        <p:attrNameLst>
                                          <p:attrName>style.visibility</p:attrName>
                                        </p:attrNameLst>
                                      </p:cBhvr>
                                      <p:to>
                                        <p:strVal val="visible"/>
                                      </p:to>
                                    </p:set>
                                    <p:animEffect transition="in" filter="fade">
                                      <p:cBhvr>
                                        <p:cTn id="7" dur="500"/>
                                        <p:tgtEl>
                                          <p:spTgt spid="15">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5">
                                            <p:txEl>
                                              <p:pRg st="4" end="4"/>
                                            </p:txEl>
                                          </p:spTgt>
                                        </p:tgtEl>
                                        <p:attrNameLst>
                                          <p:attrName>style.visibility</p:attrName>
                                        </p:attrNameLst>
                                      </p:cBhvr>
                                      <p:to>
                                        <p:strVal val="visible"/>
                                      </p:to>
                                    </p:set>
                                    <p:animEffect transition="in" filter="fade">
                                      <p:cBhvr>
                                        <p:cTn id="10" dur="500"/>
                                        <p:tgtEl>
                                          <p:spTgt spid="15">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5">
                                            <p:txEl>
                                              <p:pRg st="5" end="5"/>
                                            </p:txEl>
                                          </p:spTgt>
                                        </p:tgtEl>
                                        <p:attrNameLst>
                                          <p:attrName>style.visibility</p:attrName>
                                        </p:attrNameLst>
                                      </p:cBhvr>
                                      <p:to>
                                        <p:strVal val="visible"/>
                                      </p:to>
                                    </p:set>
                                    <p:animEffect transition="in" filter="fade">
                                      <p:cBhvr>
                                        <p:cTn id="13" dur="500"/>
                                        <p:tgtEl>
                                          <p:spTgt spid="15">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xEl>
                                              <p:pRg st="6" end="6"/>
                                            </p:txEl>
                                          </p:spTgt>
                                        </p:tgtEl>
                                        <p:attrNameLst>
                                          <p:attrName>style.visibility</p:attrName>
                                        </p:attrNameLst>
                                      </p:cBhvr>
                                      <p:to>
                                        <p:strVal val="visible"/>
                                      </p:to>
                                    </p:set>
                                    <p:animEffect transition="in" filter="fade">
                                      <p:cBhvr>
                                        <p:cTn id="16" dur="500"/>
                                        <p:tgtEl>
                                          <p:spTgt spid="15">
                                            <p:txEl>
                                              <p:pRg st="6" end="6"/>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5">
                                            <p:txEl>
                                              <p:pRg st="7" end="7"/>
                                            </p:txEl>
                                          </p:spTgt>
                                        </p:tgtEl>
                                        <p:attrNameLst>
                                          <p:attrName>style.visibility</p:attrName>
                                        </p:attrNameLst>
                                      </p:cBhvr>
                                      <p:to>
                                        <p:strVal val="visible"/>
                                      </p:to>
                                    </p:set>
                                    <p:animEffect transition="in" filter="fade">
                                      <p:cBhvr>
                                        <p:cTn id="19" dur="500"/>
                                        <p:tgtEl>
                                          <p:spTgt spid="15">
                                            <p:txEl>
                                              <p:pRg st="7" end="7"/>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xEl>
                                              <p:pRg st="9" end="9"/>
                                            </p:txEl>
                                          </p:spTgt>
                                        </p:tgtEl>
                                        <p:attrNameLst>
                                          <p:attrName>style.visibility</p:attrName>
                                        </p:attrNameLst>
                                      </p:cBhvr>
                                      <p:to>
                                        <p:strVal val="visible"/>
                                      </p:to>
                                    </p:set>
                                    <p:animEffect transition="in" filter="fade">
                                      <p:cBhvr>
                                        <p:cTn id="22" dur="500"/>
                                        <p:tgtEl>
                                          <p:spTgt spid="1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Table 15"/>
          <p:cNvGraphicFramePr>
            <a:graphicFrameLocks noGrp="1"/>
          </p:cNvGraphicFramePr>
          <p:nvPr/>
        </p:nvGraphicFramePr>
        <p:xfrm>
          <a:off x="7032104" y="2220068"/>
          <a:ext cx="4176000" cy="3276000"/>
        </p:xfrm>
        <a:graphic>
          <a:graphicData uri="http://schemas.openxmlformats.org/drawingml/2006/table">
            <a:tbl>
              <a:tblPr>
                <a:tableStyleId>{5C22544A-7EE6-4342-B048-85BDC9FD1C3A}</a:tableStyleId>
              </a:tblPr>
              <a:tblGrid>
                <a:gridCol w="468000">
                  <a:extLst>
                    <a:ext uri="{9D8B030D-6E8A-4147-A177-3AD203B41FA5}">
                      <a16:colId xmlns:a16="http://schemas.microsoft.com/office/drawing/2014/main" val="3994737336"/>
                    </a:ext>
                  </a:extLst>
                </a:gridCol>
                <a:gridCol w="468000">
                  <a:extLst>
                    <a:ext uri="{9D8B030D-6E8A-4147-A177-3AD203B41FA5}">
                      <a16:colId xmlns:a16="http://schemas.microsoft.com/office/drawing/2014/main" val="2977056859"/>
                    </a:ext>
                  </a:extLst>
                </a:gridCol>
                <a:gridCol w="1224000">
                  <a:extLst>
                    <a:ext uri="{9D8B030D-6E8A-4147-A177-3AD203B41FA5}">
                      <a16:colId xmlns:a16="http://schemas.microsoft.com/office/drawing/2014/main" val="2053703784"/>
                    </a:ext>
                  </a:extLst>
                </a:gridCol>
                <a:gridCol w="1224000">
                  <a:extLst>
                    <a:ext uri="{9D8B030D-6E8A-4147-A177-3AD203B41FA5}">
                      <a16:colId xmlns:a16="http://schemas.microsoft.com/office/drawing/2014/main" val="1157899827"/>
                    </a:ext>
                  </a:extLst>
                </a:gridCol>
                <a:gridCol w="792000">
                  <a:extLst>
                    <a:ext uri="{9D8B030D-6E8A-4147-A177-3AD203B41FA5}">
                      <a16:colId xmlns:a16="http://schemas.microsoft.com/office/drawing/2014/main" val="121804767"/>
                    </a:ext>
                  </a:extLst>
                </a:gridCol>
              </a:tblGrid>
              <a:tr h="396000">
                <a:tc rowSpan="2" gridSpan="2">
                  <a:txBody>
                    <a:bodyPr/>
                    <a:lstStyle/>
                    <a:p>
                      <a:pPr algn="ctr"/>
                      <a:endParaRPr lang="en-GB" sz="1800" dirty="0">
                        <a:latin typeface="+mn-lt"/>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rowSpan="2" hMerge="1">
                  <a:txBody>
                    <a:bodyPr/>
                    <a:lstStyle/>
                    <a:p>
                      <a:pPr algn="ctr"/>
                      <a:endParaRPr lang="en-GB" dirty="0"/>
                    </a:p>
                  </a:txBody>
                  <a:tcPr anchor="ctr">
                    <a:solidFill>
                      <a:schemeClr val="bg1">
                        <a:lumMod val="75000"/>
                      </a:schemeClr>
                    </a:solidFill>
                  </a:tcPr>
                </a:tc>
                <a:tc gridSpan="2">
                  <a:txBody>
                    <a:bodyPr/>
                    <a:lstStyle/>
                    <a:p>
                      <a:pPr algn="ctr"/>
                      <a:r>
                        <a:rPr lang="en-GB" sz="1800" dirty="0">
                          <a:latin typeface="+mn-lt"/>
                        </a:rPr>
                        <a:t>T</a:t>
                      </a:r>
                      <a:r>
                        <a:rPr lang="en-GB" sz="1800" baseline="0" dirty="0">
                          <a:latin typeface="+mn-lt"/>
                        </a:rPr>
                        <a:t>rue outcome</a:t>
                      </a: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GB" dirty="0"/>
                    </a:p>
                  </a:txBody>
                  <a:tcPr anchor="ctr">
                    <a:solidFill>
                      <a:schemeClr val="bg1">
                        <a:lumMod val="75000"/>
                      </a:schemeClr>
                    </a:solidFill>
                  </a:tcPr>
                </a:tc>
                <a:tc rowSpan="2">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77422590"/>
                  </a:ext>
                </a:extLst>
              </a:tr>
              <a:tr h="396000">
                <a:tc gridSpan="2" vMerge="1">
                  <a:txBody>
                    <a:bodyPr/>
                    <a:lstStyle/>
                    <a:p>
                      <a:pPr algn="ctr"/>
                      <a:endParaRPr lang="en-GB" dirty="0"/>
                    </a:p>
                  </a:txBody>
                  <a:tcPr anchor="ctr">
                    <a:solidFill>
                      <a:schemeClr val="bg1">
                        <a:lumMod val="75000"/>
                      </a:schemeClr>
                    </a:solidFill>
                  </a:tcPr>
                </a:tc>
                <a:tc hMerge="1" vMerge="1">
                  <a:txBody>
                    <a:bodyPr/>
                    <a:lstStyle/>
                    <a:p>
                      <a:pPr algn="ctr"/>
                      <a:endParaRPr lang="en-GB" dirty="0"/>
                    </a:p>
                  </a:txBody>
                  <a:tcPr anchor="ctr">
                    <a:solidFill>
                      <a:schemeClr val="bg1">
                        <a:lumMod val="75000"/>
                      </a:schemeClr>
                    </a:solidFill>
                  </a:tcPr>
                </a:tc>
                <a:tc>
                  <a:txBody>
                    <a:bodyPr/>
                    <a:lstStyle/>
                    <a:p>
                      <a:pPr algn="ctr"/>
                      <a:r>
                        <a:rPr lang="en-GB" sz="1800" dirty="0">
                          <a:latin typeface="+mn-lt"/>
                        </a:rPr>
                        <a:t>Positive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DFB1"/>
                    </a:solidFill>
                  </a:tcPr>
                </a:tc>
                <a:tc>
                  <a:txBody>
                    <a:bodyPr/>
                    <a:lstStyle/>
                    <a:p>
                      <a:pPr algn="ctr"/>
                      <a:r>
                        <a:rPr lang="en-GB" sz="1800" dirty="0">
                          <a:latin typeface="+mn-lt"/>
                        </a:rPr>
                        <a:t>Negative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9C99"/>
                    </a:solidFill>
                  </a:tcPr>
                </a:tc>
                <a:tc vMerge="1">
                  <a:txBody>
                    <a:bodyPr/>
                    <a:lstStyle/>
                    <a:p>
                      <a:pPr algn="ctr"/>
                      <a:endParaRPr lang="en-GB" dirty="0"/>
                    </a:p>
                  </a:txBody>
                  <a:tcPr anchor="ctr">
                    <a:solidFill>
                      <a:schemeClr val="bg1">
                        <a:lumMod val="75000"/>
                      </a:schemeClr>
                    </a:solidFill>
                  </a:tcPr>
                </a:tc>
                <a:extLst>
                  <a:ext uri="{0D108BD9-81ED-4DB2-BD59-A6C34878D82A}">
                    <a16:rowId xmlns:a16="http://schemas.microsoft.com/office/drawing/2014/main" val="2795479193"/>
                  </a:ext>
                </a:extLst>
              </a:tr>
              <a:tr h="1044000">
                <a:tc rowSpan="2">
                  <a:txBody>
                    <a:bodyPr/>
                    <a:lstStyle/>
                    <a:p>
                      <a:pPr algn="ctr"/>
                      <a:r>
                        <a:rPr lang="en-GB" sz="1800" dirty="0">
                          <a:latin typeface="+mn-lt"/>
                        </a:rPr>
                        <a:t>Predicted</a:t>
                      </a:r>
                      <a:r>
                        <a:rPr lang="en-GB" sz="1800" baseline="0" dirty="0">
                          <a:latin typeface="+mn-lt"/>
                        </a:rPr>
                        <a:t> outcome</a:t>
                      </a:r>
                      <a:endParaRPr lang="en-GB" sz="1800" dirty="0">
                        <a:latin typeface="+mn-lt"/>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800" kern="1200" dirty="0">
                          <a:solidFill>
                            <a:schemeClr val="dk1"/>
                          </a:solidFill>
                          <a:latin typeface="+mn-lt"/>
                          <a:ea typeface="+mn-ea"/>
                          <a:cs typeface="+mn-cs"/>
                        </a:rPr>
                        <a:t>Positive</a:t>
                      </a:r>
                      <a:endParaRPr lang="en-GB" sz="1800" dirty="0">
                        <a:latin typeface="+mn-lt"/>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DFB1"/>
                    </a:solidFill>
                  </a:tcPr>
                </a:tc>
                <a:tc>
                  <a:txBody>
                    <a:bodyPr/>
                    <a:lstStyle/>
                    <a:p>
                      <a:pPr algn="ctr"/>
                      <a:r>
                        <a:rPr lang="en-GB" sz="1800" dirty="0">
                          <a:latin typeface="+mn-lt"/>
                        </a:rPr>
                        <a:t>30</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70</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100</a:t>
                      </a: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4114900944"/>
                  </a:ext>
                </a:extLst>
              </a:tr>
              <a:tr h="1044000">
                <a:tc vMerge="1">
                  <a:txBody>
                    <a:bodyPr/>
                    <a:lstStyle/>
                    <a:p>
                      <a:pPr algn="ctr"/>
                      <a:endParaRPr lang="en-GB" dirty="0"/>
                    </a:p>
                  </a:txBody>
                  <a:tcPr vert="vert270" anchor="ctr">
                    <a:solidFill>
                      <a:schemeClr val="bg1">
                        <a:lumMod val="75000"/>
                      </a:schemeClr>
                    </a:solidFill>
                  </a:tcPr>
                </a:tc>
                <a:tc>
                  <a:txBody>
                    <a:bodyPr/>
                    <a:lstStyle/>
                    <a:p>
                      <a:pPr algn="ctr"/>
                      <a:r>
                        <a:rPr lang="en-GB" sz="1800" dirty="0">
                          <a:latin typeface="+mn-lt"/>
                        </a:rPr>
                        <a:t>Negative</a:t>
                      </a: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9C99"/>
                    </a:solidFill>
                  </a:tcPr>
                </a:tc>
                <a:tc>
                  <a:txBody>
                    <a:bodyPr/>
                    <a:lstStyle/>
                    <a:p>
                      <a:pPr algn="ctr"/>
                      <a:r>
                        <a:rPr lang="en-GB" sz="1800" dirty="0">
                          <a:latin typeface="+mn-lt"/>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120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3132018532"/>
                  </a:ext>
                </a:extLst>
              </a:tr>
              <a:tr h="396000">
                <a:tc gridSpan="2">
                  <a:txBody>
                    <a:bodyPr/>
                    <a:lstStyle/>
                    <a:p>
                      <a:pPr algn="ctr"/>
                      <a:endParaRPr lang="en-GB" sz="1800" dirty="0">
                        <a:latin typeface="+mn-lt"/>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hMerge="1">
                  <a:txBody>
                    <a:bodyPr/>
                    <a:lstStyle/>
                    <a:p>
                      <a:pPr algn="ctr"/>
                      <a:endParaRPr lang="en-GB" dirty="0"/>
                    </a:p>
                  </a:txBody>
                  <a:tcPr anchor="ctr">
                    <a:solidFill>
                      <a:schemeClr val="bg1">
                        <a:lumMod val="75000"/>
                      </a:schemeClr>
                    </a:solidFill>
                  </a:tcPr>
                </a:tc>
                <a:tc>
                  <a:txBody>
                    <a:bodyPr/>
                    <a:lstStyle/>
                    <a:p>
                      <a:pPr algn="ctr"/>
                      <a:r>
                        <a:rPr lang="en-GB" sz="1800" dirty="0">
                          <a:latin typeface="+mn-lt"/>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r>
                        <a:rPr lang="en-GB" sz="1800" dirty="0">
                          <a:latin typeface="+mn-lt"/>
                        </a:rPr>
                        <a:t>170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r>
                        <a:rPr lang="en-GB" sz="1800" dirty="0">
                          <a:latin typeface="+mn-lt"/>
                        </a:rPr>
                        <a:t>220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3017366942"/>
                  </a:ext>
                </a:extLst>
              </a:tr>
            </a:tbl>
          </a:graphicData>
        </a:graphic>
      </p:graphicFrame>
      <p:sp>
        <p:nvSpPr>
          <p:cNvPr id="10" name="Title 1">
            <a:extLst>
              <a:ext uri="{FF2B5EF4-FFF2-40B4-BE49-F238E27FC236}">
                <a16:creationId xmlns:a16="http://schemas.microsoft.com/office/drawing/2014/main" id="{05137B5F-235F-FBE1-47D8-B0B35523F0EC}"/>
              </a:ext>
            </a:extLst>
          </p:cNvPr>
          <p:cNvSpPr>
            <a:spLocks noGrp="1"/>
          </p:cNvSpPr>
          <p:nvPr>
            <p:ph type="title"/>
          </p:nvPr>
        </p:nvSpPr>
        <p:spPr>
          <a:xfrm>
            <a:off x="2032000" y="-79300"/>
            <a:ext cx="8229600" cy="1143000"/>
          </a:xfrm>
        </p:spPr>
        <p:txBody>
          <a:bodyPr/>
          <a:lstStyle/>
          <a:p>
            <a:r>
              <a:rPr lang="en-GB" dirty="0"/>
              <a:t>Model performance metrics</a:t>
            </a:r>
            <a:endParaRPr lang="en-GB" sz="18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5" name="Content Placeholder 2"/>
          <p:cNvSpPr txBox="1">
            <a:spLocks/>
          </p:cNvSpPr>
          <p:nvPr/>
        </p:nvSpPr>
        <p:spPr>
          <a:xfrm>
            <a:off x="1981200" y="1239505"/>
            <a:ext cx="8507288" cy="5400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a:ln>
                <a:noFill/>
              </a:ln>
              <a:solidFill>
                <a:prstClr val="black"/>
              </a:solidFill>
              <a:effectLst/>
              <a:uLnTx/>
              <a:uFillTx/>
              <a:latin typeface="Calibri"/>
              <a:ea typeface="+mn-ea"/>
              <a:cs typeface="+mn-cs"/>
            </a:endParaRPr>
          </a:p>
          <a:p>
            <a:pPr marL="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61950" algn="l"/>
              </a:tabLst>
              <a:defRPr/>
            </a:pPr>
            <a:r>
              <a:rPr kumimoji="0" lang="en-GB" sz="1800" b="0" i="0" u="none" strike="noStrike" kern="1200" cap="none" spc="0" normalizeH="0" baseline="0" noProof="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61950"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58775" marR="0" lvl="0" indent="-358775" algn="l" defTabSz="914400" rtl="0" eaLnBrk="1" fontAlgn="auto" latinLnBrk="0" hangingPunct="1">
              <a:lnSpc>
                <a:spcPct val="100000"/>
              </a:lnSpc>
              <a:spcBef>
                <a:spcPct val="20000"/>
              </a:spcBef>
              <a:spcAft>
                <a:spcPts val="0"/>
              </a:spcAft>
              <a:buClrTx/>
              <a:buSzTx/>
              <a:buFont typeface="Arial" pitchFamily="34" charset="0"/>
              <a:buChar char="•"/>
              <a:tabLst>
                <a:tab pos="3314700"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 name="Content Placeholder 2"/>
          <p:cNvSpPr txBox="1">
            <a:spLocks/>
          </p:cNvSpPr>
          <p:nvPr/>
        </p:nvSpPr>
        <p:spPr>
          <a:xfrm>
            <a:off x="1044000" y="1260000"/>
            <a:ext cx="5340032" cy="432924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Confusion matrix</a:t>
            </a:r>
          </a:p>
          <a:p>
            <a:pPr marL="34290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tab pos="3138488" algn="l"/>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Shows counts from predicted and actual outcomes. </a:t>
            </a:r>
          </a:p>
          <a:p>
            <a:pPr marL="800100" marR="0" lvl="2" indent="-285750" algn="l" defTabSz="914400" rtl="0" eaLnBrk="1" fontAlgn="auto" latinLnBrk="0" hangingPunct="1">
              <a:lnSpc>
                <a:spcPct val="100000"/>
              </a:lnSpc>
              <a:spcBef>
                <a:spcPct val="20000"/>
              </a:spcBef>
              <a:spcAft>
                <a:spcPts val="0"/>
              </a:spcAft>
              <a:buClrTx/>
              <a:buSzTx/>
              <a:buFont typeface="Symbol" panose="05050102010706020507" pitchFamily="18" charset="2"/>
              <a:buChar char="-"/>
              <a:tabLst>
                <a:tab pos="3138488" algn="l"/>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Predictions are based on </a:t>
            </a:r>
            <a:r>
              <a:rPr kumimoji="0" lang="en-US" sz="1800" b="1" i="0" u="none" strike="noStrike" kern="1200" cap="none" spc="0" normalizeH="0" baseline="0" noProof="0" dirty="0">
                <a:ln>
                  <a:noFill/>
                </a:ln>
                <a:solidFill>
                  <a:prstClr val="black"/>
                </a:solidFill>
                <a:effectLst/>
                <a:uLnTx/>
                <a:uFillTx/>
                <a:latin typeface="Calibri"/>
                <a:ea typeface="+mn-ea"/>
                <a:cs typeface="+mn-cs"/>
              </a:rPr>
              <a:t>highest probability </a:t>
            </a:r>
            <a:r>
              <a:rPr kumimoji="0" lang="en-US" sz="1800" b="0" i="0" u="none" strike="noStrike" kern="1200" cap="none" spc="0" normalizeH="0" baseline="0" noProof="0" dirty="0">
                <a:ln>
                  <a:noFill/>
                </a:ln>
                <a:solidFill>
                  <a:prstClr val="black"/>
                </a:solidFill>
                <a:effectLst/>
                <a:uLnTx/>
                <a:uFillTx/>
                <a:latin typeface="Calibri"/>
                <a:ea typeface="+mn-ea"/>
                <a:cs typeface="+mn-cs"/>
              </a:rPr>
              <a:t>alternative</a:t>
            </a:r>
          </a:p>
          <a:p>
            <a:pPr marL="514350" marR="0" lvl="2" indent="0" algn="l" defTabSz="914400" rtl="0" eaLnBrk="1" fontAlgn="auto" latinLnBrk="0" hangingPunct="1">
              <a:lnSpc>
                <a:spcPct val="100000"/>
              </a:lnSpc>
              <a:spcBef>
                <a:spcPct val="20000"/>
              </a:spcBef>
              <a:spcAft>
                <a:spcPts val="0"/>
              </a:spcAft>
              <a:buClrTx/>
              <a:buSzTx/>
              <a:buFont typeface="Arial" pitchFamily="34" charset="0"/>
              <a:buNone/>
              <a:tabLst>
                <a:tab pos="1254125" algn="l"/>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514350" marR="0" lvl="2" indent="0" algn="l" defTabSz="914400" rtl="0" eaLnBrk="1" fontAlgn="auto" latinLnBrk="0" hangingPunct="1">
              <a:lnSpc>
                <a:spcPct val="100000"/>
              </a:lnSpc>
              <a:spcBef>
                <a:spcPct val="20000"/>
              </a:spcBef>
              <a:spcAft>
                <a:spcPts val="0"/>
              </a:spcAft>
              <a:buClrTx/>
              <a:buSzTx/>
              <a:buFont typeface="Arial" pitchFamily="34" charset="0"/>
              <a:buNone/>
              <a:tabLst>
                <a:tab pos="1254125" algn="l"/>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a:t>
            </a:r>
            <a:r>
              <a:rPr kumimoji="0" lang="en-US" sz="1800" b="0" i="1" u="none" strike="noStrike" kern="1200" cap="none" spc="0" normalizeH="0" baseline="0" noProof="0" dirty="0">
                <a:ln>
                  <a:noFill/>
                </a:ln>
                <a:solidFill>
                  <a:prstClr val="black"/>
                </a:solidFill>
                <a:effectLst/>
                <a:uLnTx/>
                <a:uFillTx/>
                <a:latin typeface="Calibri"/>
                <a:ea typeface="+mn-ea"/>
                <a:cs typeface="+mn-cs"/>
              </a:rPr>
              <a:t>P</a:t>
            </a:r>
            <a:r>
              <a:rPr kumimoji="0" lang="en-US" sz="1800" b="0" i="1" u="none" strike="noStrike" kern="1200" cap="none" spc="0" normalizeH="0" baseline="-25000" noProof="0" dirty="0">
                <a:ln>
                  <a:noFill/>
                </a:ln>
                <a:solidFill>
                  <a:prstClr val="black"/>
                </a:solidFill>
                <a:effectLst/>
                <a:uLnTx/>
                <a:uFillTx/>
                <a:latin typeface="Calibri"/>
                <a:ea typeface="+mn-ea"/>
                <a:cs typeface="+mn-cs"/>
              </a:rPr>
              <a:t>in</a:t>
            </a:r>
            <a:r>
              <a:rPr kumimoji="0" lang="en-US" sz="1800" b="0" i="0" u="none" strike="noStrike" kern="1200" cap="none" spc="0" normalizeH="0" baseline="0" noProof="0" dirty="0">
                <a:ln>
                  <a:noFill/>
                </a:ln>
                <a:solidFill>
                  <a:prstClr val="black"/>
                </a:solidFill>
                <a:effectLst/>
                <a:uLnTx/>
                <a:uFillTx/>
                <a:latin typeface="Calibri"/>
                <a:ea typeface="+mn-ea"/>
                <a:cs typeface="+mn-cs"/>
              </a:rPr>
              <a:t> = [0.21  0.42  0.37] </a:t>
            </a:r>
            <a:r>
              <a:rPr kumimoji="0" lang="en-US"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 [0  1  0]</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34290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tab pos="3138488" algn="l"/>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34290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tab pos="3138488" algn="l"/>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Counts on the diagonal are correctly classified outcomes</a:t>
            </a:r>
          </a:p>
          <a:p>
            <a:pPr marL="34290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tab pos="3138488" algn="l"/>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34290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tab pos="3138488" algn="l"/>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Counts on the off diagonal elements are the misclassified outcomes</a:t>
            </a: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 name="TextBox 1"/>
          <p:cNvSpPr txBox="1"/>
          <p:nvPr/>
        </p:nvSpPr>
        <p:spPr>
          <a:xfrm>
            <a:off x="7032104" y="1700808"/>
            <a:ext cx="4176000" cy="288032"/>
          </a:xfrm>
          <a:prstGeom prst="rect">
            <a:avLst/>
          </a:prstGeom>
          <a:noFill/>
          <a:ln>
            <a:noFill/>
          </a:ln>
        </p:spPr>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lumMod val="50000"/>
                  </a:prstClr>
                </a:solidFill>
                <a:effectLst/>
                <a:uLnTx/>
                <a:uFillTx/>
                <a:latin typeface="Calibri"/>
                <a:ea typeface="+mn-ea"/>
                <a:cs typeface="+mn-cs"/>
              </a:rPr>
              <a:t>Confusion matrix (2 classes)</a:t>
            </a:r>
          </a:p>
        </p:txBody>
      </p:sp>
      <p:sp>
        <p:nvSpPr>
          <p:cNvPr id="11" name="Line 2">
            <a:extLst>
              <a:ext uri="{FF2B5EF4-FFF2-40B4-BE49-F238E27FC236}">
                <a16:creationId xmlns:a16="http://schemas.microsoft.com/office/drawing/2014/main" id="{0CEED76A-0C49-5293-AD26-9FF7365F2880}"/>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2" name="Line 2">
            <a:extLst>
              <a:ext uri="{FF2B5EF4-FFF2-40B4-BE49-F238E27FC236}">
                <a16:creationId xmlns:a16="http://schemas.microsoft.com/office/drawing/2014/main" id="{3D3BB2E2-F1BC-6177-8472-C2DA198BE0A7}"/>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41263028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71C0D4AD-B765-65D6-038C-73FDED10334D}"/>
              </a:ext>
            </a:extLst>
          </p:cNvPr>
          <p:cNvSpPr>
            <a:spLocks noGrp="1"/>
          </p:cNvSpPr>
          <p:nvPr>
            <p:ph type="title"/>
          </p:nvPr>
        </p:nvSpPr>
        <p:spPr>
          <a:xfrm>
            <a:off x="2032000" y="-79300"/>
            <a:ext cx="8229600" cy="1143000"/>
          </a:xfrm>
        </p:spPr>
        <p:txBody>
          <a:bodyPr/>
          <a:lstStyle/>
          <a:p>
            <a:r>
              <a:rPr lang="en-GB" dirty="0"/>
              <a:t>Model performance metrics</a:t>
            </a:r>
            <a:endParaRPr lang="en-GB" sz="18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25" name="Content Placeholder 2"/>
          <p:cNvSpPr txBox="1">
            <a:spLocks/>
          </p:cNvSpPr>
          <p:nvPr/>
        </p:nvSpPr>
        <p:spPr>
          <a:xfrm>
            <a:off x="1981200" y="1239505"/>
            <a:ext cx="8507288" cy="5400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a:ln>
                <a:noFill/>
              </a:ln>
              <a:solidFill>
                <a:prstClr val="black"/>
              </a:solidFill>
              <a:effectLst/>
              <a:uLnTx/>
              <a:uFillTx/>
              <a:latin typeface="Calibri"/>
              <a:ea typeface="+mn-ea"/>
              <a:cs typeface="+mn-cs"/>
            </a:endParaRPr>
          </a:p>
          <a:p>
            <a:pPr marL="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61950" algn="l"/>
              </a:tabLst>
              <a:defRPr/>
            </a:pPr>
            <a:r>
              <a:rPr kumimoji="0" lang="en-GB" sz="1800" b="0" i="0" u="none" strike="noStrike" kern="1200" cap="none" spc="0" normalizeH="0" baseline="0" noProof="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61950"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58775" marR="0" lvl="0" indent="-358775" algn="l" defTabSz="914400" rtl="0" eaLnBrk="1" fontAlgn="auto" latinLnBrk="0" hangingPunct="1">
              <a:lnSpc>
                <a:spcPct val="100000"/>
              </a:lnSpc>
              <a:spcBef>
                <a:spcPct val="20000"/>
              </a:spcBef>
              <a:spcAft>
                <a:spcPts val="0"/>
              </a:spcAft>
              <a:buClrTx/>
              <a:buSzTx/>
              <a:buFont typeface="Arial" pitchFamily="34" charset="0"/>
              <a:buChar char="•"/>
              <a:tabLst>
                <a:tab pos="3314700"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 name="Content Placeholder 2"/>
          <p:cNvSpPr txBox="1">
            <a:spLocks/>
          </p:cNvSpPr>
          <p:nvPr/>
        </p:nvSpPr>
        <p:spPr>
          <a:xfrm>
            <a:off x="1044000" y="1260000"/>
            <a:ext cx="5340032" cy="483329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Confusion matrix (2 classes)</a:t>
            </a:r>
          </a:p>
          <a:p>
            <a:pPr marL="34290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tab pos="3138488" algn="l"/>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34290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tab pos="3138488" algn="l"/>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True Positive (TP)</a:t>
            </a:r>
          </a:p>
          <a:p>
            <a:pPr marL="800100" marR="0" lvl="2"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Ø"/>
              <a:tabLst>
                <a:tab pos="3138488" algn="l"/>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model correctly predicts the positive class</a:t>
            </a:r>
          </a:p>
          <a:p>
            <a:pPr marL="34290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tab pos="3138488" algn="l"/>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34290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tab pos="3138488" algn="l"/>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False Positive (FP)</a:t>
            </a:r>
          </a:p>
          <a:p>
            <a:pPr marL="742950" marR="0" lvl="2" indent="-228600" algn="l" defTabSz="914400" rtl="0" eaLnBrk="1" fontAlgn="auto" latinLnBrk="0" hangingPunct="1">
              <a:lnSpc>
                <a:spcPct val="100000"/>
              </a:lnSpc>
              <a:spcBef>
                <a:spcPct val="20000"/>
              </a:spcBef>
              <a:spcAft>
                <a:spcPts val="0"/>
              </a:spcAft>
              <a:buClrTx/>
              <a:buSzTx/>
              <a:buFont typeface="Wingdings" panose="05000000000000000000" pitchFamily="2" charset="2"/>
              <a:buChar char="Ø"/>
              <a:tabLst>
                <a:tab pos="3138488" algn="l"/>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model incorrectly predicts positive class</a:t>
            </a:r>
          </a:p>
          <a:p>
            <a:pPr marL="34290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tab pos="3138488" algn="l"/>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34290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tab pos="3138488" algn="l"/>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True Negative (TN)</a:t>
            </a:r>
          </a:p>
          <a:p>
            <a:pPr marL="800100" marR="0" lvl="2"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Ø"/>
              <a:tabLst>
                <a:tab pos="3138488" algn="l"/>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model correctly predicts the negative class</a:t>
            </a:r>
          </a:p>
          <a:p>
            <a:pPr marL="34290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tab pos="3138488" algn="l"/>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34290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tab pos="3138488" algn="l"/>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False Negative (FN)</a:t>
            </a:r>
          </a:p>
          <a:p>
            <a:pPr marL="800100" marR="0" lvl="2"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Ø"/>
              <a:tabLst>
                <a:tab pos="3138488" algn="l"/>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model incorrectly predicts negative class</a:t>
            </a:r>
          </a:p>
          <a:p>
            <a:pPr marL="34290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tab pos="3138488" algn="l"/>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34290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tab pos="3138488" algn="l"/>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34290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aphicFrame>
        <p:nvGraphicFramePr>
          <p:cNvPr id="3" name="Table 2"/>
          <p:cNvGraphicFramePr>
            <a:graphicFrameLocks noGrp="1"/>
          </p:cNvGraphicFramePr>
          <p:nvPr/>
        </p:nvGraphicFramePr>
        <p:xfrm>
          <a:off x="7032104" y="2220068"/>
          <a:ext cx="4176000" cy="3276000"/>
        </p:xfrm>
        <a:graphic>
          <a:graphicData uri="http://schemas.openxmlformats.org/drawingml/2006/table">
            <a:tbl>
              <a:tblPr>
                <a:tableStyleId>{5C22544A-7EE6-4342-B048-85BDC9FD1C3A}</a:tableStyleId>
              </a:tblPr>
              <a:tblGrid>
                <a:gridCol w="468000">
                  <a:extLst>
                    <a:ext uri="{9D8B030D-6E8A-4147-A177-3AD203B41FA5}">
                      <a16:colId xmlns:a16="http://schemas.microsoft.com/office/drawing/2014/main" val="3994737336"/>
                    </a:ext>
                  </a:extLst>
                </a:gridCol>
                <a:gridCol w="468000">
                  <a:extLst>
                    <a:ext uri="{9D8B030D-6E8A-4147-A177-3AD203B41FA5}">
                      <a16:colId xmlns:a16="http://schemas.microsoft.com/office/drawing/2014/main" val="2977056859"/>
                    </a:ext>
                  </a:extLst>
                </a:gridCol>
                <a:gridCol w="1224000">
                  <a:extLst>
                    <a:ext uri="{9D8B030D-6E8A-4147-A177-3AD203B41FA5}">
                      <a16:colId xmlns:a16="http://schemas.microsoft.com/office/drawing/2014/main" val="2053703784"/>
                    </a:ext>
                  </a:extLst>
                </a:gridCol>
                <a:gridCol w="1224000">
                  <a:extLst>
                    <a:ext uri="{9D8B030D-6E8A-4147-A177-3AD203B41FA5}">
                      <a16:colId xmlns:a16="http://schemas.microsoft.com/office/drawing/2014/main" val="1157899827"/>
                    </a:ext>
                  </a:extLst>
                </a:gridCol>
                <a:gridCol w="792000">
                  <a:extLst>
                    <a:ext uri="{9D8B030D-6E8A-4147-A177-3AD203B41FA5}">
                      <a16:colId xmlns:a16="http://schemas.microsoft.com/office/drawing/2014/main" val="121804767"/>
                    </a:ext>
                  </a:extLst>
                </a:gridCol>
              </a:tblGrid>
              <a:tr h="396000">
                <a:tc rowSpan="2" gridSpan="2">
                  <a:txBody>
                    <a:bodyPr/>
                    <a:lstStyle/>
                    <a:p>
                      <a:pPr algn="ctr"/>
                      <a:endParaRPr lang="en-GB" sz="1800" dirty="0">
                        <a:latin typeface="+mn-lt"/>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rowSpan="2" hMerge="1">
                  <a:txBody>
                    <a:bodyPr/>
                    <a:lstStyle/>
                    <a:p>
                      <a:pPr algn="ctr"/>
                      <a:endParaRPr lang="en-GB" dirty="0"/>
                    </a:p>
                  </a:txBody>
                  <a:tcPr anchor="ctr">
                    <a:solidFill>
                      <a:schemeClr val="bg1">
                        <a:lumMod val="75000"/>
                      </a:schemeClr>
                    </a:solidFill>
                  </a:tcPr>
                </a:tc>
                <a:tc gridSpan="2">
                  <a:txBody>
                    <a:bodyPr/>
                    <a:lstStyle/>
                    <a:p>
                      <a:pPr algn="ctr"/>
                      <a:r>
                        <a:rPr lang="en-GB" sz="1800" dirty="0">
                          <a:latin typeface="+mn-lt"/>
                        </a:rPr>
                        <a:t>T</a:t>
                      </a:r>
                      <a:r>
                        <a:rPr lang="en-GB" sz="1800" baseline="0" dirty="0">
                          <a:latin typeface="+mn-lt"/>
                        </a:rPr>
                        <a:t>rue outcome</a:t>
                      </a: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GB" dirty="0"/>
                    </a:p>
                  </a:txBody>
                  <a:tcPr anchor="ctr">
                    <a:solidFill>
                      <a:schemeClr val="bg1">
                        <a:lumMod val="75000"/>
                      </a:schemeClr>
                    </a:solidFill>
                  </a:tcPr>
                </a:tc>
                <a:tc rowSpan="2">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77422590"/>
                  </a:ext>
                </a:extLst>
              </a:tr>
              <a:tr h="396000">
                <a:tc gridSpan="2" vMerge="1">
                  <a:txBody>
                    <a:bodyPr/>
                    <a:lstStyle/>
                    <a:p>
                      <a:pPr algn="ctr"/>
                      <a:endParaRPr lang="en-GB" dirty="0"/>
                    </a:p>
                  </a:txBody>
                  <a:tcPr anchor="ctr">
                    <a:solidFill>
                      <a:schemeClr val="bg1">
                        <a:lumMod val="75000"/>
                      </a:schemeClr>
                    </a:solidFill>
                  </a:tcPr>
                </a:tc>
                <a:tc hMerge="1" vMerge="1">
                  <a:txBody>
                    <a:bodyPr/>
                    <a:lstStyle/>
                    <a:p>
                      <a:pPr algn="ctr"/>
                      <a:endParaRPr lang="en-GB" dirty="0"/>
                    </a:p>
                  </a:txBody>
                  <a:tcPr anchor="ctr">
                    <a:solidFill>
                      <a:schemeClr val="bg1">
                        <a:lumMod val="75000"/>
                      </a:schemeClr>
                    </a:solidFill>
                  </a:tcPr>
                </a:tc>
                <a:tc>
                  <a:txBody>
                    <a:bodyPr/>
                    <a:lstStyle/>
                    <a:p>
                      <a:pPr algn="ctr"/>
                      <a:r>
                        <a:rPr lang="en-GB" sz="1800" dirty="0">
                          <a:latin typeface="+mn-lt"/>
                        </a:rPr>
                        <a:t>Positive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DFB1"/>
                    </a:solidFill>
                  </a:tcPr>
                </a:tc>
                <a:tc>
                  <a:txBody>
                    <a:bodyPr/>
                    <a:lstStyle/>
                    <a:p>
                      <a:pPr algn="ctr"/>
                      <a:r>
                        <a:rPr lang="en-GB" sz="1800" dirty="0">
                          <a:latin typeface="+mn-lt"/>
                        </a:rPr>
                        <a:t>Negative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9C99"/>
                    </a:solidFill>
                  </a:tcPr>
                </a:tc>
                <a:tc vMerge="1">
                  <a:txBody>
                    <a:bodyPr/>
                    <a:lstStyle/>
                    <a:p>
                      <a:pPr algn="ctr"/>
                      <a:endParaRPr lang="en-GB" dirty="0"/>
                    </a:p>
                  </a:txBody>
                  <a:tcPr anchor="ctr">
                    <a:solidFill>
                      <a:schemeClr val="bg1">
                        <a:lumMod val="75000"/>
                      </a:schemeClr>
                    </a:solidFill>
                  </a:tcPr>
                </a:tc>
                <a:extLst>
                  <a:ext uri="{0D108BD9-81ED-4DB2-BD59-A6C34878D82A}">
                    <a16:rowId xmlns:a16="http://schemas.microsoft.com/office/drawing/2014/main" val="2795479193"/>
                  </a:ext>
                </a:extLst>
              </a:tr>
              <a:tr h="1044000">
                <a:tc rowSpan="2">
                  <a:txBody>
                    <a:bodyPr/>
                    <a:lstStyle/>
                    <a:p>
                      <a:pPr algn="ctr"/>
                      <a:r>
                        <a:rPr lang="en-GB" sz="1800" dirty="0">
                          <a:latin typeface="+mn-lt"/>
                        </a:rPr>
                        <a:t>Predicted</a:t>
                      </a:r>
                      <a:r>
                        <a:rPr lang="en-GB" sz="1800" baseline="0" dirty="0">
                          <a:latin typeface="+mn-lt"/>
                        </a:rPr>
                        <a:t> outcome</a:t>
                      </a:r>
                      <a:endParaRPr lang="en-GB" sz="1800" dirty="0">
                        <a:latin typeface="+mn-lt"/>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800" kern="1200" dirty="0">
                          <a:solidFill>
                            <a:schemeClr val="dk1"/>
                          </a:solidFill>
                          <a:latin typeface="+mn-lt"/>
                          <a:ea typeface="+mn-ea"/>
                          <a:cs typeface="+mn-cs"/>
                        </a:rPr>
                        <a:t>Positive</a:t>
                      </a:r>
                      <a:endParaRPr lang="en-GB" sz="1800" dirty="0">
                        <a:latin typeface="+mn-lt"/>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DFB1"/>
                    </a:solidFill>
                  </a:tcPr>
                </a:tc>
                <a:tc>
                  <a:txBody>
                    <a:bodyPr/>
                    <a:lstStyle/>
                    <a:p>
                      <a:pPr algn="ctr"/>
                      <a:r>
                        <a:rPr lang="en-GB" sz="1800" dirty="0">
                          <a:latin typeface="+mn-lt"/>
                        </a:rPr>
                        <a:t>True Positives (TP)</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False</a:t>
                      </a:r>
                      <a:r>
                        <a:rPr lang="en-GB" sz="1800" baseline="0" dirty="0">
                          <a:latin typeface="+mn-lt"/>
                        </a:rPr>
                        <a:t> Positives</a:t>
                      </a:r>
                    </a:p>
                    <a:p>
                      <a:pPr algn="ctr"/>
                      <a:r>
                        <a:rPr lang="en-GB" sz="1800" baseline="0" dirty="0">
                          <a:latin typeface="+mn-lt"/>
                        </a:rPr>
                        <a:t>(FP)</a:t>
                      </a:r>
                      <a:endParaRPr lang="en-GB" sz="1800" dirty="0">
                        <a:latin typeface="+mn-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2CD"/>
                    </a:solidFill>
                  </a:tcPr>
                </a:tc>
                <a:tc>
                  <a:txBody>
                    <a:bodyPr/>
                    <a:lstStyle/>
                    <a:p>
                      <a:pPr algn="ctr"/>
                      <a:endParaRPr lang="en-GB" sz="1800" dirty="0">
                        <a:latin typeface="+mn-lt"/>
                      </a:endParaRP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4114900944"/>
                  </a:ext>
                </a:extLst>
              </a:tr>
              <a:tr h="1044000">
                <a:tc vMerge="1">
                  <a:txBody>
                    <a:bodyPr/>
                    <a:lstStyle/>
                    <a:p>
                      <a:pPr algn="ctr"/>
                      <a:endParaRPr lang="en-GB" dirty="0"/>
                    </a:p>
                  </a:txBody>
                  <a:tcPr vert="vert270" anchor="ctr">
                    <a:solidFill>
                      <a:schemeClr val="bg1">
                        <a:lumMod val="75000"/>
                      </a:schemeClr>
                    </a:solidFill>
                  </a:tcPr>
                </a:tc>
                <a:tc>
                  <a:txBody>
                    <a:bodyPr/>
                    <a:lstStyle/>
                    <a:p>
                      <a:pPr algn="ctr"/>
                      <a:r>
                        <a:rPr lang="en-GB" sz="1800" dirty="0">
                          <a:latin typeface="+mn-lt"/>
                        </a:rPr>
                        <a:t>Negative</a:t>
                      </a: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9C99"/>
                    </a:solidFill>
                  </a:tcPr>
                </a:tc>
                <a:tc>
                  <a:txBody>
                    <a:bodyPr/>
                    <a:lstStyle/>
                    <a:p>
                      <a:pPr algn="ctr"/>
                      <a:r>
                        <a:rPr lang="en-GB" sz="1800" dirty="0">
                          <a:latin typeface="+mn-lt"/>
                        </a:rPr>
                        <a:t>False Negatives</a:t>
                      </a:r>
                    </a:p>
                    <a:p>
                      <a:pPr algn="ctr"/>
                      <a:r>
                        <a:rPr lang="en-GB" sz="1800" dirty="0">
                          <a:latin typeface="+mn-lt"/>
                        </a:rPr>
                        <a:t>(FN)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True Negatives</a:t>
                      </a:r>
                    </a:p>
                    <a:p>
                      <a:pPr algn="ctr"/>
                      <a:r>
                        <a:rPr lang="en-GB" sz="1800" dirty="0">
                          <a:latin typeface="+mn-lt"/>
                        </a:rPr>
                        <a:t>(TN)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3132018532"/>
                  </a:ext>
                </a:extLst>
              </a:tr>
              <a:tr h="396000">
                <a:tc gridSpan="2">
                  <a:txBody>
                    <a:bodyPr/>
                    <a:lstStyle/>
                    <a:p>
                      <a:pPr algn="ctr"/>
                      <a:endParaRPr lang="en-GB" sz="1800" dirty="0">
                        <a:latin typeface="+mn-lt"/>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hMerge="1">
                  <a:txBody>
                    <a:bodyPr/>
                    <a:lstStyle/>
                    <a:p>
                      <a:pPr algn="ctr"/>
                      <a:endParaRPr lang="en-GB" dirty="0"/>
                    </a:p>
                  </a:txBody>
                  <a:tcPr anchor="ctr">
                    <a:solidFill>
                      <a:schemeClr val="bg1">
                        <a:lumMod val="75000"/>
                      </a:schemeClr>
                    </a:solidFill>
                  </a:tcPr>
                </a:tc>
                <a:tc>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3017366942"/>
                  </a:ext>
                </a:extLst>
              </a:tr>
            </a:tbl>
          </a:graphicData>
        </a:graphic>
      </p:graphicFrame>
      <p:sp>
        <p:nvSpPr>
          <p:cNvPr id="7" name="TextBox 6"/>
          <p:cNvSpPr txBox="1"/>
          <p:nvPr/>
        </p:nvSpPr>
        <p:spPr>
          <a:xfrm>
            <a:off x="7032104" y="1700808"/>
            <a:ext cx="4176000" cy="288032"/>
          </a:xfrm>
          <a:prstGeom prst="rect">
            <a:avLst/>
          </a:prstGeom>
          <a:noFill/>
          <a:ln>
            <a:noFill/>
          </a:ln>
        </p:spPr>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lumMod val="50000"/>
                  </a:prstClr>
                </a:solidFill>
                <a:effectLst/>
                <a:uLnTx/>
                <a:uFillTx/>
                <a:latin typeface="Calibri"/>
                <a:ea typeface="+mn-ea"/>
                <a:cs typeface="+mn-cs"/>
              </a:rPr>
              <a:t>Confusion matrix (2 classes)</a:t>
            </a:r>
          </a:p>
        </p:txBody>
      </p:sp>
      <p:sp>
        <p:nvSpPr>
          <p:cNvPr id="9" name="Line 2">
            <a:extLst>
              <a:ext uri="{FF2B5EF4-FFF2-40B4-BE49-F238E27FC236}">
                <a16:creationId xmlns:a16="http://schemas.microsoft.com/office/drawing/2014/main" id="{DBE15AF4-EAC9-CE33-8795-7684B64FC7AC}"/>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0" name="Line 2">
            <a:extLst>
              <a:ext uri="{FF2B5EF4-FFF2-40B4-BE49-F238E27FC236}">
                <a16:creationId xmlns:a16="http://schemas.microsoft.com/office/drawing/2014/main" id="{943C489E-FD4D-F9E7-3CBD-53449F32F720}"/>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31730775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p:cNvGraphicFramePr>
            <a:graphicFrameLocks noGrp="1"/>
          </p:cNvGraphicFramePr>
          <p:nvPr/>
        </p:nvGraphicFramePr>
        <p:xfrm>
          <a:off x="7032104" y="2220068"/>
          <a:ext cx="4176000" cy="3276000"/>
        </p:xfrm>
        <a:graphic>
          <a:graphicData uri="http://schemas.openxmlformats.org/drawingml/2006/table">
            <a:tbl>
              <a:tblPr>
                <a:tableStyleId>{5C22544A-7EE6-4342-B048-85BDC9FD1C3A}</a:tableStyleId>
              </a:tblPr>
              <a:tblGrid>
                <a:gridCol w="468000">
                  <a:extLst>
                    <a:ext uri="{9D8B030D-6E8A-4147-A177-3AD203B41FA5}">
                      <a16:colId xmlns:a16="http://schemas.microsoft.com/office/drawing/2014/main" val="3994737336"/>
                    </a:ext>
                  </a:extLst>
                </a:gridCol>
                <a:gridCol w="468000">
                  <a:extLst>
                    <a:ext uri="{9D8B030D-6E8A-4147-A177-3AD203B41FA5}">
                      <a16:colId xmlns:a16="http://schemas.microsoft.com/office/drawing/2014/main" val="2977056859"/>
                    </a:ext>
                  </a:extLst>
                </a:gridCol>
                <a:gridCol w="1224000">
                  <a:extLst>
                    <a:ext uri="{9D8B030D-6E8A-4147-A177-3AD203B41FA5}">
                      <a16:colId xmlns:a16="http://schemas.microsoft.com/office/drawing/2014/main" val="2053703784"/>
                    </a:ext>
                  </a:extLst>
                </a:gridCol>
                <a:gridCol w="1224000">
                  <a:extLst>
                    <a:ext uri="{9D8B030D-6E8A-4147-A177-3AD203B41FA5}">
                      <a16:colId xmlns:a16="http://schemas.microsoft.com/office/drawing/2014/main" val="1157899827"/>
                    </a:ext>
                  </a:extLst>
                </a:gridCol>
                <a:gridCol w="792000">
                  <a:extLst>
                    <a:ext uri="{9D8B030D-6E8A-4147-A177-3AD203B41FA5}">
                      <a16:colId xmlns:a16="http://schemas.microsoft.com/office/drawing/2014/main" val="121804767"/>
                    </a:ext>
                  </a:extLst>
                </a:gridCol>
              </a:tblGrid>
              <a:tr h="396000">
                <a:tc rowSpan="2" gridSpan="2">
                  <a:txBody>
                    <a:bodyPr/>
                    <a:lstStyle/>
                    <a:p>
                      <a:pPr algn="ctr"/>
                      <a:endParaRPr lang="en-GB" sz="1800" dirty="0">
                        <a:latin typeface="+mn-lt"/>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rowSpan="2" hMerge="1">
                  <a:txBody>
                    <a:bodyPr/>
                    <a:lstStyle/>
                    <a:p>
                      <a:pPr algn="ctr"/>
                      <a:endParaRPr lang="en-GB" dirty="0"/>
                    </a:p>
                  </a:txBody>
                  <a:tcPr anchor="ctr">
                    <a:solidFill>
                      <a:schemeClr val="bg1">
                        <a:lumMod val="75000"/>
                      </a:schemeClr>
                    </a:solidFill>
                  </a:tcPr>
                </a:tc>
                <a:tc gridSpan="2">
                  <a:txBody>
                    <a:bodyPr/>
                    <a:lstStyle/>
                    <a:p>
                      <a:pPr algn="ctr"/>
                      <a:r>
                        <a:rPr lang="en-GB" sz="1800" dirty="0">
                          <a:latin typeface="+mn-lt"/>
                        </a:rPr>
                        <a:t>T</a:t>
                      </a:r>
                      <a:r>
                        <a:rPr lang="en-GB" sz="1800" baseline="0" dirty="0">
                          <a:latin typeface="+mn-lt"/>
                        </a:rPr>
                        <a:t>rue outcome</a:t>
                      </a: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GB" dirty="0"/>
                    </a:p>
                  </a:txBody>
                  <a:tcPr anchor="ctr">
                    <a:solidFill>
                      <a:schemeClr val="bg1">
                        <a:lumMod val="75000"/>
                      </a:schemeClr>
                    </a:solidFill>
                  </a:tcPr>
                </a:tc>
                <a:tc rowSpan="2">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77422590"/>
                  </a:ext>
                </a:extLst>
              </a:tr>
              <a:tr h="396000">
                <a:tc gridSpan="2" vMerge="1">
                  <a:txBody>
                    <a:bodyPr/>
                    <a:lstStyle/>
                    <a:p>
                      <a:pPr algn="ctr"/>
                      <a:endParaRPr lang="en-GB" dirty="0"/>
                    </a:p>
                  </a:txBody>
                  <a:tcPr anchor="ctr">
                    <a:solidFill>
                      <a:schemeClr val="bg1">
                        <a:lumMod val="75000"/>
                      </a:schemeClr>
                    </a:solidFill>
                  </a:tcPr>
                </a:tc>
                <a:tc hMerge="1" vMerge="1">
                  <a:txBody>
                    <a:bodyPr/>
                    <a:lstStyle/>
                    <a:p>
                      <a:pPr algn="ctr"/>
                      <a:endParaRPr lang="en-GB" dirty="0"/>
                    </a:p>
                  </a:txBody>
                  <a:tcPr anchor="ctr">
                    <a:solidFill>
                      <a:schemeClr val="bg1">
                        <a:lumMod val="75000"/>
                      </a:schemeClr>
                    </a:solidFill>
                  </a:tcPr>
                </a:tc>
                <a:tc>
                  <a:txBody>
                    <a:bodyPr/>
                    <a:lstStyle/>
                    <a:p>
                      <a:pPr algn="ctr"/>
                      <a:r>
                        <a:rPr lang="en-GB" sz="1800" dirty="0">
                          <a:latin typeface="+mn-lt"/>
                        </a:rPr>
                        <a:t>Positive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DFB1"/>
                    </a:solidFill>
                  </a:tcPr>
                </a:tc>
                <a:tc>
                  <a:txBody>
                    <a:bodyPr/>
                    <a:lstStyle/>
                    <a:p>
                      <a:pPr algn="ctr"/>
                      <a:r>
                        <a:rPr lang="en-GB" sz="1800" dirty="0">
                          <a:latin typeface="+mn-lt"/>
                        </a:rPr>
                        <a:t>Negative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9C99"/>
                    </a:solidFill>
                  </a:tcPr>
                </a:tc>
                <a:tc vMerge="1">
                  <a:txBody>
                    <a:bodyPr/>
                    <a:lstStyle/>
                    <a:p>
                      <a:pPr algn="ctr"/>
                      <a:endParaRPr lang="en-GB" dirty="0"/>
                    </a:p>
                  </a:txBody>
                  <a:tcPr anchor="ctr">
                    <a:solidFill>
                      <a:schemeClr val="bg1">
                        <a:lumMod val="75000"/>
                      </a:schemeClr>
                    </a:solidFill>
                  </a:tcPr>
                </a:tc>
                <a:extLst>
                  <a:ext uri="{0D108BD9-81ED-4DB2-BD59-A6C34878D82A}">
                    <a16:rowId xmlns:a16="http://schemas.microsoft.com/office/drawing/2014/main" val="2795479193"/>
                  </a:ext>
                </a:extLst>
              </a:tr>
              <a:tr h="1044000">
                <a:tc rowSpan="2">
                  <a:txBody>
                    <a:bodyPr/>
                    <a:lstStyle/>
                    <a:p>
                      <a:pPr algn="ctr"/>
                      <a:r>
                        <a:rPr lang="en-GB" sz="1800" dirty="0">
                          <a:latin typeface="+mn-lt"/>
                        </a:rPr>
                        <a:t>Predicted</a:t>
                      </a:r>
                      <a:r>
                        <a:rPr lang="en-GB" sz="1800" baseline="0" dirty="0">
                          <a:latin typeface="+mn-lt"/>
                        </a:rPr>
                        <a:t> outcome</a:t>
                      </a:r>
                      <a:endParaRPr lang="en-GB" sz="1800" dirty="0">
                        <a:latin typeface="+mn-lt"/>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800" kern="1200" dirty="0">
                          <a:solidFill>
                            <a:schemeClr val="dk1"/>
                          </a:solidFill>
                          <a:latin typeface="+mn-lt"/>
                          <a:ea typeface="+mn-ea"/>
                          <a:cs typeface="+mn-cs"/>
                        </a:rPr>
                        <a:t>Positive</a:t>
                      </a:r>
                      <a:endParaRPr lang="en-GB" sz="1800" dirty="0">
                        <a:latin typeface="+mn-lt"/>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DFB1"/>
                    </a:solidFill>
                  </a:tcPr>
                </a:tc>
                <a:tc>
                  <a:txBody>
                    <a:bodyPr/>
                    <a:lstStyle/>
                    <a:p>
                      <a:pPr algn="ctr"/>
                      <a:r>
                        <a:rPr lang="en-GB" sz="1800" dirty="0">
                          <a:latin typeface="+mn-lt"/>
                        </a:rPr>
                        <a:t>TP</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baseline="0" dirty="0">
                          <a:latin typeface="+mn-lt"/>
                        </a:rPr>
                        <a:t>FP</a:t>
                      </a:r>
                      <a:endParaRPr lang="en-GB" sz="1800" dirty="0">
                        <a:latin typeface="+mn-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2CD"/>
                    </a:solidFill>
                  </a:tcPr>
                </a:tc>
                <a:tc>
                  <a:txBody>
                    <a:bodyPr/>
                    <a:lstStyle/>
                    <a:p>
                      <a:pPr algn="ctr"/>
                      <a:endParaRPr lang="en-GB" sz="1800" dirty="0">
                        <a:latin typeface="+mn-lt"/>
                      </a:endParaRP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4114900944"/>
                  </a:ext>
                </a:extLst>
              </a:tr>
              <a:tr h="1044000">
                <a:tc vMerge="1">
                  <a:txBody>
                    <a:bodyPr/>
                    <a:lstStyle/>
                    <a:p>
                      <a:pPr algn="ctr"/>
                      <a:endParaRPr lang="en-GB" dirty="0"/>
                    </a:p>
                  </a:txBody>
                  <a:tcPr vert="vert270" anchor="ctr">
                    <a:solidFill>
                      <a:schemeClr val="bg1">
                        <a:lumMod val="75000"/>
                      </a:schemeClr>
                    </a:solidFill>
                  </a:tcPr>
                </a:tc>
                <a:tc>
                  <a:txBody>
                    <a:bodyPr/>
                    <a:lstStyle/>
                    <a:p>
                      <a:pPr algn="ctr"/>
                      <a:r>
                        <a:rPr lang="en-GB" sz="1800" dirty="0">
                          <a:latin typeface="+mn-lt"/>
                        </a:rPr>
                        <a:t>Negative</a:t>
                      </a: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9C99"/>
                    </a:solidFill>
                  </a:tcPr>
                </a:tc>
                <a:tc>
                  <a:txBody>
                    <a:bodyPr/>
                    <a:lstStyle/>
                    <a:p>
                      <a:pPr algn="ctr"/>
                      <a:r>
                        <a:rPr lang="en-GB" sz="1800" dirty="0">
                          <a:latin typeface="+mn-lt"/>
                        </a:rPr>
                        <a:t>FN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3132018532"/>
                  </a:ext>
                </a:extLst>
              </a:tr>
              <a:tr h="396000">
                <a:tc gridSpan="2">
                  <a:txBody>
                    <a:bodyPr/>
                    <a:lstStyle/>
                    <a:p>
                      <a:pPr algn="ctr"/>
                      <a:endParaRPr lang="en-GB" sz="1800" dirty="0">
                        <a:latin typeface="+mn-lt"/>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hMerge="1">
                  <a:txBody>
                    <a:bodyPr/>
                    <a:lstStyle/>
                    <a:p>
                      <a:pPr algn="ctr"/>
                      <a:endParaRPr lang="en-GB" dirty="0"/>
                    </a:p>
                  </a:txBody>
                  <a:tcPr anchor="ctr">
                    <a:solidFill>
                      <a:schemeClr val="bg1">
                        <a:lumMod val="75000"/>
                      </a:schemeClr>
                    </a:solidFill>
                  </a:tcPr>
                </a:tc>
                <a:tc>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3017366942"/>
                  </a:ext>
                </a:extLst>
              </a:tr>
            </a:tbl>
          </a:graphicData>
        </a:graphic>
      </p:graphicFrame>
      <p:sp>
        <p:nvSpPr>
          <p:cNvPr id="7" name="Title 1">
            <a:extLst>
              <a:ext uri="{FF2B5EF4-FFF2-40B4-BE49-F238E27FC236}">
                <a16:creationId xmlns:a16="http://schemas.microsoft.com/office/drawing/2014/main" id="{C83A255C-6230-3E83-842A-2DE0B7E24FF8}"/>
              </a:ext>
            </a:extLst>
          </p:cNvPr>
          <p:cNvSpPr>
            <a:spLocks noGrp="1"/>
          </p:cNvSpPr>
          <p:nvPr>
            <p:ph type="title"/>
          </p:nvPr>
        </p:nvSpPr>
        <p:spPr>
          <a:xfrm>
            <a:off x="2032000" y="-79300"/>
            <a:ext cx="8229600" cy="1143000"/>
          </a:xfrm>
        </p:spPr>
        <p:txBody>
          <a:bodyPr/>
          <a:lstStyle/>
          <a:p>
            <a:r>
              <a:rPr lang="en-GB" dirty="0"/>
              <a:t>Model performance metrics</a:t>
            </a:r>
            <a:endParaRPr lang="en-GB" sz="18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5" name="Content Placeholder 2"/>
          <p:cNvSpPr txBox="1">
            <a:spLocks/>
          </p:cNvSpPr>
          <p:nvPr/>
        </p:nvSpPr>
        <p:spPr>
          <a:xfrm>
            <a:off x="1981200" y="1239505"/>
            <a:ext cx="8507288" cy="5400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a:ln>
                <a:noFill/>
              </a:ln>
              <a:solidFill>
                <a:prstClr val="black"/>
              </a:solidFill>
              <a:effectLst/>
              <a:uLnTx/>
              <a:uFillTx/>
              <a:latin typeface="Calibri"/>
              <a:ea typeface="+mn-ea"/>
              <a:cs typeface="+mn-cs"/>
            </a:endParaRPr>
          </a:p>
          <a:p>
            <a:pPr marL="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61950" algn="l"/>
              </a:tabLst>
              <a:defRPr/>
            </a:pPr>
            <a:r>
              <a:rPr kumimoji="0" lang="en-GB" sz="1800" b="0" i="0" u="none" strike="noStrike" kern="1200" cap="none" spc="0" normalizeH="0" baseline="0" noProof="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61950"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58775" marR="0" lvl="0" indent="-358775" algn="l" defTabSz="914400" rtl="0" eaLnBrk="1" fontAlgn="auto" latinLnBrk="0" hangingPunct="1">
              <a:lnSpc>
                <a:spcPct val="100000"/>
              </a:lnSpc>
              <a:spcBef>
                <a:spcPct val="20000"/>
              </a:spcBef>
              <a:spcAft>
                <a:spcPts val="0"/>
              </a:spcAft>
              <a:buClrTx/>
              <a:buSzTx/>
              <a:buFont typeface="Arial" pitchFamily="34" charset="0"/>
              <a:buChar char="•"/>
              <a:tabLst>
                <a:tab pos="3314700"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 name="Content Placeholder 2"/>
          <p:cNvSpPr txBox="1">
            <a:spLocks/>
          </p:cNvSpPr>
          <p:nvPr/>
        </p:nvSpPr>
        <p:spPr>
          <a:xfrm>
            <a:off x="1044000" y="1260000"/>
            <a:ext cx="5340032" cy="432924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Confusion matrix (2 classes)</a:t>
            </a:r>
          </a:p>
          <a:p>
            <a:pPr marL="400050" marR="0" lvl="1" indent="-342900" algn="l" defTabSz="914400" rtl="0" eaLnBrk="1" fontAlgn="auto" latinLnBrk="0" hangingPunct="1">
              <a:lnSpc>
                <a:spcPct val="100000"/>
              </a:lnSpc>
              <a:spcBef>
                <a:spcPct val="20000"/>
              </a:spcBef>
              <a:spcAft>
                <a:spcPts val="0"/>
              </a:spcAft>
              <a:buClrTx/>
              <a:buSzTx/>
              <a:buFont typeface="Symbol" panose="05050102010706020507" pitchFamily="18" charset="2"/>
              <a:buChar char="-"/>
              <a:tabLst>
                <a:tab pos="3138488" algn="l"/>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Accuracy [0,1]</a:t>
            </a:r>
          </a:p>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361950" marR="0" lvl="2" indent="0" algn="l" defTabSz="914400" rtl="0" eaLnBrk="1" fontAlgn="auto" latinLnBrk="0" hangingPunct="1">
              <a:lnSpc>
                <a:spcPct val="100000"/>
              </a:lnSpc>
              <a:spcBef>
                <a:spcPct val="20000"/>
              </a:spcBef>
              <a:spcAft>
                <a:spcPts val="0"/>
              </a:spcAft>
              <a:buClrTx/>
              <a:buSzTx/>
              <a:buFont typeface="Arial" pitchFamily="34" charset="0"/>
              <a:buNone/>
              <a:tabLst>
                <a:tab pos="361950" algn="l"/>
                <a:tab pos="3138488" algn="l"/>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Ratio of correctly predicted observations to the total observations</a:t>
            </a: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p:txBody>
      </p:sp>
      <p:graphicFrame>
        <p:nvGraphicFramePr>
          <p:cNvPr id="2" name="Object 1"/>
          <p:cNvGraphicFramePr>
            <a:graphicFrameLocks noChangeAspect="1"/>
          </p:cNvGraphicFramePr>
          <p:nvPr/>
        </p:nvGraphicFramePr>
        <p:xfrm>
          <a:off x="1470010" y="2351598"/>
          <a:ext cx="3319138" cy="720000"/>
        </p:xfrm>
        <a:graphic>
          <a:graphicData uri="http://schemas.openxmlformats.org/presentationml/2006/ole">
            <mc:AlternateContent xmlns:mc="http://schemas.openxmlformats.org/markup-compatibility/2006">
              <mc:Choice xmlns:v="urn:schemas-microsoft-com:vml" Requires="v">
                <p:oleObj name="Equation" r:id="rId2" imgW="1701720" imgH="368280" progId="Equation.DSMT4">
                  <p:embed/>
                </p:oleObj>
              </mc:Choice>
              <mc:Fallback>
                <p:oleObj name="Equation" r:id="rId2" imgW="1701720" imgH="368280" progId="Equation.DSMT4">
                  <p:embed/>
                  <p:pic>
                    <p:nvPicPr>
                      <p:cNvPr id="2" name="Object 1"/>
                      <p:cNvPicPr/>
                      <p:nvPr/>
                    </p:nvPicPr>
                    <p:blipFill>
                      <a:blip r:embed="rId3"/>
                      <a:stretch>
                        <a:fillRect/>
                      </a:stretch>
                    </p:blipFill>
                    <p:spPr>
                      <a:xfrm>
                        <a:off x="1470010" y="2351598"/>
                        <a:ext cx="3319138" cy="720000"/>
                      </a:xfrm>
                      <a:prstGeom prst="rect">
                        <a:avLst/>
                      </a:prstGeom>
                    </p:spPr>
                  </p:pic>
                </p:oleObj>
              </mc:Fallback>
            </mc:AlternateContent>
          </a:graphicData>
        </a:graphic>
      </p:graphicFrame>
      <p:sp>
        <p:nvSpPr>
          <p:cNvPr id="8" name="Rounded Rectangle 7"/>
          <p:cNvSpPr/>
          <p:nvPr/>
        </p:nvSpPr>
        <p:spPr>
          <a:xfrm>
            <a:off x="8044563" y="3071599"/>
            <a:ext cx="2268194" cy="1980000"/>
          </a:xfrm>
          <a:prstGeom prst="roundRect">
            <a:avLst/>
          </a:prstGeom>
          <a:noFill/>
          <a:ln>
            <a:solidFill>
              <a:srgbClr val="00B0F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a:ea typeface="+mn-ea"/>
              <a:cs typeface="+mn-cs"/>
            </a:endParaRPr>
          </a:p>
        </p:txBody>
      </p:sp>
      <p:grpSp>
        <p:nvGrpSpPr>
          <p:cNvPr id="13" name="Group 12"/>
          <p:cNvGrpSpPr/>
          <p:nvPr/>
        </p:nvGrpSpPr>
        <p:grpSpPr>
          <a:xfrm>
            <a:off x="5398192" y="2272473"/>
            <a:ext cx="1080000" cy="771690"/>
            <a:chOff x="9912422" y="1142746"/>
            <a:chExt cx="1080000" cy="771690"/>
          </a:xfrm>
        </p:grpSpPr>
        <p:sp>
          <p:nvSpPr>
            <p:cNvPr id="11" name="Rounded Rectangle 10"/>
            <p:cNvSpPr/>
            <p:nvPr/>
          </p:nvSpPr>
          <p:spPr>
            <a:xfrm>
              <a:off x="9912422" y="1142746"/>
              <a:ext cx="1080000" cy="324000"/>
            </a:xfrm>
            <a:prstGeom prst="roundRect">
              <a:avLst/>
            </a:prstGeom>
            <a:noFill/>
            <a:ln w="3175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srgbClr val="00B050"/>
                  </a:solidFill>
                  <a:effectLst/>
                  <a:uLnTx/>
                  <a:uFillTx/>
                  <a:latin typeface="Calibri"/>
                  <a:ea typeface="+mn-ea"/>
                  <a:cs typeface="+mn-cs"/>
                </a:rPr>
                <a:t>numerator</a:t>
              </a:r>
            </a:p>
          </p:txBody>
        </p:sp>
        <p:sp>
          <p:nvSpPr>
            <p:cNvPr id="19" name="Rounded Rectangle 18"/>
            <p:cNvSpPr/>
            <p:nvPr/>
          </p:nvSpPr>
          <p:spPr>
            <a:xfrm>
              <a:off x="9912422" y="1590436"/>
              <a:ext cx="1080000" cy="324000"/>
            </a:xfrm>
            <a:prstGeom prst="roundRect">
              <a:avLst/>
            </a:prstGeom>
            <a:noFill/>
            <a:ln>
              <a:solidFill>
                <a:srgbClr val="00B0F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srgbClr val="00B0F0"/>
                  </a:solidFill>
                  <a:effectLst/>
                  <a:uLnTx/>
                  <a:uFillTx/>
                  <a:latin typeface="Calibri"/>
                  <a:ea typeface="+mn-ea"/>
                  <a:cs typeface="+mn-cs"/>
                </a:rPr>
                <a:t>denominator</a:t>
              </a:r>
              <a:endParaRPr kumimoji="0" lang="en-GB" sz="2000" b="1" i="0" u="none" strike="noStrike" kern="1200" cap="none" spc="0" normalizeH="0" baseline="0" noProof="0" dirty="0">
                <a:ln>
                  <a:noFill/>
                </a:ln>
                <a:solidFill>
                  <a:srgbClr val="00B0F0"/>
                </a:solidFill>
                <a:effectLst/>
                <a:uLnTx/>
                <a:uFillTx/>
                <a:latin typeface="Calibri"/>
                <a:ea typeface="+mn-ea"/>
                <a:cs typeface="+mn-cs"/>
              </a:endParaRPr>
            </a:p>
          </p:txBody>
        </p:sp>
      </p:grpSp>
      <p:sp>
        <p:nvSpPr>
          <p:cNvPr id="20" name="Rounded Rectangle 19"/>
          <p:cNvSpPr/>
          <p:nvPr/>
        </p:nvSpPr>
        <p:spPr>
          <a:xfrm rot="2395412">
            <a:off x="7971482" y="3719283"/>
            <a:ext cx="2424215" cy="652758"/>
          </a:xfrm>
          <a:prstGeom prst="roundRect">
            <a:avLst/>
          </a:prstGeom>
          <a:noFill/>
          <a:ln w="3175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a:ea typeface="+mn-ea"/>
              <a:cs typeface="+mn-cs"/>
            </a:endParaRPr>
          </a:p>
        </p:txBody>
      </p:sp>
      <p:sp>
        <p:nvSpPr>
          <p:cNvPr id="9" name="Line 2">
            <a:extLst>
              <a:ext uri="{FF2B5EF4-FFF2-40B4-BE49-F238E27FC236}">
                <a16:creationId xmlns:a16="http://schemas.microsoft.com/office/drawing/2014/main" id="{DE8F63C3-AD8A-E36F-3656-B01CA01DCCD1}"/>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0" name="Line 2">
            <a:extLst>
              <a:ext uri="{FF2B5EF4-FFF2-40B4-BE49-F238E27FC236}">
                <a16:creationId xmlns:a16="http://schemas.microsoft.com/office/drawing/2014/main" id="{7736FAF5-E9F7-1278-7E91-3779421FBC43}"/>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22624005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1CA3303-E293-F10E-5C3C-8CBE98B1CB0E}"/>
              </a:ext>
            </a:extLst>
          </p:cNvPr>
          <p:cNvSpPr>
            <a:spLocks noGrp="1"/>
          </p:cNvSpPr>
          <p:nvPr>
            <p:ph type="title"/>
          </p:nvPr>
        </p:nvSpPr>
        <p:spPr>
          <a:xfrm>
            <a:off x="2032000" y="-79300"/>
            <a:ext cx="8229600" cy="1143000"/>
          </a:xfrm>
        </p:spPr>
        <p:txBody>
          <a:bodyPr/>
          <a:lstStyle/>
          <a:p>
            <a:r>
              <a:rPr lang="en-GB" dirty="0"/>
              <a:t>Model performance metrics</a:t>
            </a:r>
            <a:endParaRPr lang="en-GB" sz="18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5" name="Content Placeholder 2"/>
          <p:cNvSpPr txBox="1">
            <a:spLocks/>
          </p:cNvSpPr>
          <p:nvPr/>
        </p:nvSpPr>
        <p:spPr>
          <a:xfrm>
            <a:off x="1981200" y="1239505"/>
            <a:ext cx="8507288" cy="5400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a:ln>
                <a:noFill/>
              </a:ln>
              <a:solidFill>
                <a:prstClr val="black"/>
              </a:solidFill>
              <a:effectLst/>
              <a:uLnTx/>
              <a:uFillTx/>
              <a:latin typeface="Calibri"/>
              <a:ea typeface="+mn-ea"/>
              <a:cs typeface="+mn-cs"/>
            </a:endParaRPr>
          </a:p>
          <a:p>
            <a:pPr marL="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61950" algn="l"/>
              </a:tabLst>
              <a:defRPr/>
            </a:pPr>
            <a:r>
              <a:rPr kumimoji="0" lang="en-GB" sz="1800" b="0" i="0" u="none" strike="noStrike" kern="1200" cap="none" spc="0" normalizeH="0" baseline="0" noProof="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61950"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58775" marR="0" lvl="0" indent="-358775" algn="l" defTabSz="914400" rtl="0" eaLnBrk="1" fontAlgn="auto" latinLnBrk="0" hangingPunct="1">
              <a:lnSpc>
                <a:spcPct val="100000"/>
              </a:lnSpc>
              <a:spcBef>
                <a:spcPct val="20000"/>
              </a:spcBef>
              <a:spcAft>
                <a:spcPts val="0"/>
              </a:spcAft>
              <a:buClrTx/>
              <a:buSzTx/>
              <a:buFont typeface="Arial" pitchFamily="34" charset="0"/>
              <a:buChar char="•"/>
              <a:tabLst>
                <a:tab pos="3314700"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 name="Content Placeholder 2"/>
          <p:cNvSpPr txBox="1">
            <a:spLocks/>
          </p:cNvSpPr>
          <p:nvPr/>
        </p:nvSpPr>
        <p:spPr>
          <a:xfrm>
            <a:off x="1044000" y="1260000"/>
            <a:ext cx="5340032" cy="432924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Confusion matrix (2 classes)</a:t>
            </a:r>
          </a:p>
          <a:p>
            <a:pPr marL="400050" marR="0" lvl="1" indent="-342900" algn="l" defTabSz="914400" rtl="0" eaLnBrk="1" fontAlgn="auto" latinLnBrk="0" hangingPunct="1">
              <a:lnSpc>
                <a:spcPct val="100000"/>
              </a:lnSpc>
              <a:spcBef>
                <a:spcPct val="20000"/>
              </a:spcBef>
              <a:spcAft>
                <a:spcPts val="0"/>
              </a:spcAft>
              <a:buClrTx/>
              <a:buSzTx/>
              <a:buFont typeface="Symbol" panose="05050102010706020507" pitchFamily="18" charset="2"/>
              <a:buChar char="-"/>
              <a:tabLst>
                <a:tab pos="3138488" algn="l"/>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Accuracy [0,1]</a:t>
            </a:r>
          </a:p>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p:txBody>
      </p:sp>
      <p:graphicFrame>
        <p:nvGraphicFramePr>
          <p:cNvPr id="14" name="Table 13"/>
          <p:cNvGraphicFramePr>
            <a:graphicFrameLocks noGrp="1"/>
          </p:cNvGraphicFramePr>
          <p:nvPr/>
        </p:nvGraphicFramePr>
        <p:xfrm>
          <a:off x="7032104" y="2220068"/>
          <a:ext cx="4176000" cy="3276000"/>
        </p:xfrm>
        <a:graphic>
          <a:graphicData uri="http://schemas.openxmlformats.org/drawingml/2006/table">
            <a:tbl>
              <a:tblPr>
                <a:tableStyleId>{5C22544A-7EE6-4342-B048-85BDC9FD1C3A}</a:tableStyleId>
              </a:tblPr>
              <a:tblGrid>
                <a:gridCol w="468000">
                  <a:extLst>
                    <a:ext uri="{9D8B030D-6E8A-4147-A177-3AD203B41FA5}">
                      <a16:colId xmlns:a16="http://schemas.microsoft.com/office/drawing/2014/main" val="3994737336"/>
                    </a:ext>
                  </a:extLst>
                </a:gridCol>
                <a:gridCol w="468000">
                  <a:extLst>
                    <a:ext uri="{9D8B030D-6E8A-4147-A177-3AD203B41FA5}">
                      <a16:colId xmlns:a16="http://schemas.microsoft.com/office/drawing/2014/main" val="2977056859"/>
                    </a:ext>
                  </a:extLst>
                </a:gridCol>
                <a:gridCol w="1224000">
                  <a:extLst>
                    <a:ext uri="{9D8B030D-6E8A-4147-A177-3AD203B41FA5}">
                      <a16:colId xmlns:a16="http://schemas.microsoft.com/office/drawing/2014/main" val="2053703784"/>
                    </a:ext>
                  </a:extLst>
                </a:gridCol>
                <a:gridCol w="1224000">
                  <a:extLst>
                    <a:ext uri="{9D8B030D-6E8A-4147-A177-3AD203B41FA5}">
                      <a16:colId xmlns:a16="http://schemas.microsoft.com/office/drawing/2014/main" val="1157899827"/>
                    </a:ext>
                  </a:extLst>
                </a:gridCol>
                <a:gridCol w="792000">
                  <a:extLst>
                    <a:ext uri="{9D8B030D-6E8A-4147-A177-3AD203B41FA5}">
                      <a16:colId xmlns:a16="http://schemas.microsoft.com/office/drawing/2014/main" val="121804767"/>
                    </a:ext>
                  </a:extLst>
                </a:gridCol>
              </a:tblGrid>
              <a:tr h="396000">
                <a:tc rowSpan="2" gridSpan="2">
                  <a:txBody>
                    <a:bodyPr/>
                    <a:lstStyle/>
                    <a:p>
                      <a:pPr algn="ctr"/>
                      <a:endParaRPr lang="en-GB" sz="1800" dirty="0">
                        <a:latin typeface="+mn-lt"/>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rowSpan="2" hMerge="1">
                  <a:txBody>
                    <a:bodyPr/>
                    <a:lstStyle/>
                    <a:p>
                      <a:pPr algn="ctr"/>
                      <a:endParaRPr lang="en-GB" dirty="0"/>
                    </a:p>
                  </a:txBody>
                  <a:tcPr anchor="ctr">
                    <a:solidFill>
                      <a:schemeClr val="bg1">
                        <a:lumMod val="75000"/>
                      </a:schemeClr>
                    </a:solidFill>
                  </a:tcPr>
                </a:tc>
                <a:tc gridSpan="2">
                  <a:txBody>
                    <a:bodyPr/>
                    <a:lstStyle/>
                    <a:p>
                      <a:pPr algn="ctr"/>
                      <a:r>
                        <a:rPr lang="en-GB" sz="1800" dirty="0">
                          <a:latin typeface="+mn-lt"/>
                        </a:rPr>
                        <a:t>T</a:t>
                      </a:r>
                      <a:r>
                        <a:rPr lang="en-GB" sz="1800" baseline="0" dirty="0">
                          <a:latin typeface="+mn-lt"/>
                        </a:rPr>
                        <a:t>rue outcome</a:t>
                      </a: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GB" dirty="0"/>
                    </a:p>
                  </a:txBody>
                  <a:tcPr anchor="ctr">
                    <a:solidFill>
                      <a:schemeClr val="bg1">
                        <a:lumMod val="75000"/>
                      </a:schemeClr>
                    </a:solidFill>
                  </a:tcPr>
                </a:tc>
                <a:tc rowSpan="2">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77422590"/>
                  </a:ext>
                </a:extLst>
              </a:tr>
              <a:tr h="396000">
                <a:tc gridSpan="2" vMerge="1">
                  <a:txBody>
                    <a:bodyPr/>
                    <a:lstStyle/>
                    <a:p>
                      <a:pPr algn="ctr"/>
                      <a:endParaRPr lang="en-GB" dirty="0"/>
                    </a:p>
                  </a:txBody>
                  <a:tcPr anchor="ctr">
                    <a:solidFill>
                      <a:schemeClr val="bg1">
                        <a:lumMod val="75000"/>
                      </a:schemeClr>
                    </a:solidFill>
                  </a:tcPr>
                </a:tc>
                <a:tc hMerge="1" vMerge="1">
                  <a:txBody>
                    <a:bodyPr/>
                    <a:lstStyle/>
                    <a:p>
                      <a:pPr algn="ctr"/>
                      <a:endParaRPr lang="en-GB" dirty="0"/>
                    </a:p>
                  </a:txBody>
                  <a:tcPr anchor="ctr">
                    <a:solidFill>
                      <a:schemeClr val="bg1">
                        <a:lumMod val="75000"/>
                      </a:schemeClr>
                    </a:solidFill>
                  </a:tcPr>
                </a:tc>
                <a:tc>
                  <a:txBody>
                    <a:bodyPr/>
                    <a:lstStyle/>
                    <a:p>
                      <a:pPr algn="ctr"/>
                      <a:r>
                        <a:rPr lang="en-GB" sz="1800" dirty="0">
                          <a:latin typeface="+mn-lt"/>
                        </a:rPr>
                        <a:t>DIABETES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DFB1"/>
                    </a:solidFill>
                  </a:tcPr>
                </a:tc>
                <a:tc>
                  <a:txBody>
                    <a:bodyPr/>
                    <a:lstStyle/>
                    <a:p>
                      <a:pPr algn="ctr"/>
                      <a:r>
                        <a:rPr lang="en-GB" sz="1800" dirty="0">
                          <a:latin typeface="+mn-lt"/>
                        </a:rPr>
                        <a:t>HEALTHY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9C99"/>
                    </a:solidFill>
                  </a:tcPr>
                </a:tc>
                <a:tc vMerge="1">
                  <a:txBody>
                    <a:bodyPr/>
                    <a:lstStyle/>
                    <a:p>
                      <a:pPr algn="ctr"/>
                      <a:endParaRPr lang="en-GB" dirty="0"/>
                    </a:p>
                  </a:txBody>
                  <a:tcPr anchor="ctr">
                    <a:solidFill>
                      <a:schemeClr val="bg1">
                        <a:lumMod val="75000"/>
                      </a:schemeClr>
                    </a:solidFill>
                  </a:tcPr>
                </a:tc>
                <a:extLst>
                  <a:ext uri="{0D108BD9-81ED-4DB2-BD59-A6C34878D82A}">
                    <a16:rowId xmlns:a16="http://schemas.microsoft.com/office/drawing/2014/main" val="2795479193"/>
                  </a:ext>
                </a:extLst>
              </a:tr>
              <a:tr h="1044000">
                <a:tc rowSpan="2">
                  <a:txBody>
                    <a:bodyPr/>
                    <a:lstStyle/>
                    <a:p>
                      <a:pPr algn="ctr"/>
                      <a:r>
                        <a:rPr lang="en-GB" sz="1800" dirty="0">
                          <a:latin typeface="+mn-lt"/>
                        </a:rPr>
                        <a:t>Predicted</a:t>
                      </a:r>
                      <a:r>
                        <a:rPr lang="en-GB" sz="1800" baseline="0" dirty="0">
                          <a:latin typeface="+mn-lt"/>
                        </a:rPr>
                        <a:t> outcome</a:t>
                      </a:r>
                      <a:endParaRPr lang="en-GB" sz="1800" dirty="0">
                        <a:latin typeface="+mn-lt"/>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800" dirty="0">
                          <a:latin typeface="+mn-lt"/>
                        </a:rPr>
                        <a:t>DIABETES</a:t>
                      </a: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DFB1"/>
                    </a:solidFill>
                  </a:tcPr>
                </a:tc>
                <a:tc>
                  <a:txBody>
                    <a:bodyPr/>
                    <a:lstStyle/>
                    <a:p>
                      <a:pPr algn="ctr"/>
                      <a:r>
                        <a:rPr lang="en-GB" sz="1800" dirty="0">
                          <a:latin typeface="+mn-lt"/>
                        </a:rPr>
                        <a:t>30</a:t>
                      </a:r>
                    </a:p>
                    <a:p>
                      <a:pPr algn="ctr"/>
                      <a:r>
                        <a:rPr lang="en-GB" sz="1800" dirty="0">
                          <a:latin typeface="+mn-lt"/>
                        </a:rPr>
                        <a:t>(TP)</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70</a:t>
                      </a:r>
                    </a:p>
                    <a:p>
                      <a:pPr algn="ctr"/>
                      <a:r>
                        <a:rPr lang="en-GB" sz="1800" dirty="0">
                          <a:latin typeface="+mn-lt"/>
                        </a:rPr>
                        <a:t>(FP)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100</a:t>
                      </a: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4114900944"/>
                  </a:ext>
                </a:extLst>
              </a:tr>
              <a:tr h="1044000">
                <a:tc vMerge="1">
                  <a:txBody>
                    <a:bodyPr/>
                    <a:lstStyle/>
                    <a:p>
                      <a:pPr algn="ctr"/>
                      <a:endParaRPr lang="en-GB" dirty="0"/>
                    </a:p>
                  </a:txBody>
                  <a:tcPr vert="vert270" anchor="ctr">
                    <a:solidFill>
                      <a:schemeClr val="bg1">
                        <a:lumMod val="75000"/>
                      </a:schemeClr>
                    </a:solidFill>
                  </a:tcPr>
                </a:tc>
                <a:tc>
                  <a:txBody>
                    <a:bodyPr/>
                    <a:lstStyle/>
                    <a:p>
                      <a:pPr algn="ctr"/>
                      <a:r>
                        <a:rPr lang="en-GB" sz="1800" dirty="0">
                          <a:latin typeface="+mn-lt"/>
                        </a:rPr>
                        <a:t>HEALTHY</a:t>
                      </a: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9C99"/>
                    </a:solidFill>
                  </a:tcPr>
                </a:tc>
                <a:tc>
                  <a:txBody>
                    <a:bodyPr/>
                    <a:lstStyle/>
                    <a:p>
                      <a:pPr algn="ctr"/>
                      <a:r>
                        <a:rPr lang="en-GB" sz="1800" dirty="0">
                          <a:latin typeface="+mn-lt"/>
                        </a:rPr>
                        <a:t>20</a:t>
                      </a:r>
                    </a:p>
                    <a:p>
                      <a:pPr algn="ctr"/>
                      <a:r>
                        <a:rPr lang="en-GB" sz="1800" dirty="0">
                          <a:latin typeface="+mn-lt"/>
                        </a:rPr>
                        <a:t>(FN)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100</a:t>
                      </a:r>
                    </a:p>
                    <a:p>
                      <a:pPr algn="ctr"/>
                      <a:r>
                        <a:rPr lang="en-GB" sz="1800" dirty="0">
                          <a:latin typeface="+mn-lt"/>
                        </a:rPr>
                        <a:t>(TN)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120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3132018532"/>
                  </a:ext>
                </a:extLst>
              </a:tr>
              <a:tr h="396000">
                <a:tc gridSpan="2">
                  <a:txBody>
                    <a:bodyPr/>
                    <a:lstStyle/>
                    <a:p>
                      <a:pPr algn="ctr"/>
                      <a:endParaRPr lang="en-GB" sz="1800" dirty="0">
                        <a:latin typeface="+mn-lt"/>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hMerge="1">
                  <a:txBody>
                    <a:bodyPr/>
                    <a:lstStyle/>
                    <a:p>
                      <a:pPr algn="ctr"/>
                      <a:endParaRPr lang="en-GB" dirty="0"/>
                    </a:p>
                  </a:txBody>
                  <a:tcPr anchor="ctr">
                    <a:solidFill>
                      <a:schemeClr val="bg1">
                        <a:lumMod val="75000"/>
                      </a:schemeClr>
                    </a:solidFill>
                  </a:tcPr>
                </a:tc>
                <a:tc>
                  <a:txBody>
                    <a:bodyPr/>
                    <a:lstStyle/>
                    <a:p>
                      <a:pPr algn="ctr"/>
                      <a:r>
                        <a:rPr lang="en-GB" sz="1800" dirty="0">
                          <a:latin typeface="+mn-lt"/>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r>
                        <a:rPr lang="en-GB" sz="1800" dirty="0">
                          <a:latin typeface="+mn-lt"/>
                        </a:rPr>
                        <a:t>170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r>
                        <a:rPr lang="en-GB" sz="1800" dirty="0">
                          <a:latin typeface="+mn-lt"/>
                        </a:rPr>
                        <a:t>220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3017366942"/>
                  </a:ext>
                </a:extLst>
              </a:tr>
            </a:tbl>
          </a:graphicData>
        </a:graphic>
      </p:graphicFrame>
      <p:graphicFrame>
        <p:nvGraphicFramePr>
          <p:cNvPr id="2" name="Object 1"/>
          <p:cNvGraphicFramePr>
            <a:graphicFrameLocks noChangeAspect="1"/>
          </p:cNvGraphicFramePr>
          <p:nvPr/>
        </p:nvGraphicFramePr>
        <p:xfrm>
          <a:off x="1470010" y="2351598"/>
          <a:ext cx="3319138" cy="720000"/>
        </p:xfrm>
        <a:graphic>
          <a:graphicData uri="http://schemas.openxmlformats.org/presentationml/2006/ole">
            <mc:AlternateContent xmlns:mc="http://schemas.openxmlformats.org/markup-compatibility/2006">
              <mc:Choice xmlns:v="urn:schemas-microsoft-com:vml" Requires="v">
                <p:oleObj name="Equation" r:id="rId2" imgW="1701720" imgH="368280" progId="Equation.DSMT4">
                  <p:embed/>
                </p:oleObj>
              </mc:Choice>
              <mc:Fallback>
                <p:oleObj name="Equation" r:id="rId2" imgW="1701720" imgH="368280" progId="Equation.DSMT4">
                  <p:embed/>
                  <p:pic>
                    <p:nvPicPr>
                      <p:cNvPr id="2" name="Object 1"/>
                      <p:cNvPicPr/>
                      <p:nvPr/>
                    </p:nvPicPr>
                    <p:blipFill>
                      <a:blip r:embed="rId3"/>
                      <a:stretch>
                        <a:fillRect/>
                      </a:stretch>
                    </p:blipFill>
                    <p:spPr>
                      <a:xfrm>
                        <a:off x="1470010" y="2351598"/>
                        <a:ext cx="3319138" cy="720000"/>
                      </a:xfrm>
                      <a:prstGeom prst="rect">
                        <a:avLst/>
                      </a:prstGeom>
                    </p:spPr>
                  </p:pic>
                </p:oleObj>
              </mc:Fallback>
            </mc:AlternateContent>
          </a:graphicData>
        </a:graphic>
      </p:graphicFrame>
      <p:grpSp>
        <p:nvGrpSpPr>
          <p:cNvPr id="9" name="Group 8"/>
          <p:cNvGrpSpPr/>
          <p:nvPr/>
        </p:nvGrpSpPr>
        <p:grpSpPr>
          <a:xfrm>
            <a:off x="1462682" y="1395624"/>
            <a:ext cx="10463614" cy="2860756"/>
            <a:chOff x="1462682" y="1395624"/>
            <a:chExt cx="10463614" cy="2860756"/>
          </a:xfrm>
        </p:grpSpPr>
        <p:grpSp>
          <p:nvGrpSpPr>
            <p:cNvPr id="7" name="Group 6"/>
            <p:cNvGrpSpPr/>
            <p:nvPr/>
          </p:nvGrpSpPr>
          <p:grpSpPr>
            <a:xfrm>
              <a:off x="7032104" y="1395624"/>
              <a:ext cx="4894192" cy="646364"/>
              <a:chOff x="7032104" y="1395624"/>
              <a:chExt cx="4894192" cy="646364"/>
            </a:xfrm>
          </p:grpSpPr>
          <p:sp>
            <p:nvSpPr>
              <p:cNvPr id="3" name="Rounded Rectangle 2"/>
              <p:cNvSpPr/>
              <p:nvPr/>
            </p:nvSpPr>
            <p:spPr>
              <a:xfrm>
                <a:off x="7032104" y="1395624"/>
                <a:ext cx="4894192" cy="646332"/>
              </a:xfrm>
              <a:prstGeom prst="roundRect">
                <a:avLst/>
              </a:prstGeom>
              <a:solidFill>
                <a:schemeClr val="accent4">
                  <a:lumMod val="20000"/>
                  <a:lumOff val="8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a:ea typeface="+mn-ea"/>
                  <a:cs typeface="+mn-cs"/>
                </a:endParaRPr>
              </a:p>
            </p:txBody>
          </p:sp>
          <p:sp>
            <p:nvSpPr>
              <p:cNvPr id="16" name="TextBox 15"/>
              <p:cNvSpPr txBox="1"/>
              <p:nvPr/>
            </p:nvSpPr>
            <p:spPr>
              <a:xfrm>
                <a:off x="7174944" y="1395657"/>
                <a:ext cx="460851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7030A0"/>
                    </a:solidFill>
                    <a:effectLst/>
                    <a:uLnTx/>
                    <a:uFillTx/>
                    <a:latin typeface="Calibri"/>
                    <a:ea typeface="+mn-ea"/>
                    <a:cs typeface="+mn-cs"/>
                  </a:rPr>
                  <a:t>Example (</a:t>
                </a:r>
                <a:r>
                  <a:rPr kumimoji="0" lang="en-GB" sz="1800" b="1" i="1" u="none" strike="noStrike" kern="1200" cap="none" spc="0" normalizeH="0" baseline="0" noProof="0" dirty="0">
                    <a:ln>
                      <a:noFill/>
                    </a:ln>
                    <a:solidFill>
                      <a:srgbClr val="7030A0"/>
                    </a:solidFill>
                    <a:effectLst/>
                    <a:uLnTx/>
                    <a:uFillTx/>
                    <a:latin typeface="Calibri"/>
                    <a:ea typeface="+mn-ea"/>
                    <a:cs typeface="+mn-cs"/>
                  </a:rPr>
                  <a:t>N</a:t>
                </a:r>
                <a:r>
                  <a:rPr kumimoji="0" lang="en-GB" sz="1800" b="1" i="0" u="none" strike="noStrike" kern="1200" cap="none" spc="0" normalizeH="0" baseline="0" noProof="0" dirty="0">
                    <a:ln>
                      <a:noFill/>
                    </a:ln>
                    <a:solidFill>
                      <a:srgbClr val="7030A0"/>
                    </a:solidFill>
                    <a:effectLst/>
                    <a:uLnTx/>
                    <a:uFillTx/>
                    <a:latin typeface="Calibri"/>
                    <a:ea typeface="+mn-ea"/>
                    <a:cs typeface="+mn-cs"/>
                  </a:rPr>
                  <a:t> = 220)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7030A0"/>
                    </a:solidFill>
                    <a:effectLst/>
                    <a:uLnTx/>
                    <a:uFillTx/>
                    <a:latin typeface="Calibri"/>
                    <a:ea typeface="+mn-ea"/>
                    <a:cs typeface="+mn-cs"/>
                  </a:rPr>
                  <a:t>Health state prediction: DIABETES or HEALTHY</a:t>
                </a:r>
              </a:p>
            </p:txBody>
          </p:sp>
        </p:grpSp>
        <p:graphicFrame>
          <p:nvGraphicFramePr>
            <p:cNvPr id="5" name="Object 4"/>
            <p:cNvGraphicFramePr>
              <a:graphicFrameLocks noChangeAspect="1"/>
            </p:cNvGraphicFramePr>
            <p:nvPr/>
          </p:nvGraphicFramePr>
          <p:xfrm>
            <a:off x="1462682" y="3536380"/>
            <a:ext cx="4493793" cy="720000"/>
          </p:xfrm>
          <a:graphic>
            <a:graphicData uri="http://schemas.openxmlformats.org/presentationml/2006/ole">
              <mc:AlternateContent xmlns:mc="http://schemas.openxmlformats.org/markup-compatibility/2006">
                <mc:Choice xmlns:v="urn:schemas-microsoft-com:vml" Requires="v">
                  <p:oleObj name="Equation" r:id="rId4" imgW="2298600" imgH="368280" progId="Equation.DSMT4">
                    <p:embed/>
                  </p:oleObj>
                </mc:Choice>
                <mc:Fallback>
                  <p:oleObj name="Equation" r:id="rId4" imgW="2298600" imgH="368280" progId="Equation.DSMT4">
                    <p:embed/>
                    <p:pic>
                      <p:nvPicPr>
                        <p:cNvPr id="5" name="Object 4"/>
                        <p:cNvPicPr/>
                        <p:nvPr/>
                      </p:nvPicPr>
                      <p:blipFill>
                        <a:blip r:embed="rId5"/>
                        <a:stretch>
                          <a:fillRect/>
                        </a:stretch>
                      </p:blipFill>
                      <p:spPr>
                        <a:xfrm>
                          <a:off x="1462682" y="3536380"/>
                          <a:ext cx="4493793" cy="720000"/>
                        </a:xfrm>
                        <a:prstGeom prst="rect">
                          <a:avLst/>
                        </a:prstGeom>
                        <a:ln>
                          <a:noFill/>
                        </a:ln>
                      </p:spPr>
                    </p:pic>
                  </p:oleObj>
                </mc:Fallback>
              </mc:AlternateContent>
            </a:graphicData>
          </a:graphic>
        </p:graphicFrame>
      </p:grpSp>
      <p:sp>
        <p:nvSpPr>
          <p:cNvPr id="20" name="Rounded Rectangle 19"/>
          <p:cNvSpPr/>
          <p:nvPr/>
        </p:nvSpPr>
        <p:spPr>
          <a:xfrm>
            <a:off x="8044563" y="3071599"/>
            <a:ext cx="2268194" cy="1980000"/>
          </a:xfrm>
          <a:prstGeom prst="roundRect">
            <a:avLst/>
          </a:prstGeom>
          <a:noFill/>
          <a:ln>
            <a:solidFill>
              <a:srgbClr val="00B0F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a:ea typeface="+mn-ea"/>
              <a:cs typeface="+mn-cs"/>
            </a:endParaRPr>
          </a:p>
        </p:txBody>
      </p:sp>
      <p:sp>
        <p:nvSpPr>
          <p:cNvPr id="21" name="Rounded Rectangle 20"/>
          <p:cNvSpPr/>
          <p:nvPr/>
        </p:nvSpPr>
        <p:spPr>
          <a:xfrm rot="2395412">
            <a:off x="7971482" y="3740591"/>
            <a:ext cx="2424215" cy="652758"/>
          </a:xfrm>
          <a:prstGeom prst="roundRect">
            <a:avLst/>
          </a:prstGeom>
          <a:noFill/>
          <a:ln w="3175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a:ea typeface="+mn-ea"/>
              <a:cs typeface="+mn-cs"/>
            </a:endParaRPr>
          </a:p>
        </p:txBody>
      </p:sp>
      <p:sp>
        <p:nvSpPr>
          <p:cNvPr id="12" name="Line 2">
            <a:extLst>
              <a:ext uri="{FF2B5EF4-FFF2-40B4-BE49-F238E27FC236}">
                <a16:creationId xmlns:a16="http://schemas.microsoft.com/office/drawing/2014/main" id="{DD0BCF61-378B-872A-45D7-56555A404887}"/>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3" name="Line 2">
            <a:extLst>
              <a:ext uri="{FF2B5EF4-FFF2-40B4-BE49-F238E27FC236}">
                <a16:creationId xmlns:a16="http://schemas.microsoft.com/office/drawing/2014/main" id="{3D54ED35-39FF-2496-431B-23BC5693D287}"/>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9625666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Table 19"/>
          <p:cNvGraphicFramePr>
            <a:graphicFrameLocks noGrp="1"/>
          </p:cNvGraphicFramePr>
          <p:nvPr/>
        </p:nvGraphicFramePr>
        <p:xfrm>
          <a:off x="7032104" y="2220068"/>
          <a:ext cx="4176000" cy="3276000"/>
        </p:xfrm>
        <a:graphic>
          <a:graphicData uri="http://schemas.openxmlformats.org/drawingml/2006/table">
            <a:tbl>
              <a:tblPr>
                <a:tableStyleId>{5C22544A-7EE6-4342-B048-85BDC9FD1C3A}</a:tableStyleId>
              </a:tblPr>
              <a:tblGrid>
                <a:gridCol w="468000">
                  <a:extLst>
                    <a:ext uri="{9D8B030D-6E8A-4147-A177-3AD203B41FA5}">
                      <a16:colId xmlns:a16="http://schemas.microsoft.com/office/drawing/2014/main" val="3994737336"/>
                    </a:ext>
                  </a:extLst>
                </a:gridCol>
                <a:gridCol w="468000">
                  <a:extLst>
                    <a:ext uri="{9D8B030D-6E8A-4147-A177-3AD203B41FA5}">
                      <a16:colId xmlns:a16="http://schemas.microsoft.com/office/drawing/2014/main" val="2977056859"/>
                    </a:ext>
                  </a:extLst>
                </a:gridCol>
                <a:gridCol w="1224000">
                  <a:extLst>
                    <a:ext uri="{9D8B030D-6E8A-4147-A177-3AD203B41FA5}">
                      <a16:colId xmlns:a16="http://schemas.microsoft.com/office/drawing/2014/main" val="2053703784"/>
                    </a:ext>
                  </a:extLst>
                </a:gridCol>
                <a:gridCol w="1224000">
                  <a:extLst>
                    <a:ext uri="{9D8B030D-6E8A-4147-A177-3AD203B41FA5}">
                      <a16:colId xmlns:a16="http://schemas.microsoft.com/office/drawing/2014/main" val="1157899827"/>
                    </a:ext>
                  </a:extLst>
                </a:gridCol>
                <a:gridCol w="792000">
                  <a:extLst>
                    <a:ext uri="{9D8B030D-6E8A-4147-A177-3AD203B41FA5}">
                      <a16:colId xmlns:a16="http://schemas.microsoft.com/office/drawing/2014/main" val="121804767"/>
                    </a:ext>
                  </a:extLst>
                </a:gridCol>
              </a:tblGrid>
              <a:tr h="396000">
                <a:tc rowSpan="2" gridSpan="2">
                  <a:txBody>
                    <a:bodyPr/>
                    <a:lstStyle/>
                    <a:p>
                      <a:pPr algn="ctr"/>
                      <a:endParaRPr lang="en-GB" sz="1800" dirty="0">
                        <a:latin typeface="+mn-lt"/>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rowSpan="2" hMerge="1">
                  <a:txBody>
                    <a:bodyPr/>
                    <a:lstStyle/>
                    <a:p>
                      <a:pPr algn="ctr"/>
                      <a:endParaRPr lang="en-GB" dirty="0"/>
                    </a:p>
                  </a:txBody>
                  <a:tcPr anchor="ctr">
                    <a:solidFill>
                      <a:schemeClr val="bg1">
                        <a:lumMod val="75000"/>
                      </a:schemeClr>
                    </a:solidFill>
                  </a:tcPr>
                </a:tc>
                <a:tc gridSpan="2">
                  <a:txBody>
                    <a:bodyPr/>
                    <a:lstStyle/>
                    <a:p>
                      <a:pPr algn="ctr"/>
                      <a:r>
                        <a:rPr lang="en-GB" sz="1800" dirty="0">
                          <a:latin typeface="+mn-lt"/>
                        </a:rPr>
                        <a:t>T</a:t>
                      </a:r>
                      <a:r>
                        <a:rPr lang="en-GB" sz="1800" baseline="0" dirty="0">
                          <a:latin typeface="+mn-lt"/>
                        </a:rPr>
                        <a:t>rue outcome</a:t>
                      </a: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GB" dirty="0"/>
                    </a:p>
                  </a:txBody>
                  <a:tcPr anchor="ctr">
                    <a:solidFill>
                      <a:schemeClr val="bg1">
                        <a:lumMod val="75000"/>
                      </a:schemeClr>
                    </a:solidFill>
                  </a:tcPr>
                </a:tc>
                <a:tc rowSpan="2">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77422590"/>
                  </a:ext>
                </a:extLst>
              </a:tr>
              <a:tr h="396000">
                <a:tc gridSpan="2" vMerge="1">
                  <a:txBody>
                    <a:bodyPr/>
                    <a:lstStyle/>
                    <a:p>
                      <a:pPr algn="ctr"/>
                      <a:endParaRPr lang="en-GB" dirty="0"/>
                    </a:p>
                  </a:txBody>
                  <a:tcPr anchor="ctr">
                    <a:solidFill>
                      <a:schemeClr val="bg1">
                        <a:lumMod val="75000"/>
                      </a:schemeClr>
                    </a:solidFill>
                  </a:tcPr>
                </a:tc>
                <a:tc hMerge="1" vMerge="1">
                  <a:txBody>
                    <a:bodyPr/>
                    <a:lstStyle/>
                    <a:p>
                      <a:pPr algn="ctr"/>
                      <a:endParaRPr lang="en-GB" dirty="0"/>
                    </a:p>
                  </a:txBody>
                  <a:tcPr anchor="ctr">
                    <a:solidFill>
                      <a:schemeClr val="bg1">
                        <a:lumMod val="75000"/>
                      </a:schemeClr>
                    </a:solidFill>
                  </a:tcPr>
                </a:tc>
                <a:tc>
                  <a:txBody>
                    <a:bodyPr/>
                    <a:lstStyle/>
                    <a:p>
                      <a:pPr algn="ctr"/>
                      <a:r>
                        <a:rPr lang="en-GB" sz="1800" dirty="0">
                          <a:latin typeface="+mn-lt"/>
                        </a:rPr>
                        <a:t>Positive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DFB1"/>
                    </a:solidFill>
                  </a:tcPr>
                </a:tc>
                <a:tc>
                  <a:txBody>
                    <a:bodyPr/>
                    <a:lstStyle/>
                    <a:p>
                      <a:pPr algn="ctr"/>
                      <a:r>
                        <a:rPr lang="en-GB" sz="1800" dirty="0">
                          <a:latin typeface="+mn-lt"/>
                        </a:rPr>
                        <a:t>Negative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9C99"/>
                    </a:solidFill>
                  </a:tcPr>
                </a:tc>
                <a:tc vMerge="1">
                  <a:txBody>
                    <a:bodyPr/>
                    <a:lstStyle/>
                    <a:p>
                      <a:pPr algn="ctr"/>
                      <a:endParaRPr lang="en-GB" dirty="0"/>
                    </a:p>
                  </a:txBody>
                  <a:tcPr anchor="ctr">
                    <a:solidFill>
                      <a:schemeClr val="bg1">
                        <a:lumMod val="75000"/>
                      </a:schemeClr>
                    </a:solidFill>
                  </a:tcPr>
                </a:tc>
                <a:extLst>
                  <a:ext uri="{0D108BD9-81ED-4DB2-BD59-A6C34878D82A}">
                    <a16:rowId xmlns:a16="http://schemas.microsoft.com/office/drawing/2014/main" val="2795479193"/>
                  </a:ext>
                </a:extLst>
              </a:tr>
              <a:tr h="1044000">
                <a:tc rowSpan="2">
                  <a:txBody>
                    <a:bodyPr/>
                    <a:lstStyle/>
                    <a:p>
                      <a:pPr algn="ctr"/>
                      <a:r>
                        <a:rPr lang="en-GB" sz="1800" dirty="0">
                          <a:latin typeface="+mn-lt"/>
                        </a:rPr>
                        <a:t>Predicted</a:t>
                      </a:r>
                      <a:r>
                        <a:rPr lang="en-GB" sz="1800" baseline="0" dirty="0">
                          <a:latin typeface="+mn-lt"/>
                        </a:rPr>
                        <a:t> outcome</a:t>
                      </a:r>
                      <a:endParaRPr lang="en-GB" sz="1800" dirty="0">
                        <a:latin typeface="+mn-lt"/>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800" kern="1200" dirty="0">
                          <a:solidFill>
                            <a:schemeClr val="dk1"/>
                          </a:solidFill>
                          <a:latin typeface="+mn-lt"/>
                          <a:ea typeface="+mn-ea"/>
                          <a:cs typeface="+mn-cs"/>
                        </a:rPr>
                        <a:t>Positive</a:t>
                      </a:r>
                      <a:endParaRPr lang="en-GB" sz="1800" dirty="0">
                        <a:latin typeface="+mn-lt"/>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DFB1"/>
                    </a:solidFill>
                  </a:tcPr>
                </a:tc>
                <a:tc>
                  <a:txBody>
                    <a:bodyPr/>
                    <a:lstStyle/>
                    <a:p>
                      <a:pPr algn="ctr"/>
                      <a:r>
                        <a:rPr lang="en-GB" sz="1800" dirty="0">
                          <a:latin typeface="+mn-lt"/>
                        </a:rPr>
                        <a:t>TP</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baseline="0" dirty="0">
                          <a:latin typeface="+mn-lt"/>
                        </a:rPr>
                        <a:t>FP</a:t>
                      </a:r>
                      <a:endParaRPr lang="en-GB" sz="1800" dirty="0">
                        <a:latin typeface="+mn-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2CD"/>
                    </a:solidFill>
                  </a:tcPr>
                </a:tc>
                <a:tc>
                  <a:txBody>
                    <a:bodyPr/>
                    <a:lstStyle/>
                    <a:p>
                      <a:pPr algn="ctr"/>
                      <a:endParaRPr lang="en-GB" sz="1800" dirty="0">
                        <a:latin typeface="+mn-lt"/>
                      </a:endParaRP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4114900944"/>
                  </a:ext>
                </a:extLst>
              </a:tr>
              <a:tr h="1044000">
                <a:tc vMerge="1">
                  <a:txBody>
                    <a:bodyPr/>
                    <a:lstStyle/>
                    <a:p>
                      <a:pPr algn="ctr"/>
                      <a:endParaRPr lang="en-GB" dirty="0"/>
                    </a:p>
                  </a:txBody>
                  <a:tcPr vert="vert270" anchor="ctr">
                    <a:solidFill>
                      <a:schemeClr val="bg1">
                        <a:lumMod val="75000"/>
                      </a:schemeClr>
                    </a:solidFill>
                  </a:tcPr>
                </a:tc>
                <a:tc>
                  <a:txBody>
                    <a:bodyPr/>
                    <a:lstStyle/>
                    <a:p>
                      <a:pPr algn="ctr"/>
                      <a:r>
                        <a:rPr lang="en-GB" sz="1800" dirty="0">
                          <a:latin typeface="+mn-lt"/>
                        </a:rPr>
                        <a:t>Negative</a:t>
                      </a: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9C99"/>
                    </a:solidFill>
                  </a:tcPr>
                </a:tc>
                <a:tc>
                  <a:txBody>
                    <a:bodyPr/>
                    <a:lstStyle/>
                    <a:p>
                      <a:pPr algn="ctr"/>
                      <a:r>
                        <a:rPr lang="en-GB" sz="1800" dirty="0">
                          <a:latin typeface="+mn-lt"/>
                        </a:rPr>
                        <a:t>FN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3132018532"/>
                  </a:ext>
                </a:extLst>
              </a:tr>
              <a:tr h="396000">
                <a:tc gridSpan="2">
                  <a:txBody>
                    <a:bodyPr/>
                    <a:lstStyle/>
                    <a:p>
                      <a:pPr algn="ctr"/>
                      <a:endParaRPr lang="en-GB" sz="1800" dirty="0">
                        <a:latin typeface="+mn-lt"/>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hMerge="1">
                  <a:txBody>
                    <a:bodyPr/>
                    <a:lstStyle/>
                    <a:p>
                      <a:pPr algn="ctr"/>
                      <a:endParaRPr lang="en-GB" dirty="0"/>
                    </a:p>
                  </a:txBody>
                  <a:tcPr anchor="ctr">
                    <a:solidFill>
                      <a:schemeClr val="bg1">
                        <a:lumMod val="75000"/>
                      </a:schemeClr>
                    </a:solidFill>
                  </a:tcPr>
                </a:tc>
                <a:tc>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3017366942"/>
                  </a:ext>
                </a:extLst>
              </a:tr>
            </a:tbl>
          </a:graphicData>
        </a:graphic>
      </p:graphicFrame>
      <p:sp>
        <p:nvSpPr>
          <p:cNvPr id="7" name="Title 1">
            <a:extLst>
              <a:ext uri="{FF2B5EF4-FFF2-40B4-BE49-F238E27FC236}">
                <a16:creationId xmlns:a16="http://schemas.microsoft.com/office/drawing/2014/main" id="{B6DDD440-7776-F5E3-57B5-BA068F5A4407}"/>
              </a:ext>
            </a:extLst>
          </p:cNvPr>
          <p:cNvSpPr>
            <a:spLocks noGrp="1"/>
          </p:cNvSpPr>
          <p:nvPr>
            <p:ph type="title"/>
          </p:nvPr>
        </p:nvSpPr>
        <p:spPr>
          <a:xfrm>
            <a:off x="2032000" y="-79300"/>
            <a:ext cx="8229600" cy="1143000"/>
          </a:xfrm>
        </p:spPr>
        <p:txBody>
          <a:bodyPr/>
          <a:lstStyle/>
          <a:p>
            <a:r>
              <a:rPr lang="en-GB" dirty="0"/>
              <a:t>Model performance metrics</a:t>
            </a:r>
            <a:endParaRPr lang="en-GB" sz="18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5" name="Content Placeholder 2"/>
          <p:cNvSpPr txBox="1">
            <a:spLocks/>
          </p:cNvSpPr>
          <p:nvPr/>
        </p:nvSpPr>
        <p:spPr>
          <a:xfrm>
            <a:off x="1981200" y="1239505"/>
            <a:ext cx="8507288" cy="5400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a:ln>
                <a:noFill/>
              </a:ln>
              <a:solidFill>
                <a:prstClr val="black"/>
              </a:solidFill>
              <a:effectLst/>
              <a:uLnTx/>
              <a:uFillTx/>
              <a:latin typeface="Calibri"/>
              <a:ea typeface="+mn-ea"/>
              <a:cs typeface="+mn-cs"/>
            </a:endParaRPr>
          </a:p>
          <a:p>
            <a:pPr marL="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61950" algn="l"/>
              </a:tabLst>
              <a:defRPr/>
            </a:pPr>
            <a:r>
              <a:rPr kumimoji="0" lang="en-GB" sz="1800" b="0" i="0" u="none" strike="noStrike" kern="1200" cap="none" spc="0" normalizeH="0" baseline="0" noProof="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61950"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58775" marR="0" lvl="0" indent="-358775" algn="l" defTabSz="914400" rtl="0" eaLnBrk="1" fontAlgn="auto" latinLnBrk="0" hangingPunct="1">
              <a:lnSpc>
                <a:spcPct val="100000"/>
              </a:lnSpc>
              <a:spcBef>
                <a:spcPct val="20000"/>
              </a:spcBef>
              <a:spcAft>
                <a:spcPts val="0"/>
              </a:spcAft>
              <a:buClrTx/>
              <a:buSzTx/>
              <a:buFont typeface="Arial" pitchFamily="34" charset="0"/>
              <a:buChar char="•"/>
              <a:tabLst>
                <a:tab pos="3314700"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 name="Content Placeholder 2"/>
          <p:cNvSpPr txBox="1">
            <a:spLocks/>
          </p:cNvSpPr>
          <p:nvPr/>
        </p:nvSpPr>
        <p:spPr>
          <a:xfrm>
            <a:off x="1044000" y="1260000"/>
            <a:ext cx="5412040" cy="432924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Confusion matrix (2 classes)</a:t>
            </a:r>
          </a:p>
          <a:p>
            <a:pPr marL="400050" marR="0" lvl="1" indent="-342900" algn="l" defTabSz="914400" rtl="0" eaLnBrk="1" fontAlgn="auto" latinLnBrk="0" hangingPunct="1">
              <a:lnSpc>
                <a:spcPct val="100000"/>
              </a:lnSpc>
              <a:spcBef>
                <a:spcPct val="20000"/>
              </a:spcBef>
              <a:spcAft>
                <a:spcPts val="0"/>
              </a:spcAft>
              <a:buClrTx/>
              <a:buSzTx/>
              <a:buFont typeface="Symbol" panose="05050102010706020507" pitchFamily="18" charset="2"/>
              <a:buChar char="-"/>
              <a:tabLst>
                <a:tab pos="3138488" algn="l"/>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Precision [0,1]</a:t>
            </a:r>
          </a:p>
          <a:p>
            <a:pPr marL="400050" marR="0" lvl="1" indent="-342900" algn="l" defTabSz="914400" rtl="0" eaLnBrk="1" fontAlgn="auto" latinLnBrk="0" hangingPunct="1">
              <a:lnSpc>
                <a:spcPct val="100000"/>
              </a:lnSpc>
              <a:spcBef>
                <a:spcPct val="20000"/>
              </a:spcBef>
              <a:spcAft>
                <a:spcPts val="0"/>
              </a:spcAft>
              <a:buClrTx/>
              <a:buSzTx/>
              <a:buFont typeface="Symbol" panose="05050102010706020507" pitchFamily="18" charset="2"/>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400050" marR="0" lvl="1" indent="-342900" algn="l" defTabSz="914400" rtl="0" eaLnBrk="1" fontAlgn="auto" latinLnBrk="0" hangingPunct="1">
              <a:lnSpc>
                <a:spcPct val="100000"/>
              </a:lnSpc>
              <a:spcBef>
                <a:spcPct val="20000"/>
              </a:spcBef>
              <a:spcAft>
                <a:spcPts val="0"/>
              </a:spcAft>
              <a:buClrTx/>
              <a:buSzTx/>
              <a:buFont typeface="Symbol" panose="05050102010706020507" pitchFamily="18" charset="2"/>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400050" marR="0" lvl="1" indent="-342900" algn="l" defTabSz="914400" rtl="0" eaLnBrk="1" fontAlgn="auto" latinLnBrk="0" hangingPunct="1">
              <a:lnSpc>
                <a:spcPct val="100000"/>
              </a:lnSpc>
              <a:spcBef>
                <a:spcPct val="20000"/>
              </a:spcBef>
              <a:spcAft>
                <a:spcPts val="0"/>
              </a:spcAft>
              <a:buClrTx/>
              <a:buSzTx/>
              <a:buFont typeface="Symbol" panose="05050102010706020507" pitchFamily="18" charset="2"/>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400050" marR="0" lvl="1" indent="-342900" algn="l" defTabSz="914400" rtl="0" eaLnBrk="1" fontAlgn="auto" latinLnBrk="0" hangingPunct="1">
              <a:lnSpc>
                <a:spcPct val="100000"/>
              </a:lnSpc>
              <a:spcBef>
                <a:spcPct val="20000"/>
              </a:spcBef>
              <a:spcAft>
                <a:spcPts val="0"/>
              </a:spcAft>
              <a:buClrTx/>
              <a:buSzTx/>
              <a:buFont typeface="Symbol" panose="05050102010706020507" pitchFamily="18" charset="2"/>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400050" marR="0" lvl="1" indent="-342900" algn="l" defTabSz="914400" rtl="0" eaLnBrk="1" fontAlgn="auto" latinLnBrk="0" hangingPunct="1">
              <a:lnSpc>
                <a:spcPct val="100000"/>
              </a:lnSpc>
              <a:spcBef>
                <a:spcPct val="20000"/>
              </a:spcBef>
              <a:spcAft>
                <a:spcPts val="0"/>
              </a:spcAft>
              <a:buClrTx/>
              <a:buSzTx/>
              <a:buFont typeface="Symbol" panose="05050102010706020507" pitchFamily="18" charset="2"/>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400050" marR="0" lvl="1" indent="-342900" algn="l" defTabSz="914400" rtl="0" eaLnBrk="1" fontAlgn="auto" latinLnBrk="0" hangingPunct="1">
              <a:lnSpc>
                <a:spcPct val="100000"/>
              </a:lnSpc>
              <a:spcBef>
                <a:spcPct val="20000"/>
              </a:spcBef>
              <a:spcAft>
                <a:spcPts val="0"/>
              </a:spcAft>
              <a:buClrTx/>
              <a:buSzTx/>
              <a:buFont typeface="Symbol" panose="05050102010706020507" pitchFamily="18" charset="2"/>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361950" marR="0" lvl="2"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361950" marR="0" lvl="2"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Ratio of correctly predicted positive (negative) observations to the total predicted positive (negative) observations</a:t>
            </a: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p:txBody>
      </p:sp>
      <p:graphicFrame>
        <p:nvGraphicFramePr>
          <p:cNvPr id="2" name="Object 1"/>
          <p:cNvGraphicFramePr>
            <a:graphicFrameLocks noChangeAspect="1"/>
          </p:cNvGraphicFramePr>
          <p:nvPr/>
        </p:nvGraphicFramePr>
        <p:xfrm>
          <a:off x="1487488" y="2231177"/>
          <a:ext cx="3749675" cy="1727200"/>
        </p:xfrm>
        <a:graphic>
          <a:graphicData uri="http://schemas.openxmlformats.org/presentationml/2006/ole">
            <mc:AlternateContent xmlns:mc="http://schemas.openxmlformats.org/markup-compatibility/2006">
              <mc:Choice xmlns:v="urn:schemas-microsoft-com:vml" Requires="v">
                <p:oleObj name="Equation" r:id="rId2" imgW="1879560" imgH="863280" progId="Equation.DSMT4">
                  <p:embed/>
                </p:oleObj>
              </mc:Choice>
              <mc:Fallback>
                <p:oleObj name="Equation" r:id="rId2" imgW="1879560" imgH="863280" progId="Equation.DSMT4">
                  <p:embed/>
                  <p:pic>
                    <p:nvPicPr>
                      <p:cNvPr id="2" name="Object 1"/>
                      <p:cNvPicPr/>
                      <p:nvPr/>
                    </p:nvPicPr>
                    <p:blipFill>
                      <a:blip r:embed="rId3"/>
                      <a:stretch>
                        <a:fillRect/>
                      </a:stretch>
                    </p:blipFill>
                    <p:spPr>
                      <a:xfrm>
                        <a:off x="1487488" y="2231177"/>
                        <a:ext cx="3749675" cy="1727200"/>
                      </a:xfrm>
                      <a:prstGeom prst="rect">
                        <a:avLst/>
                      </a:prstGeom>
                    </p:spPr>
                  </p:pic>
                </p:oleObj>
              </mc:Fallback>
            </mc:AlternateContent>
          </a:graphicData>
        </a:graphic>
      </p:graphicFrame>
      <p:sp>
        <p:nvSpPr>
          <p:cNvPr id="21" name="Rounded Rectangle 20"/>
          <p:cNvSpPr/>
          <p:nvPr/>
        </p:nvSpPr>
        <p:spPr>
          <a:xfrm>
            <a:off x="8044563" y="4221089"/>
            <a:ext cx="2268194" cy="720080"/>
          </a:xfrm>
          <a:prstGeom prst="roundRect">
            <a:avLst/>
          </a:prstGeom>
          <a:noFill/>
          <a:ln>
            <a:solidFill>
              <a:srgbClr val="00B0F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a:ea typeface="+mn-ea"/>
              <a:cs typeface="+mn-cs"/>
            </a:endParaRPr>
          </a:p>
        </p:txBody>
      </p:sp>
      <p:sp>
        <p:nvSpPr>
          <p:cNvPr id="22" name="Rounded Rectangle 21"/>
          <p:cNvSpPr/>
          <p:nvPr/>
        </p:nvSpPr>
        <p:spPr>
          <a:xfrm>
            <a:off x="8256240" y="3230566"/>
            <a:ext cx="572790" cy="609651"/>
          </a:xfrm>
          <a:prstGeom prst="roundRect">
            <a:avLst/>
          </a:prstGeom>
          <a:noFill/>
          <a:ln w="3175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a:ea typeface="+mn-ea"/>
              <a:cs typeface="+mn-cs"/>
            </a:endParaRPr>
          </a:p>
        </p:txBody>
      </p:sp>
      <p:sp>
        <p:nvSpPr>
          <p:cNvPr id="23" name="Rounded Rectangle 22"/>
          <p:cNvSpPr/>
          <p:nvPr/>
        </p:nvSpPr>
        <p:spPr>
          <a:xfrm>
            <a:off x="8054422" y="3176088"/>
            <a:ext cx="2268194" cy="720080"/>
          </a:xfrm>
          <a:prstGeom prst="roundRect">
            <a:avLst/>
          </a:prstGeom>
          <a:noFill/>
          <a:ln>
            <a:solidFill>
              <a:srgbClr val="00B0F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a:ea typeface="+mn-ea"/>
              <a:cs typeface="+mn-cs"/>
            </a:endParaRPr>
          </a:p>
        </p:txBody>
      </p:sp>
      <p:sp>
        <p:nvSpPr>
          <p:cNvPr id="24" name="Rounded Rectangle 23"/>
          <p:cNvSpPr/>
          <p:nvPr/>
        </p:nvSpPr>
        <p:spPr>
          <a:xfrm>
            <a:off x="9541438" y="4277622"/>
            <a:ext cx="572790" cy="609651"/>
          </a:xfrm>
          <a:prstGeom prst="roundRect">
            <a:avLst/>
          </a:prstGeom>
          <a:noFill/>
          <a:ln w="3175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a:ea typeface="+mn-ea"/>
              <a:cs typeface="+mn-cs"/>
            </a:endParaRPr>
          </a:p>
        </p:txBody>
      </p:sp>
      <p:grpSp>
        <p:nvGrpSpPr>
          <p:cNvPr id="26" name="Group 25"/>
          <p:cNvGrpSpPr/>
          <p:nvPr/>
        </p:nvGrpSpPr>
        <p:grpSpPr>
          <a:xfrm>
            <a:off x="5398192" y="2272473"/>
            <a:ext cx="1080000" cy="771690"/>
            <a:chOff x="9912422" y="1142746"/>
            <a:chExt cx="1080000" cy="771690"/>
          </a:xfrm>
        </p:grpSpPr>
        <p:sp>
          <p:nvSpPr>
            <p:cNvPr id="27" name="Rounded Rectangle 26"/>
            <p:cNvSpPr/>
            <p:nvPr/>
          </p:nvSpPr>
          <p:spPr>
            <a:xfrm>
              <a:off x="9912422" y="1142746"/>
              <a:ext cx="1080000" cy="324000"/>
            </a:xfrm>
            <a:prstGeom prst="roundRect">
              <a:avLst/>
            </a:prstGeom>
            <a:noFill/>
            <a:ln w="3175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srgbClr val="00B050"/>
                  </a:solidFill>
                  <a:effectLst/>
                  <a:uLnTx/>
                  <a:uFillTx/>
                  <a:latin typeface="Calibri"/>
                  <a:ea typeface="+mn-ea"/>
                  <a:cs typeface="+mn-cs"/>
                </a:rPr>
                <a:t>numerator</a:t>
              </a:r>
            </a:p>
          </p:txBody>
        </p:sp>
        <p:sp>
          <p:nvSpPr>
            <p:cNvPr id="28" name="Rounded Rectangle 27"/>
            <p:cNvSpPr/>
            <p:nvPr/>
          </p:nvSpPr>
          <p:spPr>
            <a:xfrm>
              <a:off x="9912422" y="1590436"/>
              <a:ext cx="1080000" cy="324000"/>
            </a:xfrm>
            <a:prstGeom prst="roundRect">
              <a:avLst/>
            </a:prstGeom>
            <a:noFill/>
            <a:ln>
              <a:solidFill>
                <a:srgbClr val="00B0F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srgbClr val="00B0F0"/>
                  </a:solidFill>
                  <a:effectLst/>
                  <a:uLnTx/>
                  <a:uFillTx/>
                  <a:latin typeface="Calibri"/>
                  <a:ea typeface="+mn-ea"/>
                  <a:cs typeface="+mn-cs"/>
                </a:rPr>
                <a:t>denominator</a:t>
              </a:r>
              <a:endParaRPr kumimoji="0" lang="en-GB" sz="2000" b="1" i="0" u="none" strike="noStrike" kern="1200" cap="none" spc="0" normalizeH="0" baseline="0" noProof="0" dirty="0">
                <a:ln>
                  <a:noFill/>
                </a:ln>
                <a:solidFill>
                  <a:srgbClr val="00B0F0"/>
                </a:solidFill>
                <a:effectLst/>
                <a:uLnTx/>
                <a:uFillTx/>
                <a:latin typeface="Calibri"/>
                <a:ea typeface="+mn-ea"/>
                <a:cs typeface="+mn-cs"/>
              </a:endParaRPr>
            </a:p>
          </p:txBody>
        </p:sp>
      </p:grpSp>
      <p:sp>
        <p:nvSpPr>
          <p:cNvPr id="18" name="TextBox 17"/>
          <p:cNvSpPr txBox="1"/>
          <p:nvPr/>
        </p:nvSpPr>
        <p:spPr>
          <a:xfrm>
            <a:off x="1487488" y="2990091"/>
            <a:ext cx="287283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lumMod val="50000"/>
                  </a:prstClr>
                </a:solidFill>
                <a:effectLst/>
                <a:uLnTx/>
                <a:uFillTx/>
                <a:latin typeface="Calibri"/>
                <a:ea typeface="+mn-ea"/>
                <a:cs typeface="+mn-cs"/>
              </a:rPr>
              <a:t>aka Positive Predictive Value</a:t>
            </a:r>
          </a:p>
        </p:txBody>
      </p:sp>
      <p:sp>
        <p:nvSpPr>
          <p:cNvPr id="29" name="TextBox 28"/>
          <p:cNvSpPr txBox="1"/>
          <p:nvPr/>
        </p:nvSpPr>
        <p:spPr>
          <a:xfrm>
            <a:off x="1488352" y="3888522"/>
            <a:ext cx="338437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lumMod val="50000"/>
                  </a:prstClr>
                </a:solidFill>
                <a:effectLst/>
                <a:uLnTx/>
                <a:uFillTx/>
                <a:latin typeface="Calibri"/>
                <a:ea typeface="+mn-ea"/>
                <a:cs typeface="+mn-cs"/>
              </a:rPr>
              <a:t>aka Negative Predictive Value</a:t>
            </a:r>
          </a:p>
        </p:txBody>
      </p:sp>
      <p:sp>
        <p:nvSpPr>
          <p:cNvPr id="8" name="Line 2">
            <a:extLst>
              <a:ext uri="{FF2B5EF4-FFF2-40B4-BE49-F238E27FC236}">
                <a16:creationId xmlns:a16="http://schemas.microsoft.com/office/drawing/2014/main" id="{8C73E920-1F50-0863-8458-43F2C8BE9DF4}"/>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9" name="Line 2">
            <a:extLst>
              <a:ext uri="{FF2B5EF4-FFF2-40B4-BE49-F238E27FC236}">
                <a16:creationId xmlns:a16="http://schemas.microsoft.com/office/drawing/2014/main" id="{3ABB991F-1A30-C410-34E8-362DAB550163}"/>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15052940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D21F8FA-461B-B62D-0355-314628CCAFAB}"/>
              </a:ext>
            </a:extLst>
          </p:cNvPr>
          <p:cNvSpPr>
            <a:spLocks noGrp="1"/>
          </p:cNvSpPr>
          <p:nvPr>
            <p:ph type="title"/>
          </p:nvPr>
        </p:nvSpPr>
        <p:spPr>
          <a:xfrm>
            <a:off x="2032000" y="-79300"/>
            <a:ext cx="8229600" cy="1143000"/>
          </a:xfrm>
        </p:spPr>
        <p:txBody>
          <a:bodyPr/>
          <a:lstStyle/>
          <a:p>
            <a:r>
              <a:rPr lang="en-GB" dirty="0"/>
              <a:t>Model performance metrics</a:t>
            </a:r>
            <a:endParaRPr lang="en-GB" sz="18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5" name="Content Placeholder 2"/>
          <p:cNvSpPr txBox="1">
            <a:spLocks/>
          </p:cNvSpPr>
          <p:nvPr/>
        </p:nvSpPr>
        <p:spPr>
          <a:xfrm>
            <a:off x="1981200" y="1239505"/>
            <a:ext cx="8507288" cy="5400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a:ln>
                <a:noFill/>
              </a:ln>
              <a:solidFill>
                <a:prstClr val="black"/>
              </a:solidFill>
              <a:effectLst/>
              <a:uLnTx/>
              <a:uFillTx/>
              <a:latin typeface="Calibri"/>
              <a:ea typeface="+mn-ea"/>
              <a:cs typeface="+mn-cs"/>
            </a:endParaRPr>
          </a:p>
          <a:p>
            <a:pPr marL="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61950" algn="l"/>
              </a:tabLst>
              <a:defRPr/>
            </a:pPr>
            <a:r>
              <a:rPr kumimoji="0" lang="en-GB" sz="1800" b="0" i="0" u="none" strike="noStrike" kern="1200" cap="none" spc="0" normalizeH="0" baseline="0" noProof="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61950"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58775" marR="0" lvl="0" indent="-358775" algn="l" defTabSz="914400" rtl="0" eaLnBrk="1" fontAlgn="auto" latinLnBrk="0" hangingPunct="1">
              <a:lnSpc>
                <a:spcPct val="100000"/>
              </a:lnSpc>
              <a:spcBef>
                <a:spcPct val="20000"/>
              </a:spcBef>
              <a:spcAft>
                <a:spcPts val="0"/>
              </a:spcAft>
              <a:buClrTx/>
              <a:buSzTx/>
              <a:buFont typeface="Arial" pitchFamily="34" charset="0"/>
              <a:buChar char="•"/>
              <a:tabLst>
                <a:tab pos="3314700"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 name="Content Placeholder 2"/>
          <p:cNvSpPr txBox="1">
            <a:spLocks/>
          </p:cNvSpPr>
          <p:nvPr/>
        </p:nvSpPr>
        <p:spPr>
          <a:xfrm>
            <a:off x="1044000" y="1260000"/>
            <a:ext cx="5340032" cy="432924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Confusion matrix (2 classes)</a:t>
            </a:r>
          </a:p>
          <a:p>
            <a:pPr marL="400050" marR="0" lvl="1" indent="-342900" algn="l" defTabSz="914400" rtl="0" eaLnBrk="1" fontAlgn="auto" latinLnBrk="0" hangingPunct="1">
              <a:lnSpc>
                <a:spcPct val="100000"/>
              </a:lnSpc>
              <a:spcBef>
                <a:spcPct val="20000"/>
              </a:spcBef>
              <a:spcAft>
                <a:spcPts val="0"/>
              </a:spcAft>
              <a:buClrTx/>
              <a:buSzTx/>
              <a:buFont typeface="Symbol" panose="05050102010706020507" pitchFamily="18" charset="2"/>
              <a:buChar char="-"/>
              <a:tabLst>
                <a:tab pos="3138488" algn="l"/>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Precision [0,1]</a:t>
            </a:r>
          </a:p>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p:txBody>
      </p:sp>
      <p:graphicFrame>
        <p:nvGraphicFramePr>
          <p:cNvPr id="14" name="Table 13"/>
          <p:cNvGraphicFramePr>
            <a:graphicFrameLocks noGrp="1"/>
          </p:cNvGraphicFramePr>
          <p:nvPr/>
        </p:nvGraphicFramePr>
        <p:xfrm>
          <a:off x="7032104" y="2220068"/>
          <a:ext cx="4176000" cy="3276000"/>
        </p:xfrm>
        <a:graphic>
          <a:graphicData uri="http://schemas.openxmlformats.org/drawingml/2006/table">
            <a:tbl>
              <a:tblPr>
                <a:tableStyleId>{5C22544A-7EE6-4342-B048-85BDC9FD1C3A}</a:tableStyleId>
              </a:tblPr>
              <a:tblGrid>
                <a:gridCol w="468000">
                  <a:extLst>
                    <a:ext uri="{9D8B030D-6E8A-4147-A177-3AD203B41FA5}">
                      <a16:colId xmlns:a16="http://schemas.microsoft.com/office/drawing/2014/main" val="3994737336"/>
                    </a:ext>
                  </a:extLst>
                </a:gridCol>
                <a:gridCol w="468000">
                  <a:extLst>
                    <a:ext uri="{9D8B030D-6E8A-4147-A177-3AD203B41FA5}">
                      <a16:colId xmlns:a16="http://schemas.microsoft.com/office/drawing/2014/main" val="2977056859"/>
                    </a:ext>
                  </a:extLst>
                </a:gridCol>
                <a:gridCol w="1224000">
                  <a:extLst>
                    <a:ext uri="{9D8B030D-6E8A-4147-A177-3AD203B41FA5}">
                      <a16:colId xmlns:a16="http://schemas.microsoft.com/office/drawing/2014/main" val="2053703784"/>
                    </a:ext>
                  </a:extLst>
                </a:gridCol>
                <a:gridCol w="1224000">
                  <a:extLst>
                    <a:ext uri="{9D8B030D-6E8A-4147-A177-3AD203B41FA5}">
                      <a16:colId xmlns:a16="http://schemas.microsoft.com/office/drawing/2014/main" val="1157899827"/>
                    </a:ext>
                  </a:extLst>
                </a:gridCol>
                <a:gridCol w="792000">
                  <a:extLst>
                    <a:ext uri="{9D8B030D-6E8A-4147-A177-3AD203B41FA5}">
                      <a16:colId xmlns:a16="http://schemas.microsoft.com/office/drawing/2014/main" val="121804767"/>
                    </a:ext>
                  </a:extLst>
                </a:gridCol>
              </a:tblGrid>
              <a:tr h="396000">
                <a:tc rowSpan="2" gridSpan="2">
                  <a:txBody>
                    <a:bodyPr/>
                    <a:lstStyle/>
                    <a:p>
                      <a:pPr algn="ctr"/>
                      <a:endParaRPr lang="en-GB" sz="1800" dirty="0">
                        <a:latin typeface="+mn-lt"/>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rowSpan="2" hMerge="1">
                  <a:txBody>
                    <a:bodyPr/>
                    <a:lstStyle/>
                    <a:p>
                      <a:pPr algn="ctr"/>
                      <a:endParaRPr lang="en-GB" dirty="0"/>
                    </a:p>
                  </a:txBody>
                  <a:tcPr anchor="ctr">
                    <a:solidFill>
                      <a:schemeClr val="bg1">
                        <a:lumMod val="75000"/>
                      </a:schemeClr>
                    </a:solidFill>
                  </a:tcPr>
                </a:tc>
                <a:tc gridSpan="2">
                  <a:txBody>
                    <a:bodyPr/>
                    <a:lstStyle/>
                    <a:p>
                      <a:pPr algn="ctr"/>
                      <a:r>
                        <a:rPr lang="en-GB" sz="1800" dirty="0">
                          <a:latin typeface="+mn-lt"/>
                        </a:rPr>
                        <a:t>T</a:t>
                      </a:r>
                      <a:r>
                        <a:rPr lang="en-GB" sz="1800" baseline="0" dirty="0">
                          <a:latin typeface="+mn-lt"/>
                        </a:rPr>
                        <a:t>rue outcome</a:t>
                      </a: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GB" dirty="0"/>
                    </a:p>
                  </a:txBody>
                  <a:tcPr anchor="ctr">
                    <a:solidFill>
                      <a:schemeClr val="bg1">
                        <a:lumMod val="75000"/>
                      </a:schemeClr>
                    </a:solidFill>
                  </a:tcPr>
                </a:tc>
                <a:tc rowSpan="2">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77422590"/>
                  </a:ext>
                </a:extLst>
              </a:tr>
              <a:tr h="396000">
                <a:tc gridSpan="2" vMerge="1">
                  <a:txBody>
                    <a:bodyPr/>
                    <a:lstStyle/>
                    <a:p>
                      <a:pPr algn="ctr"/>
                      <a:endParaRPr lang="en-GB" dirty="0"/>
                    </a:p>
                  </a:txBody>
                  <a:tcPr anchor="ctr">
                    <a:solidFill>
                      <a:schemeClr val="bg1">
                        <a:lumMod val="75000"/>
                      </a:schemeClr>
                    </a:solidFill>
                  </a:tcPr>
                </a:tc>
                <a:tc hMerge="1" vMerge="1">
                  <a:txBody>
                    <a:bodyPr/>
                    <a:lstStyle/>
                    <a:p>
                      <a:pPr algn="ctr"/>
                      <a:endParaRPr lang="en-GB" dirty="0"/>
                    </a:p>
                  </a:txBody>
                  <a:tcPr anchor="ctr">
                    <a:solidFill>
                      <a:schemeClr val="bg1">
                        <a:lumMod val="75000"/>
                      </a:schemeClr>
                    </a:solidFill>
                  </a:tcPr>
                </a:tc>
                <a:tc>
                  <a:txBody>
                    <a:bodyPr/>
                    <a:lstStyle/>
                    <a:p>
                      <a:pPr algn="ctr"/>
                      <a:r>
                        <a:rPr lang="en-GB" sz="1800" dirty="0">
                          <a:latin typeface="+mn-lt"/>
                        </a:rPr>
                        <a:t>DIABETES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DFB1"/>
                    </a:solidFill>
                  </a:tcPr>
                </a:tc>
                <a:tc>
                  <a:txBody>
                    <a:bodyPr/>
                    <a:lstStyle/>
                    <a:p>
                      <a:pPr algn="ctr"/>
                      <a:r>
                        <a:rPr lang="en-GB" sz="1800" dirty="0">
                          <a:latin typeface="+mn-lt"/>
                        </a:rPr>
                        <a:t>HEALTHY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9C99"/>
                    </a:solidFill>
                  </a:tcPr>
                </a:tc>
                <a:tc vMerge="1">
                  <a:txBody>
                    <a:bodyPr/>
                    <a:lstStyle/>
                    <a:p>
                      <a:pPr algn="ctr"/>
                      <a:endParaRPr lang="en-GB" dirty="0"/>
                    </a:p>
                  </a:txBody>
                  <a:tcPr anchor="ctr">
                    <a:solidFill>
                      <a:schemeClr val="bg1">
                        <a:lumMod val="75000"/>
                      </a:schemeClr>
                    </a:solidFill>
                  </a:tcPr>
                </a:tc>
                <a:extLst>
                  <a:ext uri="{0D108BD9-81ED-4DB2-BD59-A6C34878D82A}">
                    <a16:rowId xmlns:a16="http://schemas.microsoft.com/office/drawing/2014/main" val="2795479193"/>
                  </a:ext>
                </a:extLst>
              </a:tr>
              <a:tr h="1044000">
                <a:tc rowSpan="2">
                  <a:txBody>
                    <a:bodyPr/>
                    <a:lstStyle/>
                    <a:p>
                      <a:pPr algn="ctr"/>
                      <a:r>
                        <a:rPr lang="en-GB" sz="1800" dirty="0">
                          <a:latin typeface="+mn-lt"/>
                        </a:rPr>
                        <a:t>Predicted</a:t>
                      </a:r>
                      <a:r>
                        <a:rPr lang="en-GB" sz="1800" baseline="0" dirty="0">
                          <a:latin typeface="+mn-lt"/>
                        </a:rPr>
                        <a:t> outcome</a:t>
                      </a:r>
                      <a:endParaRPr lang="en-GB" sz="1800" dirty="0">
                        <a:latin typeface="+mn-lt"/>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800" dirty="0">
                          <a:latin typeface="+mn-lt"/>
                        </a:rPr>
                        <a:t>DIABETES</a:t>
                      </a: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DFB1"/>
                    </a:solidFill>
                  </a:tcPr>
                </a:tc>
                <a:tc>
                  <a:txBody>
                    <a:bodyPr/>
                    <a:lstStyle/>
                    <a:p>
                      <a:pPr algn="ctr"/>
                      <a:r>
                        <a:rPr lang="en-GB" sz="1800" dirty="0">
                          <a:latin typeface="+mn-lt"/>
                        </a:rPr>
                        <a:t>30</a:t>
                      </a:r>
                    </a:p>
                    <a:p>
                      <a:pPr algn="ctr"/>
                      <a:r>
                        <a:rPr lang="en-GB" sz="1800" dirty="0">
                          <a:latin typeface="+mn-lt"/>
                        </a:rPr>
                        <a:t>(TP)</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70</a:t>
                      </a:r>
                    </a:p>
                    <a:p>
                      <a:pPr algn="ctr"/>
                      <a:r>
                        <a:rPr lang="en-GB" sz="1800" dirty="0">
                          <a:latin typeface="+mn-lt"/>
                        </a:rPr>
                        <a:t>(FP)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100</a:t>
                      </a: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4114900944"/>
                  </a:ext>
                </a:extLst>
              </a:tr>
              <a:tr h="1044000">
                <a:tc vMerge="1">
                  <a:txBody>
                    <a:bodyPr/>
                    <a:lstStyle/>
                    <a:p>
                      <a:pPr algn="ctr"/>
                      <a:endParaRPr lang="en-GB" dirty="0"/>
                    </a:p>
                  </a:txBody>
                  <a:tcPr vert="vert270" anchor="ctr">
                    <a:solidFill>
                      <a:schemeClr val="bg1">
                        <a:lumMod val="75000"/>
                      </a:schemeClr>
                    </a:solidFill>
                  </a:tcPr>
                </a:tc>
                <a:tc>
                  <a:txBody>
                    <a:bodyPr/>
                    <a:lstStyle/>
                    <a:p>
                      <a:pPr algn="ctr"/>
                      <a:r>
                        <a:rPr lang="en-GB" sz="1800" dirty="0">
                          <a:latin typeface="+mn-lt"/>
                        </a:rPr>
                        <a:t>HEALTHY</a:t>
                      </a: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9C99"/>
                    </a:solidFill>
                  </a:tcPr>
                </a:tc>
                <a:tc>
                  <a:txBody>
                    <a:bodyPr/>
                    <a:lstStyle/>
                    <a:p>
                      <a:pPr algn="ctr"/>
                      <a:r>
                        <a:rPr lang="en-GB" sz="1800" dirty="0">
                          <a:latin typeface="+mn-lt"/>
                        </a:rPr>
                        <a:t>20</a:t>
                      </a:r>
                    </a:p>
                    <a:p>
                      <a:pPr algn="ctr"/>
                      <a:r>
                        <a:rPr lang="en-GB" sz="1800" dirty="0">
                          <a:latin typeface="+mn-lt"/>
                        </a:rPr>
                        <a:t>(FN)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100</a:t>
                      </a:r>
                    </a:p>
                    <a:p>
                      <a:pPr algn="ctr"/>
                      <a:r>
                        <a:rPr lang="en-GB" sz="1800" dirty="0">
                          <a:latin typeface="+mn-lt"/>
                        </a:rPr>
                        <a:t>(TN)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120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3132018532"/>
                  </a:ext>
                </a:extLst>
              </a:tr>
              <a:tr h="396000">
                <a:tc gridSpan="2">
                  <a:txBody>
                    <a:bodyPr/>
                    <a:lstStyle/>
                    <a:p>
                      <a:pPr algn="ctr"/>
                      <a:endParaRPr lang="en-GB" sz="1800" dirty="0">
                        <a:latin typeface="+mn-lt"/>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hMerge="1">
                  <a:txBody>
                    <a:bodyPr/>
                    <a:lstStyle/>
                    <a:p>
                      <a:pPr algn="ctr"/>
                      <a:endParaRPr lang="en-GB" dirty="0"/>
                    </a:p>
                  </a:txBody>
                  <a:tcPr anchor="ctr">
                    <a:solidFill>
                      <a:schemeClr val="bg1">
                        <a:lumMod val="75000"/>
                      </a:schemeClr>
                    </a:solidFill>
                  </a:tcPr>
                </a:tc>
                <a:tc>
                  <a:txBody>
                    <a:bodyPr/>
                    <a:lstStyle/>
                    <a:p>
                      <a:pPr algn="ctr"/>
                      <a:r>
                        <a:rPr lang="en-GB" sz="1800" dirty="0">
                          <a:latin typeface="+mn-lt"/>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r>
                        <a:rPr lang="en-GB" sz="1800" dirty="0">
                          <a:latin typeface="+mn-lt"/>
                        </a:rPr>
                        <a:t>170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r>
                        <a:rPr lang="en-GB" sz="1800" dirty="0">
                          <a:latin typeface="+mn-lt"/>
                        </a:rPr>
                        <a:t>220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3017366942"/>
                  </a:ext>
                </a:extLst>
              </a:tr>
            </a:tbl>
          </a:graphicData>
        </a:graphic>
      </p:graphicFrame>
      <p:graphicFrame>
        <p:nvGraphicFramePr>
          <p:cNvPr id="2" name="Object 1"/>
          <p:cNvGraphicFramePr>
            <a:graphicFrameLocks noChangeAspect="1"/>
          </p:cNvGraphicFramePr>
          <p:nvPr/>
        </p:nvGraphicFramePr>
        <p:xfrm>
          <a:off x="1487488" y="2231177"/>
          <a:ext cx="3749675" cy="1727200"/>
        </p:xfrm>
        <a:graphic>
          <a:graphicData uri="http://schemas.openxmlformats.org/presentationml/2006/ole">
            <mc:AlternateContent xmlns:mc="http://schemas.openxmlformats.org/markup-compatibility/2006">
              <mc:Choice xmlns:v="urn:schemas-microsoft-com:vml" Requires="v">
                <p:oleObj name="Equation" r:id="rId2" imgW="1879560" imgH="863280" progId="Equation.DSMT4">
                  <p:embed/>
                </p:oleObj>
              </mc:Choice>
              <mc:Fallback>
                <p:oleObj name="Equation" r:id="rId2" imgW="1879560" imgH="863280" progId="Equation.DSMT4">
                  <p:embed/>
                  <p:pic>
                    <p:nvPicPr>
                      <p:cNvPr id="2" name="Object 1"/>
                      <p:cNvPicPr/>
                      <p:nvPr/>
                    </p:nvPicPr>
                    <p:blipFill>
                      <a:blip r:embed="rId3"/>
                      <a:stretch>
                        <a:fillRect/>
                      </a:stretch>
                    </p:blipFill>
                    <p:spPr>
                      <a:xfrm>
                        <a:off x="1487488" y="2231177"/>
                        <a:ext cx="3749675" cy="1727200"/>
                      </a:xfrm>
                      <a:prstGeom prst="rect">
                        <a:avLst/>
                      </a:prstGeom>
                    </p:spPr>
                  </p:pic>
                </p:oleObj>
              </mc:Fallback>
            </mc:AlternateContent>
          </a:graphicData>
        </a:graphic>
      </p:graphicFrame>
      <p:grpSp>
        <p:nvGrpSpPr>
          <p:cNvPr id="5" name="Group 4"/>
          <p:cNvGrpSpPr/>
          <p:nvPr/>
        </p:nvGrpSpPr>
        <p:grpSpPr>
          <a:xfrm>
            <a:off x="1467173" y="1395624"/>
            <a:ext cx="10125732" cy="4406689"/>
            <a:chOff x="1467173" y="1395624"/>
            <a:chExt cx="10125732" cy="4406689"/>
          </a:xfrm>
        </p:grpSpPr>
        <p:graphicFrame>
          <p:nvGraphicFramePr>
            <p:cNvPr id="3" name="Object 2"/>
            <p:cNvGraphicFramePr>
              <a:graphicFrameLocks noChangeAspect="1"/>
            </p:cNvGraphicFramePr>
            <p:nvPr/>
          </p:nvGraphicFramePr>
          <p:xfrm>
            <a:off x="1467173" y="4075113"/>
            <a:ext cx="4268787" cy="1727200"/>
          </p:xfrm>
          <a:graphic>
            <a:graphicData uri="http://schemas.openxmlformats.org/presentationml/2006/ole">
              <mc:AlternateContent xmlns:mc="http://schemas.openxmlformats.org/markup-compatibility/2006">
                <mc:Choice xmlns:v="urn:schemas-microsoft-com:vml" Requires="v">
                  <p:oleObj name="Equation" r:id="rId4" imgW="2133360" imgH="863280" progId="Equation.DSMT4">
                    <p:embed/>
                  </p:oleObj>
                </mc:Choice>
                <mc:Fallback>
                  <p:oleObj name="Equation" r:id="rId4" imgW="2133360" imgH="863280" progId="Equation.DSMT4">
                    <p:embed/>
                    <p:pic>
                      <p:nvPicPr>
                        <p:cNvPr id="3" name="Object 2"/>
                        <p:cNvPicPr/>
                        <p:nvPr/>
                      </p:nvPicPr>
                      <p:blipFill>
                        <a:blip r:embed="rId5"/>
                        <a:stretch>
                          <a:fillRect/>
                        </a:stretch>
                      </p:blipFill>
                      <p:spPr>
                        <a:xfrm>
                          <a:off x="1467173" y="4075113"/>
                          <a:ext cx="4268787" cy="1727200"/>
                        </a:xfrm>
                        <a:prstGeom prst="rect">
                          <a:avLst/>
                        </a:prstGeom>
                      </p:spPr>
                    </p:pic>
                  </p:oleObj>
                </mc:Fallback>
              </mc:AlternateContent>
            </a:graphicData>
          </a:graphic>
        </p:graphicFrame>
        <p:grpSp>
          <p:nvGrpSpPr>
            <p:cNvPr id="13" name="Group 12"/>
            <p:cNvGrpSpPr/>
            <p:nvPr/>
          </p:nvGrpSpPr>
          <p:grpSpPr>
            <a:xfrm>
              <a:off x="7032104" y="1395624"/>
              <a:ext cx="4560801" cy="660122"/>
              <a:chOff x="7032104" y="1395624"/>
              <a:chExt cx="4560801" cy="660122"/>
            </a:xfrm>
          </p:grpSpPr>
          <p:sp>
            <p:nvSpPr>
              <p:cNvPr id="18" name="Rounded Rectangle 17"/>
              <p:cNvSpPr/>
              <p:nvPr/>
            </p:nvSpPr>
            <p:spPr>
              <a:xfrm>
                <a:off x="7032104" y="1395624"/>
                <a:ext cx="4550296" cy="646332"/>
              </a:xfrm>
              <a:prstGeom prst="roundRect">
                <a:avLst/>
              </a:prstGeom>
              <a:solidFill>
                <a:schemeClr val="accent4">
                  <a:lumMod val="20000"/>
                  <a:lumOff val="8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a:ea typeface="+mn-ea"/>
                  <a:cs typeface="+mn-cs"/>
                </a:endParaRPr>
              </a:p>
            </p:txBody>
          </p:sp>
          <p:sp>
            <p:nvSpPr>
              <p:cNvPr id="19" name="TextBox 18"/>
              <p:cNvSpPr txBox="1"/>
              <p:nvPr/>
            </p:nvSpPr>
            <p:spPr>
              <a:xfrm>
                <a:off x="7042609" y="1409415"/>
                <a:ext cx="455029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7030A0"/>
                    </a:solidFill>
                    <a:effectLst/>
                    <a:uLnTx/>
                    <a:uFillTx/>
                    <a:latin typeface="Calibri"/>
                    <a:ea typeface="+mn-ea"/>
                    <a:cs typeface="+mn-cs"/>
                  </a:rPr>
                  <a:t>Example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7030A0"/>
                    </a:solidFill>
                    <a:effectLst/>
                    <a:uLnTx/>
                    <a:uFillTx/>
                    <a:latin typeface="Calibri"/>
                    <a:ea typeface="+mn-ea"/>
                    <a:cs typeface="+mn-cs"/>
                  </a:rPr>
                  <a:t>Health state prediction: DIABETES or HEALTHY</a:t>
                </a:r>
              </a:p>
            </p:txBody>
          </p:sp>
        </p:grpSp>
      </p:grpSp>
      <p:sp>
        <p:nvSpPr>
          <p:cNvPr id="7" name="TextBox 6"/>
          <p:cNvSpPr txBox="1"/>
          <p:nvPr/>
        </p:nvSpPr>
        <p:spPr>
          <a:xfrm>
            <a:off x="1487488" y="5964320"/>
            <a:ext cx="10072389" cy="646331"/>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Calibri"/>
                <a:ea typeface="+mn-ea"/>
                <a:cs typeface="+mn-cs"/>
              </a:rPr>
              <a:t>The question that this metric answer: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7030A0"/>
                </a:solidFill>
                <a:effectLst/>
                <a:uLnTx/>
                <a:uFillTx/>
                <a:latin typeface="Calibri"/>
                <a:ea typeface="+mn-ea"/>
                <a:cs typeface="+mn-cs"/>
              </a:rPr>
              <a:t>Of all patients </a:t>
            </a:r>
            <a:r>
              <a:rPr kumimoji="0" lang="en-US" sz="1800" b="1" i="1" u="none" strike="noStrike" kern="1200" cap="none" spc="0" normalizeH="0" baseline="0" noProof="0" dirty="0">
                <a:ln>
                  <a:noFill/>
                </a:ln>
                <a:solidFill>
                  <a:srgbClr val="7030A0"/>
                </a:solidFill>
                <a:effectLst/>
                <a:uLnTx/>
                <a:uFillTx/>
                <a:latin typeface="Calibri"/>
                <a:ea typeface="+mn-ea"/>
                <a:cs typeface="+mn-cs"/>
              </a:rPr>
              <a:t>predicted</a:t>
            </a:r>
            <a:r>
              <a:rPr kumimoji="0" lang="en-US" sz="1800" b="0" i="1" u="none" strike="noStrike" kern="1200" cap="none" spc="0" normalizeH="0" baseline="0" noProof="0" dirty="0">
                <a:ln>
                  <a:noFill/>
                </a:ln>
                <a:solidFill>
                  <a:srgbClr val="7030A0"/>
                </a:solidFill>
                <a:effectLst/>
                <a:uLnTx/>
                <a:uFillTx/>
                <a:latin typeface="Calibri"/>
                <a:ea typeface="+mn-ea"/>
                <a:cs typeface="+mn-cs"/>
              </a:rPr>
              <a:t> to have DIABETES, how many actually have DIABETES?</a:t>
            </a:r>
            <a:endParaRPr kumimoji="0" lang="en-GB" sz="1800" b="0" i="1" u="none" strike="noStrike" kern="1200" cap="none" spc="0" normalizeH="0" baseline="0" noProof="0" dirty="0">
              <a:ln>
                <a:noFill/>
              </a:ln>
              <a:solidFill>
                <a:prstClr val="black"/>
              </a:solidFill>
              <a:effectLst/>
              <a:uLnTx/>
              <a:uFillTx/>
              <a:latin typeface="Calibri"/>
              <a:ea typeface="+mn-ea"/>
              <a:cs typeface="+mn-cs"/>
            </a:endParaRPr>
          </a:p>
        </p:txBody>
      </p:sp>
      <p:sp>
        <p:nvSpPr>
          <p:cNvPr id="16" name="Rounded Rectangle 15"/>
          <p:cNvSpPr/>
          <p:nvPr/>
        </p:nvSpPr>
        <p:spPr>
          <a:xfrm>
            <a:off x="8044563" y="4221089"/>
            <a:ext cx="2268194" cy="720080"/>
          </a:xfrm>
          <a:prstGeom prst="roundRect">
            <a:avLst/>
          </a:prstGeom>
          <a:noFill/>
          <a:ln>
            <a:solidFill>
              <a:srgbClr val="00B0F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a:ea typeface="+mn-ea"/>
              <a:cs typeface="+mn-cs"/>
            </a:endParaRPr>
          </a:p>
        </p:txBody>
      </p:sp>
      <p:sp>
        <p:nvSpPr>
          <p:cNvPr id="20" name="Rounded Rectangle 19"/>
          <p:cNvSpPr/>
          <p:nvPr/>
        </p:nvSpPr>
        <p:spPr>
          <a:xfrm>
            <a:off x="8256240" y="3230566"/>
            <a:ext cx="572790" cy="609651"/>
          </a:xfrm>
          <a:prstGeom prst="roundRect">
            <a:avLst/>
          </a:prstGeom>
          <a:noFill/>
          <a:ln w="3175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a:ea typeface="+mn-ea"/>
              <a:cs typeface="+mn-cs"/>
            </a:endParaRPr>
          </a:p>
        </p:txBody>
      </p:sp>
      <p:sp>
        <p:nvSpPr>
          <p:cNvPr id="21" name="Rounded Rectangle 20"/>
          <p:cNvSpPr/>
          <p:nvPr/>
        </p:nvSpPr>
        <p:spPr>
          <a:xfrm>
            <a:off x="8054422" y="3176088"/>
            <a:ext cx="2268194" cy="720080"/>
          </a:xfrm>
          <a:prstGeom prst="roundRect">
            <a:avLst/>
          </a:prstGeom>
          <a:noFill/>
          <a:ln>
            <a:solidFill>
              <a:srgbClr val="00B0F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a:ea typeface="+mn-ea"/>
              <a:cs typeface="+mn-cs"/>
            </a:endParaRPr>
          </a:p>
        </p:txBody>
      </p:sp>
      <p:sp>
        <p:nvSpPr>
          <p:cNvPr id="22" name="Rounded Rectangle 21"/>
          <p:cNvSpPr/>
          <p:nvPr/>
        </p:nvSpPr>
        <p:spPr>
          <a:xfrm>
            <a:off x="9541438" y="4277622"/>
            <a:ext cx="572790" cy="609651"/>
          </a:xfrm>
          <a:prstGeom prst="roundRect">
            <a:avLst/>
          </a:prstGeom>
          <a:noFill/>
          <a:ln w="3175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a:ea typeface="+mn-ea"/>
              <a:cs typeface="+mn-cs"/>
            </a:endParaRPr>
          </a:p>
        </p:txBody>
      </p:sp>
      <p:sp>
        <p:nvSpPr>
          <p:cNvPr id="11" name="Line 2">
            <a:extLst>
              <a:ext uri="{FF2B5EF4-FFF2-40B4-BE49-F238E27FC236}">
                <a16:creationId xmlns:a16="http://schemas.microsoft.com/office/drawing/2014/main" id="{E70811F1-A42A-3B1E-A216-911E8CF9EF01}"/>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2" name="Line 2">
            <a:extLst>
              <a:ext uri="{FF2B5EF4-FFF2-40B4-BE49-F238E27FC236}">
                <a16:creationId xmlns:a16="http://schemas.microsoft.com/office/drawing/2014/main" id="{79B5BE30-5939-8E0A-6C35-55001C372B66}"/>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36937103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Table 19"/>
          <p:cNvGraphicFramePr>
            <a:graphicFrameLocks noGrp="1"/>
          </p:cNvGraphicFramePr>
          <p:nvPr/>
        </p:nvGraphicFramePr>
        <p:xfrm>
          <a:off x="7032104" y="2220068"/>
          <a:ext cx="4176000" cy="3276000"/>
        </p:xfrm>
        <a:graphic>
          <a:graphicData uri="http://schemas.openxmlformats.org/drawingml/2006/table">
            <a:tbl>
              <a:tblPr>
                <a:tableStyleId>{5C22544A-7EE6-4342-B048-85BDC9FD1C3A}</a:tableStyleId>
              </a:tblPr>
              <a:tblGrid>
                <a:gridCol w="468000">
                  <a:extLst>
                    <a:ext uri="{9D8B030D-6E8A-4147-A177-3AD203B41FA5}">
                      <a16:colId xmlns:a16="http://schemas.microsoft.com/office/drawing/2014/main" val="3994737336"/>
                    </a:ext>
                  </a:extLst>
                </a:gridCol>
                <a:gridCol w="468000">
                  <a:extLst>
                    <a:ext uri="{9D8B030D-6E8A-4147-A177-3AD203B41FA5}">
                      <a16:colId xmlns:a16="http://schemas.microsoft.com/office/drawing/2014/main" val="2977056859"/>
                    </a:ext>
                  </a:extLst>
                </a:gridCol>
                <a:gridCol w="1224000">
                  <a:extLst>
                    <a:ext uri="{9D8B030D-6E8A-4147-A177-3AD203B41FA5}">
                      <a16:colId xmlns:a16="http://schemas.microsoft.com/office/drawing/2014/main" val="2053703784"/>
                    </a:ext>
                  </a:extLst>
                </a:gridCol>
                <a:gridCol w="1224000">
                  <a:extLst>
                    <a:ext uri="{9D8B030D-6E8A-4147-A177-3AD203B41FA5}">
                      <a16:colId xmlns:a16="http://schemas.microsoft.com/office/drawing/2014/main" val="1157899827"/>
                    </a:ext>
                  </a:extLst>
                </a:gridCol>
                <a:gridCol w="792000">
                  <a:extLst>
                    <a:ext uri="{9D8B030D-6E8A-4147-A177-3AD203B41FA5}">
                      <a16:colId xmlns:a16="http://schemas.microsoft.com/office/drawing/2014/main" val="121804767"/>
                    </a:ext>
                  </a:extLst>
                </a:gridCol>
              </a:tblGrid>
              <a:tr h="396000">
                <a:tc rowSpan="2" gridSpan="2">
                  <a:txBody>
                    <a:bodyPr/>
                    <a:lstStyle/>
                    <a:p>
                      <a:pPr algn="ctr"/>
                      <a:endParaRPr lang="en-GB" sz="1800" dirty="0">
                        <a:latin typeface="+mn-lt"/>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rowSpan="2" hMerge="1">
                  <a:txBody>
                    <a:bodyPr/>
                    <a:lstStyle/>
                    <a:p>
                      <a:pPr algn="ctr"/>
                      <a:endParaRPr lang="en-GB" dirty="0"/>
                    </a:p>
                  </a:txBody>
                  <a:tcPr anchor="ctr">
                    <a:solidFill>
                      <a:schemeClr val="bg1">
                        <a:lumMod val="75000"/>
                      </a:schemeClr>
                    </a:solidFill>
                  </a:tcPr>
                </a:tc>
                <a:tc gridSpan="2">
                  <a:txBody>
                    <a:bodyPr/>
                    <a:lstStyle/>
                    <a:p>
                      <a:pPr algn="ctr"/>
                      <a:r>
                        <a:rPr lang="en-GB" sz="1800" dirty="0">
                          <a:latin typeface="+mn-lt"/>
                        </a:rPr>
                        <a:t>T</a:t>
                      </a:r>
                      <a:r>
                        <a:rPr lang="en-GB" sz="1800" baseline="0" dirty="0">
                          <a:latin typeface="+mn-lt"/>
                        </a:rPr>
                        <a:t>rue outcome</a:t>
                      </a: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GB" dirty="0"/>
                    </a:p>
                  </a:txBody>
                  <a:tcPr anchor="ctr">
                    <a:solidFill>
                      <a:schemeClr val="bg1">
                        <a:lumMod val="75000"/>
                      </a:schemeClr>
                    </a:solidFill>
                  </a:tcPr>
                </a:tc>
                <a:tc rowSpan="2">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77422590"/>
                  </a:ext>
                </a:extLst>
              </a:tr>
              <a:tr h="396000">
                <a:tc gridSpan="2" vMerge="1">
                  <a:txBody>
                    <a:bodyPr/>
                    <a:lstStyle/>
                    <a:p>
                      <a:pPr algn="ctr"/>
                      <a:endParaRPr lang="en-GB" dirty="0"/>
                    </a:p>
                  </a:txBody>
                  <a:tcPr anchor="ctr">
                    <a:solidFill>
                      <a:schemeClr val="bg1">
                        <a:lumMod val="75000"/>
                      </a:schemeClr>
                    </a:solidFill>
                  </a:tcPr>
                </a:tc>
                <a:tc hMerge="1" vMerge="1">
                  <a:txBody>
                    <a:bodyPr/>
                    <a:lstStyle/>
                    <a:p>
                      <a:pPr algn="ctr"/>
                      <a:endParaRPr lang="en-GB" dirty="0"/>
                    </a:p>
                  </a:txBody>
                  <a:tcPr anchor="ctr">
                    <a:solidFill>
                      <a:schemeClr val="bg1">
                        <a:lumMod val="75000"/>
                      </a:schemeClr>
                    </a:solidFill>
                  </a:tcPr>
                </a:tc>
                <a:tc>
                  <a:txBody>
                    <a:bodyPr/>
                    <a:lstStyle/>
                    <a:p>
                      <a:pPr algn="ctr"/>
                      <a:r>
                        <a:rPr lang="en-GB" sz="1800" dirty="0">
                          <a:latin typeface="+mn-lt"/>
                        </a:rPr>
                        <a:t>Positive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DFB1"/>
                    </a:solidFill>
                  </a:tcPr>
                </a:tc>
                <a:tc>
                  <a:txBody>
                    <a:bodyPr/>
                    <a:lstStyle/>
                    <a:p>
                      <a:pPr algn="ctr"/>
                      <a:r>
                        <a:rPr lang="en-GB" sz="1800" dirty="0">
                          <a:latin typeface="+mn-lt"/>
                        </a:rPr>
                        <a:t>Negative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9C99"/>
                    </a:solidFill>
                  </a:tcPr>
                </a:tc>
                <a:tc vMerge="1">
                  <a:txBody>
                    <a:bodyPr/>
                    <a:lstStyle/>
                    <a:p>
                      <a:pPr algn="ctr"/>
                      <a:endParaRPr lang="en-GB" dirty="0"/>
                    </a:p>
                  </a:txBody>
                  <a:tcPr anchor="ctr">
                    <a:solidFill>
                      <a:schemeClr val="bg1">
                        <a:lumMod val="75000"/>
                      </a:schemeClr>
                    </a:solidFill>
                  </a:tcPr>
                </a:tc>
                <a:extLst>
                  <a:ext uri="{0D108BD9-81ED-4DB2-BD59-A6C34878D82A}">
                    <a16:rowId xmlns:a16="http://schemas.microsoft.com/office/drawing/2014/main" val="2795479193"/>
                  </a:ext>
                </a:extLst>
              </a:tr>
              <a:tr h="1044000">
                <a:tc rowSpan="2">
                  <a:txBody>
                    <a:bodyPr/>
                    <a:lstStyle/>
                    <a:p>
                      <a:pPr algn="ctr"/>
                      <a:r>
                        <a:rPr lang="en-GB" sz="1800" dirty="0">
                          <a:latin typeface="+mn-lt"/>
                        </a:rPr>
                        <a:t>Predicted</a:t>
                      </a:r>
                      <a:r>
                        <a:rPr lang="en-GB" sz="1800" baseline="0" dirty="0">
                          <a:latin typeface="+mn-lt"/>
                        </a:rPr>
                        <a:t> outcome</a:t>
                      </a:r>
                      <a:endParaRPr lang="en-GB" sz="1800" dirty="0">
                        <a:latin typeface="+mn-lt"/>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800" kern="1200" dirty="0">
                          <a:solidFill>
                            <a:schemeClr val="dk1"/>
                          </a:solidFill>
                          <a:latin typeface="+mn-lt"/>
                          <a:ea typeface="+mn-ea"/>
                          <a:cs typeface="+mn-cs"/>
                        </a:rPr>
                        <a:t>Positive</a:t>
                      </a:r>
                      <a:endParaRPr lang="en-GB" sz="1800" dirty="0">
                        <a:latin typeface="+mn-lt"/>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DFB1"/>
                    </a:solidFill>
                  </a:tcPr>
                </a:tc>
                <a:tc>
                  <a:txBody>
                    <a:bodyPr/>
                    <a:lstStyle/>
                    <a:p>
                      <a:pPr algn="ctr"/>
                      <a:r>
                        <a:rPr lang="en-GB" sz="1800" dirty="0">
                          <a:latin typeface="+mn-lt"/>
                        </a:rPr>
                        <a:t>TP</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baseline="0" dirty="0">
                          <a:latin typeface="+mn-lt"/>
                        </a:rPr>
                        <a:t>FP</a:t>
                      </a:r>
                      <a:endParaRPr lang="en-GB" sz="1800" dirty="0">
                        <a:latin typeface="+mn-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2CD"/>
                    </a:solidFill>
                  </a:tcPr>
                </a:tc>
                <a:tc>
                  <a:txBody>
                    <a:bodyPr/>
                    <a:lstStyle/>
                    <a:p>
                      <a:pPr algn="ctr"/>
                      <a:endParaRPr lang="en-GB" sz="1800" dirty="0">
                        <a:latin typeface="+mn-lt"/>
                      </a:endParaRP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4114900944"/>
                  </a:ext>
                </a:extLst>
              </a:tr>
              <a:tr h="1044000">
                <a:tc vMerge="1">
                  <a:txBody>
                    <a:bodyPr/>
                    <a:lstStyle/>
                    <a:p>
                      <a:pPr algn="ctr"/>
                      <a:endParaRPr lang="en-GB" dirty="0"/>
                    </a:p>
                  </a:txBody>
                  <a:tcPr vert="vert270" anchor="ctr">
                    <a:solidFill>
                      <a:schemeClr val="bg1">
                        <a:lumMod val="75000"/>
                      </a:schemeClr>
                    </a:solidFill>
                  </a:tcPr>
                </a:tc>
                <a:tc>
                  <a:txBody>
                    <a:bodyPr/>
                    <a:lstStyle/>
                    <a:p>
                      <a:pPr algn="ctr"/>
                      <a:r>
                        <a:rPr lang="en-GB" sz="1800" dirty="0">
                          <a:latin typeface="+mn-lt"/>
                        </a:rPr>
                        <a:t>Negative</a:t>
                      </a: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9C99"/>
                    </a:solidFill>
                  </a:tcPr>
                </a:tc>
                <a:tc>
                  <a:txBody>
                    <a:bodyPr/>
                    <a:lstStyle/>
                    <a:p>
                      <a:pPr algn="ctr"/>
                      <a:r>
                        <a:rPr lang="en-GB" sz="1800" dirty="0">
                          <a:latin typeface="+mn-lt"/>
                        </a:rPr>
                        <a:t>FN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3132018532"/>
                  </a:ext>
                </a:extLst>
              </a:tr>
              <a:tr h="396000">
                <a:tc gridSpan="2">
                  <a:txBody>
                    <a:bodyPr/>
                    <a:lstStyle/>
                    <a:p>
                      <a:pPr algn="ctr"/>
                      <a:endParaRPr lang="en-GB" sz="1800" dirty="0">
                        <a:latin typeface="+mn-lt"/>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hMerge="1">
                  <a:txBody>
                    <a:bodyPr/>
                    <a:lstStyle/>
                    <a:p>
                      <a:pPr algn="ctr"/>
                      <a:endParaRPr lang="en-GB" dirty="0"/>
                    </a:p>
                  </a:txBody>
                  <a:tcPr anchor="ctr">
                    <a:solidFill>
                      <a:schemeClr val="bg1">
                        <a:lumMod val="75000"/>
                      </a:schemeClr>
                    </a:solidFill>
                  </a:tcPr>
                </a:tc>
                <a:tc>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3017366942"/>
                  </a:ext>
                </a:extLst>
              </a:tr>
            </a:tbl>
          </a:graphicData>
        </a:graphic>
      </p:graphicFrame>
      <p:sp>
        <p:nvSpPr>
          <p:cNvPr id="7" name="Title 1">
            <a:extLst>
              <a:ext uri="{FF2B5EF4-FFF2-40B4-BE49-F238E27FC236}">
                <a16:creationId xmlns:a16="http://schemas.microsoft.com/office/drawing/2014/main" id="{D95E1767-E5CD-284D-3FB8-0734BB9C61F0}"/>
              </a:ext>
            </a:extLst>
          </p:cNvPr>
          <p:cNvSpPr>
            <a:spLocks noGrp="1"/>
          </p:cNvSpPr>
          <p:nvPr>
            <p:ph type="title"/>
          </p:nvPr>
        </p:nvSpPr>
        <p:spPr>
          <a:xfrm>
            <a:off x="2032000" y="-79300"/>
            <a:ext cx="8229600" cy="1143000"/>
          </a:xfrm>
        </p:spPr>
        <p:txBody>
          <a:bodyPr/>
          <a:lstStyle/>
          <a:p>
            <a:r>
              <a:rPr lang="en-GB" dirty="0"/>
              <a:t>Model performance metrics</a:t>
            </a:r>
            <a:endParaRPr lang="en-GB" sz="18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5" name="Content Placeholder 2"/>
          <p:cNvSpPr txBox="1">
            <a:spLocks/>
          </p:cNvSpPr>
          <p:nvPr/>
        </p:nvSpPr>
        <p:spPr>
          <a:xfrm>
            <a:off x="1981200" y="1239505"/>
            <a:ext cx="8507288" cy="5400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a:ln>
                <a:noFill/>
              </a:ln>
              <a:solidFill>
                <a:prstClr val="black"/>
              </a:solidFill>
              <a:effectLst/>
              <a:uLnTx/>
              <a:uFillTx/>
              <a:latin typeface="Calibri"/>
              <a:ea typeface="+mn-ea"/>
              <a:cs typeface="+mn-cs"/>
            </a:endParaRPr>
          </a:p>
          <a:p>
            <a:pPr marL="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61950" algn="l"/>
              </a:tabLst>
              <a:defRPr/>
            </a:pPr>
            <a:r>
              <a:rPr kumimoji="0" lang="en-GB" sz="1800" b="0" i="0" u="none" strike="noStrike" kern="1200" cap="none" spc="0" normalizeH="0" baseline="0" noProof="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61950"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58775" marR="0" lvl="0" indent="-358775" algn="l" defTabSz="914400" rtl="0" eaLnBrk="1" fontAlgn="auto" latinLnBrk="0" hangingPunct="1">
              <a:lnSpc>
                <a:spcPct val="100000"/>
              </a:lnSpc>
              <a:spcBef>
                <a:spcPct val="20000"/>
              </a:spcBef>
              <a:spcAft>
                <a:spcPts val="0"/>
              </a:spcAft>
              <a:buClrTx/>
              <a:buSzTx/>
              <a:buFont typeface="Arial" pitchFamily="34" charset="0"/>
              <a:buChar char="•"/>
              <a:tabLst>
                <a:tab pos="3314700"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 name="Content Placeholder 2"/>
          <p:cNvSpPr txBox="1">
            <a:spLocks/>
          </p:cNvSpPr>
          <p:nvPr/>
        </p:nvSpPr>
        <p:spPr>
          <a:xfrm>
            <a:off x="1044000" y="1260000"/>
            <a:ext cx="5340032" cy="432924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Confusion matrix (2 classes)</a:t>
            </a:r>
          </a:p>
          <a:p>
            <a:pPr marL="400050" marR="0" lvl="1" indent="-342900" algn="l" defTabSz="914400" rtl="0" eaLnBrk="1" fontAlgn="auto" latinLnBrk="0" hangingPunct="1">
              <a:lnSpc>
                <a:spcPct val="100000"/>
              </a:lnSpc>
              <a:spcBef>
                <a:spcPct val="20000"/>
              </a:spcBef>
              <a:spcAft>
                <a:spcPts val="0"/>
              </a:spcAft>
              <a:buClrTx/>
              <a:buSzTx/>
              <a:buFont typeface="Symbol" panose="05050102010706020507" pitchFamily="18" charset="2"/>
              <a:buChar char="-"/>
              <a:tabLst>
                <a:tab pos="3138488" algn="l"/>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Recall [0,1]</a:t>
            </a:r>
          </a:p>
          <a:p>
            <a:pPr marL="400050" marR="0" lvl="1" indent="-342900" algn="l" defTabSz="914400" rtl="0" eaLnBrk="1" fontAlgn="auto" latinLnBrk="0" hangingPunct="1">
              <a:lnSpc>
                <a:spcPct val="100000"/>
              </a:lnSpc>
              <a:spcBef>
                <a:spcPct val="20000"/>
              </a:spcBef>
              <a:spcAft>
                <a:spcPts val="0"/>
              </a:spcAft>
              <a:buClrTx/>
              <a:buSzTx/>
              <a:buFont typeface="Symbol" panose="05050102010706020507" pitchFamily="18" charset="2"/>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400050" marR="0" lvl="1" indent="-342900" algn="l" defTabSz="914400" rtl="0" eaLnBrk="1" fontAlgn="auto" latinLnBrk="0" hangingPunct="1">
              <a:lnSpc>
                <a:spcPct val="100000"/>
              </a:lnSpc>
              <a:spcBef>
                <a:spcPct val="20000"/>
              </a:spcBef>
              <a:spcAft>
                <a:spcPts val="0"/>
              </a:spcAft>
              <a:buClrTx/>
              <a:buSzTx/>
              <a:buFont typeface="Symbol" panose="05050102010706020507" pitchFamily="18" charset="2"/>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400050" marR="0" lvl="1" indent="-342900" algn="l" defTabSz="914400" rtl="0" eaLnBrk="1" fontAlgn="auto" latinLnBrk="0" hangingPunct="1">
              <a:lnSpc>
                <a:spcPct val="100000"/>
              </a:lnSpc>
              <a:spcBef>
                <a:spcPct val="20000"/>
              </a:spcBef>
              <a:spcAft>
                <a:spcPts val="0"/>
              </a:spcAft>
              <a:buClrTx/>
              <a:buSzTx/>
              <a:buFont typeface="Symbol" panose="05050102010706020507" pitchFamily="18" charset="2"/>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400050" marR="0" lvl="1" indent="-342900" algn="l" defTabSz="914400" rtl="0" eaLnBrk="1" fontAlgn="auto" latinLnBrk="0" hangingPunct="1">
              <a:lnSpc>
                <a:spcPct val="100000"/>
              </a:lnSpc>
              <a:spcBef>
                <a:spcPct val="20000"/>
              </a:spcBef>
              <a:spcAft>
                <a:spcPts val="0"/>
              </a:spcAft>
              <a:buClrTx/>
              <a:buSzTx/>
              <a:buFont typeface="Symbol" panose="05050102010706020507" pitchFamily="18" charset="2"/>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400050" marR="0" lvl="1" indent="-342900" algn="l" defTabSz="914400" rtl="0" eaLnBrk="1" fontAlgn="auto" latinLnBrk="0" hangingPunct="1">
              <a:lnSpc>
                <a:spcPct val="100000"/>
              </a:lnSpc>
              <a:spcBef>
                <a:spcPct val="20000"/>
              </a:spcBef>
              <a:spcAft>
                <a:spcPts val="0"/>
              </a:spcAft>
              <a:buClrTx/>
              <a:buSzTx/>
              <a:buFont typeface="Symbol" panose="05050102010706020507" pitchFamily="18" charset="2"/>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400050" marR="0" lvl="1" indent="-342900" algn="l" defTabSz="914400" rtl="0" eaLnBrk="1" fontAlgn="auto" latinLnBrk="0" hangingPunct="1">
              <a:lnSpc>
                <a:spcPct val="100000"/>
              </a:lnSpc>
              <a:spcBef>
                <a:spcPct val="20000"/>
              </a:spcBef>
              <a:spcAft>
                <a:spcPts val="0"/>
              </a:spcAft>
              <a:buClrTx/>
              <a:buSzTx/>
              <a:buFont typeface="Symbol" panose="05050102010706020507" pitchFamily="18" charset="2"/>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3619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Ratio of correctly predicted positive (negative) observations to the all observations actually in that class</a:t>
            </a: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p:txBody>
      </p:sp>
      <p:graphicFrame>
        <p:nvGraphicFramePr>
          <p:cNvPr id="2" name="Object 1"/>
          <p:cNvGraphicFramePr>
            <a:graphicFrameLocks noChangeAspect="1"/>
          </p:cNvGraphicFramePr>
          <p:nvPr/>
        </p:nvGraphicFramePr>
        <p:xfrm>
          <a:off x="1487490" y="2259080"/>
          <a:ext cx="3370263" cy="1727200"/>
        </p:xfrm>
        <a:graphic>
          <a:graphicData uri="http://schemas.openxmlformats.org/presentationml/2006/ole">
            <mc:AlternateContent xmlns:mc="http://schemas.openxmlformats.org/markup-compatibility/2006">
              <mc:Choice xmlns:v="urn:schemas-microsoft-com:vml" Requires="v">
                <p:oleObj name="Equation" r:id="rId2" imgW="1688760" imgH="863280" progId="Equation.DSMT4">
                  <p:embed/>
                </p:oleObj>
              </mc:Choice>
              <mc:Fallback>
                <p:oleObj name="Equation" r:id="rId2" imgW="1688760" imgH="863280" progId="Equation.DSMT4">
                  <p:embed/>
                  <p:pic>
                    <p:nvPicPr>
                      <p:cNvPr id="2" name="Object 1"/>
                      <p:cNvPicPr/>
                      <p:nvPr/>
                    </p:nvPicPr>
                    <p:blipFill>
                      <a:blip r:embed="rId3"/>
                      <a:stretch>
                        <a:fillRect/>
                      </a:stretch>
                    </p:blipFill>
                    <p:spPr>
                      <a:xfrm>
                        <a:off x="1487490" y="2259080"/>
                        <a:ext cx="3370263" cy="1727200"/>
                      </a:xfrm>
                      <a:prstGeom prst="rect">
                        <a:avLst/>
                      </a:prstGeom>
                    </p:spPr>
                  </p:pic>
                </p:oleObj>
              </mc:Fallback>
            </mc:AlternateContent>
          </a:graphicData>
        </a:graphic>
      </p:graphicFrame>
      <p:sp>
        <p:nvSpPr>
          <p:cNvPr id="21" name="Rounded Rectangle 20"/>
          <p:cNvSpPr/>
          <p:nvPr/>
        </p:nvSpPr>
        <p:spPr>
          <a:xfrm rot="16200000">
            <a:off x="8866230" y="3670522"/>
            <a:ext cx="1923205" cy="720080"/>
          </a:xfrm>
          <a:prstGeom prst="roundRect">
            <a:avLst/>
          </a:prstGeom>
          <a:noFill/>
          <a:ln>
            <a:solidFill>
              <a:srgbClr val="00B0F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a:ea typeface="+mn-ea"/>
              <a:cs typeface="+mn-cs"/>
            </a:endParaRPr>
          </a:p>
        </p:txBody>
      </p:sp>
      <p:sp>
        <p:nvSpPr>
          <p:cNvPr id="22" name="Rounded Rectangle 21"/>
          <p:cNvSpPr/>
          <p:nvPr/>
        </p:nvSpPr>
        <p:spPr>
          <a:xfrm>
            <a:off x="8256240" y="3230566"/>
            <a:ext cx="572790" cy="609651"/>
          </a:xfrm>
          <a:prstGeom prst="roundRect">
            <a:avLst/>
          </a:prstGeom>
          <a:noFill/>
          <a:ln w="3175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a:ea typeface="+mn-ea"/>
              <a:cs typeface="+mn-cs"/>
            </a:endParaRPr>
          </a:p>
        </p:txBody>
      </p:sp>
      <p:sp>
        <p:nvSpPr>
          <p:cNvPr id="23" name="Rounded Rectangle 22"/>
          <p:cNvSpPr/>
          <p:nvPr/>
        </p:nvSpPr>
        <p:spPr>
          <a:xfrm rot="16200000">
            <a:off x="7564264" y="3687290"/>
            <a:ext cx="1956742" cy="720080"/>
          </a:xfrm>
          <a:prstGeom prst="roundRect">
            <a:avLst/>
          </a:prstGeom>
          <a:noFill/>
          <a:ln>
            <a:solidFill>
              <a:srgbClr val="00B0F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a:ea typeface="+mn-ea"/>
              <a:cs typeface="+mn-cs"/>
            </a:endParaRPr>
          </a:p>
        </p:txBody>
      </p:sp>
      <p:sp>
        <p:nvSpPr>
          <p:cNvPr id="24" name="Rounded Rectangle 23"/>
          <p:cNvSpPr/>
          <p:nvPr/>
        </p:nvSpPr>
        <p:spPr>
          <a:xfrm>
            <a:off x="9541438" y="4277622"/>
            <a:ext cx="572790" cy="609651"/>
          </a:xfrm>
          <a:prstGeom prst="roundRect">
            <a:avLst/>
          </a:prstGeom>
          <a:noFill/>
          <a:ln w="3175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a:ea typeface="+mn-ea"/>
              <a:cs typeface="+mn-cs"/>
            </a:endParaRPr>
          </a:p>
        </p:txBody>
      </p:sp>
      <p:grpSp>
        <p:nvGrpSpPr>
          <p:cNvPr id="26" name="Group 25"/>
          <p:cNvGrpSpPr/>
          <p:nvPr/>
        </p:nvGrpSpPr>
        <p:grpSpPr>
          <a:xfrm>
            <a:off x="6240136" y="1505182"/>
            <a:ext cx="1080000" cy="771690"/>
            <a:chOff x="9912422" y="1142746"/>
            <a:chExt cx="1080000" cy="771690"/>
          </a:xfrm>
        </p:grpSpPr>
        <p:sp>
          <p:nvSpPr>
            <p:cNvPr id="27" name="Rounded Rectangle 26"/>
            <p:cNvSpPr/>
            <p:nvPr/>
          </p:nvSpPr>
          <p:spPr>
            <a:xfrm>
              <a:off x="9912422" y="1142746"/>
              <a:ext cx="1080000" cy="324000"/>
            </a:xfrm>
            <a:prstGeom prst="roundRect">
              <a:avLst/>
            </a:prstGeom>
            <a:noFill/>
            <a:ln w="3175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srgbClr val="00B050"/>
                  </a:solidFill>
                  <a:effectLst/>
                  <a:uLnTx/>
                  <a:uFillTx/>
                  <a:latin typeface="Calibri"/>
                  <a:ea typeface="+mn-ea"/>
                  <a:cs typeface="+mn-cs"/>
                </a:rPr>
                <a:t>numerator</a:t>
              </a:r>
            </a:p>
          </p:txBody>
        </p:sp>
        <p:sp>
          <p:nvSpPr>
            <p:cNvPr id="28" name="Rounded Rectangle 27"/>
            <p:cNvSpPr/>
            <p:nvPr/>
          </p:nvSpPr>
          <p:spPr>
            <a:xfrm>
              <a:off x="9912422" y="1590436"/>
              <a:ext cx="1080000" cy="324000"/>
            </a:xfrm>
            <a:prstGeom prst="roundRect">
              <a:avLst/>
            </a:prstGeom>
            <a:noFill/>
            <a:ln>
              <a:solidFill>
                <a:srgbClr val="00B0F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srgbClr val="00B0F0"/>
                  </a:solidFill>
                  <a:effectLst/>
                  <a:uLnTx/>
                  <a:uFillTx/>
                  <a:latin typeface="Calibri"/>
                  <a:ea typeface="+mn-ea"/>
                  <a:cs typeface="+mn-cs"/>
                </a:rPr>
                <a:t>denominator</a:t>
              </a:r>
              <a:endParaRPr kumimoji="0" lang="en-GB" sz="2000" b="1" i="0" u="none" strike="noStrike" kern="1200" cap="none" spc="0" normalizeH="0" baseline="0" noProof="0" dirty="0">
                <a:ln>
                  <a:noFill/>
                </a:ln>
                <a:solidFill>
                  <a:srgbClr val="00B0F0"/>
                </a:solidFill>
                <a:effectLst/>
                <a:uLnTx/>
                <a:uFillTx/>
                <a:latin typeface="Calibri"/>
                <a:ea typeface="+mn-ea"/>
                <a:cs typeface="+mn-cs"/>
              </a:endParaRPr>
            </a:p>
          </p:txBody>
        </p:sp>
      </p:grpSp>
      <p:sp>
        <p:nvSpPr>
          <p:cNvPr id="29" name="TextBox 28"/>
          <p:cNvSpPr txBox="1"/>
          <p:nvPr/>
        </p:nvSpPr>
        <p:spPr>
          <a:xfrm>
            <a:off x="4843267" y="3477657"/>
            <a:ext cx="204549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lumMod val="50000"/>
                  </a:prstClr>
                </a:solidFill>
                <a:effectLst/>
                <a:uLnTx/>
                <a:uFillTx/>
                <a:latin typeface="Calibri"/>
                <a:ea typeface="+mn-ea"/>
                <a:cs typeface="+mn-cs"/>
                <a:sym typeface="Wingdings" panose="05000000000000000000" pitchFamily="2" charset="2"/>
              </a:rPr>
              <a:t> </a:t>
            </a:r>
            <a:r>
              <a:rPr kumimoji="0" lang="en-GB" sz="1800" b="0" i="0" u="none" strike="noStrike" kern="1200" cap="none" spc="0" normalizeH="0" baseline="0" noProof="0" dirty="0">
                <a:ln>
                  <a:noFill/>
                </a:ln>
                <a:solidFill>
                  <a:prstClr val="white">
                    <a:lumMod val="50000"/>
                  </a:prstClr>
                </a:solidFill>
                <a:effectLst/>
                <a:uLnTx/>
                <a:uFillTx/>
                <a:latin typeface="Calibri"/>
                <a:ea typeface="+mn-ea"/>
                <a:cs typeface="+mn-cs"/>
              </a:rPr>
              <a:t>a.k.a. </a:t>
            </a:r>
            <a:r>
              <a:rPr kumimoji="0" lang="en-GB" sz="1800" b="1" i="0" u="none" strike="noStrike" kern="1200" cap="none" spc="0" normalizeH="0" baseline="0" noProof="0" dirty="0">
                <a:ln>
                  <a:noFill/>
                </a:ln>
                <a:solidFill>
                  <a:prstClr val="white">
                    <a:lumMod val="50000"/>
                  </a:prstClr>
                </a:solidFill>
                <a:effectLst/>
                <a:uLnTx/>
                <a:uFillTx/>
                <a:latin typeface="Calibri"/>
                <a:ea typeface="+mn-ea"/>
                <a:cs typeface="+mn-cs"/>
              </a:rPr>
              <a:t>Specificity</a:t>
            </a:r>
          </a:p>
        </p:txBody>
      </p:sp>
      <p:sp>
        <p:nvSpPr>
          <p:cNvPr id="16" name="TextBox 15"/>
          <p:cNvSpPr txBox="1"/>
          <p:nvPr/>
        </p:nvSpPr>
        <p:spPr>
          <a:xfrm>
            <a:off x="4857753" y="2441226"/>
            <a:ext cx="204549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lumMod val="50000"/>
                  </a:prstClr>
                </a:solidFill>
                <a:effectLst/>
                <a:uLnTx/>
                <a:uFillTx/>
                <a:latin typeface="Calibri"/>
                <a:ea typeface="+mn-ea"/>
                <a:cs typeface="+mn-cs"/>
                <a:sym typeface="Wingdings" panose="05000000000000000000" pitchFamily="2" charset="2"/>
              </a:rPr>
              <a:t> </a:t>
            </a:r>
            <a:r>
              <a:rPr kumimoji="0" lang="en-GB" sz="1800" b="0" i="0" u="none" strike="noStrike" kern="1200" cap="none" spc="0" normalizeH="0" baseline="0" noProof="0" dirty="0">
                <a:ln>
                  <a:noFill/>
                </a:ln>
                <a:solidFill>
                  <a:prstClr val="white">
                    <a:lumMod val="50000"/>
                  </a:prstClr>
                </a:solidFill>
                <a:effectLst/>
                <a:uLnTx/>
                <a:uFillTx/>
                <a:latin typeface="Calibri"/>
                <a:ea typeface="+mn-ea"/>
                <a:cs typeface="+mn-cs"/>
              </a:rPr>
              <a:t>a.k.a. </a:t>
            </a:r>
            <a:r>
              <a:rPr kumimoji="0" lang="en-GB" sz="1800" b="1" i="0" u="none" strike="noStrike" kern="1200" cap="none" spc="0" normalizeH="0" baseline="0" noProof="0" dirty="0">
                <a:ln>
                  <a:noFill/>
                </a:ln>
                <a:solidFill>
                  <a:prstClr val="white">
                    <a:lumMod val="50000"/>
                  </a:prstClr>
                </a:solidFill>
                <a:effectLst/>
                <a:uLnTx/>
                <a:uFillTx/>
                <a:latin typeface="Calibri"/>
                <a:ea typeface="+mn-ea"/>
                <a:cs typeface="+mn-cs"/>
              </a:rPr>
              <a:t>Sensitivity</a:t>
            </a:r>
          </a:p>
        </p:txBody>
      </p:sp>
      <p:sp>
        <p:nvSpPr>
          <p:cNvPr id="8" name="Line 2">
            <a:extLst>
              <a:ext uri="{FF2B5EF4-FFF2-40B4-BE49-F238E27FC236}">
                <a16:creationId xmlns:a16="http://schemas.microsoft.com/office/drawing/2014/main" id="{56BFB56E-6A3C-E435-BE7C-4FEB18A933CF}"/>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9" name="Line 2">
            <a:extLst>
              <a:ext uri="{FF2B5EF4-FFF2-40B4-BE49-F238E27FC236}">
                <a16:creationId xmlns:a16="http://schemas.microsoft.com/office/drawing/2014/main" id="{A7E7A217-F4CB-C0E5-4425-F851F65199D4}"/>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11787335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4675388-B415-689F-ADCE-6CB9A4401281}"/>
              </a:ext>
            </a:extLst>
          </p:cNvPr>
          <p:cNvSpPr>
            <a:spLocks noGrp="1"/>
          </p:cNvSpPr>
          <p:nvPr>
            <p:ph type="title"/>
          </p:nvPr>
        </p:nvSpPr>
        <p:spPr>
          <a:xfrm>
            <a:off x="2032000" y="-79300"/>
            <a:ext cx="8229600" cy="1143000"/>
          </a:xfrm>
        </p:spPr>
        <p:txBody>
          <a:bodyPr/>
          <a:lstStyle/>
          <a:p>
            <a:r>
              <a:rPr lang="en-GB" dirty="0"/>
              <a:t>Model performance metrics</a:t>
            </a:r>
            <a:endParaRPr lang="en-GB" sz="18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5" name="Content Placeholder 2"/>
          <p:cNvSpPr txBox="1">
            <a:spLocks/>
          </p:cNvSpPr>
          <p:nvPr/>
        </p:nvSpPr>
        <p:spPr>
          <a:xfrm>
            <a:off x="1981200" y="1239505"/>
            <a:ext cx="8507288" cy="5400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a:ln>
                <a:noFill/>
              </a:ln>
              <a:solidFill>
                <a:prstClr val="black"/>
              </a:solidFill>
              <a:effectLst/>
              <a:uLnTx/>
              <a:uFillTx/>
              <a:latin typeface="Calibri"/>
              <a:ea typeface="+mn-ea"/>
              <a:cs typeface="+mn-cs"/>
            </a:endParaRPr>
          </a:p>
          <a:p>
            <a:pPr marL="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61950" algn="l"/>
              </a:tabLst>
              <a:defRPr/>
            </a:pPr>
            <a:r>
              <a:rPr kumimoji="0" lang="en-GB" sz="1800" b="0" i="0" u="none" strike="noStrike" kern="1200" cap="none" spc="0" normalizeH="0" baseline="0" noProof="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61950"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58775" marR="0" lvl="0" indent="-358775" algn="l" defTabSz="914400" rtl="0" eaLnBrk="1" fontAlgn="auto" latinLnBrk="0" hangingPunct="1">
              <a:lnSpc>
                <a:spcPct val="100000"/>
              </a:lnSpc>
              <a:spcBef>
                <a:spcPct val="20000"/>
              </a:spcBef>
              <a:spcAft>
                <a:spcPts val="0"/>
              </a:spcAft>
              <a:buClrTx/>
              <a:buSzTx/>
              <a:buFont typeface="Arial" pitchFamily="34" charset="0"/>
              <a:buChar char="•"/>
              <a:tabLst>
                <a:tab pos="3314700"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 name="Content Placeholder 2"/>
          <p:cNvSpPr txBox="1">
            <a:spLocks/>
          </p:cNvSpPr>
          <p:nvPr/>
        </p:nvSpPr>
        <p:spPr>
          <a:xfrm>
            <a:off x="1044000" y="1260000"/>
            <a:ext cx="5340032" cy="432924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Confusion matrix (2 classes)</a:t>
            </a:r>
          </a:p>
          <a:p>
            <a:pPr marL="400050" marR="0" lvl="1" indent="-342900" algn="l" defTabSz="914400" rtl="0" eaLnBrk="1" fontAlgn="auto" latinLnBrk="0" hangingPunct="1">
              <a:lnSpc>
                <a:spcPct val="100000"/>
              </a:lnSpc>
              <a:spcBef>
                <a:spcPct val="20000"/>
              </a:spcBef>
              <a:spcAft>
                <a:spcPts val="0"/>
              </a:spcAft>
              <a:buClrTx/>
              <a:buSzTx/>
              <a:buFont typeface="Symbol" panose="05050102010706020507" pitchFamily="18" charset="2"/>
              <a:buChar char="-"/>
              <a:tabLst>
                <a:tab pos="3138488" algn="l"/>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Recall [0,1]</a:t>
            </a:r>
          </a:p>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p:txBody>
      </p:sp>
      <p:graphicFrame>
        <p:nvGraphicFramePr>
          <p:cNvPr id="14" name="Table 13"/>
          <p:cNvGraphicFramePr>
            <a:graphicFrameLocks noGrp="1"/>
          </p:cNvGraphicFramePr>
          <p:nvPr/>
        </p:nvGraphicFramePr>
        <p:xfrm>
          <a:off x="7032104" y="2220068"/>
          <a:ext cx="4176000" cy="3276000"/>
        </p:xfrm>
        <a:graphic>
          <a:graphicData uri="http://schemas.openxmlformats.org/drawingml/2006/table">
            <a:tbl>
              <a:tblPr>
                <a:tableStyleId>{5C22544A-7EE6-4342-B048-85BDC9FD1C3A}</a:tableStyleId>
              </a:tblPr>
              <a:tblGrid>
                <a:gridCol w="468000">
                  <a:extLst>
                    <a:ext uri="{9D8B030D-6E8A-4147-A177-3AD203B41FA5}">
                      <a16:colId xmlns:a16="http://schemas.microsoft.com/office/drawing/2014/main" val="3994737336"/>
                    </a:ext>
                  </a:extLst>
                </a:gridCol>
                <a:gridCol w="468000">
                  <a:extLst>
                    <a:ext uri="{9D8B030D-6E8A-4147-A177-3AD203B41FA5}">
                      <a16:colId xmlns:a16="http://schemas.microsoft.com/office/drawing/2014/main" val="2977056859"/>
                    </a:ext>
                  </a:extLst>
                </a:gridCol>
                <a:gridCol w="1224000">
                  <a:extLst>
                    <a:ext uri="{9D8B030D-6E8A-4147-A177-3AD203B41FA5}">
                      <a16:colId xmlns:a16="http://schemas.microsoft.com/office/drawing/2014/main" val="2053703784"/>
                    </a:ext>
                  </a:extLst>
                </a:gridCol>
                <a:gridCol w="1224000">
                  <a:extLst>
                    <a:ext uri="{9D8B030D-6E8A-4147-A177-3AD203B41FA5}">
                      <a16:colId xmlns:a16="http://schemas.microsoft.com/office/drawing/2014/main" val="1157899827"/>
                    </a:ext>
                  </a:extLst>
                </a:gridCol>
                <a:gridCol w="792000">
                  <a:extLst>
                    <a:ext uri="{9D8B030D-6E8A-4147-A177-3AD203B41FA5}">
                      <a16:colId xmlns:a16="http://schemas.microsoft.com/office/drawing/2014/main" val="121804767"/>
                    </a:ext>
                  </a:extLst>
                </a:gridCol>
              </a:tblGrid>
              <a:tr h="396000">
                <a:tc rowSpan="2" gridSpan="2">
                  <a:txBody>
                    <a:bodyPr/>
                    <a:lstStyle/>
                    <a:p>
                      <a:pPr algn="ctr"/>
                      <a:endParaRPr lang="en-GB" sz="1800" dirty="0">
                        <a:latin typeface="+mn-lt"/>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rowSpan="2" hMerge="1">
                  <a:txBody>
                    <a:bodyPr/>
                    <a:lstStyle/>
                    <a:p>
                      <a:pPr algn="ctr"/>
                      <a:endParaRPr lang="en-GB" dirty="0"/>
                    </a:p>
                  </a:txBody>
                  <a:tcPr anchor="ctr">
                    <a:solidFill>
                      <a:schemeClr val="bg1">
                        <a:lumMod val="75000"/>
                      </a:schemeClr>
                    </a:solidFill>
                  </a:tcPr>
                </a:tc>
                <a:tc gridSpan="2">
                  <a:txBody>
                    <a:bodyPr/>
                    <a:lstStyle/>
                    <a:p>
                      <a:pPr algn="ctr"/>
                      <a:r>
                        <a:rPr lang="en-GB" sz="1800" dirty="0">
                          <a:latin typeface="+mn-lt"/>
                        </a:rPr>
                        <a:t>T</a:t>
                      </a:r>
                      <a:r>
                        <a:rPr lang="en-GB" sz="1800" baseline="0" dirty="0">
                          <a:latin typeface="+mn-lt"/>
                        </a:rPr>
                        <a:t>rue outcome</a:t>
                      </a: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GB" dirty="0"/>
                    </a:p>
                  </a:txBody>
                  <a:tcPr anchor="ctr">
                    <a:solidFill>
                      <a:schemeClr val="bg1">
                        <a:lumMod val="75000"/>
                      </a:schemeClr>
                    </a:solidFill>
                  </a:tcPr>
                </a:tc>
                <a:tc rowSpan="2">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77422590"/>
                  </a:ext>
                </a:extLst>
              </a:tr>
              <a:tr h="396000">
                <a:tc gridSpan="2" vMerge="1">
                  <a:txBody>
                    <a:bodyPr/>
                    <a:lstStyle/>
                    <a:p>
                      <a:pPr algn="ctr"/>
                      <a:endParaRPr lang="en-GB" dirty="0"/>
                    </a:p>
                  </a:txBody>
                  <a:tcPr anchor="ctr">
                    <a:solidFill>
                      <a:schemeClr val="bg1">
                        <a:lumMod val="75000"/>
                      </a:schemeClr>
                    </a:solidFill>
                  </a:tcPr>
                </a:tc>
                <a:tc hMerge="1" vMerge="1">
                  <a:txBody>
                    <a:bodyPr/>
                    <a:lstStyle/>
                    <a:p>
                      <a:pPr algn="ctr"/>
                      <a:endParaRPr lang="en-GB" dirty="0"/>
                    </a:p>
                  </a:txBody>
                  <a:tcPr anchor="ctr">
                    <a:solidFill>
                      <a:schemeClr val="bg1">
                        <a:lumMod val="75000"/>
                      </a:schemeClr>
                    </a:solidFill>
                  </a:tcPr>
                </a:tc>
                <a:tc>
                  <a:txBody>
                    <a:bodyPr/>
                    <a:lstStyle/>
                    <a:p>
                      <a:pPr algn="ctr"/>
                      <a:r>
                        <a:rPr lang="en-GB" sz="1800" dirty="0">
                          <a:latin typeface="+mn-lt"/>
                        </a:rPr>
                        <a:t>DIABETES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DFB1"/>
                    </a:solidFill>
                  </a:tcPr>
                </a:tc>
                <a:tc>
                  <a:txBody>
                    <a:bodyPr/>
                    <a:lstStyle/>
                    <a:p>
                      <a:pPr algn="ctr"/>
                      <a:r>
                        <a:rPr lang="en-GB" sz="1800" dirty="0">
                          <a:latin typeface="+mn-lt"/>
                        </a:rPr>
                        <a:t>HEALTHY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9C99"/>
                    </a:solidFill>
                  </a:tcPr>
                </a:tc>
                <a:tc vMerge="1">
                  <a:txBody>
                    <a:bodyPr/>
                    <a:lstStyle/>
                    <a:p>
                      <a:pPr algn="ctr"/>
                      <a:endParaRPr lang="en-GB" dirty="0"/>
                    </a:p>
                  </a:txBody>
                  <a:tcPr anchor="ctr">
                    <a:solidFill>
                      <a:schemeClr val="bg1">
                        <a:lumMod val="75000"/>
                      </a:schemeClr>
                    </a:solidFill>
                  </a:tcPr>
                </a:tc>
                <a:extLst>
                  <a:ext uri="{0D108BD9-81ED-4DB2-BD59-A6C34878D82A}">
                    <a16:rowId xmlns:a16="http://schemas.microsoft.com/office/drawing/2014/main" val="2795479193"/>
                  </a:ext>
                </a:extLst>
              </a:tr>
              <a:tr h="1044000">
                <a:tc rowSpan="2">
                  <a:txBody>
                    <a:bodyPr/>
                    <a:lstStyle/>
                    <a:p>
                      <a:pPr algn="ctr"/>
                      <a:r>
                        <a:rPr lang="en-GB" sz="1800" dirty="0">
                          <a:latin typeface="+mn-lt"/>
                        </a:rPr>
                        <a:t>Predicted</a:t>
                      </a:r>
                      <a:r>
                        <a:rPr lang="en-GB" sz="1800" baseline="0" dirty="0">
                          <a:latin typeface="+mn-lt"/>
                        </a:rPr>
                        <a:t> outcome</a:t>
                      </a:r>
                      <a:endParaRPr lang="en-GB" sz="1800" dirty="0">
                        <a:latin typeface="+mn-lt"/>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a:latin typeface="+mn-lt"/>
                        </a:rPr>
                        <a:t>DIABETES</a:t>
                      </a: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DFB1"/>
                    </a:solidFill>
                  </a:tcPr>
                </a:tc>
                <a:tc>
                  <a:txBody>
                    <a:bodyPr/>
                    <a:lstStyle/>
                    <a:p>
                      <a:pPr algn="ctr"/>
                      <a:r>
                        <a:rPr lang="en-GB" sz="1800" dirty="0">
                          <a:latin typeface="+mn-lt"/>
                        </a:rPr>
                        <a:t>30</a:t>
                      </a:r>
                    </a:p>
                    <a:p>
                      <a:pPr algn="ctr"/>
                      <a:r>
                        <a:rPr lang="en-GB" sz="1800" dirty="0">
                          <a:latin typeface="+mn-lt"/>
                        </a:rPr>
                        <a:t>(TP)</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70</a:t>
                      </a:r>
                    </a:p>
                    <a:p>
                      <a:pPr algn="ctr"/>
                      <a:r>
                        <a:rPr lang="en-GB" sz="1800" dirty="0">
                          <a:latin typeface="+mn-lt"/>
                        </a:rPr>
                        <a:t>(FP)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100</a:t>
                      </a: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4114900944"/>
                  </a:ext>
                </a:extLst>
              </a:tr>
              <a:tr h="1044000">
                <a:tc vMerge="1">
                  <a:txBody>
                    <a:bodyPr/>
                    <a:lstStyle/>
                    <a:p>
                      <a:pPr algn="ctr"/>
                      <a:endParaRPr lang="en-GB" dirty="0"/>
                    </a:p>
                  </a:txBody>
                  <a:tcPr vert="vert270" anchor="ctr">
                    <a:solidFill>
                      <a:schemeClr val="bg1">
                        <a:lumMod val="75000"/>
                      </a:schemeClr>
                    </a:solidFill>
                  </a:tcPr>
                </a:tc>
                <a:tc>
                  <a:txBody>
                    <a:bodyPr/>
                    <a:lstStyle/>
                    <a:p>
                      <a:pPr algn="ctr"/>
                      <a:r>
                        <a:rPr lang="en-GB" sz="1800" dirty="0">
                          <a:latin typeface="+mn-lt"/>
                        </a:rPr>
                        <a:t>HEALTHY</a:t>
                      </a: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9C99"/>
                    </a:solidFill>
                  </a:tcPr>
                </a:tc>
                <a:tc>
                  <a:txBody>
                    <a:bodyPr/>
                    <a:lstStyle/>
                    <a:p>
                      <a:pPr algn="ctr"/>
                      <a:r>
                        <a:rPr lang="en-GB" sz="1800" dirty="0">
                          <a:latin typeface="+mn-lt"/>
                        </a:rPr>
                        <a:t>20</a:t>
                      </a:r>
                    </a:p>
                    <a:p>
                      <a:pPr algn="ctr"/>
                      <a:r>
                        <a:rPr lang="en-GB" sz="1800" dirty="0">
                          <a:latin typeface="+mn-lt"/>
                        </a:rPr>
                        <a:t>(FN)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100</a:t>
                      </a:r>
                    </a:p>
                    <a:p>
                      <a:pPr algn="ctr"/>
                      <a:r>
                        <a:rPr lang="en-GB" sz="1800" dirty="0">
                          <a:latin typeface="+mn-lt"/>
                        </a:rPr>
                        <a:t>(TN)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120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3132018532"/>
                  </a:ext>
                </a:extLst>
              </a:tr>
              <a:tr h="396000">
                <a:tc gridSpan="2">
                  <a:txBody>
                    <a:bodyPr/>
                    <a:lstStyle/>
                    <a:p>
                      <a:pPr algn="ctr"/>
                      <a:endParaRPr lang="en-GB" sz="1800" dirty="0">
                        <a:latin typeface="+mn-lt"/>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hMerge="1">
                  <a:txBody>
                    <a:bodyPr/>
                    <a:lstStyle/>
                    <a:p>
                      <a:pPr algn="ctr"/>
                      <a:endParaRPr lang="en-GB" dirty="0"/>
                    </a:p>
                  </a:txBody>
                  <a:tcPr anchor="ctr">
                    <a:solidFill>
                      <a:schemeClr val="bg1">
                        <a:lumMod val="75000"/>
                      </a:schemeClr>
                    </a:solidFill>
                  </a:tcPr>
                </a:tc>
                <a:tc>
                  <a:txBody>
                    <a:bodyPr/>
                    <a:lstStyle/>
                    <a:p>
                      <a:pPr algn="ctr"/>
                      <a:r>
                        <a:rPr lang="en-GB" sz="1800" dirty="0">
                          <a:latin typeface="+mn-lt"/>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r>
                        <a:rPr lang="en-GB" sz="1800" dirty="0">
                          <a:latin typeface="+mn-lt"/>
                        </a:rPr>
                        <a:t>170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r>
                        <a:rPr lang="en-GB" sz="1800" dirty="0">
                          <a:latin typeface="+mn-lt"/>
                        </a:rPr>
                        <a:t>220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3017366942"/>
                  </a:ext>
                </a:extLst>
              </a:tr>
            </a:tbl>
          </a:graphicData>
        </a:graphic>
      </p:graphicFrame>
      <p:graphicFrame>
        <p:nvGraphicFramePr>
          <p:cNvPr id="2" name="Object 1"/>
          <p:cNvGraphicFramePr>
            <a:graphicFrameLocks noChangeAspect="1"/>
          </p:cNvGraphicFramePr>
          <p:nvPr/>
        </p:nvGraphicFramePr>
        <p:xfrm>
          <a:off x="1487490" y="2259080"/>
          <a:ext cx="3370263" cy="1727200"/>
        </p:xfrm>
        <a:graphic>
          <a:graphicData uri="http://schemas.openxmlformats.org/presentationml/2006/ole">
            <mc:AlternateContent xmlns:mc="http://schemas.openxmlformats.org/markup-compatibility/2006">
              <mc:Choice xmlns:v="urn:schemas-microsoft-com:vml" Requires="v">
                <p:oleObj name="Equation" r:id="rId2" imgW="1688760" imgH="863280" progId="Equation.DSMT4">
                  <p:embed/>
                </p:oleObj>
              </mc:Choice>
              <mc:Fallback>
                <p:oleObj name="Equation" r:id="rId2" imgW="1688760" imgH="863280" progId="Equation.DSMT4">
                  <p:embed/>
                  <p:pic>
                    <p:nvPicPr>
                      <p:cNvPr id="2" name="Object 1"/>
                      <p:cNvPicPr/>
                      <p:nvPr/>
                    </p:nvPicPr>
                    <p:blipFill>
                      <a:blip r:embed="rId3"/>
                      <a:stretch>
                        <a:fillRect/>
                      </a:stretch>
                    </p:blipFill>
                    <p:spPr>
                      <a:xfrm>
                        <a:off x="1487490" y="2259080"/>
                        <a:ext cx="3370263" cy="1727200"/>
                      </a:xfrm>
                      <a:prstGeom prst="rect">
                        <a:avLst/>
                      </a:prstGeom>
                    </p:spPr>
                  </p:pic>
                </p:oleObj>
              </mc:Fallback>
            </mc:AlternateContent>
          </a:graphicData>
        </a:graphic>
      </p:graphicFrame>
      <p:grpSp>
        <p:nvGrpSpPr>
          <p:cNvPr id="3" name="Group 2"/>
          <p:cNvGrpSpPr/>
          <p:nvPr/>
        </p:nvGrpSpPr>
        <p:grpSpPr>
          <a:xfrm>
            <a:off x="1487488" y="1395624"/>
            <a:ext cx="10072388" cy="4481301"/>
            <a:chOff x="1487488" y="1395624"/>
            <a:chExt cx="10072388" cy="4481301"/>
          </a:xfrm>
        </p:grpSpPr>
        <p:graphicFrame>
          <p:nvGraphicFramePr>
            <p:cNvPr id="5" name="Object 4"/>
            <p:cNvGraphicFramePr>
              <a:graphicFrameLocks noChangeAspect="1"/>
            </p:cNvGraphicFramePr>
            <p:nvPr/>
          </p:nvGraphicFramePr>
          <p:xfrm>
            <a:off x="1487488" y="4149725"/>
            <a:ext cx="3940175" cy="1727200"/>
          </p:xfrm>
          <a:graphic>
            <a:graphicData uri="http://schemas.openxmlformats.org/presentationml/2006/ole">
              <mc:AlternateContent xmlns:mc="http://schemas.openxmlformats.org/markup-compatibility/2006">
                <mc:Choice xmlns:v="urn:schemas-microsoft-com:vml" Requires="v">
                  <p:oleObj name="Equation" r:id="rId4" imgW="1968480" imgH="863280" progId="Equation.DSMT4">
                    <p:embed/>
                  </p:oleObj>
                </mc:Choice>
                <mc:Fallback>
                  <p:oleObj name="Equation" r:id="rId4" imgW="1968480" imgH="863280" progId="Equation.DSMT4">
                    <p:embed/>
                    <p:pic>
                      <p:nvPicPr>
                        <p:cNvPr id="5" name="Object 4"/>
                        <p:cNvPicPr/>
                        <p:nvPr/>
                      </p:nvPicPr>
                      <p:blipFill>
                        <a:blip r:embed="rId5"/>
                        <a:stretch>
                          <a:fillRect/>
                        </a:stretch>
                      </p:blipFill>
                      <p:spPr>
                        <a:xfrm>
                          <a:off x="1487488" y="4149725"/>
                          <a:ext cx="3940175" cy="1727200"/>
                        </a:xfrm>
                        <a:prstGeom prst="rect">
                          <a:avLst/>
                        </a:prstGeom>
                      </p:spPr>
                    </p:pic>
                  </p:oleObj>
                </mc:Fallback>
              </mc:AlternateContent>
            </a:graphicData>
          </a:graphic>
        </p:graphicFrame>
        <p:grpSp>
          <p:nvGrpSpPr>
            <p:cNvPr id="13" name="Group 12"/>
            <p:cNvGrpSpPr/>
            <p:nvPr/>
          </p:nvGrpSpPr>
          <p:grpSpPr>
            <a:xfrm>
              <a:off x="7032103" y="1395624"/>
              <a:ext cx="4527773" cy="665176"/>
              <a:chOff x="7032103" y="1395624"/>
              <a:chExt cx="4527773" cy="665176"/>
            </a:xfrm>
          </p:grpSpPr>
          <p:sp>
            <p:nvSpPr>
              <p:cNvPr id="18" name="Rounded Rectangle 17"/>
              <p:cNvSpPr/>
              <p:nvPr/>
            </p:nvSpPr>
            <p:spPr>
              <a:xfrm>
                <a:off x="7032103" y="1395624"/>
                <a:ext cx="4527773" cy="646332"/>
              </a:xfrm>
              <a:prstGeom prst="roundRect">
                <a:avLst/>
              </a:prstGeom>
              <a:solidFill>
                <a:schemeClr val="accent4">
                  <a:lumMod val="20000"/>
                  <a:lumOff val="8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a:ea typeface="+mn-ea"/>
                  <a:cs typeface="+mn-cs"/>
                </a:endParaRPr>
              </a:p>
            </p:txBody>
          </p:sp>
          <p:sp>
            <p:nvSpPr>
              <p:cNvPr id="19" name="TextBox 18"/>
              <p:cNvSpPr txBox="1"/>
              <p:nvPr/>
            </p:nvSpPr>
            <p:spPr>
              <a:xfrm>
                <a:off x="7032103" y="1414469"/>
                <a:ext cx="451521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7030A0"/>
                    </a:solidFill>
                    <a:effectLst/>
                    <a:uLnTx/>
                    <a:uFillTx/>
                    <a:latin typeface="Calibri"/>
                    <a:ea typeface="+mn-ea"/>
                    <a:cs typeface="+mn-cs"/>
                  </a:rPr>
                  <a:t>Example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7030A0"/>
                    </a:solidFill>
                    <a:effectLst/>
                    <a:uLnTx/>
                    <a:uFillTx/>
                    <a:latin typeface="Calibri"/>
                    <a:ea typeface="+mn-ea"/>
                    <a:cs typeface="+mn-cs"/>
                  </a:rPr>
                  <a:t>Health state prediction: DIABETES or HEALTHY</a:t>
                </a:r>
              </a:p>
            </p:txBody>
          </p:sp>
        </p:grpSp>
      </p:grpSp>
      <p:sp>
        <p:nvSpPr>
          <p:cNvPr id="16" name="TextBox 15"/>
          <p:cNvSpPr txBox="1"/>
          <p:nvPr/>
        </p:nvSpPr>
        <p:spPr>
          <a:xfrm>
            <a:off x="1487488" y="5964320"/>
            <a:ext cx="10072389" cy="646331"/>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Calibri"/>
                <a:ea typeface="+mn-ea"/>
                <a:cs typeface="+mn-cs"/>
              </a:rPr>
              <a:t>The question that this metric answer: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7030A0"/>
                </a:solidFill>
                <a:effectLst/>
                <a:uLnTx/>
                <a:uFillTx/>
                <a:latin typeface="Calibri"/>
                <a:ea typeface="+mn-ea"/>
                <a:cs typeface="+mn-cs"/>
              </a:rPr>
              <a:t>Of all the patients that truly have DIABETES, how many did the model predict?</a:t>
            </a:r>
          </a:p>
        </p:txBody>
      </p:sp>
      <p:sp>
        <p:nvSpPr>
          <p:cNvPr id="20" name="Rounded Rectangle 19"/>
          <p:cNvSpPr/>
          <p:nvPr/>
        </p:nvSpPr>
        <p:spPr>
          <a:xfrm rot="16200000">
            <a:off x="8866230" y="3670522"/>
            <a:ext cx="1923205" cy="720080"/>
          </a:xfrm>
          <a:prstGeom prst="roundRect">
            <a:avLst/>
          </a:prstGeom>
          <a:noFill/>
          <a:ln>
            <a:solidFill>
              <a:srgbClr val="00B0F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a:ea typeface="+mn-ea"/>
              <a:cs typeface="+mn-cs"/>
            </a:endParaRPr>
          </a:p>
        </p:txBody>
      </p:sp>
      <p:sp>
        <p:nvSpPr>
          <p:cNvPr id="21" name="Rounded Rectangle 20"/>
          <p:cNvSpPr/>
          <p:nvPr/>
        </p:nvSpPr>
        <p:spPr>
          <a:xfrm>
            <a:off x="8256240" y="3230566"/>
            <a:ext cx="572790" cy="609651"/>
          </a:xfrm>
          <a:prstGeom prst="roundRect">
            <a:avLst/>
          </a:prstGeom>
          <a:noFill/>
          <a:ln w="3175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a:ea typeface="+mn-ea"/>
              <a:cs typeface="+mn-cs"/>
            </a:endParaRPr>
          </a:p>
        </p:txBody>
      </p:sp>
      <p:sp>
        <p:nvSpPr>
          <p:cNvPr id="22" name="Rounded Rectangle 21"/>
          <p:cNvSpPr/>
          <p:nvPr/>
        </p:nvSpPr>
        <p:spPr>
          <a:xfrm rot="16200000">
            <a:off x="7564264" y="3687290"/>
            <a:ext cx="1956742" cy="720080"/>
          </a:xfrm>
          <a:prstGeom prst="roundRect">
            <a:avLst/>
          </a:prstGeom>
          <a:noFill/>
          <a:ln>
            <a:solidFill>
              <a:srgbClr val="00B0F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a:ea typeface="+mn-ea"/>
              <a:cs typeface="+mn-cs"/>
            </a:endParaRPr>
          </a:p>
        </p:txBody>
      </p:sp>
      <p:sp>
        <p:nvSpPr>
          <p:cNvPr id="23" name="Rounded Rectangle 22"/>
          <p:cNvSpPr/>
          <p:nvPr/>
        </p:nvSpPr>
        <p:spPr>
          <a:xfrm>
            <a:off x="9541438" y="4277622"/>
            <a:ext cx="572790" cy="609651"/>
          </a:xfrm>
          <a:prstGeom prst="roundRect">
            <a:avLst/>
          </a:prstGeom>
          <a:noFill/>
          <a:ln w="3175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a:ea typeface="+mn-ea"/>
              <a:cs typeface="+mn-cs"/>
            </a:endParaRPr>
          </a:p>
        </p:txBody>
      </p:sp>
      <p:sp>
        <p:nvSpPr>
          <p:cNvPr id="24" name="TextBox 23"/>
          <p:cNvSpPr txBox="1"/>
          <p:nvPr/>
        </p:nvSpPr>
        <p:spPr>
          <a:xfrm>
            <a:off x="4843267" y="3477657"/>
            <a:ext cx="204549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lumMod val="50000"/>
                  </a:prstClr>
                </a:solidFill>
                <a:effectLst/>
                <a:uLnTx/>
                <a:uFillTx/>
                <a:latin typeface="Calibri"/>
                <a:ea typeface="+mn-ea"/>
                <a:cs typeface="+mn-cs"/>
                <a:sym typeface="Wingdings" panose="05000000000000000000" pitchFamily="2" charset="2"/>
              </a:rPr>
              <a:t> </a:t>
            </a:r>
            <a:r>
              <a:rPr kumimoji="0" lang="en-GB" sz="1800" b="0" i="0" u="none" strike="noStrike" kern="1200" cap="none" spc="0" normalizeH="0" baseline="0" noProof="0" dirty="0">
                <a:ln>
                  <a:noFill/>
                </a:ln>
                <a:solidFill>
                  <a:prstClr val="white">
                    <a:lumMod val="50000"/>
                  </a:prstClr>
                </a:solidFill>
                <a:effectLst/>
                <a:uLnTx/>
                <a:uFillTx/>
                <a:latin typeface="Calibri"/>
                <a:ea typeface="+mn-ea"/>
                <a:cs typeface="+mn-cs"/>
              </a:rPr>
              <a:t>a.k.a. </a:t>
            </a:r>
            <a:r>
              <a:rPr kumimoji="0" lang="en-GB" sz="1800" b="1" i="0" u="none" strike="noStrike" kern="1200" cap="none" spc="0" normalizeH="0" baseline="0" noProof="0" dirty="0">
                <a:ln>
                  <a:noFill/>
                </a:ln>
                <a:solidFill>
                  <a:prstClr val="white">
                    <a:lumMod val="50000"/>
                  </a:prstClr>
                </a:solidFill>
                <a:effectLst/>
                <a:uLnTx/>
                <a:uFillTx/>
                <a:latin typeface="Calibri"/>
                <a:ea typeface="+mn-ea"/>
                <a:cs typeface="+mn-cs"/>
              </a:rPr>
              <a:t>specificity</a:t>
            </a:r>
          </a:p>
        </p:txBody>
      </p:sp>
      <p:sp>
        <p:nvSpPr>
          <p:cNvPr id="26" name="TextBox 25"/>
          <p:cNvSpPr txBox="1"/>
          <p:nvPr/>
        </p:nvSpPr>
        <p:spPr>
          <a:xfrm>
            <a:off x="4857753" y="2441226"/>
            <a:ext cx="204549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lumMod val="50000"/>
                  </a:prstClr>
                </a:solidFill>
                <a:effectLst/>
                <a:uLnTx/>
                <a:uFillTx/>
                <a:latin typeface="Calibri"/>
                <a:ea typeface="+mn-ea"/>
                <a:cs typeface="+mn-cs"/>
                <a:sym typeface="Wingdings" panose="05000000000000000000" pitchFamily="2" charset="2"/>
              </a:rPr>
              <a:t> </a:t>
            </a:r>
            <a:r>
              <a:rPr kumimoji="0" lang="en-GB" sz="1800" b="0" i="0" u="none" strike="noStrike" kern="1200" cap="none" spc="0" normalizeH="0" baseline="0" noProof="0" dirty="0">
                <a:ln>
                  <a:noFill/>
                </a:ln>
                <a:solidFill>
                  <a:prstClr val="white">
                    <a:lumMod val="50000"/>
                  </a:prstClr>
                </a:solidFill>
                <a:effectLst/>
                <a:uLnTx/>
                <a:uFillTx/>
                <a:latin typeface="Calibri"/>
                <a:ea typeface="+mn-ea"/>
                <a:cs typeface="+mn-cs"/>
              </a:rPr>
              <a:t>a.k.a. </a:t>
            </a:r>
            <a:r>
              <a:rPr kumimoji="0" lang="en-GB" sz="1800" b="1" i="0" u="none" strike="noStrike" kern="1200" cap="none" spc="0" normalizeH="0" baseline="0" noProof="0" dirty="0">
                <a:ln>
                  <a:noFill/>
                </a:ln>
                <a:solidFill>
                  <a:prstClr val="white">
                    <a:lumMod val="50000"/>
                  </a:prstClr>
                </a:solidFill>
                <a:effectLst/>
                <a:uLnTx/>
                <a:uFillTx/>
                <a:latin typeface="Calibri"/>
                <a:ea typeface="+mn-ea"/>
                <a:cs typeface="+mn-cs"/>
              </a:rPr>
              <a:t>sensitivity</a:t>
            </a:r>
          </a:p>
        </p:txBody>
      </p:sp>
      <p:sp>
        <p:nvSpPr>
          <p:cNvPr id="10" name="Line 2">
            <a:extLst>
              <a:ext uri="{FF2B5EF4-FFF2-40B4-BE49-F238E27FC236}">
                <a16:creationId xmlns:a16="http://schemas.microsoft.com/office/drawing/2014/main" id="{3BFDA21B-A720-F303-A91C-BC0187DEDB06}"/>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1" name="Line 2">
            <a:extLst>
              <a:ext uri="{FF2B5EF4-FFF2-40B4-BE49-F238E27FC236}">
                <a16:creationId xmlns:a16="http://schemas.microsoft.com/office/drawing/2014/main" id="{729BD30C-86E6-08D7-93E0-C71CC9330C1F}"/>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18180791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94CB5CF-0DF9-7C0F-3F14-D433A4E0DB2E}"/>
              </a:ext>
            </a:extLst>
          </p:cNvPr>
          <p:cNvSpPr>
            <a:spLocks noGrp="1"/>
          </p:cNvSpPr>
          <p:nvPr>
            <p:ph type="title"/>
          </p:nvPr>
        </p:nvSpPr>
        <p:spPr>
          <a:xfrm>
            <a:off x="2032000" y="-79300"/>
            <a:ext cx="8229600" cy="1143000"/>
          </a:xfrm>
        </p:spPr>
        <p:txBody>
          <a:bodyPr/>
          <a:lstStyle/>
          <a:p>
            <a:r>
              <a:rPr lang="en-GB" dirty="0"/>
              <a:t>Model performance metrics</a:t>
            </a:r>
            <a:endParaRPr lang="en-GB" sz="18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5" name="Content Placeholder 2"/>
          <p:cNvSpPr txBox="1">
            <a:spLocks/>
          </p:cNvSpPr>
          <p:nvPr/>
        </p:nvSpPr>
        <p:spPr>
          <a:xfrm>
            <a:off x="1981200" y="1239505"/>
            <a:ext cx="8507288" cy="5400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a:ln>
                <a:noFill/>
              </a:ln>
              <a:solidFill>
                <a:prstClr val="black"/>
              </a:solidFill>
              <a:effectLst/>
              <a:uLnTx/>
              <a:uFillTx/>
              <a:latin typeface="Calibri"/>
              <a:ea typeface="+mn-ea"/>
              <a:cs typeface="+mn-cs"/>
            </a:endParaRPr>
          </a:p>
          <a:p>
            <a:pPr marL="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61950" algn="l"/>
              </a:tabLst>
              <a:defRPr/>
            </a:pPr>
            <a:r>
              <a:rPr kumimoji="0" lang="en-GB" sz="1800" b="0" i="0" u="none" strike="noStrike" kern="1200" cap="none" spc="0" normalizeH="0" baseline="0" noProof="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61950"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58775" marR="0" lvl="0" indent="-358775" algn="l" defTabSz="914400" rtl="0" eaLnBrk="1" fontAlgn="auto" latinLnBrk="0" hangingPunct="1">
              <a:lnSpc>
                <a:spcPct val="100000"/>
              </a:lnSpc>
              <a:spcBef>
                <a:spcPct val="20000"/>
              </a:spcBef>
              <a:spcAft>
                <a:spcPts val="0"/>
              </a:spcAft>
              <a:buClrTx/>
              <a:buSzTx/>
              <a:buFont typeface="Arial" pitchFamily="34" charset="0"/>
              <a:buChar char="•"/>
              <a:tabLst>
                <a:tab pos="3314700"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 name="Content Placeholder 2"/>
          <p:cNvSpPr txBox="1">
            <a:spLocks/>
          </p:cNvSpPr>
          <p:nvPr/>
        </p:nvSpPr>
        <p:spPr>
          <a:xfrm>
            <a:off x="1044000" y="1260000"/>
            <a:ext cx="5340032" cy="96006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Confusion matrix (2 classes)</a:t>
            </a:r>
          </a:p>
          <a:p>
            <a:pPr marL="400050" marR="0" lvl="1" indent="-342900" algn="l" defTabSz="914400" rtl="0" eaLnBrk="1" fontAlgn="auto" latinLnBrk="0" hangingPunct="1">
              <a:lnSpc>
                <a:spcPct val="100000"/>
              </a:lnSpc>
              <a:spcBef>
                <a:spcPct val="20000"/>
              </a:spcBef>
              <a:spcAft>
                <a:spcPts val="0"/>
              </a:spcAft>
              <a:buClrTx/>
              <a:buSzTx/>
              <a:buFont typeface="Symbol" panose="05050102010706020507" pitchFamily="18" charset="2"/>
              <a:buChar char="-"/>
              <a:tabLst>
                <a:tab pos="3138488" algn="l"/>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Matthew’s correlation coefficient</a:t>
            </a:r>
          </a:p>
          <a:p>
            <a:pPr marL="400050" marR="0" lvl="1" indent="-342900" algn="l" defTabSz="914400" rtl="0" eaLnBrk="1" fontAlgn="auto" latinLnBrk="0" hangingPunct="1">
              <a:lnSpc>
                <a:spcPct val="100000"/>
              </a:lnSpc>
              <a:spcBef>
                <a:spcPct val="20000"/>
              </a:spcBef>
              <a:spcAft>
                <a:spcPts val="0"/>
              </a:spcAft>
              <a:buClrTx/>
              <a:buSzTx/>
              <a:buFont typeface="Symbol" panose="05050102010706020507" pitchFamily="18" charset="2"/>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400050" marR="0" lvl="1" indent="-342900" algn="l" defTabSz="914400" rtl="0" eaLnBrk="1" fontAlgn="auto" latinLnBrk="0" hangingPunct="1">
              <a:lnSpc>
                <a:spcPct val="100000"/>
              </a:lnSpc>
              <a:spcBef>
                <a:spcPct val="20000"/>
              </a:spcBef>
              <a:spcAft>
                <a:spcPts val="0"/>
              </a:spcAft>
              <a:buClrTx/>
              <a:buSzTx/>
              <a:buFont typeface="Symbol" panose="05050102010706020507" pitchFamily="18" charset="2"/>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3619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3619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MCC combines precision, specificity, sensitivity into a single number</a:t>
            </a:r>
          </a:p>
          <a:p>
            <a:pPr marL="3619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3619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MCC only returns a high score if the prediction is good in all of the four confusion matrix categories</a:t>
            </a: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3619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3619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p:txBody>
      </p:sp>
      <p:graphicFrame>
        <p:nvGraphicFramePr>
          <p:cNvPr id="14" name="Table 13"/>
          <p:cNvGraphicFramePr>
            <a:graphicFrameLocks noGrp="1"/>
          </p:cNvGraphicFramePr>
          <p:nvPr/>
        </p:nvGraphicFramePr>
        <p:xfrm>
          <a:off x="7032104" y="2220068"/>
          <a:ext cx="4176000" cy="3276000"/>
        </p:xfrm>
        <a:graphic>
          <a:graphicData uri="http://schemas.openxmlformats.org/drawingml/2006/table">
            <a:tbl>
              <a:tblPr>
                <a:tableStyleId>{5C22544A-7EE6-4342-B048-85BDC9FD1C3A}</a:tableStyleId>
              </a:tblPr>
              <a:tblGrid>
                <a:gridCol w="468000">
                  <a:extLst>
                    <a:ext uri="{9D8B030D-6E8A-4147-A177-3AD203B41FA5}">
                      <a16:colId xmlns:a16="http://schemas.microsoft.com/office/drawing/2014/main" val="3994737336"/>
                    </a:ext>
                  </a:extLst>
                </a:gridCol>
                <a:gridCol w="468000">
                  <a:extLst>
                    <a:ext uri="{9D8B030D-6E8A-4147-A177-3AD203B41FA5}">
                      <a16:colId xmlns:a16="http://schemas.microsoft.com/office/drawing/2014/main" val="2977056859"/>
                    </a:ext>
                  </a:extLst>
                </a:gridCol>
                <a:gridCol w="1224000">
                  <a:extLst>
                    <a:ext uri="{9D8B030D-6E8A-4147-A177-3AD203B41FA5}">
                      <a16:colId xmlns:a16="http://schemas.microsoft.com/office/drawing/2014/main" val="2053703784"/>
                    </a:ext>
                  </a:extLst>
                </a:gridCol>
                <a:gridCol w="1224000">
                  <a:extLst>
                    <a:ext uri="{9D8B030D-6E8A-4147-A177-3AD203B41FA5}">
                      <a16:colId xmlns:a16="http://schemas.microsoft.com/office/drawing/2014/main" val="1157899827"/>
                    </a:ext>
                  </a:extLst>
                </a:gridCol>
                <a:gridCol w="792000">
                  <a:extLst>
                    <a:ext uri="{9D8B030D-6E8A-4147-A177-3AD203B41FA5}">
                      <a16:colId xmlns:a16="http://schemas.microsoft.com/office/drawing/2014/main" val="121804767"/>
                    </a:ext>
                  </a:extLst>
                </a:gridCol>
              </a:tblGrid>
              <a:tr h="396000">
                <a:tc rowSpan="2" gridSpan="2">
                  <a:txBody>
                    <a:bodyPr/>
                    <a:lstStyle/>
                    <a:p>
                      <a:pPr algn="ctr"/>
                      <a:endParaRPr lang="en-GB" sz="1800" dirty="0">
                        <a:latin typeface="+mn-lt"/>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rowSpan="2" hMerge="1">
                  <a:txBody>
                    <a:bodyPr/>
                    <a:lstStyle/>
                    <a:p>
                      <a:pPr algn="ctr"/>
                      <a:endParaRPr lang="en-GB" dirty="0"/>
                    </a:p>
                  </a:txBody>
                  <a:tcPr anchor="ctr">
                    <a:solidFill>
                      <a:schemeClr val="bg1">
                        <a:lumMod val="75000"/>
                      </a:schemeClr>
                    </a:solidFill>
                  </a:tcPr>
                </a:tc>
                <a:tc gridSpan="2">
                  <a:txBody>
                    <a:bodyPr/>
                    <a:lstStyle/>
                    <a:p>
                      <a:pPr algn="ctr"/>
                      <a:r>
                        <a:rPr lang="en-GB" sz="1800" dirty="0">
                          <a:latin typeface="+mn-lt"/>
                        </a:rPr>
                        <a:t>T</a:t>
                      </a:r>
                      <a:r>
                        <a:rPr lang="en-GB" sz="1800" baseline="0" dirty="0">
                          <a:latin typeface="+mn-lt"/>
                        </a:rPr>
                        <a:t>rue outcome</a:t>
                      </a: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GB" dirty="0"/>
                    </a:p>
                  </a:txBody>
                  <a:tcPr anchor="ctr">
                    <a:solidFill>
                      <a:schemeClr val="bg1">
                        <a:lumMod val="75000"/>
                      </a:schemeClr>
                    </a:solidFill>
                  </a:tcPr>
                </a:tc>
                <a:tc rowSpan="2">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77422590"/>
                  </a:ext>
                </a:extLst>
              </a:tr>
              <a:tr h="396000">
                <a:tc gridSpan="2" vMerge="1">
                  <a:txBody>
                    <a:bodyPr/>
                    <a:lstStyle/>
                    <a:p>
                      <a:pPr algn="ctr"/>
                      <a:endParaRPr lang="en-GB" dirty="0"/>
                    </a:p>
                  </a:txBody>
                  <a:tcPr anchor="ctr">
                    <a:solidFill>
                      <a:schemeClr val="bg1">
                        <a:lumMod val="75000"/>
                      </a:schemeClr>
                    </a:solidFill>
                  </a:tcPr>
                </a:tc>
                <a:tc hMerge="1" vMerge="1">
                  <a:txBody>
                    <a:bodyPr/>
                    <a:lstStyle/>
                    <a:p>
                      <a:pPr algn="ctr"/>
                      <a:endParaRPr lang="en-GB" dirty="0"/>
                    </a:p>
                  </a:txBody>
                  <a:tcPr anchor="ctr">
                    <a:solidFill>
                      <a:schemeClr val="bg1">
                        <a:lumMod val="75000"/>
                      </a:schemeClr>
                    </a:solidFill>
                  </a:tcPr>
                </a:tc>
                <a:tc>
                  <a:txBody>
                    <a:bodyPr/>
                    <a:lstStyle/>
                    <a:p>
                      <a:pPr algn="ctr"/>
                      <a:r>
                        <a:rPr lang="en-GB" sz="1800" dirty="0">
                          <a:latin typeface="+mn-lt"/>
                        </a:rPr>
                        <a:t>Positive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DFB1"/>
                    </a:solidFill>
                  </a:tcPr>
                </a:tc>
                <a:tc>
                  <a:txBody>
                    <a:bodyPr/>
                    <a:lstStyle/>
                    <a:p>
                      <a:pPr algn="ctr"/>
                      <a:r>
                        <a:rPr lang="en-GB" sz="1800" dirty="0">
                          <a:latin typeface="+mn-lt"/>
                        </a:rPr>
                        <a:t>Negative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9C99"/>
                    </a:solidFill>
                  </a:tcPr>
                </a:tc>
                <a:tc vMerge="1">
                  <a:txBody>
                    <a:bodyPr/>
                    <a:lstStyle/>
                    <a:p>
                      <a:pPr algn="ctr"/>
                      <a:endParaRPr lang="en-GB" dirty="0"/>
                    </a:p>
                  </a:txBody>
                  <a:tcPr anchor="ctr">
                    <a:solidFill>
                      <a:schemeClr val="bg1">
                        <a:lumMod val="75000"/>
                      </a:schemeClr>
                    </a:solidFill>
                  </a:tcPr>
                </a:tc>
                <a:extLst>
                  <a:ext uri="{0D108BD9-81ED-4DB2-BD59-A6C34878D82A}">
                    <a16:rowId xmlns:a16="http://schemas.microsoft.com/office/drawing/2014/main" val="2795479193"/>
                  </a:ext>
                </a:extLst>
              </a:tr>
              <a:tr h="1044000">
                <a:tc rowSpan="2">
                  <a:txBody>
                    <a:bodyPr/>
                    <a:lstStyle/>
                    <a:p>
                      <a:pPr algn="ctr"/>
                      <a:r>
                        <a:rPr lang="en-GB" sz="1800" dirty="0">
                          <a:latin typeface="+mn-lt"/>
                        </a:rPr>
                        <a:t>Predicted</a:t>
                      </a:r>
                      <a:r>
                        <a:rPr lang="en-GB" sz="1800" baseline="0" dirty="0">
                          <a:latin typeface="+mn-lt"/>
                        </a:rPr>
                        <a:t> outcome</a:t>
                      </a:r>
                      <a:endParaRPr lang="en-GB" sz="1800" dirty="0">
                        <a:latin typeface="+mn-lt"/>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800" kern="1200" dirty="0">
                          <a:solidFill>
                            <a:schemeClr val="dk1"/>
                          </a:solidFill>
                          <a:latin typeface="+mn-lt"/>
                          <a:ea typeface="+mn-ea"/>
                          <a:cs typeface="+mn-cs"/>
                        </a:rPr>
                        <a:t>Positive</a:t>
                      </a:r>
                      <a:endParaRPr lang="en-GB" sz="1800" dirty="0">
                        <a:latin typeface="+mn-lt"/>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DFB1"/>
                    </a:solidFill>
                  </a:tcPr>
                </a:tc>
                <a:tc>
                  <a:txBody>
                    <a:bodyPr/>
                    <a:lstStyle/>
                    <a:p>
                      <a:pPr algn="ctr"/>
                      <a:r>
                        <a:rPr lang="en-GB" sz="1800" dirty="0">
                          <a:latin typeface="+mn-lt"/>
                        </a:rPr>
                        <a:t>30</a:t>
                      </a:r>
                    </a:p>
                    <a:p>
                      <a:pPr algn="ctr"/>
                      <a:r>
                        <a:rPr lang="en-GB" sz="1800" dirty="0">
                          <a:latin typeface="+mn-lt"/>
                        </a:rPr>
                        <a:t>(TP)</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70</a:t>
                      </a:r>
                    </a:p>
                    <a:p>
                      <a:pPr algn="ctr"/>
                      <a:r>
                        <a:rPr lang="en-GB" sz="1800" dirty="0">
                          <a:latin typeface="+mn-lt"/>
                        </a:rPr>
                        <a:t>(FP)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100</a:t>
                      </a: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4114900944"/>
                  </a:ext>
                </a:extLst>
              </a:tr>
              <a:tr h="1044000">
                <a:tc vMerge="1">
                  <a:txBody>
                    <a:bodyPr/>
                    <a:lstStyle/>
                    <a:p>
                      <a:pPr algn="ctr"/>
                      <a:endParaRPr lang="en-GB" dirty="0"/>
                    </a:p>
                  </a:txBody>
                  <a:tcPr vert="vert270" anchor="ctr">
                    <a:solidFill>
                      <a:schemeClr val="bg1">
                        <a:lumMod val="75000"/>
                      </a:schemeClr>
                    </a:solidFill>
                  </a:tcPr>
                </a:tc>
                <a:tc>
                  <a:txBody>
                    <a:bodyPr/>
                    <a:lstStyle/>
                    <a:p>
                      <a:pPr algn="ctr"/>
                      <a:r>
                        <a:rPr lang="en-GB" sz="1800" dirty="0">
                          <a:latin typeface="+mn-lt"/>
                        </a:rPr>
                        <a:t>Negative</a:t>
                      </a: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9C99"/>
                    </a:solidFill>
                  </a:tcPr>
                </a:tc>
                <a:tc>
                  <a:txBody>
                    <a:bodyPr/>
                    <a:lstStyle/>
                    <a:p>
                      <a:pPr algn="ctr"/>
                      <a:r>
                        <a:rPr lang="en-GB" sz="1800" dirty="0">
                          <a:latin typeface="+mn-lt"/>
                        </a:rPr>
                        <a:t>20</a:t>
                      </a:r>
                    </a:p>
                    <a:p>
                      <a:pPr algn="ctr"/>
                      <a:r>
                        <a:rPr lang="en-GB" sz="1800" dirty="0">
                          <a:latin typeface="+mn-lt"/>
                        </a:rPr>
                        <a:t>(FN)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100</a:t>
                      </a:r>
                    </a:p>
                    <a:p>
                      <a:pPr algn="ctr"/>
                      <a:r>
                        <a:rPr lang="en-GB" sz="1800" dirty="0">
                          <a:latin typeface="+mn-lt"/>
                        </a:rPr>
                        <a:t>(TN)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120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3132018532"/>
                  </a:ext>
                </a:extLst>
              </a:tr>
              <a:tr h="396000">
                <a:tc gridSpan="2">
                  <a:txBody>
                    <a:bodyPr/>
                    <a:lstStyle/>
                    <a:p>
                      <a:pPr algn="ctr"/>
                      <a:endParaRPr lang="en-GB" sz="1800" dirty="0">
                        <a:latin typeface="+mn-lt"/>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hMerge="1">
                  <a:txBody>
                    <a:bodyPr/>
                    <a:lstStyle/>
                    <a:p>
                      <a:pPr algn="ctr"/>
                      <a:endParaRPr lang="en-GB" dirty="0"/>
                    </a:p>
                  </a:txBody>
                  <a:tcPr anchor="ctr">
                    <a:solidFill>
                      <a:schemeClr val="bg1">
                        <a:lumMod val="75000"/>
                      </a:schemeClr>
                    </a:solidFill>
                  </a:tcPr>
                </a:tc>
                <a:tc>
                  <a:txBody>
                    <a:bodyPr/>
                    <a:lstStyle/>
                    <a:p>
                      <a:pPr algn="ctr"/>
                      <a:r>
                        <a:rPr lang="en-GB" sz="1800" dirty="0">
                          <a:latin typeface="+mn-lt"/>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r>
                        <a:rPr lang="en-GB" sz="1800" dirty="0">
                          <a:latin typeface="+mn-lt"/>
                        </a:rPr>
                        <a:t>170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r>
                        <a:rPr lang="en-GB" sz="1800" dirty="0">
                          <a:latin typeface="+mn-lt"/>
                        </a:rPr>
                        <a:t>220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3017366942"/>
                  </a:ext>
                </a:extLst>
              </a:tr>
            </a:tbl>
          </a:graphicData>
        </a:graphic>
      </p:graphicFrame>
      <p:graphicFrame>
        <p:nvGraphicFramePr>
          <p:cNvPr id="2" name="Object 1"/>
          <p:cNvGraphicFramePr>
            <a:graphicFrameLocks noChangeAspect="1"/>
          </p:cNvGraphicFramePr>
          <p:nvPr/>
        </p:nvGraphicFramePr>
        <p:xfrm>
          <a:off x="1490395" y="2204864"/>
          <a:ext cx="6477813" cy="799984"/>
        </p:xfrm>
        <a:graphic>
          <a:graphicData uri="http://schemas.openxmlformats.org/presentationml/2006/ole">
            <mc:AlternateContent xmlns:mc="http://schemas.openxmlformats.org/markup-compatibility/2006">
              <mc:Choice xmlns:v="urn:schemas-microsoft-com:vml" Requires="v">
                <p:oleObj name="Equation" r:id="rId2" imgW="3504960" imgH="431640" progId="Equation.DSMT4">
                  <p:embed/>
                </p:oleObj>
              </mc:Choice>
              <mc:Fallback>
                <p:oleObj name="Equation" r:id="rId2" imgW="3504960" imgH="431640" progId="Equation.DSMT4">
                  <p:embed/>
                  <p:pic>
                    <p:nvPicPr>
                      <p:cNvPr id="2" name="Object 1"/>
                      <p:cNvPicPr/>
                      <p:nvPr/>
                    </p:nvPicPr>
                    <p:blipFill>
                      <a:blip r:embed="rId3"/>
                      <a:stretch>
                        <a:fillRect/>
                      </a:stretch>
                    </p:blipFill>
                    <p:spPr>
                      <a:xfrm>
                        <a:off x="1490395" y="2204864"/>
                        <a:ext cx="6477813" cy="799984"/>
                      </a:xfrm>
                      <a:prstGeom prst="rect">
                        <a:avLst/>
                      </a:prstGeom>
                    </p:spPr>
                  </p:pic>
                </p:oleObj>
              </mc:Fallback>
            </mc:AlternateContent>
          </a:graphicData>
        </a:graphic>
      </p:graphicFrame>
      <p:sp>
        <p:nvSpPr>
          <p:cNvPr id="17" name="Rounded Rectangle 16"/>
          <p:cNvSpPr/>
          <p:nvPr/>
        </p:nvSpPr>
        <p:spPr>
          <a:xfrm>
            <a:off x="8044563" y="3071599"/>
            <a:ext cx="2268194" cy="1980000"/>
          </a:xfrm>
          <a:prstGeom prst="roundRect">
            <a:avLst/>
          </a:prstGeom>
          <a:noFill/>
          <a:ln>
            <a:solidFill>
              <a:srgbClr val="00B0F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a:ea typeface="+mn-ea"/>
              <a:cs typeface="+mn-cs"/>
            </a:endParaRPr>
          </a:p>
        </p:txBody>
      </p:sp>
      <p:sp>
        <p:nvSpPr>
          <p:cNvPr id="18" name="Rounded Rectangle 17"/>
          <p:cNvSpPr>
            <a:spLocks noChangeAspect="1"/>
          </p:cNvSpPr>
          <p:nvPr/>
        </p:nvSpPr>
        <p:spPr>
          <a:xfrm>
            <a:off x="8150217" y="3162215"/>
            <a:ext cx="2060583" cy="1798767"/>
          </a:xfrm>
          <a:prstGeom prst="roundRect">
            <a:avLst/>
          </a:prstGeom>
          <a:noFill/>
          <a:ln w="3175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a:ea typeface="+mn-ea"/>
              <a:cs typeface="+mn-cs"/>
            </a:endParaRPr>
          </a:p>
        </p:txBody>
      </p:sp>
      <p:sp>
        <p:nvSpPr>
          <p:cNvPr id="8" name="Line 2">
            <a:extLst>
              <a:ext uri="{FF2B5EF4-FFF2-40B4-BE49-F238E27FC236}">
                <a16:creationId xmlns:a16="http://schemas.microsoft.com/office/drawing/2014/main" id="{DFAA9B2D-984F-70BD-7599-DBA15082721D}"/>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9" name="Line 2">
            <a:extLst>
              <a:ext uri="{FF2B5EF4-FFF2-40B4-BE49-F238E27FC236}">
                <a16:creationId xmlns:a16="http://schemas.microsoft.com/office/drawing/2014/main" id="{DF1B4A0B-4450-532F-3AB3-0E254DADBFE3}"/>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42170076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C6D5D00-DAEE-514D-3CBA-5FEDEFE7543C}"/>
              </a:ext>
            </a:extLst>
          </p:cNvPr>
          <p:cNvSpPr>
            <a:spLocks noGrp="1"/>
          </p:cNvSpPr>
          <p:nvPr>
            <p:ph type="title"/>
          </p:nvPr>
        </p:nvSpPr>
        <p:spPr>
          <a:xfrm>
            <a:off x="2032000" y="-79300"/>
            <a:ext cx="8229600" cy="1143000"/>
          </a:xfrm>
        </p:spPr>
        <p:txBody>
          <a:bodyPr/>
          <a:lstStyle/>
          <a:p>
            <a:r>
              <a:rPr lang="en-GB" dirty="0"/>
              <a:t>Model performance metrics</a:t>
            </a:r>
            <a:endParaRPr lang="en-GB" sz="18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5" name="Content Placeholder 2"/>
          <p:cNvSpPr txBox="1">
            <a:spLocks/>
          </p:cNvSpPr>
          <p:nvPr/>
        </p:nvSpPr>
        <p:spPr>
          <a:xfrm>
            <a:off x="1981200" y="1239505"/>
            <a:ext cx="8507288" cy="5400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a:ln>
                <a:noFill/>
              </a:ln>
              <a:solidFill>
                <a:prstClr val="black"/>
              </a:solidFill>
              <a:effectLst/>
              <a:uLnTx/>
              <a:uFillTx/>
              <a:latin typeface="Calibri"/>
              <a:ea typeface="+mn-ea"/>
              <a:cs typeface="+mn-cs"/>
            </a:endParaRPr>
          </a:p>
          <a:p>
            <a:pPr marL="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61950" algn="l"/>
              </a:tabLst>
              <a:defRPr/>
            </a:pPr>
            <a:r>
              <a:rPr kumimoji="0" lang="en-GB" sz="1800" b="0" i="0" u="none" strike="noStrike" kern="1200" cap="none" spc="0" normalizeH="0" baseline="0" noProof="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61950"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58775" marR="0" lvl="0" indent="-358775" algn="l" defTabSz="914400" rtl="0" eaLnBrk="1" fontAlgn="auto" latinLnBrk="0" hangingPunct="1">
              <a:lnSpc>
                <a:spcPct val="100000"/>
              </a:lnSpc>
              <a:spcBef>
                <a:spcPct val="20000"/>
              </a:spcBef>
              <a:spcAft>
                <a:spcPts val="0"/>
              </a:spcAft>
              <a:buClrTx/>
              <a:buSzTx/>
              <a:buFont typeface="Arial" pitchFamily="34" charset="0"/>
              <a:buChar char="•"/>
              <a:tabLst>
                <a:tab pos="3314700" algn="l"/>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 name="Content Placeholder 2"/>
          <p:cNvSpPr txBox="1">
            <a:spLocks/>
          </p:cNvSpPr>
          <p:nvPr/>
        </p:nvSpPr>
        <p:spPr>
          <a:xfrm>
            <a:off x="1044000" y="1260000"/>
            <a:ext cx="5340032" cy="96006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Confusion matrix (2 classes)</a:t>
            </a:r>
          </a:p>
          <a:p>
            <a:pPr marL="400050" marR="0" lvl="1" indent="-342900" algn="l" defTabSz="914400" rtl="0" eaLnBrk="1" fontAlgn="auto" latinLnBrk="0" hangingPunct="1">
              <a:lnSpc>
                <a:spcPct val="100000"/>
              </a:lnSpc>
              <a:spcBef>
                <a:spcPct val="20000"/>
              </a:spcBef>
              <a:spcAft>
                <a:spcPts val="0"/>
              </a:spcAft>
              <a:buClrTx/>
              <a:buSzTx/>
              <a:buFont typeface="Symbol" panose="05050102010706020507" pitchFamily="18" charset="2"/>
              <a:buChar char="-"/>
              <a:tabLst>
                <a:tab pos="3138488" algn="l"/>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Matthew’s correlation coefficient</a:t>
            </a:r>
          </a:p>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p:txBody>
      </p:sp>
      <p:graphicFrame>
        <p:nvGraphicFramePr>
          <p:cNvPr id="14" name="Table 13"/>
          <p:cNvGraphicFramePr>
            <a:graphicFrameLocks noGrp="1"/>
          </p:cNvGraphicFramePr>
          <p:nvPr/>
        </p:nvGraphicFramePr>
        <p:xfrm>
          <a:off x="7032104" y="2220068"/>
          <a:ext cx="4176000" cy="3276000"/>
        </p:xfrm>
        <a:graphic>
          <a:graphicData uri="http://schemas.openxmlformats.org/drawingml/2006/table">
            <a:tbl>
              <a:tblPr>
                <a:tableStyleId>{5C22544A-7EE6-4342-B048-85BDC9FD1C3A}</a:tableStyleId>
              </a:tblPr>
              <a:tblGrid>
                <a:gridCol w="468000">
                  <a:extLst>
                    <a:ext uri="{9D8B030D-6E8A-4147-A177-3AD203B41FA5}">
                      <a16:colId xmlns:a16="http://schemas.microsoft.com/office/drawing/2014/main" val="3994737336"/>
                    </a:ext>
                  </a:extLst>
                </a:gridCol>
                <a:gridCol w="468000">
                  <a:extLst>
                    <a:ext uri="{9D8B030D-6E8A-4147-A177-3AD203B41FA5}">
                      <a16:colId xmlns:a16="http://schemas.microsoft.com/office/drawing/2014/main" val="2977056859"/>
                    </a:ext>
                  </a:extLst>
                </a:gridCol>
                <a:gridCol w="1224000">
                  <a:extLst>
                    <a:ext uri="{9D8B030D-6E8A-4147-A177-3AD203B41FA5}">
                      <a16:colId xmlns:a16="http://schemas.microsoft.com/office/drawing/2014/main" val="2053703784"/>
                    </a:ext>
                  </a:extLst>
                </a:gridCol>
                <a:gridCol w="1224000">
                  <a:extLst>
                    <a:ext uri="{9D8B030D-6E8A-4147-A177-3AD203B41FA5}">
                      <a16:colId xmlns:a16="http://schemas.microsoft.com/office/drawing/2014/main" val="1157899827"/>
                    </a:ext>
                  </a:extLst>
                </a:gridCol>
                <a:gridCol w="792000">
                  <a:extLst>
                    <a:ext uri="{9D8B030D-6E8A-4147-A177-3AD203B41FA5}">
                      <a16:colId xmlns:a16="http://schemas.microsoft.com/office/drawing/2014/main" val="121804767"/>
                    </a:ext>
                  </a:extLst>
                </a:gridCol>
              </a:tblGrid>
              <a:tr h="396000">
                <a:tc rowSpan="2" gridSpan="2">
                  <a:txBody>
                    <a:bodyPr/>
                    <a:lstStyle/>
                    <a:p>
                      <a:pPr algn="ctr"/>
                      <a:endParaRPr lang="en-GB" sz="1800" dirty="0">
                        <a:latin typeface="+mn-lt"/>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rowSpan="2" hMerge="1">
                  <a:txBody>
                    <a:bodyPr/>
                    <a:lstStyle/>
                    <a:p>
                      <a:pPr algn="ctr"/>
                      <a:endParaRPr lang="en-GB" dirty="0"/>
                    </a:p>
                  </a:txBody>
                  <a:tcPr anchor="ctr">
                    <a:solidFill>
                      <a:schemeClr val="bg1">
                        <a:lumMod val="75000"/>
                      </a:schemeClr>
                    </a:solidFill>
                  </a:tcPr>
                </a:tc>
                <a:tc gridSpan="2">
                  <a:txBody>
                    <a:bodyPr/>
                    <a:lstStyle/>
                    <a:p>
                      <a:pPr algn="ctr"/>
                      <a:r>
                        <a:rPr lang="en-GB" sz="1800" dirty="0">
                          <a:latin typeface="+mn-lt"/>
                        </a:rPr>
                        <a:t>T</a:t>
                      </a:r>
                      <a:r>
                        <a:rPr lang="en-GB" sz="1800" baseline="0" dirty="0">
                          <a:latin typeface="+mn-lt"/>
                        </a:rPr>
                        <a:t>rue outcome</a:t>
                      </a: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GB" dirty="0"/>
                    </a:p>
                  </a:txBody>
                  <a:tcPr anchor="ctr">
                    <a:solidFill>
                      <a:schemeClr val="bg1">
                        <a:lumMod val="75000"/>
                      </a:schemeClr>
                    </a:solidFill>
                  </a:tcPr>
                </a:tc>
                <a:tc rowSpan="2">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77422590"/>
                  </a:ext>
                </a:extLst>
              </a:tr>
              <a:tr h="396000">
                <a:tc gridSpan="2" vMerge="1">
                  <a:txBody>
                    <a:bodyPr/>
                    <a:lstStyle/>
                    <a:p>
                      <a:pPr algn="ctr"/>
                      <a:endParaRPr lang="en-GB" dirty="0"/>
                    </a:p>
                  </a:txBody>
                  <a:tcPr anchor="ctr">
                    <a:solidFill>
                      <a:schemeClr val="bg1">
                        <a:lumMod val="75000"/>
                      </a:schemeClr>
                    </a:solidFill>
                  </a:tcPr>
                </a:tc>
                <a:tc hMerge="1" vMerge="1">
                  <a:txBody>
                    <a:bodyPr/>
                    <a:lstStyle/>
                    <a:p>
                      <a:pPr algn="ctr"/>
                      <a:endParaRPr lang="en-GB" dirty="0"/>
                    </a:p>
                  </a:txBody>
                  <a:tcPr anchor="ctr">
                    <a:solidFill>
                      <a:schemeClr val="bg1">
                        <a:lumMod val="75000"/>
                      </a:schemeClr>
                    </a:solidFill>
                  </a:tcPr>
                </a:tc>
                <a:tc>
                  <a:txBody>
                    <a:bodyPr/>
                    <a:lstStyle/>
                    <a:p>
                      <a:pPr algn="ctr"/>
                      <a:r>
                        <a:rPr lang="en-GB" sz="1800" dirty="0">
                          <a:latin typeface="+mn-lt"/>
                        </a:rPr>
                        <a:t>DIABETES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DFB1"/>
                    </a:solidFill>
                  </a:tcPr>
                </a:tc>
                <a:tc>
                  <a:txBody>
                    <a:bodyPr/>
                    <a:lstStyle/>
                    <a:p>
                      <a:pPr algn="ctr"/>
                      <a:r>
                        <a:rPr lang="en-GB" sz="1800" dirty="0">
                          <a:latin typeface="+mn-lt"/>
                        </a:rPr>
                        <a:t>HEALTHY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9C99"/>
                    </a:solidFill>
                  </a:tcPr>
                </a:tc>
                <a:tc vMerge="1">
                  <a:txBody>
                    <a:bodyPr/>
                    <a:lstStyle/>
                    <a:p>
                      <a:pPr algn="ctr"/>
                      <a:endParaRPr lang="en-GB" dirty="0"/>
                    </a:p>
                  </a:txBody>
                  <a:tcPr anchor="ctr">
                    <a:solidFill>
                      <a:schemeClr val="bg1">
                        <a:lumMod val="75000"/>
                      </a:schemeClr>
                    </a:solidFill>
                  </a:tcPr>
                </a:tc>
                <a:extLst>
                  <a:ext uri="{0D108BD9-81ED-4DB2-BD59-A6C34878D82A}">
                    <a16:rowId xmlns:a16="http://schemas.microsoft.com/office/drawing/2014/main" val="2795479193"/>
                  </a:ext>
                </a:extLst>
              </a:tr>
              <a:tr h="1044000">
                <a:tc rowSpan="2">
                  <a:txBody>
                    <a:bodyPr/>
                    <a:lstStyle/>
                    <a:p>
                      <a:pPr algn="ctr"/>
                      <a:r>
                        <a:rPr lang="en-GB" sz="1800" dirty="0">
                          <a:latin typeface="+mn-lt"/>
                        </a:rPr>
                        <a:t>Predicted</a:t>
                      </a:r>
                      <a:r>
                        <a:rPr lang="en-GB" sz="1800" baseline="0" dirty="0">
                          <a:latin typeface="+mn-lt"/>
                        </a:rPr>
                        <a:t> outcome</a:t>
                      </a:r>
                      <a:endParaRPr lang="en-GB" sz="1800" dirty="0">
                        <a:latin typeface="+mn-lt"/>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800" dirty="0">
                          <a:latin typeface="+mn-lt"/>
                        </a:rPr>
                        <a:t>DIABETES</a:t>
                      </a: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DFB1"/>
                    </a:solidFill>
                  </a:tcPr>
                </a:tc>
                <a:tc>
                  <a:txBody>
                    <a:bodyPr/>
                    <a:lstStyle/>
                    <a:p>
                      <a:pPr algn="ctr"/>
                      <a:r>
                        <a:rPr lang="en-GB" sz="1800" dirty="0">
                          <a:latin typeface="+mn-lt"/>
                        </a:rPr>
                        <a:t>30</a:t>
                      </a:r>
                    </a:p>
                    <a:p>
                      <a:pPr algn="ctr"/>
                      <a:r>
                        <a:rPr lang="en-GB" sz="1800" dirty="0">
                          <a:latin typeface="+mn-lt"/>
                        </a:rPr>
                        <a:t>(TP)</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70</a:t>
                      </a:r>
                    </a:p>
                    <a:p>
                      <a:pPr algn="ctr"/>
                      <a:r>
                        <a:rPr lang="en-GB" sz="1800" dirty="0">
                          <a:latin typeface="+mn-lt"/>
                        </a:rPr>
                        <a:t>(FP)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100</a:t>
                      </a: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4114900944"/>
                  </a:ext>
                </a:extLst>
              </a:tr>
              <a:tr h="1044000">
                <a:tc vMerge="1">
                  <a:txBody>
                    <a:bodyPr/>
                    <a:lstStyle/>
                    <a:p>
                      <a:pPr algn="ctr"/>
                      <a:endParaRPr lang="en-GB" dirty="0"/>
                    </a:p>
                  </a:txBody>
                  <a:tcPr vert="vert270" anchor="ctr">
                    <a:solidFill>
                      <a:schemeClr val="bg1">
                        <a:lumMod val="75000"/>
                      </a:schemeClr>
                    </a:solidFill>
                  </a:tcPr>
                </a:tc>
                <a:tc>
                  <a:txBody>
                    <a:bodyPr/>
                    <a:lstStyle/>
                    <a:p>
                      <a:pPr algn="ctr"/>
                      <a:r>
                        <a:rPr lang="en-GB" sz="1800" dirty="0">
                          <a:latin typeface="+mn-lt"/>
                        </a:rPr>
                        <a:t>HEALTHY</a:t>
                      </a: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9C99"/>
                    </a:solidFill>
                  </a:tcPr>
                </a:tc>
                <a:tc>
                  <a:txBody>
                    <a:bodyPr/>
                    <a:lstStyle/>
                    <a:p>
                      <a:pPr algn="ctr"/>
                      <a:r>
                        <a:rPr lang="en-GB" sz="1800" dirty="0">
                          <a:latin typeface="+mn-lt"/>
                        </a:rPr>
                        <a:t>20</a:t>
                      </a:r>
                    </a:p>
                    <a:p>
                      <a:pPr algn="ctr"/>
                      <a:r>
                        <a:rPr lang="en-GB" sz="1800" dirty="0">
                          <a:latin typeface="+mn-lt"/>
                        </a:rPr>
                        <a:t>(FN)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100</a:t>
                      </a:r>
                    </a:p>
                    <a:p>
                      <a:pPr algn="ctr"/>
                      <a:r>
                        <a:rPr lang="en-GB" sz="1800" dirty="0">
                          <a:latin typeface="+mn-lt"/>
                        </a:rPr>
                        <a:t>(TN)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120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3132018532"/>
                  </a:ext>
                </a:extLst>
              </a:tr>
              <a:tr h="396000">
                <a:tc gridSpan="2">
                  <a:txBody>
                    <a:bodyPr/>
                    <a:lstStyle/>
                    <a:p>
                      <a:pPr algn="ctr"/>
                      <a:endParaRPr lang="en-GB" sz="1800" dirty="0">
                        <a:latin typeface="+mn-lt"/>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hMerge="1">
                  <a:txBody>
                    <a:bodyPr/>
                    <a:lstStyle/>
                    <a:p>
                      <a:pPr algn="ctr"/>
                      <a:endParaRPr lang="en-GB" dirty="0"/>
                    </a:p>
                  </a:txBody>
                  <a:tcPr anchor="ctr">
                    <a:solidFill>
                      <a:schemeClr val="bg1">
                        <a:lumMod val="75000"/>
                      </a:schemeClr>
                    </a:solidFill>
                  </a:tcPr>
                </a:tc>
                <a:tc>
                  <a:txBody>
                    <a:bodyPr/>
                    <a:lstStyle/>
                    <a:p>
                      <a:pPr algn="ctr"/>
                      <a:r>
                        <a:rPr lang="en-GB" sz="1800" dirty="0">
                          <a:latin typeface="+mn-lt"/>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r>
                        <a:rPr lang="en-GB" sz="1800" dirty="0">
                          <a:latin typeface="+mn-lt"/>
                        </a:rPr>
                        <a:t>170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r>
                        <a:rPr lang="en-GB" sz="1800" dirty="0">
                          <a:latin typeface="+mn-lt"/>
                        </a:rPr>
                        <a:t>220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3017366942"/>
                  </a:ext>
                </a:extLst>
              </a:tr>
            </a:tbl>
          </a:graphicData>
        </a:graphic>
      </p:graphicFrame>
      <p:graphicFrame>
        <p:nvGraphicFramePr>
          <p:cNvPr id="5" name="Object 4"/>
          <p:cNvGraphicFramePr>
            <a:graphicFrameLocks noChangeAspect="1"/>
          </p:cNvGraphicFramePr>
          <p:nvPr/>
        </p:nvGraphicFramePr>
        <p:xfrm>
          <a:off x="1130355" y="3367726"/>
          <a:ext cx="5839310" cy="1789466"/>
        </p:xfrm>
        <a:graphic>
          <a:graphicData uri="http://schemas.openxmlformats.org/presentationml/2006/ole">
            <mc:AlternateContent xmlns:mc="http://schemas.openxmlformats.org/markup-compatibility/2006">
              <mc:Choice xmlns:v="urn:schemas-microsoft-com:vml" Requires="v">
                <p:oleObj name="Equation" r:id="rId2" imgW="3149280" imgH="965160" progId="Equation.DSMT4">
                  <p:embed/>
                </p:oleObj>
              </mc:Choice>
              <mc:Fallback>
                <p:oleObj name="Equation" r:id="rId2" imgW="3149280" imgH="965160" progId="Equation.DSMT4">
                  <p:embed/>
                  <p:pic>
                    <p:nvPicPr>
                      <p:cNvPr id="5" name="Object 4"/>
                      <p:cNvPicPr/>
                      <p:nvPr/>
                    </p:nvPicPr>
                    <p:blipFill>
                      <a:blip r:embed="rId3"/>
                      <a:stretch>
                        <a:fillRect/>
                      </a:stretch>
                    </p:blipFill>
                    <p:spPr>
                      <a:xfrm>
                        <a:off x="1130355" y="3367726"/>
                        <a:ext cx="5839310" cy="1789466"/>
                      </a:xfrm>
                      <a:prstGeom prst="rect">
                        <a:avLst/>
                      </a:prstGeom>
                    </p:spPr>
                  </p:pic>
                </p:oleObj>
              </mc:Fallback>
            </mc:AlternateContent>
          </a:graphicData>
        </a:graphic>
      </p:graphicFrame>
      <p:grpSp>
        <p:nvGrpSpPr>
          <p:cNvPr id="11" name="Group 10"/>
          <p:cNvGrpSpPr/>
          <p:nvPr/>
        </p:nvGrpSpPr>
        <p:grpSpPr>
          <a:xfrm>
            <a:off x="7032104" y="1392754"/>
            <a:ext cx="4560099" cy="649202"/>
            <a:chOff x="7032104" y="1392754"/>
            <a:chExt cx="4560099" cy="649202"/>
          </a:xfrm>
        </p:grpSpPr>
        <p:sp>
          <p:nvSpPr>
            <p:cNvPr id="12" name="Rounded Rectangle 11"/>
            <p:cNvSpPr/>
            <p:nvPr/>
          </p:nvSpPr>
          <p:spPr>
            <a:xfrm>
              <a:off x="7032104" y="1395624"/>
              <a:ext cx="4550296" cy="646332"/>
            </a:xfrm>
            <a:prstGeom prst="roundRect">
              <a:avLst/>
            </a:prstGeom>
            <a:solidFill>
              <a:schemeClr val="accent4">
                <a:lumMod val="20000"/>
                <a:lumOff val="8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a:ea typeface="+mn-ea"/>
                <a:cs typeface="+mn-cs"/>
              </a:endParaRPr>
            </a:p>
          </p:txBody>
        </p:sp>
        <p:sp>
          <p:nvSpPr>
            <p:cNvPr id="13" name="TextBox 12"/>
            <p:cNvSpPr txBox="1"/>
            <p:nvPr/>
          </p:nvSpPr>
          <p:spPr>
            <a:xfrm>
              <a:off x="7032104" y="1392754"/>
              <a:ext cx="456009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7030A0"/>
                  </a:solidFill>
                  <a:effectLst/>
                  <a:uLnTx/>
                  <a:uFillTx/>
                  <a:latin typeface="Calibri"/>
                  <a:ea typeface="+mn-ea"/>
                  <a:cs typeface="+mn-cs"/>
                </a:rPr>
                <a:t>Example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7030A0"/>
                  </a:solidFill>
                  <a:effectLst/>
                  <a:uLnTx/>
                  <a:uFillTx/>
                  <a:latin typeface="Calibri"/>
                  <a:ea typeface="+mn-ea"/>
                  <a:cs typeface="+mn-cs"/>
                </a:rPr>
                <a:t>Health state prediction: DIABETES or HEALTHY</a:t>
              </a:r>
            </a:p>
          </p:txBody>
        </p:sp>
      </p:grpSp>
      <p:sp>
        <p:nvSpPr>
          <p:cNvPr id="17" name="Rounded Rectangle 16"/>
          <p:cNvSpPr/>
          <p:nvPr/>
        </p:nvSpPr>
        <p:spPr>
          <a:xfrm>
            <a:off x="8044563" y="3071599"/>
            <a:ext cx="2268194" cy="1980000"/>
          </a:xfrm>
          <a:prstGeom prst="roundRect">
            <a:avLst/>
          </a:prstGeom>
          <a:noFill/>
          <a:ln>
            <a:solidFill>
              <a:srgbClr val="00B0F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a:ea typeface="+mn-ea"/>
              <a:cs typeface="+mn-cs"/>
            </a:endParaRPr>
          </a:p>
        </p:txBody>
      </p:sp>
      <p:sp>
        <p:nvSpPr>
          <p:cNvPr id="18" name="Rounded Rectangle 17"/>
          <p:cNvSpPr>
            <a:spLocks noChangeAspect="1"/>
          </p:cNvSpPr>
          <p:nvPr/>
        </p:nvSpPr>
        <p:spPr>
          <a:xfrm>
            <a:off x="8150217" y="3162215"/>
            <a:ext cx="2060583" cy="1798767"/>
          </a:xfrm>
          <a:prstGeom prst="roundRect">
            <a:avLst/>
          </a:prstGeom>
          <a:noFill/>
          <a:ln w="3175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050"/>
              </a:solidFill>
              <a:effectLst/>
              <a:uLnTx/>
              <a:uFillTx/>
              <a:latin typeface="Calibri"/>
              <a:ea typeface="+mn-ea"/>
              <a:cs typeface="+mn-cs"/>
            </a:endParaRPr>
          </a:p>
        </p:txBody>
      </p:sp>
      <p:graphicFrame>
        <p:nvGraphicFramePr>
          <p:cNvPr id="16" name="Object 15"/>
          <p:cNvGraphicFramePr>
            <a:graphicFrameLocks noChangeAspect="1"/>
          </p:cNvGraphicFramePr>
          <p:nvPr/>
        </p:nvGraphicFramePr>
        <p:xfrm>
          <a:off x="1490395" y="2204864"/>
          <a:ext cx="6477813" cy="799984"/>
        </p:xfrm>
        <a:graphic>
          <a:graphicData uri="http://schemas.openxmlformats.org/presentationml/2006/ole">
            <mc:AlternateContent xmlns:mc="http://schemas.openxmlformats.org/markup-compatibility/2006">
              <mc:Choice xmlns:v="urn:schemas-microsoft-com:vml" Requires="v">
                <p:oleObj name="Equation" r:id="rId4" imgW="3504960" imgH="431640" progId="Equation.DSMT4">
                  <p:embed/>
                </p:oleObj>
              </mc:Choice>
              <mc:Fallback>
                <p:oleObj name="Equation" r:id="rId4" imgW="3504960" imgH="431640" progId="Equation.DSMT4">
                  <p:embed/>
                  <p:pic>
                    <p:nvPicPr>
                      <p:cNvPr id="16" name="Object 15"/>
                      <p:cNvPicPr/>
                      <p:nvPr/>
                    </p:nvPicPr>
                    <p:blipFill>
                      <a:blip r:embed="rId5"/>
                      <a:stretch>
                        <a:fillRect/>
                      </a:stretch>
                    </p:blipFill>
                    <p:spPr>
                      <a:xfrm>
                        <a:off x="1490395" y="2204864"/>
                        <a:ext cx="6477813" cy="799984"/>
                      </a:xfrm>
                      <a:prstGeom prst="rect">
                        <a:avLst/>
                      </a:prstGeom>
                    </p:spPr>
                  </p:pic>
                </p:oleObj>
              </mc:Fallback>
            </mc:AlternateContent>
          </a:graphicData>
        </a:graphic>
      </p:graphicFrame>
      <p:sp>
        <p:nvSpPr>
          <p:cNvPr id="8" name="Line 2">
            <a:extLst>
              <a:ext uri="{FF2B5EF4-FFF2-40B4-BE49-F238E27FC236}">
                <a16:creationId xmlns:a16="http://schemas.microsoft.com/office/drawing/2014/main" id="{863AEE39-5427-CB4F-5586-0D81377F264F}"/>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9" name="Line 2">
            <a:extLst>
              <a:ext uri="{FF2B5EF4-FFF2-40B4-BE49-F238E27FC236}">
                <a16:creationId xmlns:a16="http://schemas.microsoft.com/office/drawing/2014/main" id="{8610F7EB-4210-0174-D41E-660BBF7BE180}"/>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23179356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able 22"/>
          <p:cNvGraphicFramePr>
            <a:graphicFrameLocks noGrp="1"/>
          </p:cNvGraphicFramePr>
          <p:nvPr/>
        </p:nvGraphicFramePr>
        <p:xfrm>
          <a:off x="7032104" y="2220068"/>
          <a:ext cx="4176000" cy="3276000"/>
        </p:xfrm>
        <a:graphic>
          <a:graphicData uri="http://schemas.openxmlformats.org/drawingml/2006/table">
            <a:tbl>
              <a:tblPr>
                <a:tableStyleId>{5C22544A-7EE6-4342-B048-85BDC9FD1C3A}</a:tableStyleId>
              </a:tblPr>
              <a:tblGrid>
                <a:gridCol w="468000">
                  <a:extLst>
                    <a:ext uri="{9D8B030D-6E8A-4147-A177-3AD203B41FA5}">
                      <a16:colId xmlns:a16="http://schemas.microsoft.com/office/drawing/2014/main" val="3994737336"/>
                    </a:ext>
                  </a:extLst>
                </a:gridCol>
                <a:gridCol w="468000">
                  <a:extLst>
                    <a:ext uri="{9D8B030D-6E8A-4147-A177-3AD203B41FA5}">
                      <a16:colId xmlns:a16="http://schemas.microsoft.com/office/drawing/2014/main" val="2977056859"/>
                    </a:ext>
                  </a:extLst>
                </a:gridCol>
                <a:gridCol w="1224000">
                  <a:extLst>
                    <a:ext uri="{9D8B030D-6E8A-4147-A177-3AD203B41FA5}">
                      <a16:colId xmlns:a16="http://schemas.microsoft.com/office/drawing/2014/main" val="2053703784"/>
                    </a:ext>
                  </a:extLst>
                </a:gridCol>
                <a:gridCol w="1224000">
                  <a:extLst>
                    <a:ext uri="{9D8B030D-6E8A-4147-A177-3AD203B41FA5}">
                      <a16:colId xmlns:a16="http://schemas.microsoft.com/office/drawing/2014/main" val="1157899827"/>
                    </a:ext>
                  </a:extLst>
                </a:gridCol>
                <a:gridCol w="792000">
                  <a:extLst>
                    <a:ext uri="{9D8B030D-6E8A-4147-A177-3AD203B41FA5}">
                      <a16:colId xmlns:a16="http://schemas.microsoft.com/office/drawing/2014/main" val="121804767"/>
                    </a:ext>
                  </a:extLst>
                </a:gridCol>
              </a:tblGrid>
              <a:tr h="396000">
                <a:tc rowSpan="2" gridSpan="2">
                  <a:txBody>
                    <a:bodyPr/>
                    <a:lstStyle/>
                    <a:p>
                      <a:pPr algn="ctr"/>
                      <a:endParaRPr lang="en-GB" sz="1800" dirty="0">
                        <a:latin typeface="+mn-lt"/>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rowSpan="2" hMerge="1">
                  <a:txBody>
                    <a:bodyPr/>
                    <a:lstStyle/>
                    <a:p>
                      <a:pPr algn="ctr"/>
                      <a:endParaRPr lang="en-GB" dirty="0"/>
                    </a:p>
                  </a:txBody>
                  <a:tcPr anchor="ctr">
                    <a:solidFill>
                      <a:schemeClr val="bg1">
                        <a:lumMod val="75000"/>
                      </a:schemeClr>
                    </a:solidFill>
                  </a:tcPr>
                </a:tc>
                <a:tc gridSpan="2">
                  <a:txBody>
                    <a:bodyPr/>
                    <a:lstStyle/>
                    <a:p>
                      <a:pPr algn="ctr"/>
                      <a:r>
                        <a:rPr lang="en-GB" sz="1800" dirty="0">
                          <a:latin typeface="+mn-lt"/>
                        </a:rPr>
                        <a:t>T</a:t>
                      </a:r>
                      <a:r>
                        <a:rPr lang="en-GB" sz="1800" baseline="0" dirty="0">
                          <a:latin typeface="+mn-lt"/>
                        </a:rPr>
                        <a:t>rue outcome</a:t>
                      </a: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GB" dirty="0"/>
                    </a:p>
                  </a:txBody>
                  <a:tcPr anchor="ctr">
                    <a:solidFill>
                      <a:schemeClr val="bg1">
                        <a:lumMod val="75000"/>
                      </a:schemeClr>
                    </a:solidFill>
                  </a:tcPr>
                </a:tc>
                <a:tc rowSpan="2">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77422590"/>
                  </a:ext>
                </a:extLst>
              </a:tr>
              <a:tr h="396000">
                <a:tc gridSpan="2" vMerge="1">
                  <a:txBody>
                    <a:bodyPr/>
                    <a:lstStyle/>
                    <a:p>
                      <a:pPr algn="ctr"/>
                      <a:endParaRPr lang="en-GB" dirty="0"/>
                    </a:p>
                  </a:txBody>
                  <a:tcPr anchor="ctr">
                    <a:solidFill>
                      <a:schemeClr val="bg1">
                        <a:lumMod val="75000"/>
                      </a:schemeClr>
                    </a:solidFill>
                  </a:tcPr>
                </a:tc>
                <a:tc hMerge="1" vMerge="1">
                  <a:txBody>
                    <a:bodyPr/>
                    <a:lstStyle/>
                    <a:p>
                      <a:pPr algn="ctr"/>
                      <a:endParaRPr lang="en-GB" dirty="0"/>
                    </a:p>
                  </a:txBody>
                  <a:tcPr anchor="ctr">
                    <a:solidFill>
                      <a:schemeClr val="bg1">
                        <a:lumMod val="75000"/>
                      </a:schemeClr>
                    </a:solidFill>
                  </a:tcPr>
                </a:tc>
                <a:tc>
                  <a:txBody>
                    <a:bodyPr/>
                    <a:lstStyle/>
                    <a:p>
                      <a:pPr algn="ctr"/>
                      <a:r>
                        <a:rPr lang="en-GB" sz="1800" dirty="0">
                          <a:latin typeface="+mn-lt"/>
                        </a:rPr>
                        <a:t>Positive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DFB1"/>
                    </a:solidFill>
                  </a:tcPr>
                </a:tc>
                <a:tc>
                  <a:txBody>
                    <a:bodyPr/>
                    <a:lstStyle/>
                    <a:p>
                      <a:pPr algn="ctr"/>
                      <a:r>
                        <a:rPr lang="en-GB" sz="1800" dirty="0">
                          <a:latin typeface="+mn-lt"/>
                        </a:rPr>
                        <a:t>Negative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9C99"/>
                    </a:solidFill>
                  </a:tcPr>
                </a:tc>
                <a:tc vMerge="1">
                  <a:txBody>
                    <a:bodyPr/>
                    <a:lstStyle/>
                    <a:p>
                      <a:pPr algn="ctr"/>
                      <a:endParaRPr lang="en-GB" dirty="0"/>
                    </a:p>
                  </a:txBody>
                  <a:tcPr anchor="ctr">
                    <a:solidFill>
                      <a:schemeClr val="bg1">
                        <a:lumMod val="75000"/>
                      </a:schemeClr>
                    </a:solidFill>
                  </a:tcPr>
                </a:tc>
                <a:extLst>
                  <a:ext uri="{0D108BD9-81ED-4DB2-BD59-A6C34878D82A}">
                    <a16:rowId xmlns:a16="http://schemas.microsoft.com/office/drawing/2014/main" val="2795479193"/>
                  </a:ext>
                </a:extLst>
              </a:tr>
              <a:tr h="1044000">
                <a:tc rowSpan="2">
                  <a:txBody>
                    <a:bodyPr/>
                    <a:lstStyle/>
                    <a:p>
                      <a:pPr algn="ctr"/>
                      <a:r>
                        <a:rPr lang="en-GB" sz="1800" dirty="0">
                          <a:latin typeface="+mn-lt"/>
                        </a:rPr>
                        <a:t>Predicted</a:t>
                      </a:r>
                      <a:r>
                        <a:rPr lang="en-GB" sz="1800" baseline="0" dirty="0">
                          <a:latin typeface="+mn-lt"/>
                        </a:rPr>
                        <a:t> outcome</a:t>
                      </a:r>
                      <a:endParaRPr lang="en-GB" sz="1800" dirty="0">
                        <a:latin typeface="+mn-lt"/>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800" kern="1200" dirty="0">
                          <a:solidFill>
                            <a:schemeClr val="dk1"/>
                          </a:solidFill>
                          <a:latin typeface="+mn-lt"/>
                          <a:ea typeface="+mn-ea"/>
                          <a:cs typeface="+mn-cs"/>
                        </a:rPr>
                        <a:t>Positive</a:t>
                      </a:r>
                      <a:endParaRPr lang="en-GB" sz="1800" dirty="0">
                        <a:latin typeface="+mn-lt"/>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DFB1"/>
                    </a:solidFill>
                  </a:tcPr>
                </a:tc>
                <a:tc>
                  <a:txBody>
                    <a:bodyPr/>
                    <a:lstStyle/>
                    <a:p>
                      <a:pPr algn="ctr"/>
                      <a:r>
                        <a:rPr lang="en-GB" sz="1800" dirty="0">
                          <a:latin typeface="+mn-lt"/>
                        </a:rPr>
                        <a:t>TP</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baseline="0" dirty="0">
                          <a:latin typeface="+mn-lt"/>
                        </a:rPr>
                        <a:t>FP</a:t>
                      </a:r>
                      <a:endParaRPr lang="en-GB" sz="1800" dirty="0">
                        <a:latin typeface="+mn-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2CD"/>
                    </a:solidFill>
                  </a:tcPr>
                </a:tc>
                <a:tc>
                  <a:txBody>
                    <a:bodyPr/>
                    <a:lstStyle/>
                    <a:p>
                      <a:pPr algn="ctr"/>
                      <a:endParaRPr lang="en-GB" sz="1800" dirty="0">
                        <a:latin typeface="+mn-lt"/>
                      </a:endParaRP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4114900944"/>
                  </a:ext>
                </a:extLst>
              </a:tr>
              <a:tr h="1044000">
                <a:tc vMerge="1">
                  <a:txBody>
                    <a:bodyPr/>
                    <a:lstStyle/>
                    <a:p>
                      <a:pPr algn="ctr"/>
                      <a:endParaRPr lang="en-GB" dirty="0"/>
                    </a:p>
                  </a:txBody>
                  <a:tcPr vert="vert270" anchor="ctr">
                    <a:solidFill>
                      <a:schemeClr val="bg1">
                        <a:lumMod val="75000"/>
                      </a:schemeClr>
                    </a:solidFill>
                  </a:tcPr>
                </a:tc>
                <a:tc>
                  <a:txBody>
                    <a:bodyPr/>
                    <a:lstStyle/>
                    <a:p>
                      <a:pPr algn="ctr"/>
                      <a:r>
                        <a:rPr lang="en-GB" sz="1800" dirty="0">
                          <a:latin typeface="+mn-lt"/>
                        </a:rPr>
                        <a:t>Negative</a:t>
                      </a: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9C99"/>
                    </a:solidFill>
                  </a:tcPr>
                </a:tc>
                <a:tc>
                  <a:txBody>
                    <a:bodyPr/>
                    <a:lstStyle/>
                    <a:p>
                      <a:pPr algn="ctr"/>
                      <a:r>
                        <a:rPr lang="en-GB" sz="1800" dirty="0">
                          <a:latin typeface="+mn-lt"/>
                        </a:rPr>
                        <a:t>FN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3132018532"/>
                  </a:ext>
                </a:extLst>
              </a:tr>
              <a:tr h="396000">
                <a:tc gridSpan="2">
                  <a:txBody>
                    <a:bodyPr/>
                    <a:lstStyle/>
                    <a:p>
                      <a:pPr algn="ctr"/>
                      <a:endParaRPr lang="en-GB" sz="1800" dirty="0">
                        <a:latin typeface="+mn-lt"/>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hMerge="1">
                  <a:txBody>
                    <a:bodyPr/>
                    <a:lstStyle/>
                    <a:p>
                      <a:pPr algn="ctr"/>
                      <a:endParaRPr lang="en-GB" dirty="0"/>
                    </a:p>
                  </a:txBody>
                  <a:tcPr anchor="ctr">
                    <a:solidFill>
                      <a:schemeClr val="bg1">
                        <a:lumMod val="75000"/>
                      </a:schemeClr>
                    </a:solidFill>
                  </a:tcPr>
                </a:tc>
                <a:tc>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3017366942"/>
                  </a:ext>
                </a:extLst>
              </a:tr>
            </a:tbl>
          </a:graphicData>
        </a:graphic>
      </p:graphicFrame>
      <p:sp>
        <p:nvSpPr>
          <p:cNvPr id="7" name="Title 1">
            <a:extLst>
              <a:ext uri="{FF2B5EF4-FFF2-40B4-BE49-F238E27FC236}">
                <a16:creationId xmlns:a16="http://schemas.microsoft.com/office/drawing/2014/main" id="{BBA2B5C1-F8FD-68E6-F97E-98B6F0BB1D23}"/>
              </a:ext>
            </a:extLst>
          </p:cNvPr>
          <p:cNvSpPr>
            <a:spLocks noGrp="1"/>
          </p:cNvSpPr>
          <p:nvPr>
            <p:ph type="title"/>
          </p:nvPr>
        </p:nvSpPr>
        <p:spPr>
          <a:xfrm>
            <a:off x="2032000" y="-79300"/>
            <a:ext cx="8229600" cy="1143000"/>
          </a:xfrm>
        </p:spPr>
        <p:txBody>
          <a:bodyPr/>
          <a:lstStyle/>
          <a:p>
            <a:r>
              <a:rPr lang="en-GB" dirty="0"/>
              <a:t>Model performance metrics</a:t>
            </a:r>
            <a:endParaRPr lang="en-GB" sz="18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5" name="Content Placeholder 2"/>
          <p:cNvSpPr txBox="1">
            <a:spLocks/>
          </p:cNvSpPr>
          <p:nvPr/>
        </p:nvSpPr>
        <p:spPr>
          <a:xfrm>
            <a:off x="1981200" y="1239505"/>
            <a:ext cx="8507288" cy="5400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61950" algn="l"/>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61950"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358775" marR="0" lvl="0" indent="-358775" algn="l" defTabSz="914400" rtl="0" eaLnBrk="1" fontAlgn="auto" latinLnBrk="0" hangingPunct="1">
              <a:lnSpc>
                <a:spcPct val="100000"/>
              </a:lnSpc>
              <a:spcBef>
                <a:spcPct val="20000"/>
              </a:spcBef>
              <a:spcAft>
                <a:spcPts val="0"/>
              </a:spcAft>
              <a:buClrTx/>
              <a:buSzTx/>
              <a:buFont typeface="Arial" pitchFamily="34" charset="0"/>
              <a:buChar char="•"/>
              <a:tabLst>
                <a:tab pos="3314700"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TextBox 2"/>
          <p:cNvSpPr txBox="1"/>
          <p:nvPr/>
        </p:nvSpPr>
        <p:spPr>
          <a:xfrm>
            <a:off x="1490395" y="3431707"/>
            <a:ext cx="4447797" cy="852721"/>
          </a:xfrm>
          <a:prstGeom prst="rect">
            <a:avLst/>
          </a:prstGeom>
          <a:solidFill>
            <a:srgbClr val="FFFF99"/>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nl-NL"/>
            </a:defPPr>
            <a:lvl1pPr>
              <a:defRPr>
                <a:solidFill>
                  <a:srgbClr val="00B05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00B050"/>
                </a:solidFill>
                <a:effectLst/>
                <a:uLnTx/>
                <a:uFillTx/>
                <a:latin typeface="Calibri"/>
                <a:ea typeface="+mn-ea"/>
                <a:cs typeface="+mn-cs"/>
              </a:rPr>
              <a:t>Derive the minimum and maximum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00B050"/>
                </a:solidFill>
                <a:effectLst/>
                <a:uLnTx/>
                <a:uFillTx/>
                <a:latin typeface="Calibri"/>
                <a:ea typeface="+mn-ea"/>
                <a:cs typeface="+mn-cs"/>
              </a:rPr>
              <a:t>value that MCC can attain: [</a:t>
            </a:r>
            <a:r>
              <a:rPr kumimoji="0" lang="en-GB" sz="1800" b="1" i="0" u="none" strike="noStrike" kern="1200" cap="none" spc="0" normalizeH="0" baseline="0" noProof="0" dirty="0" err="1">
                <a:ln>
                  <a:noFill/>
                </a:ln>
                <a:solidFill>
                  <a:srgbClr val="00B050"/>
                </a:solidFill>
                <a:effectLst/>
                <a:uLnTx/>
                <a:uFillTx/>
                <a:latin typeface="Calibri"/>
                <a:ea typeface="+mn-ea"/>
                <a:cs typeface="+mn-cs"/>
              </a:rPr>
              <a:t>a,b</a:t>
            </a:r>
            <a:r>
              <a:rPr kumimoji="0" lang="en-GB" sz="1800" b="1" i="0" u="none" strike="noStrike" kern="1200" cap="none" spc="0" normalizeH="0" baseline="0" noProof="0" dirty="0">
                <a:ln>
                  <a:noFill/>
                </a:ln>
                <a:solidFill>
                  <a:srgbClr val="00B050"/>
                </a:solidFill>
                <a:effectLst/>
                <a:uLnTx/>
                <a:uFillTx/>
                <a:latin typeface="Calibri"/>
                <a:ea typeface="+mn-ea"/>
                <a:cs typeface="+mn-cs"/>
              </a:rPr>
              <a:t>]?</a:t>
            </a:r>
          </a:p>
        </p:txBody>
      </p:sp>
      <p:sp>
        <p:nvSpPr>
          <p:cNvPr id="17" name="Content Placeholder 2"/>
          <p:cNvSpPr txBox="1">
            <a:spLocks/>
          </p:cNvSpPr>
          <p:nvPr/>
        </p:nvSpPr>
        <p:spPr>
          <a:xfrm>
            <a:off x="1044000" y="1260000"/>
            <a:ext cx="5340032" cy="96006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Confusion matrix (2 classes)</a:t>
            </a:r>
          </a:p>
          <a:p>
            <a:pPr marL="400050" marR="0" lvl="1" indent="-342900" algn="l" defTabSz="914400" rtl="0" eaLnBrk="1" fontAlgn="auto" latinLnBrk="0" hangingPunct="1">
              <a:lnSpc>
                <a:spcPct val="100000"/>
              </a:lnSpc>
              <a:spcBef>
                <a:spcPct val="20000"/>
              </a:spcBef>
              <a:spcAft>
                <a:spcPts val="0"/>
              </a:spcAft>
              <a:buClrTx/>
              <a:buSzTx/>
              <a:buFont typeface="Symbol" panose="05050102010706020507" pitchFamily="18" charset="2"/>
              <a:buChar char="-"/>
              <a:tabLst>
                <a:tab pos="3138488" algn="l"/>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Matthew’s correlation coefficient</a:t>
            </a:r>
          </a:p>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p:txBody>
      </p:sp>
      <p:pic>
        <p:nvPicPr>
          <p:cNvPr id="22" name="Picture 21"/>
          <p:cNvPicPr>
            <a:picLocks noChangeAspect="1"/>
          </p:cNvPicPr>
          <p:nvPr/>
        </p:nvPicPr>
        <p:blipFill>
          <a:blip r:embed="rId2"/>
          <a:stretch>
            <a:fillRect/>
          </a:stretch>
        </p:blipFill>
        <p:spPr>
          <a:xfrm>
            <a:off x="5087888" y="3472930"/>
            <a:ext cx="780713" cy="780713"/>
          </a:xfrm>
          <a:prstGeom prst="rect">
            <a:avLst/>
          </a:prstGeom>
        </p:spPr>
      </p:pic>
      <p:graphicFrame>
        <p:nvGraphicFramePr>
          <p:cNvPr id="24" name="Object 23"/>
          <p:cNvGraphicFramePr>
            <a:graphicFrameLocks noChangeAspect="1"/>
          </p:cNvGraphicFramePr>
          <p:nvPr/>
        </p:nvGraphicFramePr>
        <p:xfrm>
          <a:off x="1490395" y="2204864"/>
          <a:ext cx="6477813" cy="799984"/>
        </p:xfrm>
        <a:graphic>
          <a:graphicData uri="http://schemas.openxmlformats.org/presentationml/2006/ole">
            <mc:AlternateContent xmlns:mc="http://schemas.openxmlformats.org/markup-compatibility/2006">
              <mc:Choice xmlns:v="urn:schemas-microsoft-com:vml" Requires="v">
                <p:oleObj name="Equation" r:id="rId3" imgW="3504960" imgH="431640" progId="Equation.DSMT4">
                  <p:embed/>
                </p:oleObj>
              </mc:Choice>
              <mc:Fallback>
                <p:oleObj name="Equation" r:id="rId3" imgW="3504960" imgH="431640" progId="Equation.DSMT4">
                  <p:embed/>
                  <p:pic>
                    <p:nvPicPr>
                      <p:cNvPr id="24" name="Object 23"/>
                      <p:cNvPicPr/>
                      <p:nvPr/>
                    </p:nvPicPr>
                    <p:blipFill>
                      <a:blip r:embed="rId4"/>
                      <a:stretch>
                        <a:fillRect/>
                      </a:stretch>
                    </p:blipFill>
                    <p:spPr>
                      <a:xfrm>
                        <a:off x="1490395" y="2204864"/>
                        <a:ext cx="6477813" cy="799984"/>
                      </a:xfrm>
                      <a:prstGeom prst="rect">
                        <a:avLst/>
                      </a:prstGeom>
                    </p:spPr>
                  </p:pic>
                </p:oleObj>
              </mc:Fallback>
            </mc:AlternateContent>
          </a:graphicData>
        </a:graphic>
      </p:graphicFrame>
      <p:sp>
        <p:nvSpPr>
          <p:cNvPr id="8" name="Line 2">
            <a:extLst>
              <a:ext uri="{FF2B5EF4-FFF2-40B4-BE49-F238E27FC236}">
                <a16:creationId xmlns:a16="http://schemas.microsoft.com/office/drawing/2014/main" id="{1FA35977-E8A9-3EBC-8DD1-57A4C9BF9918}"/>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9" name="Line 2">
            <a:extLst>
              <a:ext uri="{FF2B5EF4-FFF2-40B4-BE49-F238E27FC236}">
                <a16:creationId xmlns:a16="http://schemas.microsoft.com/office/drawing/2014/main" id="{B69946BE-60B5-F78F-CCD7-CBA636523938}"/>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31661582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able 22"/>
          <p:cNvGraphicFramePr>
            <a:graphicFrameLocks noGrp="1"/>
          </p:cNvGraphicFramePr>
          <p:nvPr/>
        </p:nvGraphicFramePr>
        <p:xfrm>
          <a:off x="5735960" y="2000531"/>
          <a:ext cx="5008320" cy="4320000"/>
        </p:xfrm>
        <a:graphic>
          <a:graphicData uri="http://schemas.openxmlformats.org/drawingml/2006/table">
            <a:tbl>
              <a:tblPr>
                <a:tableStyleId>{5C22544A-7EE6-4342-B048-85BDC9FD1C3A}</a:tableStyleId>
              </a:tblPr>
              <a:tblGrid>
                <a:gridCol w="361920">
                  <a:extLst>
                    <a:ext uri="{9D8B030D-6E8A-4147-A177-3AD203B41FA5}">
                      <a16:colId xmlns:a16="http://schemas.microsoft.com/office/drawing/2014/main" val="3994737336"/>
                    </a:ext>
                  </a:extLst>
                </a:gridCol>
                <a:gridCol w="361920">
                  <a:extLst>
                    <a:ext uri="{9D8B030D-6E8A-4147-A177-3AD203B41FA5}">
                      <a16:colId xmlns:a16="http://schemas.microsoft.com/office/drawing/2014/main" val="2977056859"/>
                    </a:ext>
                  </a:extLst>
                </a:gridCol>
                <a:gridCol w="1224000">
                  <a:extLst>
                    <a:ext uri="{9D8B030D-6E8A-4147-A177-3AD203B41FA5}">
                      <a16:colId xmlns:a16="http://schemas.microsoft.com/office/drawing/2014/main" val="2053703784"/>
                    </a:ext>
                  </a:extLst>
                </a:gridCol>
                <a:gridCol w="1224000">
                  <a:extLst>
                    <a:ext uri="{9D8B030D-6E8A-4147-A177-3AD203B41FA5}">
                      <a16:colId xmlns:a16="http://schemas.microsoft.com/office/drawing/2014/main" val="1157899827"/>
                    </a:ext>
                  </a:extLst>
                </a:gridCol>
                <a:gridCol w="1224000">
                  <a:extLst>
                    <a:ext uri="{9D8B030D-6E8A-4147-A177-3AD203B41FA5}">
                      <a16:colId xmlns:a16="http://schemas.microsoft.com/office/drawing/2014/main" val="3676332295"/>
                    </a:ext>
                  </a:extLst>
                </a:gridCol>
                <a:gridCol w="612480">
                  <a:extLst>
                    <a:ext uri="{9D8B030D-6E8A-4147-A177-3AD203B41FA5}">
                      <a16:colId xmlns:a16="http://schemas.microsoft.com/office/drawing/2014/main" val="121804767"/>
                    </a:ext>
                  </a:extLst>
                </a:gridCol>
              </a:tblGrid>
              <a:tr h="396000">
                <a:tc rowSpan="2" gridSpan="2">
                  <a:txBody>
                    <a:bodyPr/>
                    <a:lstStyle/>
                    <a:p>
                      <a:pPr algn="ctr"/>
                      <a:endParaRPr lang="en-GB" sz="1800" dirty="0">
                        <a:latin typeface="+mn-lt"/>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rowSpan="2" hMerge="1">
                  <a:txBody>
                    <a:bodyPr/>
                    <a:lstStyle/>
                    <a:p>
                      <a:pPr algn="ctr"/>
                      <a:endParaRPr lang="en-GB" dirty="0"/>
                    </a:p>
                  </a:txBody>
                  <a:tcPr anchor="ctr">
                    <a:solidFill>
                      <a:schemeClr val="bg1">
                        <a:lumMod val="75000"/>
                      </a:schemeClr>
                    </a:solidFill>
                  </a:tcPr>
                </a:tc>
                <a:tc gridSpan="3">
                  <a:txBody>
                    <a:bodyPr/>
                    <a:lstStyle/>
                    <a:p>
                      <a:pPr algn="ctr"/>
                      <a:r>
                        <a:rPr lang="en-GB" sz="1800" dirty="0">
                          <a:latin typeface="+mn-lt"/>
                        </a:rPr>
                        <a:t>T</a:t>
                      </a:r>
                      <a:r>
                        <a:rPr lang="en-GB" sz="1800" baseline="0" dirty="0">
                          <a:latin typeface="+mn-lt"/>
                        </a:rPr>
                        <a:t>rue outcome</a:t>
                      </a: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GB" dirty="0"/>
                    </a:p>
                  </a:txBody>
                  <a:tcPr anchor="ctr">
                    <a:solidFill>
                      <a:schemeClr val="bg1">
                        <a:lumMod val="75000"/>
                      </a:schemeClr>
                    </a:solidFill>
                  </a:tcPr>
                </a:tc>
                <a:tc hMerge="1">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GB" sz="1800" dirty="0">
                        <a:latin typeface="+mn-lt"/>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77422590"/>
                  </a:ext>
                </a:extLst>
              </a:tr>
              <a:tr h="396000">
                <a:tc gridSpan="2" vMerge="1">
                  <a:txBody>
                    <a:bodyPr/>
                    <a:lstStyle/>
                    <a:p>
                      <a:pPr algn="ctr"/>
                      <a:endParaRPr lang="en-GB" dirty="0"/>
                    </a:p>
                  </a:txBody>
                  <a:tcPr anchor="ctr">
                    <a:solidFill>
                      <a:schemeClr val="bg1">
                        <a:lumMod val="75000"/>
                      </a:schemeClr>
                    </a:solidFill>
                  </a:tcPr>
                </a:tc>
                <a:tc hMerge="1" vMerge="1">
                  <a:txBody>
                    <a:bodyPr/>
                    <a:lstStyle/>
                    <a:p>
                      <a:pPr algn="ctr"/>
                      <a:endParaRPr lang="en-GB" dirty="0"/>
                    </a:p>
                  </a:txBody>
                  <a:tcPr anchor="ctr">
                    <a:solidFill>
                      <a:schemeClr val="bg1">
                        <a:lumMod val="75000"/>
                      </a:schemeClr>
                    </a:solidFill>
                  </a:tcPr>
                </a:tc>
                <a:tc>
                  <a:txBody>
                    <a:bodyPr/>
                    <a:lstStyle/>
                    <a:p>
                      <a:pPr algn="ctr"/>
                      <a:r>
                        <a:rPr lang="en-GB" sz="1800" dirty="0">
                          <a:latin typeface="+mn-lt"/>
                        </a:rPr>
                        <a:t>Class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DFB1"/>
                    </a:solidFill>
                  </a:tcPr>
                </a:tc>
                <a:tc>
                  <a:txBody>
                    <a:bodyPr/>
                    <a:lstStyle/>
                    <a:p>
                      <a:pPr algn="ctr"/>
                      <a:r>
                        <a:rPr lang="en-GB" sz="1800" dirty="0">
                          <a:latin typeface="+mn-lt"/>
                        </a:rPr>
                        <a:t>Class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GB" sz="1800" dirty="0">
                          <a:latin typeface="+mn-lt"/>
                        </a:rPr>
                        <a:t>Class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9C99"/>
                    </a:solidFill>
                  </a:tcPr>
                </a:tc>
                <a:tc vMerge="1">
                  <a:txBody>
                    <a:bodyPr/>
                    <a:lstStyle/>
                    <a:p>
                      <a:pPr algn="ctr"/>
                      <a:endParaRPr lang="en-GB" dirty="0"/>
                    </a:p>
                  </a:txBody>
                  <a:tcPr anchor="ctr">
                    <a:solidFill>
                      <a:schemeClr val="bg1">
                        <a:lumMod val="75000"/>
                      </a:schemeClr>
                    </a:solidFill>
                  </a:tcPr>
                </a:tc>
                <a:extLst>
                  <a:ext uri="{0D108BD9-81ED-4DB2-BD59-A6C34878D82A}">
                    <a16:rowId xmlns:a16="http://schemas.microsoft.com/office/drawing/2014/main" val="2795479193"/>
                  </a:ext>
                </a:extLst>
              </a:tr>
              <a:tr h="1044000">
                <a:tc rowSpan="3">
                  <a:txBody>
                    <a:bodyPr/>
                    <a:lstStyle/>
                    <a:p>
                      <a:pPr algn="ctr"/>
                      <a:r>
                        <a:rPr lang="en-GB" sz="1800" dirty="0">
                          <a:latin typeface="+mn-lt"/>
                        </a:rPr>
                        <a:t>Predicted</a:t>
                      </a:r>
                      <a:r>
                        <a:rPr lang="en-GB" sz="1800" baseline="0" dirty="0">
                          <a:latin typeface="+mn-lt"/>
                        </a:rPr>
                        <a:t> outcome</a:t>
                      </a:r>
                      <a:endParaRPr lang="en-GB" sz="1800" dirty="0">
                        <a:latin typeface="+mn-lt"/>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800" kern="1200" dirty="0">
                          <a:solidFill>
                            <a:schemeClr val="dk1"/>
                          </a:solidFill>
                          <a:latin typeface="+mn-lt"/>
                          <a:ea typeface="+mn-ea"/>
                          <a:cs typeface="+mn-cs"/>
                        </a:rPr>
                        <a:t>Class 1</a:t>
                      </a:r>
                      <a:endParaRPr lang="en-GB" sz="1800" dirty="0">
                        <a:latin typeface="+mn-lt"/>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DFB1"/>
                    </a:solidFill>
                  </a:tcPr>
                </a:tc>
                <a:tc>
                  <a:txBody>
                    <a:bodyPr/>
                    <a:lstStyle/>
                    <a:p>
                      <a:pPr algn="ctr"/>
                      <a:r>
                        <a:rPr lang="en-GB" sz="1800" dirty="0">
                          <a:latin typeface="+mn-lt"/>
                        </a:rPr>
                        <a:t>30</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40</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30</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100</a:t>
                      </a: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4114900944"/>
                  </a:ext>
                </a:extLst>
              </a:tr>
              <a:tr h="1044000">
                <a:tc vMerge="1">
                  <a:txBody>
                    <a:bodyPr/>
                    <a:lstStyle/>
                    <a:p>
                      <a:endParaRPr lang="en-GB"/>
                    </a:p>
                  </a:txBody>
                  <a:tcPr/>
                </a:tc>
                <a:tc>
                  <a:txBody>
                    <a:bodyPr/>
                    <a:lstStyle/>
                    <a:p>
                      <a:pPr algn="ctr"/>
                      <a:r>
                        <a:rPr lang="en-GB" sz="1800" dirty="0">
                          <a:latin typeface="+mn-lt"/>
                        </a:rPr>
                        <a:t>Class 2</a:t>
                      </a: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GB" sz="1800" dirty="0">
                          <a:latin typeface="+mn-lt"/>
                        </a:rPr>
                        <a:t>10</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100</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10</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120</a:t>
                      </a: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198363741"/>
                  </a:ext>
                </a:extLst>
              </a:tr>
              <a:tr h="1044000">
                <a:tc vMerge="1">
                  <a:txBody>
                    <a:bodyPr/>
                    <a:lstStyle/>
                    <a:p>
                      <a:pPr algn="ctr"/>
                      <a:endParaRPr lang="en-GB" dirty="0"/>
                    </a:p>
                  </a:txBody>
                  <a:tcPr vert="vert270" anchor="ctr">
                    <a:solidFill>
                      <a:schemeClr val="bg1">
                        <a:lumMod val="75000"/>
                      </a:schemeClr>
                    </a:solidFill>
                  </a:tcPr>
                </a:tc>
                <a:tc>
                  <a:txBody>
                    <a:bodyPr/>
                    <a:lstStyle/>
                    <a:p>
                      <a:pPr algn="ctr"/>
                      <a:r>
                        <a:rPr lang="en-GB" sz="1800" dirty="0">
                          <a:latin typeface="+mn-lt"/>
                        </a:rPr>
                        <a:t>Class 3</a:t>
                      </a: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9C99"/>
                    </a:solidFill>
                  </a:tcPr>
                </a:tc>
                <a:tc>
                  <a:txBody>
                    <a:bodyPr/>
                    <a:lstStyle/>
                    <a:p>
                      <a:pPr algn="ctr"/>
                      <a:r>
                        <a:rPr lang="en-GB" sz="1800" dirty="0">
                          <a:latin typeface="+mn-lt"/>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D"/>
                    </a:solidFill>
                  </a:tcPr>
                </a:tc>
                <a:tc>
                  <a:txBody>
                    <a:bodyPr/>
                    <a:lstStyle/>
                    <a:p>
                      <a:pPr algn="ctr"/>
                      <a:r>
                        <a:rPr lang="en-GB" sz="1800" dirty="0">
                          <a:latin typeface="+mn-lt"/>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3132018532"/>
                  </a:ext>
                </a:extLst>
              </a:tr>
              <a:tr h="396000">
                <a:tc gridSpan="2">
                  <a:txBody>
                    <a:bodyPr/>
                    <a:lstStyle/>
                    <a:p>
                      <a:pPr algn="ctr"/>
                      <a:endParaRPr lang="en-GB" sz="1800" dirty="0">
                        <a:latin typeface="+mn-lt"/>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hMerge="1">
                  <a:txBody>
                    <a:bodyPr/>
                    <a:lstStyle/>
                    <a:p>
                      <a:pPr algn="ctr"/>
                      <a:endParaRPr lang="en-GB" dirty="0"/>
                    </a:p>
                  </a:txBody>
                  <a:tcPr anchor="ctr">
                    <a:solidFill>
                      <a:schemeClr val="bg1">
                        <a:lumMod val="75000"/>
                      </a:schemeClr>
                    </a:solidFill>
                  </a:tcPr>
                </a:tc>
                <a:tc>
                  <a:txBody>
                    <a:bodyPr/>
                    <a:lstStyle/>
                    <a:p>
                      <a:pPr algn="ctr"/>
                      <a:r>
                        <a:rPr lang="en-GB" sz="1800" dirty="0">
                          <a:latin typeface="+mn-lt"/>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r>
                        <a:rPr lang="en-GB" sz="1800" dirty="0">
                          <a:latin typeface="+mn-lt"/>
                        </a:rPr>
                        <a:t>150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r>
                        <a:rPr lang="en-GB" sz="1800" dirty="0">
                          <a:latin typeface="+mn-lt"/>
                        </a:rPr>
                        <a:t>120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r>
                        <a:rPr lang="en-GB" sz="1800" dirty="0">
                          <a:latin typeface="+mn-lt"/>
                        </a:rPr>
                        <a:t>320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3017366942"/>
                  </a:ext>
                </a:extLst>
              </a:tr>
            </a:tbl>
          </a:graphicData>
        </a:graphic>
      </p:graphicFrame>
      <p:sp>
        <p:nvSpPr>
          <p:cNvPr id="9" name="Title 1">
            <a:extLst>
              <a:ext uri="{FF2B5EF4-FFF2-40B4-BE49-F238E27FC236}">
                <a16:creationId xmlns:a16="http://schemas.microsoft.com/office/drawing/2014/main" id="{E2FF26AF-A4CB-4922-0A5F-389E88EE0E8E}"/>
              </a:ext>
            </a:extLst>
          </p:cNvPr>
          <p:cNvSpPr>
            <a:spLocks noGrp="1"/>
          </p:cNvSpPr>
          <p:nvPr>
            <p:ph type="title"/>
          </p:nvPr>
        </p:nvSpPr>
        <p:spPr>
          <a:xfrm>
            <a:off x="2032000" y="-79300"/>
            <a:ext cx="8229600" cy="1143000"/>
          </a:xfrm>
        </p:spPr>
        <p:txBody>
          <a:bodyPr/>
          <a:lstStyle/>
          <a:p>
            <a:r>
              <a:rPr lang="en-GB" dirty="0"/>
              <a:t>Model performance metrics</a:t>
            </a:r>
            <a:endParaRPr lang="en-GB" sz="18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5" name="Content Placeholder 2"/>
          <p:cNvSpPr txBox="1">
            <a:spLocks/>
          </p:cNvSpPr>
          <p:nvPr/>
        </p:nvSpPr>
        <p:spPr>
          <a:xfrm>
            <a:off x="1981200" y="1239505"/>
            <a:ext cx="8507288" cy="5400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360363" marR="0" lvl="1" indent="-360363"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61950" algn="l"/>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61950"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358775" marR="0" lvl="0" indent="-358775" algn="l" defTabSz="914400" rtl="0" eaLnBrk="1" fontAlgn="auto" latinLnBrk="0" hangingPunct="1">
              <a:lnSpc>
                <a:spcPct val="100000"/>
              </a:lnSpc>
              <a:spcBef>
                <a:spcPct val="20000"/>
              </a:spcBef>
              <a:spcAft>
                <a:spcPts val="0"/>
              </a:spcAft>
              <a:buClrTx/>
              <a:buSzTx/>
              <a:buFont typeface="Arial" pitchFamily="34" charset="0"/>
              <a:buChar char="•"/>
              <a:tabLst>
                <a:tab pos="3314700"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7" name="Content Placeholder 2"/>
          <p:cNvSpPr txBox="1">
            <a:spLocks/>
          </p:cNvSpPr>
          <p:nvPr/>
        </p:nvSpPr>
        <p:spPr>
          <a:xfrm>
            <a:off x="1044000" y="1260000"/>
            <a:ext cx="5340032" cy="96006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Confusion matrix (classes &gt; 2)</a:t>
            </a:r>
          </a:p>
          <a:p>
            <a:pPr marL="342900" marR="0" lvl="1" indent="-285750"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Same logic (called micro-averaging)</a:t>
            </a:r>
          </a:p>
          <a:p>
            <a:pPr marL="342900" marR="0" lvl="1" indent="-285750" algn="l" defTabSz="914400" rtl="0" eaLnBrk="1" fontAlgn="auto" latinLnBrk="0" hangingPunct="1">
              <a:lnSpc>
                <a:spcPct val="100000"/>
              </a:lnSpc>
              <a:spcBef>
                <a:spcPct val="20000"/>
              </a:spcBef>
              <a:spcAft>
                <a:spcPts val="0"/>
              </a:spcAft>
              <a:buClrTx/>
              <a:buSzTx/>
              <a:buFont typeface="Arial"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400050" marR="0" lvl="1" indent="-342900" algn="l" defTabSz="914400" rtl="0" eaLnBrk="1" fontAlgn="auto" latinLnBrk="0" hangingPunct="1">
              <a:lnSpc>
                <a:spcPct val="100000"/>
              </a:lnSpc>
              <a:spcBef>
                <a:spcPct val="20000"/>
              </a:spcBef>
              <a:spcAft>
                <a:spcPts val="0"/>
              </a:spcAft>
              <a:buClrTx/>
              <a:buSzTx/>
              <a:buFont typeface="Symbol" panose="05050102010706020507" pitchFamily="18" charset="2"/>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57150" marR="0" lvl="1" indent="0" algn="l" defTabSz="914400" rtl="0" eaLnBrk="1" fontAlgn="auto" latinLnBrk="0" hangingPunct="1">
              <a:lnSpc>
                <a:spcPct val="100000"/>
              </a:lnSpc>
              <a:spcBef>
                <a:spcPct val="20000"/>
              </a:spcBef>
              <a:spcAft>
                <a:spcPts val="0"/>
              </a:spcAft>
              <a:buClrTx/>
              <a:buSzTx/>
              <a:buFont typeface="Arial" pitchFamily="34" charset="0"/>
              <a:buNone/>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p:txBody>
      </p:sp>
      <p:graphicFrame>
        <p:nvGraphicFramePr>
          <p:cNvPr id="2" name="Object 1"/>
          <p:cNvGraphicFramePr>
            <a:graphicFrameLocks noChangeAspect="1"/>
          </p:cNvGraphicFramePr>
          <p:nvPr/>
        </p:nvGraphicFramePr>
        <p:xfrm>
          <a:off x="1127448" y="2492896"/>
          <a:ext cx="2905150" cy="648072"/>
        </p:xfrm>
        <a:graphic>
          <a:graphicData uri="http://schemas.openxmlformats.org/presentationml/2006/ole">
            <mc:AlternateContent xmlns:mc="http://schemas.openxmlformats.org/markup-compatibility/2006">
              <mc:Choice xmlns:v="urn:schemas-microsoft-com:vml" Requires="v">
                <p:oleObj name="Equation" r:id="rId2" imgW="1650960" imgH="368280" progId="Equation.DSMT4">
                  <p:embed/>
                </p:oleObj>
              </mc:Choice>
              <mc:Fallback>
                <p:oleObj name="Equation" r:id="rId2" imgW="1650960" imgH="368280" progId="Equation.DSMT4">
                  <p:embed/>
                  <p:pic>
                    <p:nvPicPr>
                      <p:cNvPr id="2" name="Object 1"/>
                      <p:cNvPicPr/>
                      <p:nvPr/>
                    </p:nvPicPr>
                    <p:blipFill>
                      <a:blip r:embed="rId3"/>
                      <a:stretch>
                        <a:fillRect/>
                      </a:stretch>
                    </p:blipFill>
                    <p:spPr>
                      <a:xfrm>
                        <a:off x="1127448" y="2492896"/>
                        <a:ext cx="2905150" cy="648072"/>
                      </a:xfrm>
                      <a:prstGeom prst="rect">
                        <a:avLst/>
                      </a:prstGeom>
                    </p:spPr>
                  </p:pic>
                </p:oleObj>
              </mc:Fallback>
            </mc:AlternateContent>
          </a:graphicData>
        </a:graphic>
      </p:graphicFrame>
      <p:graphicFrame>
        <p:nvGraphicFramePr>
          <p:cNvPr id="5" name="Object 4"/>
          <p:cNvGraphicFramePr>
            <a:graphicFrameLocks noChangeAspect="1"/>
          </p:cNvGraphicFramePr>
          <p:nvPr/>
        </p:nvGraphicFramePr>
        <p:xfrm>
          <a:off x="1127448" y="3318622"/>
          <a:ext cx="3955034" cy="648000"/>
        </p:xfrm>
        <a:graphic>
          <a:graphicData uri="http://schemas.openxmlformats.org/presentationml/2006/ole">
            <mc:AlternateContent xmlns:mc="http://schemas.openxmlformats.org/markup-compatibility/2006">
              <mc:Choice xmlns:v="urn:schemas-microsoft-com:vml" Requires="v">
                <p:oleObj name="Equation" r:id="rId4" imgW="2247840" imgH="368280" progId="Equation.DSMT4">
                  <p:embed/>
                </p:oleObj>
              </mc:Choice>
              <mc:Fallback>
                <p:oleObj name="Equation" r:id="rId4" imgW="2247840" imgH="368280" progId="Equation.DSMT4">
                  <p:embed/>
                  <p:pic>
                    <p:nvPicPr>
                      <p:cNvPr id="5" name="Object 4"/>
                      <p:cNvPicPr/>
                      <p:nvPr/>
                    </p:nvPicPr>
                    <p:blipFill>
                      <a:blip r:embed="rId5"/>
                      <a:stretch>
                        <a:fillRect/>
                      </a:stretch>
                    </p:blipFill>
                    <p:spPr>
                      <a:xfrm>
                        <a:off x="1127448" y="3318622"/>
                        <a:ext cx="3955034" cy="648000"/>
                      </a:xfrm>
                      <a:prstGeom prst="rect">
                        <a:avLst/>
                      </a:prstGeom>
                    </p:spPr>
                  </p:pic>
                </p:oleObj>
              </mc:Fallback>
            </mc:AlternateContent>
          </a:graphicData>
        </a:graphic>
      </p:graphicFrame>
      <p:graphicFrame>
        <p:nvGraphicFramePr>
          <p:cNvPr id="7" name="Object 6"/>
          <p:cNvGraphicFramePr>
            <a:graphicFrameLocks noChangeAspect="1"/>
          </p:cNvGraphicFramePr>
          <p:nvPr/>
        </p:nvGraphicFramePr>
        <p:xfrm>
          <a:off x="1129383" y="4144276"/>
          <a:ext cx="3619859" cy="648000"/>
        </p:xfrm>
        <a:graphic>
          <a:graphicData uri="http://schemas.openxmlformats.org/presentationml/2006/ole">
            <mc:AlternateContent xmlns:mc="http://schemas.openxmlformats.org/markup-compatibility/2006">
              <mc:Choice xmlns:v="urn:schemas-microsoft-com:vml" Requires="v">
                <p:oleObj name="Equation" r:id="rId6" imgW="2057400" imgH="368280" progId="Equation.DSMT4">
                  <p:embed/>
                </p:oleObj>
              </mc:Choice>
              <mc:Fallback>
                <p:oleObj name="Equation" r:id="rId6" imgW="2057400" imgH="368280" progId="Equation.DSMT4">
                  <p:embed/>
                  <p:pic>
                    <p:nvPicPr>
                      <p:cNvPr id="7" name="Object 6"/>
                      <p:cNvPicPr/>
                      <p:nvPr/>
                    </p:nvPicPr>
                    <p:blipFill>
                      <a:blip r:embed="rId7"/>
                      <a:stretch>
                        <a:fillRect/>
                      </a:stretch>
                    </p:blipFill>
                    <p:spPr>
                      <a:xfrm>
                        <a:off x="1129383" y="4144276"/>
                        <a:ext cx="3619859" cy="648000"/>
                      </a:xfrm>
                      <a:prstGeom prst="rect">
                        <a:avLst/>
                      </a:prstGeom>
                    </p:spPr>
                  </p:pic>
                </p:oleObj>
              </mc:Fallback>
            </mc:AlternateContent>
          </a:graphicData>
        </a:graphic>
      </p:graphicFrame>
      <p:sp>
        <p:nvSpPr>
          <p:cNvPr id="10" name="Line 2">
            <a:extLst>
              <a:ext uri="{FF2B5EF4-FFF2-40B4-BE49-F238E27FC236}">
                <a16:creationId xmlns:a16="http://schemas.microsoft.com/office/drawing/2014/main" id="{72DC7AE5-B7C8-32A0-55E3-782DCC8502CE}"/>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1" name="Line 2">
            <a:extLst>
              <a:ext uri="{FF2B5EF4-FFF2-40B4-BE49-F238E27FC236}">
                <a16:creationId xmlns:a16="http://schemas.microsoft.com/office/drawing/2014/main" id="{478F7941-3F6E-AC75-F7AD-E6D7E85B389F}"/>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21254075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5B505A-D2AB-D0B4-81A8-402A7EC13061}"/>
              </a:ext>
            </a:extLst>
          </p:cNvPr>
          <p:cNvSpPr>
            <a:spLocks noGrp="1"/>
          </p:cNvSpPr>
          <p:nvPr>
            <p:ph type="title"/>
          </p:nvPr>
        </p:nvSpPr>
        <p:spPr>
          <a:xfrm>
            <a:off x="715992" y="1"/>
            <a:ext cx="10853708" cy="6858000"/>
          </a:xfrm>
        </p:spPr>
        <p:txBody>
          <a:bodyPr anchor="t"/>
          <a:lstStyle/>
          <a:p>
            <a:br>
              <a:rPr lang="en-US" sz="4000" noProof="0" dirty="0">
                <a:latin typeface="Calibri" panose="020F0502020204030204" pitchFamily="34" charset="0"/>
                <a:cs typeface="Calibri" panose="020F0502020204030204" pitchFamily="34" charset="0"/>
              </a:rPr>
            </a:br>
            <a:br>
              <a:rPr lang="en-US" sz="4000" noProof="0" dirty="0">
                <a:latin typeface="Calibri" panose="020F0502020204030204" pitchFamily="34" charset="0"/>
                <a:cs typeface="Calibri" panose="020F0502020204030204" pitchFamily="34" charset="0"/>
              </a:rPr>
            </a:br>
            <a:br>
              <a:rPr lang="en-US" sz="4000" noProof="0" dirty="0">
                <a:latin typeface="Calibri" panose="020F0502020204030204" pitchFamily="34" charset="0"/>
                <a:cs typeface="Calibri" panose="020F0502020204030204" pitchFamily="34" charset="0"/>
              </a:rPr>
            </a:br>
            <a:br>
              <a:rPr lang="en-US" sz="4000" noProof="0" dirty="0">
                <a:latin typeface="Calibri" panose="020F0502020204030204" pitchFamily="34" charset="0"/>
                <a:cs typeface="Calibri" panose="020F0502020204030204" pitchFamily="34" charset="0"/>
              </a:rPr>
            </a:br>
            <a:br>
              <a:rPr lang="en-US" sz="4000" noProof="0" dirty="0">
                <a:latin typeface="Calibri" panose="020F0502020204030204" pitchFamily="34" charset="0"/>
                <a:cs typeface="Calibri" panose="020F0502020204030204" pitchFamily="34" charset="0"/>
              </a:rPr>
            </a:br>
            <a:br>
              <a:rPr lang="en-US" sz="4000" noProof="0" dirty="0">
                <a:latin typeface="Calibri" panose="020F0502020204030204" pitchFamily="34" charset="0"/>
                <a:cs typeface="Calibri" panose="020F0502020204030204" pitchFamily="34" charset="0"/>
              </a:rPr>
            </a:br>
            <a:r>
              <a:rPr lang="en-US" sz="4000" noProof="0" dirty="0">
                <a:latin typeface="Calibri" panose="020F0502020204030204" pitchFamily="34" charset="0"/>
                <a:cs typeface="Calibri" panose="020F0502020204030204" pitchFamily="34" charset="0"/>
              </a:rPr>
              <a:t>An empirical example MLP</a:t>
            </a:r>
            <a:endParaRPr lang="en-US" sz="4000" i="1" noProof="0" dirty="0">
              <a:latin typeface="Calibri" panose="020F0502020204030204" pitchFamily="34" charset="0"/>
              <a:cs typeface="Calibri" panose="020F0502020204030204" pitchFamily="34" charset="0"/>
            </a:endParaRPr>
          </a:p>
        </p:txBody>
      </p:sp>
      <p:sp>
        <p:nvSpPr>
          <p:cNvPr id="2" name="Slide Number Placeholder 3">
            <a:extLst>
              <a:ext uri="{FF2B5EF4-FFF2-40B4-BE49-F238E27FC236}">
                <a16:creationId xmlns:a16="http://schemas.microsoft.com/office/drawing/2014/main" id="{C86AB89C-823B-7DAA-6EB3-C9769F9EF884}"/>
              </a:ext>
            </a:extLst>
          </p:cNvPr>
          <p:cNvSpPr txBox="1">
            <a:spLocks/>
          </p:cNvSpPr>
          <p:nvPr/>
        </p:nvSpPr>
        <p:spPr>
          <a:xfrm>
            <a:off x="11225348" y="6356351"/>
            <a:ext cx="357051" cy="365125"/>
          </a:xfrm>
          <a:prstGeom prst="rect">
            <a:avLst/>
          </a:prstGeom>
        </p:spPr>
        <p:txBody>
          <a:bodyPr vert="horz" lIns="91440" tIns="45720" rIns="91440" bIns="45720" rtlCol="0" anchor="ctr"/>
          <a:lstStyle>
            <a:defPPr>
              <a:defRPr lang="nl-NL"/>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2091469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3"/>
          <p:cNvSpPr>
            <a:spLocks noGrp="1"/>
          </p:cNvSpPr>
          <p:nvPr>
            <p:ph type="sldNum" sz="quarter" idx="12"/>
          </p:nvPr>
        </p:nvSpPr>
        <p:spPr>
          <a:xfrm>
            <a:off x="8737600" y="6356351"/>
            <a:ext cx="28448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Left Brace 4">
            <a:extLst>
              <a:ext uri="{FF2B5EF4-FFF2-40B4-BE49-F238E27FC236}">
                <a16:creationId xmlns:a16="http://schemas.microsoft.com/office/drawing/2014/main" id="{36D936C5-89D3-A915-A3F5-9079A73F5885}"/>
              </a:ext>
            </a:extLst>
          </p:cNvPr>
          <p:cNvSpPr/>
          <p:nvPr/>
        </p:nvSpPr>
        <p:spPr>
          <a:xfrm>
            <a:off x="3454399" y="1252330"/>
            <a:ext cx="491436" cy="4899992"/>
          </a:xfrm>
          <a:prstGeom prst="leftBrace">
            <a:avLst>
              <a:gd name="adj1" fmla="val 8333"/>
              <a:gd name="adj2" fmla="val 29729"/>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D08F533A-C32D-0BC7-D05E-38DF8E01A5F4}"/>
              </a:ext>
            </a:extLst>
          </p:cNvPr>
          <p:cNvSpPr txBox="1"/>
          <p:nvPr/>
        </p:nvSpPr>
        <p:spPr>
          <a:xfrm>
            <a:off x="536712" y="1988165"/>
            <a:ext cx="2917686" cy="1391479"/>
          </a:xfrm>
          <a:prstGeom prst="rect">
            <a:avLst/>
          </a:prstGeom>
          <a:noFill/>
        </p:spPr>
        <p:txBody>
          <a:bodyPr wrap="square" rtlCol="0" anchor="ctr">
            <a:noAutofit/>
          </a:bodyPr>
          <a:lstStyle/>
          <a:p>
            <a:pPr marL="0" marR="0" lvl="0" indent="0" algn="r"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NL"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All </a:t>
            </a: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attributes and socio-demographic </a:t>
            </a:r>
            <a:r>
              <a:rPr kumimoji="0" lang="en-NL"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variables enter in the </a:t>
            </a: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utility</a:t>
            </a:r>
            <a:endParaRPr kumimoji="0" lang="en-NL"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endParaRPr>
          </a:p>
        </p:txBody>
      </p:sp>
      <p:sp>
        <p:nvSpPr>
          <p:cNvPr id="8" name="Left Brace 7">
            <a:extLst>
              <a:ext uri="{FF2B5EF4-FFF2-40B4-BE49-F238E27FC236}">
                <a16:creationId xmlns:a16="http://schemas.microsoft.com/office/drawing/2014/main" id="{DE01C79B-62C8-A8E0-D753-B698C4A5D26C}"/>
              </a:ext>
            </a:extLst>
          </p:cNvPr>
          <p:cNvSpPr/>
          <p:nvPr/>
        </p:nvSpPr>
        <p:spPr>
          <a:xfrm rot="10800000">
            <a:off x="8131794" y="3270951"/>
            <a:ext cx="491436" cy="903483"/>
          </a:xfrm>
          <a:prstGeom prst="leftBrace">
            <a:avLst>
              <a:gd name="adj1" fmla="val 8333"/>
              <a:gd name="adj2" fmla="val 70432"/>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629DB4C7-777B-A101-D795-C3C73C738302}"/>
              </a:ext>
            </a:extLst>
          </p:cNvPr>
          <p:cNvSpPr txBox="1"/>
          <p:nvPr/>
        </p:nvSpPr>
        <p:spPr>
          <a:xfrm>
            <a:off x="8623230" y="2906546"/>
            <a:ext cx="2321338" cy="1524060"/>
          </a:xfrm>
          <a:prstGeom prst="rect">
            <a:avLst/>
          </a:prstGeom>
          <a:noFill/>
        </p:spPr>
        <p:txBody>
          <a:bodyPr wrap="square" rtlCol="0">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NL"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The  output layer contains the </a:t>
            </a: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utilities </a:t>
            </a:r>
            <a:r>
              <a:rPr kumimoji="0" lang="en-NL"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predicted choice probabilities for the alternatives</a:t>
            </a:r>
          </a:p>
        </p:txBody>
      </p:sp>
      <p:sp>
        <p:nvSpPr>
          <p:cNvPr id="28" name="TextBox 27">
            <a:extLst>
              <a:ext uri="{FF2B5EF4-FFF2-40B4-BE49-F238E27FC236}">
                <a16:creationId xmlns:a16="http://schemas.microsoft.com/office/drawing/2014/main" id="{6DA4701B-6596-E95A-1EDB-5975CA0190F1}"/>
              </a:ext>
            </a:extLst>
          </p:cNvPr>
          <p:cNvSpPr txBox="1"/>
          <p:nvPr/>
        </p:nvSpPr>
        <p:spPr>
          <a:xfrm>
            <a:off x="3454398" y="6470712"/>
            <a:ext cx="4782307" cy="319087"/>
          </a:xfrm>
          <a:prstGeom prst="rect">
            <a:avLst/>
          </a:prstGeom>
          <a:noFill/>
        </p:spPr>
        <p:txBody>
          <a:bodyPr wrap="square" rtlCol="0">
            <a:noAutofit/>
          </a:bodyPr>
          <a:lstStyle/>
          <a:p>
            <a:pPr marL="0" marR="0" lvl="0" indent="0" algn="ctr"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Calibri" panose="020F0502020204030204" pitchFamily="34" charset="0"/>
                <a:sym typeface="Wingdings" panose="05000000000000000000" pitchFamily="2" charset="2"/>
              </a:rPr>
              <a:t>RUM-</a:t>
            </a:r>
            <a:r>
              <a:rPr kumimoji="0" lang="en-GB" sz="1600" b="0" i="0" u="none" strike="noStrike" kern="1200" cap="none" spc="0" normalizeH="0" baseline="0" noProof="0" dirty="0" err="1">
                <a:ln>
                  <a:noFill/>
                </a:ln>
                <a:solidFill>
                  <a:prstClr val="white">
                    <a:lumMod val="50000"/>
                  </a:prstClr>
                </a:solidFill>
                <a:effectLst/>
                <a:uLnTx/>
                <a:uFillTx/>
                <a:latin typeface="Calibri" panose="020F0502020204030204"/>
                <a:ea typeface="+mn-ea"/>
                <a:cs typeface="Calibri" panose="020F0502020204030204" pitchFamily="34" charset="0"/>
                <a:sym typeface="Wingdings" panose="05000000000000000000" pitchFamily="2" charset="2"/>
              </a:rPr>
              <a:t>MNL</a:t>
            </a:r>
            <a:r>
              <a:rPr kumimoji="0" lang="en-GB"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Calibri" panose="020F0502020204030204" pitchFamily="34" charset="0"/>
                <a:sym typeface="Wingdings" panose="05000000000000000000" pitchFamily="2" charset="2"/>
              </a:rPr>
              <a:t> </a:t>
            </a:r>
            <a:endParaRPr kumimoji="0" lang="en-NL"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Calibri" panose="020F0502020204030204" pitchFamily="34" charset="0"/>
              <a:sym typeface="Wingdings" panose="05000000000000000000" pitchFamily="2" charset="2"/>
            </a:endParaRPr>
          </a:p>
        </p:txBody>
      </p:sp>
      <p:pic>
        <p:nvPicPr>
          <p:cNvPr id="25" name="Picture 24">
            <a:extLst>
              <a:ext uri="{FF2B5EF4-FFF2-40B4-BE49-F238E27FC236}">
                <a16:creationId xmlns:a16="http://schemas.microsoft.com/office/drawing/2014/main" id="{50560387-46BC-A2B8-20FE-77CFB771181F}"/>
              </a:ext>
            </a:extLst>
          </p:cNvPr>
          <p:cNvPicPr>
            <a:picLocks noChangeAspect="1"/>
          </p:cNvPicPr>
          <p:nvPr/>
        </p:nvPicPr>
        <p:blipFill rotWithShape="1">
          <a:blip r:embed="rId3"/>
          <a:srcRect b="11691"/>
          <a:stretch/>
        </p:blipFill>
        <p:spPr>
          <a:xfrm>
            <a:off x="4355610" y="2004246"/>
            <a:ext cx="3661813" cy="2871514"/>
          </a:xfrm>
          <a:prstGeom prst="rect">
            <a:avLst/>
          </a:prstGeom>
        </p:spPr>
      </p:pic>
      <p:sp>
        <p:nvSpPr>
          <p:cNvPr id="3" name="Title 1">
            <a:extLst>
              <a:ext uri="{FF2B5EF4-FFF2-40B4-BE49-F238E27FC236}">
                <a16:creationId xmlns:a16="http://schemas.microsoft.com/office/drawing/2014/main" id="{83FBC11F-330D-7E6B-4D84-E923098D5F18}"/>
              </a:ext>
            </a:extLst>
          </p:cNvPr>
          <p:cNvSpPr>
            <a:spLocks noGrp="1"/>
          </p:cNvSpPr>
          <p:nvPr>
            <p:ph type="title"/>
          </p:nvPr>
        </p:nvSpPr>
        <p:spPr>
          <a:xfrm>
            <a:off x="2032000" y="-79300"/>
            <a:ext cx="8229600" cy="1143000"/>
          </a:xfrm>
        </p:spPr>
        <p:txBody>
          <a:bodyPr/>
          <a:lstStyle/>
          <a:p>
            <a:r>
              <a:rPr lang="en-GB" dirty="0"/>
              <a:t>Empirical example MNL</a:t>
            </a:r>
            <a:endParaRPr lang="en-GB" sz="1800" dirty="0"/>
          </a:p>
        </p:txBody>
      </p:sp>
      <p:sp>
        <p:nvSpPr>
          <p:cNvPr id="7" name="Line 2">
            <a:extLst>
              <a:ext uri="{FF2B5EF4-FFF2-40B4-BE49-F238E27FC236}">
                <a16:creationId xmlns:a16="http://schemas.microsoft.com/office/drawing/2014/main" id="{86F49F28-2E0E-DC1E-3CE7-0D2AB1C8A74F}"/>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0" name="Line 2">
            <a:extLst>
              <a:ext uri="{FF2B5EF4-FFF2-40B4-BE49-F238E27FC236}">
                <a16:creationId xmlns:a16="http://schemas.microsoft.com/office/drawing/2014/main" id="{D7770123-053D-F72F-FF7B-8A963749984F}"/>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34106973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720000" y="1268760"/>
            <a:ext cx="2785730" cy="5400600"/>
          </a:xfrm>
        </p:spPr>
        <p:txBody>
          <a:bodyPr>
            <a:noAutofit/>
          </a:bodyPr>
          <a:lstStyle/>
          <a:p>
            <a:pPr marL="0" lvl="1" indent="0">
              <a:buNone/>
              <a:tabLst>
                <a:tab pos="3138488" algn="l"/>
              </a:tabLst>
            </a:pPr>
            <a:r>
              <a:rPr lang="en-GB" sz="1800" b="1" dirty="0"/>
              <a:t>Swiss metro</a:t>
            </a:r>
          </a:p>
          <a:p>
            <a:pPr marL="0" lvl="1" indent="0">
              <a:buNone/>
              <a:tabLst>
                <a:tab pos="3138488" algn="l"/>
              </a:tabLst>
            </a:pPr>
            <a:endParaRPr lang="en-GB" b="1" dirty="0"/>
          </a:p>
          <a:p>
            <a:pPr marL="0" lvl="1" indent="0">
              <a:buNone/>
              <a:tabLst>
                <a:tab pos="3138488" algn="l"/>
              </a:tabLst>
            </a:pPr>
            <a:endParaRPr lang="en-GB" sz="1800" b="1" dirty="0"/>
          </a:p>
          <a:p>
            <a:pPr marL="285750" lvl="1" indent="-285750">
              <a:tabLst>
                <a:tab pos="3138488" algn="l"/>
              </a:tabLst>
            </a:pPr>
            <a:endParaRPr lang="en-GB" b="1" dirty="0"/>
          </a:p>
          <a:p>
            <a:pPr marL="285750" lvl="1" indent="-285750">
              <a:tabLst>
                <a:tab pos="3138488" algn="l"/>
              </a:tabLst>
            </a:pPr>
            <a:endParaRPr lang="en-GB" b="1" dirty="0"/>
          </a:p>
          <a:p>
            <a:pPr marL="0" lvl="1" indent="0">
              <a:buNone/>
              <a:tabLst>
                <a:tab pos="3138488" algn="l"/>
              </a:tabLst>
            </a:pPr>
            <a:endParaRPr lang="en-GB" b="1" u="sng" dirty="0"/>
          </a:p>
          <a:p>
            <a:pPr marL="0" lvl="1" indent="0">
              <a:buNone/>
              <a:tabLst>
                <a:tab pos="3138488" algn="l"/>
              </a:tabLst>
            </a:pPr>
            <a:r>
              <a:rPr lang="en-GB" b="1" u="sng" dirty="0"/>
              <a:t>Two cases</a:t>
            </a:r>
          </a:p>
          <a:p>
            <a:pPr marL="342900" lvl="1" indent="-342900">
              <a:buFont typeface="+mj-lt"/>
              <a:buAutoNum type="alphaUcPeriod"/>
              <a:tabLst>
                <a:tab pos="3138488" algn="l"/>
              </a:tabLst>
            </a:pPr>
            <a:r>
              <a:rPr lang="en-GB" b="1" dirty="0"/>
              <a:t>Only attributes</a:t>
            </a:r>
          </a:p>
          <a:p>
            <a:pPr marL="342900" lvl="1" indent="-342900">
              <a:buFont typeface="+mj-lt"/>
              <a:buAutoNum type="alphaUcPeriod"/>
              <a:tabLst>
                <a:tab pos="3138488" algn="l"/>
              </a:tabLst>
            </a:pPr>
            <a:endParaRPr lang="en-GB" b="1" dirty="0"/>
          </a:p>
          <a:p>
            <a:pPr marL="342900" lvl="1" indent="-342900">
              <a:buFont typeface="+mj-lt"/>
              <a:buAutoNum type="alphaUcPeriod"/>
              <a:tabLst>
                <a:tab pos="3138488" algn="l"/>
              </a:tabLst>
            </a:pPr>
            <a:r>
              <a:rPr lang="en-GB" b="1" dirty="0">
                <a:solidFill>
                  <a:schemeClr val="bg1">
                    <a:lumMod val="65000"/>
                  </a:schemeClr>
                </a:solidFill>
              </a:rPr>
              <a:t>Attributes + socio demographic variables</a:t>
            </a:r>
          </a:p>
          <a:p>
            <a:pPr marL="285750" lvl="1" indent="-285750">
              <a:tabLst>
                <a:tab pos="3138488" algn="l"/>
              </a:tabLst>
            </a:pPr>
            <a:endParaRPr lang="en-GB" sz="1800" dirty="0"/>
          </a:p>
          <a:p>
            <a:pPr marL="1257300" lvl="3"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3" name="Picture 2">
            <a:extLst>
              <a:ext uri="{FF2B5EF4-FFF2-40B4-BE49-F238E27FC236}">
                <a16:creationId xmlns:a16="http://schemas.microsoft.com/office/drawing/2014/main" id="{3FB8B2DC-2A08-FBA4-18A4-C0906F173090}"/>
              </a:ext>
            </a:extLst>
          </p:cNvPr>
          <p:cNvPicPr>
            <a:picLocks noChangeAspect="1"/>
          </p:cNvPicPr>
          <p:nvPr/>
        </p:nvPicPr>
        <p:blipFill>
          <a:blip r:embed="rId2"/>
          <a:stretch>
            <a:fillRect/>
          </a:stretch>
        </p:blipFill>
        <p:spPr>
          <a:xfrm>
            <a:off x="5302250" y="2574583"/>
            <a:ext cx="6767476" cy="4100660"/>
          </a:xfrm>
          <a:prstGeom prst="rect">
            <a:avLst/>
          </a:prstGeom>
        </p:spPr>
      </p:pic>
      <p:sp>
        <p:nvSpPr>
          <p:cNvPr id="7" name="Left Brace 6">
            <a:extLst>
              <a:ext uri="{FF2B5EF4-FFF2-40B4-BE49-F238E27FC236}">
                <a16:creationId xmlns:a16="http://schemas.microsoft.com/office/drawing/2014/main" id="{9E80D4AF-7389-CD83-6AC5-2EB06BBF88DA}"/>
              </a:ext>
            </a:extLst>
          </p:cNvPr>
          <p:cNvSpPr/>
          <p:nvPr/>
        </p:nvSpPr>
        <p:spPr>
          <a:xfrm>
            <a:off x="5135526" y="2574583"/>
            <a:ext cx="318976" cy="3643461"/>
          </a:xfrm>
          <a:prstGeom prst="leftBrace">
            <a:avLst>
              <a:gd name="adj1" fmla="val 8333"/>
              <a:gd name="adj2" fmla="val 83156"/>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4828D94D-8854-EE72-7A2A-C93B4B782755}"/>
              </a:ext>
            </a:extLst>
          </p:cNvPr>
          <p:cNvSpPr txBox="1"/>
          <p:nvPr/>
        </p:nvSpPr>
        <p:spPr>
          <a:xfrm>
            <a:off x="2288659" y="5198620"/>
            <a:ext cx="2785730" cy="978196"/>
          </a:xfrm>
          <a:prstGeom prst="rect">
            <a:avLst/>
          </a:prstGeom>
          <a:noFill/>
        </p:spPr>
        <p:txBody>
          <a:bodyPr wrap="square" rtlCol="0">
            <a:noAutofit/>
          </a:bodyPr>
          <a:lstStyle/>
          <a:p>
            <a:pPr marL="0" marR="0" lvl="0" indent="0" algn="r"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Attributes of alternatives: </a:t>
            </a:r>
            <a:r>
              <a:rPr kumimoji="0" lang="en-GB" sz="1800" b="1"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Travel cost </a:t>
            </a: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and </a:t>
            </a:r>
            <a:r>
              <a:rPr kumimoji="0" lang="en-GB" sz="1800" b="1"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time</a:t>
            </a: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 for each alternative</a:t>
            </a:r>
          </a:p>
        </p:txBody>
      </p:sp>
      <p:sp>
        <p:nvSpPr>
          <p:cNvPr id="9" name="TextBox 8">
            <a:extLst>
              <a:ext uri="{FF2B5EF4-FFF2-40B4-BE49-F238E27FC236}">
                <a16:creationId xmlns:a16="http://schemas.microsoft.com/office/drawing/2014/main" id="{719A1B5B-68B6-F567-BE1D-22FFF5FB0CFA}"/>
              </a:ext>
            </a:extLst>
          </p:cNvPr>
          <p:cNvSpPr txBox="1"/>
          <p:nvPr/>
        </p:nvSpPr>
        <p:spPr>
          <a:xfrm>
            <a:off x="11507638" y="3836351"/>
            <a:ext cx="684362" cy="297711"/>
          </a:xfrm>
          <a:prstGeom prst="rect">
            <a:avLst/>
          </a:prstGeom>
          <a:noFill/>
        </p:spPr>
        <p:txBody>
          <a:bodyPr wrap="square" rtlCol="0" anchor="ctr">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4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TRAIN</a:t>
            </a:r>
          </a:p>
        </p:txBody>
      </p:sp>
      <p:sp>
        <p:nvSpPr>
          <p:cNvPr id="10" name="TextBox 9">
            <a:extLst>
              <a:ext uri="{FF2B5EF4-FFF2-40B4-BE49-F238E27FC236}">
                <a16:creationId xmlns:a16="http://schemas.microsoft.com/office/drawing/2014/main" id="{EC3FB53E-C6DC-9DB1-72D9-A6BBED840AEE}"/>
              </a:ext>
            </a:extLst>
          </p:cNvPr>
          <p:cNvSpPr txBox="1"/>
          <p:nvPr/>
        </p:nvSpPr>
        <p:spPr>
          <a:xfrm>
            <a:off x="11507638" y="4247457"/>
            <a:ext cx="684362" cy="297711"/>
          </a:xfrm>
          <a:prstGeom prst="rect">
            <a:avLst/>
          </a:prstGeom>
          <a:noFill/>
        </p:spPr>
        <p:txBody>
          <a:bodyPr wrap="square" rtlCol="0" anchor="ctr">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4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SM</a:t>
            </a:r>
          </a:p>
        </p:txBody>
      </p:sp>
      <p:sp>
        <p:nvSpPr>
          <p:cNvPr id="11" name="TextBox 10">
            <a:extLst>
              <a:ext uri="{FF2B5EF4-FFF2-40B4-BE49-F238E27FC236}">
                <a16:creationId xmlns:a16="http://schemas.microsoft.com/office/drawing/2014/main" id="{D6F155DB-9D95-FC0B-1750-426A4CB58AA0}"/>
              </a:ext>
            </a:extLst>
          </p:cNvPr>
          <p:cNvSpPr txBox="1"/>
          <p:nvPr/>
        </p:nvSpPr>
        <p:spPr>
          <a:xfrm>
            <a:off x="11472000" y="4669194"/>
            <a:ext cx="684362" cy="297711"/>
          </a:xfrm>
          <a:prstGeom prst="rect">
            <a:avLst/>
          </a:prstGeom>
          <a:noFill/>
        </p:spPr>
        <p:txBody>
          <a:bodyPr wrap="square" rtlCol="0" anchor="ctr">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4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CAR</a:t>
            </a:r>
          </a:p>
        </p:txBody>
      </p:sp>
      <p:cxnSp>
        <p:nvCxnSpPr>
          <p:cNvPr id="13" name="Straight Arrow Connector 12">
            <a:extLst>
              <a:ext uri="{FF2B5EF4-FFF2-40B4-BE49-F238E27FC236}">
                <a16:creationId xmlns:a16="http://schemas.microsoft.com/office/drawing/2014/main" id="{4D565524-94BA-332F-81C3-E2B2F4B2D0A2}"/>
              </a:ext>
            </a:extLst>
          </p:cNvPr>
          <p:cNvCxnSpPr>
            <a:cxnSpLocks/>
          </p:cNvCxnSpPr>
          <p:nvPr/>
        </p:nvCxnSpPr>
        <p:spPr>
          <a:xfrm>
            <a:off x="3455773" y="3644860"/>
            <a:ext cx="1618616" cy="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DFCAB8D6-5A6B-9174-B4A1-E657968445CB}"/>
              </a:ext>
            </a:extLst>
          </p:cNvPr>
          <p:cNvGrpSpPr/>
          <p:nvPr/>
        </p:nvGrpSpPr>
        <p:grpSpPr>
          <a:xfrm>
            <a:off x="807416" y="1588508"/>
            <a:ext cx="3936601" cy="1215735"/>
            <a:chOff x="6999514" y="1339615"/>
            <a:chExt cx="5152369" cy="1591200"/>
          </a:xfrm>
        </p:grpSpPr>
        <p:pic>
          <p:nvPicPr>
            <p:cNvPr id="12" name="Picture 11">
              <a:extLst>
                <a:ext uri="{FF2B5EF4-FFF2-40B4-BE49-F238E27FC236}">
                  <a16:creationId xmlns:a16="http://schemas.microsoft.com/office/drawing/2014/main" id="{14184B43-B7D4-F224-E659-491279CCF286}"/>
                </a:ext>
              </a:extLst>
            </p:cNvPr>
            <p:cNvPicPr>
              <a:picLocks noChangeAspect="1"/>
            </p:cNvPicPr>
            <p:nvPr/>
          </p:nvPicPr>
          <p:blipFill rotWithShape="1">
            <a:blip r:embed="rId3"/>
            <a:srcRect r="48807"/>
            <a:stretch/>
          </p:blipFill>
          <p:spPr>
            <a:xfrm>
              <a:off x="6999514" y="1339749"/>
              <a:ext cx="2606449" cy="1591066"/>
            </a:xfrm>
            <a:prstGeom prst="rect">
              <a:avLst/>
            </a:prstGeom>
            <a:ln>
              <a:noFill/>
            </a:ln>
            <a:effectLst>
              <a:outerShdw blurRad="292100" dist="139700" dir="2700000" algn="tl" rotWithShape="0">
                <a:srgbClr val="333333">
                  <a:alpha val="65000"/>
                </a:srgbClr>
              </a:outerShdw>
            </a:effectLst>
          </p:spPr>
        </p:pic>
        <p:grpSp>
          <p:nvGrpSpPr>
            <p:cNvPr id="14" name="Group 13">
              <a:extLst>
                <a:ext uri="{FF2B5EF4-FFF2-40B4-BE49-F238E27FC236}">
                  <a16:creationId xmlns:a16="http://schemas.microsoft.com/office/drawing/2014/main" id="{C4B3AEF8-EFEA-AB83-EEA4-75C823DA6787}"/>
                </a:ext>
              </a:extLst>
            </p:cNvPr>
            <p:cNvGrpSpPr/>
            <p:nvPr/>
          </p:nvGrpSpPr>
          <p:grpSpPr>
            <a:xfrm>
              <a:off x="9605963" y="1339615"/>
              <a:ext cx="2545920" cy="1591200"/>
              <a:chOff x="8373120" y="3037357"/>
              <a:chExt cx="2545920" cy="1591200"/>
            </a:xfrm>
          </p:grpSpPr>
          <p:pic>
            <p:nvPicPr>
              <p:cNvPr id="15" name="Picture 14">
                <a:extLst>
                  <a:ext uri="{FF2B5EF4-FFF2-40B4-BE49-F238E27FC236}">
                    <a16:creationId xmlns:a16="http://schemas.microsoft.com/office/drawing/2014/main" id="{85D7E7FE-689F-8B5F-EB63-03BD6DC01A1E}"/>
                  </a:ext>
                </a:extLst>
              </p:cNvPr>
              <p:cNvPicPr>
                <a:picLocks noChangeAspect="1"/>
              </p:cNvPicPr>
              <p:nvPr/>
            </p:nvPicPr>
            <p:blipFill>
              <a:blip r:embed="rId4"/>
              <a:stretch>
                <a:fillRect/>
              </a:stretch>
            </p:blipFill>
            <p:spPr>
              <a:xfrm>
                <a:off x="8373120" y="3037357"/>
                <a:ext cx="2545920" cy="795600"/>
              </a:xfrm>
              <a:prstGeom prst="rect">
                <a:avLst/>
              </a:prstGeom>
              <a:ln>
                <a:no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E19B4EB6-7D75-2977-C1CB-114F9E7B87A4}"/>
                  </a:ext>
                </a:extLst>
              </p:cNvPr>
              <p:cNvPicPr>
                <a:picLocks noChangeAspect="1"/>
              </p:cNvPicPr>
              <p:nvPr/>
            </p:nvPicPr>
            <p:blipFill>
              <a:blip r:embed="rId5"/>
              <a:stretch>
                <a:fillRect/>
              </a:stretch>
            </p:blipFill>
            <p:spPr>
              <a:xfrm>
                <a:off x="8373120" y="3832957"/>
                <a:ext cx="2545920" cy="795600"/>
              </a:xfrm>
              <a:prstGeom prst="rect">
                <a:avLst/>
              </a:prstGeom>
              <a:ln>
                <a:noFill/>
              </a:ln>
              <a:effectLst>
                <a:outerShdw blurRad="292100" dist="139700" dir="2700000" algn="tl" rotWithShape="0">
                  <a:srgbClr val="333333">
                    <a:alpha val="65000"/>
                  </a:srgbClr>
                </a:outerShdw>
              </a:effectLst>
            </p:spPr>
          </p:pic>
        </p:grpSp>
      </p:grpSp>
      <p:sp>
        <p:nvSpPr>
          <p:cNvPr id="17" name="Title 1">
            <a:extLst>
              <a:ext uri="{FF2B5EF4-FFF2-40B4-BE49-F238E27FC236}">
                <a16:creationId xmlns:a16="http://schemas.microsoft.com/office/drawing/2014/main" id="{32521B0F-5B25-55E0-F086-441E6D96ACF0}"/>
              </a:ext>
            </a:extLst>
          </p:cNvPr>
          <p:cNvSpPr txBox="1">
            <a:spLocks/>
          </p:cNvSpPr>
          <p:nvPr/>
        </p:nvSpPr>
        <p:spPr>
          <a:xfrm>
            <a:off x="2032000" y="-79300"/>
            <a:ext cx="8229600" cy="114300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000" kern="1200">
                <a:solidFill>
                  <a:schemeClr val="tx1"/>
                </a:solidFill>
                <a:latin typeface="+mj-lt"/>
                <a:ea typeface="+mj-ea"/>
                <a:cs typeface="+mj-cs"/>
              </a:defRPr>
            </a:lvl1pPr>
          </a:lstStyle>
          <a:p>
            <a:r>
              <a:rPr lang="en-GB" dirty="0"/>
              <a:t>Empirical example MLP</a:t>
            </a:r>
            <a:endParaRPr lang="en-GB" sz="1800" dirty="0"/>
          </a:p>
        </p:txBody>
      </p:sp>
      <p:sp>
        <p:nvSpPr>
          <p:cNvPr id="18" name="Line 2">
            <a:extLst>
              <a:ext uri="{FF2B5EF4-FFF2-40B4-BE49-F238E27FC236}">
                <a16:creationId xmlns:a16="http://schemas.microsoft.com/office/drawing/2014/main" id="{228D6745-C08A-C72A-FD96-4D0A422BE66A}"/>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9" name="Line 2">
            <a:extLst>
              <a:ext uri="{FF2B5EF4-FFF2-40B4-BE49-F238E27FC236}">
                <a16:creationId xmlns:a16="http://schemas.microsoft.com/office/drawing/2014/main" id="{BEEDE9A6-E4B5-3D5D-8318-F23BFEBD0939}"/>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dirty="0"/>
          </a:p>
        </p:txBody>
      </p:sp>
    </p:spTree>
    <p:extLst>
      <p:ext uri="{BB962C8B-B14F-4D97-AF65-F5344CB8AC3E}">
        <p14:creationId xmlns:p14="http://schemas.microsoft.com/office/powerpoint/2010/main" val="17299944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DFCAB8D6-5A6B-9174-B4A1-E657968445CB}"/>
              </a:ext>
            </a:extLst>
          </p:cNvPr>
          <p:cNvGrpSpPr/>
          <p:nvPr/>
        </p:nvGrpSpPr>
        <p:grpSpPr>
          <a:xfrm>
            <a:off x="807416" y="1588508"/>
            <a:ext cx="3936601" cy="1215735"/>
            <a:chOff x="6999514" y="1339615"/>
            <a:chExt cx="5152369" cy="1591200"/>
          </a:xfrm>
        </p:grpSpPr>
        <p:pic>
          <p:nvPicPr>
            <p:cNvPr id="12" name="Picture 11">
              <a:extLst>
                <a:ext uri="{FF2B5EF4-FFF2-40B4-BE49-F238E27FC236}">
                  <a16:creationId xmlns:a16="http://schemas.microsoft.com/office/drawing/2014/main" id="{14184B43-B7D4-F224-E659-491279CCF286}"/>
                </a:ext>
              </a:extLst>
            </p:cNvPr>
            <p:cNvPicPr>
              <a:picLocks noChangeAspect="1"/>
            </p:cNvPicPr>
            <p:nvPr/>
          </p:nvPicPr>
          <p:blipFill rotWithShape="1">
            <a:blip r:embed="rId2"/>
            <a:srcRect r="48807"/>
            <a:stretch/>
          </p:blipFill>
          <p:spPr>
            <a:xfrm>
              <a:off x="6999514" y="1339749"/>
              <a:ext cx="2606449" cy="1591066"/>
            </a:xfrm>
            <a:prstGeom prst="rect">
              <a:avLst/>
            </a:prstGeom>
            <a:ln>
              <a:noFill/>
            </a:ln>
            <a:effectLst>
              <a:outerShdw blurRad="292100" dist="139700" dir="2700000" algn="tl" rotWithShape="0">
                <a:srgbClr val="333333">
                  <a:alpha val="65000"/>
                </a:srgbClr>
              </a:outerShdw>
            </a:effectLst>
          </p:spPr>
        </p:pic>
        <p:grpSp>
          <p:nvGrpSpPr>
            <p:cNvPr id="14" name="Group 13">
              <a:extLst>
                <a:ext uri="{FF2B5EF4-FFF2-40B4-BE49-F238E27FC236}">
                  <a16:creationId xmlns:a16="http://schemas.microsoft.com/office/drawing/2014/main" id="{C4B3AEF8-EFEA-AB83-EEA4-75C823DA6787}"/>
                </a:ext>
              </a:extLst>
            </p:cNvPr>
            <p:cNvGrpSpPr/>
            <p:nvPr/>
          </p:nvGrpSpPr>
          <p:grpSpPr>
            <a:xfrm>
              <a:off x="9605963" y="1339615"/>
              <a:ext cx="2545920" cy="1591200"/>
              <a:chOff x="8373120" y="3037357"/>
              <a:chExt cx="2545920" cy="1591200"/>
            </a:xfrm>
          </p:grpSpPr>
          <p:pic>
            <p:nvPicPr>
              <p:cNvPr id="15" name="Picture 14">
                <a:extLst>
                  <a:ext uri="{FF2B5EF4-FFF2-40B4-BE49-F238E27FC236}">
                    <a16:creationId xmlns:a16="http://schemas.microsoft.com/office/drawing/2014/main" id="{85D7E7FE-689F-8B5F-EB63-03BD6DC01A1E}"/>
                  </a:ext>
                </a:extLst>
              </p:cNvPr>
              <p:cNvPicPr>
                <a:picLocks noChangeAspect="1"/>
              </p:cNvPicPr>
              <p:nvPr/>
            </p:nvPicPr>
            <p:blipFill>
              <a:blip r:embed="rId3"/>
              <a:stretch>
                <a:fillRect/>
              </a:stretch>
            </p:blipFill>
            <p:spPr>
              <a:xfrm>
                <a:off x="8373120" y="3037357"/>
                <a:ext cx="2545920" cy="795600"/>
              </a:xfrm>
              <a:prstGeom prst="rect">
                <a:avLst/>
              </a:prstGeom>
              <a:ln>
                <a:no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E19B4EB6-7D75-2977-C1CB-114F9E7B87A4}"/>
                  </a:ext>
                </a:extLst>
              </p:cNvPr>
              <p:cNvPicPr>
                <a:picLocks noChangeAspect="1"/>
              </p:cNvPicPr>
              <p:nvPr/>
            </p:nvPicPr>
            <p:blipFill>
              <a:blip r:embed="rId4"/>
              <a:stretch>
                <a:fillRect/>
              </a:stretch>
            </p:blipFill>
            <p:spPr>
              <a:xfrm>
                <a:off x="8373120" y="3832957"/>
                <a:ext cx="2545920" cy="795600"/>
              </a:xfrm>
              <a:prstGeom prst="rect">
                <a:avLst/>
              </a:prstGeom>
              <a:ln>
                <a:noFill/>
              </a:ln>
              <a:effectLst>
                <a:outerShdw blurRad="292100" dist="139700" dir="2700000" algn="tl" rotWithShape="0">
                  <a:srgbClr val="333333">
                    <a:alpha val="65000"/>
                  </a:srgbClr>
                </a:outerShdw>
              </a:effectLst>
            </p:spPr>
          </p:pic>
        </p:grpSp>
      </p:grpSp>
      <p:pic>
        <p:nvPicPr>
          <p:cNvPr id="17" name="Picture 16">
            <a:extLst>
              <a:ext uri="{FF2B5EF4-FFF2-40B4-BE49-F238E27FC236}">
                <a16:creationId xmlns:a16="http://schemas.microsoft.com/office/drawing/2014/main" id="{0A3028E2-9E2A-E7A9-0A01-3E114D295005}"/>
              </a:ext>
            </a:extLst>
          </p:cNvPr>
          <p:cNvPicPr>
            <a:picLocks noChangeAspect="1"/>
          </p:cNvPicPr>
          <p:nvPr/>
        </p:nvPicPr>
        <p:blipFill>
          <a:blip r:embed="rId5"/>
          <a:stretch>
            <a:fillRect/>
          </a:stretch>
        </p:blipFill>
        <p:spPr>
          <a:xfrm>
            <a:off x="6765853" y="1067343"/>
            <a:ext cx="4931713" cy="5654132"/>
          </a:xfrm>
          <a:prstGeom prst="rect">
            <a:avLst/>
          </a:prstGeom>
        </p:spPr>
      </p:pic>
      <p:cxnSp>
        <p:nvCxnSpPr>
          <p:cNvPr id="18" name="Straight Arrow Connector 17">
            <a:extLst>
              <a:ext uri="{FF2B5EF4-FFF2-40B4-BE49-F238E27FC236}">
                <a16:creationId xmlns:a16="http://schemas.microsoft.com/office/drawing/2014/main" id="{E242099D-A1B1-CDD7-A211-6F84902099F5}"/>
              </a:ext>
            </a:extLst>
          </p:cNvPr>
          <p:cNvCxnSpPr>
            <a:cxnSpLocks/>
          </p:cNvCxnSpPr>
          <p:nvPr/>
        </p:nvCxnSpPr>
        <p:spPr>
          <a:xfrm>
            <a:off x="3799085" y="4726752"/>
            <a:ext cx="2593544" cy="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sp>
        <p:nvSpPr>
          <p:cNvPr id="19" name="Left Brace 18">
            <a:extLst>
              <a:ext uri="{FF2B5EF4-FFF2-40B4-BE49-F238E27FC236}">
                <a16:creationId xmlns:a16="http://schemas.microsoft.com/office/drawing/2014/main" id="{0DAD64BA-EF83-6C12-993D-6F452D03C4C3}"/>
              </a:ext>
            </a:extLst>
          </p:cNvPr>
          <p:cNvSpPr/>
          <p:nvPr/>
        </p:nvSpPr>
        <p:spPr>
          <a:xfrm>
            <a:off x="6620547" y="1052626"/>
            <a:ext cx="315715" cy="2796363"/>
          </a:xfrm>
          <a:prstGeom prst="leftBrace">
            <a:avLst>
              <a:gd name="adj1" fmla="val 8333"/>
              <a:gd name="adj2" fmla="val 88373"/>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Box 19">
            <a:extLst>
              <a:ext uri="{FF2B5EF4-FFF2-40B4-BE49-F238E27FC236}">
                <a16:creationId xmlns:a16="http://schemas.microsoft.com/office/drawing/2014/main" id="{987DFC59-9752-BF7D-0E23-6D51B63E9824}"/>
              </a:ext>
            </a:extLst>
          </p:cNvPr>
          <p:cNvSpPr txBox="1"/>
          <p:nvPr/>
        </p:nvSpPr>
        <p:spPr>
          <a:xfrm>
            <a:off x="3894782" y="2939902"/>
            <a:ext cx="2657050" cy="978196"/>
          </a:xfrm>
          <a:prstGeom prst="rect">
            <a:avLst/>
          </a:prstGeom>
          <a:noFill/>
        </p:spPr>
        <p:txBody>
          <a:bodyPr wrap="square" rtlCol="0">
            <a:noAutofit/>
          </a:bodyPr>
          <a:lstStyle/>
          <a:p>
            <a:pPr marL="0" marR="0" lvl="0" indent="0" algn="r"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Attributes of alternatives: </a:t>
            </a:r>
            <a:r>
              <a:rPr kumimoji="0" lang="en-GB" sz="1800" b="1"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Travel cost </a:t>
            </a: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and </a:t>
            </a:r>
            <a:r>
              <a:rPr kumimoji="0" lang="en-GB" sz="1800" b="1"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time</a:t>
            </a: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 for each alternative</a:t>
            </a:r>
          </a:p>
        </p:txBody>
      </p:sp>
      <p:sp>
        <p:nvSpPr>
          <p:cNvPr id="21" name="TextBox 20">
            <a:extLst>
              <a:ext uri="{FF2B5EF4-FFF2-40B4-BE49-F238E27FC236}">
                <a16:creationId xmlns:a16="http://schemas.microsoft.com/office/drawing/2014/main" id="{9434D54D-2136-AC8A-57D2-9B2760E26951}"/>
              </a:ext>
            </a:extLst>
          </p:cNvPr>
          <p:cNvSpPr txBox="1"/>
          <p:nvPr/>
        </p:nvSpPr>
        <p:spPr>
          <a:xfrm>
            <a:off x="11296542" y="3310289"/>
            <a:ext cx="684362" cy="297711"/>
          </a:xfrm>
          <a:prstGeom prst="rect">
            <a:avLst/>
          </a:prstGeom>
          <a:noFill/>
        </p:spPr>
        <p:txBody>
          <a:bodyPr wrap="square" rtlCol="0" anchor="ctr">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4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TRAIN</a:t>
            </a:r>
          </a:p>
        </p:txBody>
      </p:sp>
      <p:sp>
        <p:nvSpPr>
          <p:cNvPr id="22" name="TextBox 21">
            <a:extLst>
              <a:ext uri="{FF2B5EF4-FFF2-40B4-BE49-F238E27FC236}">
                <a16:creationId xmlns:a16="http://schemas.microsoft.com/office/drawing/2014/main" id="{0023DB37-D519-D091-CE4D-901D83364B49}"/>
              </a:ext>
            </a:extLst>
          </p:cNvPr>
          <p:cNvSpPr txBox="1"/>
          <p:nvPr/>
        </p:nvSpPr>
        <p:spPr>
          <a:xfrm>
            <a:off x="11296542" y="3625702"/>
            <a:ext cx="684362" cy="297711"/>
          </a:xfrm>
          <a:prstGeom prst="rect">
            <a:avLst/>
          </a:prstGeom>
          <a:noFill/>
        </p:spPr>
        <p:txBody>
          <a:bodyPr wrap="square" rtlCol="0" anchor="ctr">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4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SM</a:t>
            </a:r>
          </a:p>
        </p:txBody>
      </p:sp>
      <p:sp>
        <p:nvSpPr>
          <p:cNvPr id="23" name="TextBox 22">
            <a:extLst>
              <a:ext uri="{FF2B5EF4-FFF2-40B4-BE49-F238E27FC236}">
                <a16:creationId xmlns:a16="http://schemas.microsoft.com/office/drawing/2014/main" id="{2CDCA1F1-9B8B-4B94-A6AD-AEB3065153E0}"/>
              </a:ext>
            </a:extLst>
          </p:cNvPr>
          <p:cNvSpPr txBox="1"/>
          <p:nvPr/>
        </p:nvSpPr>
        <p:spPr>
          <a:xfrm>
            <a:off x="11260904" y="3941109"/>
            <a:ext cx="684362" cy="297711"/>
          </a:xfrm>
          <a:prstGeom prst="rect">
            <a:avLst/>
          </a:prstGeom>
          <a:noFill/>
        </p:spPr>
        <p:txBody>
          <a:bodyPr wrap="square" rtlCol="0" anchor="ctr">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4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CAR</a:t>
            </a:r>
          </a:p>
        </p:txBody>
      </p:sp>
      <p:sp>
        <p:nvSpPr>
          <p:cNvPr id="24" name="Left Brace 23">
            <a:extLst>
              <a:ext uri="{FF2B5EF4-FFF2-40B4-BE49-F238E27FC236}">
                <a16:creationId xmlns:a16="http://schemas.microsoft.com/office/drawing/2014/main" id="{EE836CD1-1263-3A12-2E53-CE8915F98D2C}"/>
              </a:ext>
            </a:extLst>
          </p:cNvPr>
          <p:cNvSpPr/>
          <p:nvPr/>
        </p:nvSpPr>
        <p:spPr>
          <a:xfrm>
            <a:off x="6606650" y="3941000"/>
            <a:ext cx="318976" cy="2471430"/>
          </a:xfrm>
          <a:prstGeom prst="leftBrace">
            <a:avLst>
              <a:gd name="adj1" fmla="val 8333"/>
              <a:gd name="adj2" fmla="val 82225"/>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Box 24">
            <a:extLst>
              <a:ext uri="{FF2B5EF4-FFF2-40B4-BE49-F238E27FC236}">
                <a16:creationId xmlns:a16="http://schemas.microsoft.com/office/drawing/2014/main" id="{6442C46F-756A-0492-5496-623D25AFD4E9}"/>
              </a:ext>
            </a:extLst>
          </p:cNvPr>
          <p:cNvSpPr txBox="1"/>
          <p:nvPr/>
        </p:nvSpPr>
        <p:spPr>
          <a:xfrm>
            <a:off x="3799085" y="5486504"/>
            <a:ext cx="2785730" cy="978196"/>
          </a:xfrm>
          <a:prstGeom prst="rect">
            <a:avLst/>
          </a:prstGeom>
          <a:noFill/>
        </p:spPr>
        <p:txBody>
          <a:bodyPr wrap="square" rtlCol="0" anchor="ctr">
            <a:noAutofit/>
          </a:bodyPr>
          <a:lstStyle/>
          <a:p>
            <a:pPr marL="0" marR="0" lvl="0" indent="0" algn="r"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Socio-demographic variables, e.g. </a:t>
            </a:r>
            <a:r>
              <a:rPr kumimoji="0" lang="en-GB" sz="1800" b="1"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age</a:t>
            </a: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 </a:t>
            </a:r>
            <a:r>
              <a:rPr kumimoji="0" lang="en-GB" sz="1800" b="1"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income</a:t>
            </a:r>
          </a:p>
        </p:txBody>
      </p:sp>
      <p:sp>
        <p:nvSpPr>
          <p:cNvPr id="8" name="Content Placeholder 2">
            <a:extLst>
              <a:ext uri="{FF2B5EF4-FFF2-40B4-BE49-F238E27FC236}">
                <a16:creationId xmlns:a16="http://schemas.microsoft.com/office/drawing/2014/main" id="{0142D0C7-B8F3-0AA8-6B3B-AAC3BA937260}"/>
              </a:ext>
            </a:extLst>
          </p:cNvPr>
          <p:cNvSpPr txBox="1">
            <a:spLocks/>
          </p:cNvSpPr>
          <p:nvPr/>
        </p:nvSpPr>
        <p:spPr>
          <a:xfrm>
            <a:off x="720000" y="1268760"/>
            <a:ext cx="2785730" cy="54006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tab pos="3138488" algn="l"/>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Swiss metro</a:t>
            </a:r>
          </a:p>
          <a:p>
            <a:pPr marL="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1" indent="-285750" algn="l" defTabSz="914400" rtl="0" eaLnBrk="1" fontAlgn="auto" latinLnBrk="0" hangingPunct="1">
              <a:lnSpc>
                <a:spcPct val="90000"/>
              </a:lnSpc>
              <a:spcBef>
                <a:spcPts val="500"/>
              </a:spcBef>
              <a:spcAft>
                <a:spcPts val="0"/>
              </a:spcAft>
              <a:buClrTx/>
              <a:buSzTx/>
              <a:buFont typeface="Arial" panose="020B0604020202020204" pitchFamily="34" charset="0"/>
              <a:buChar char="•"/>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1" indent="-285750" algn="l" defTabSz="914400" rtl="0" eaLnBrk="1" fontAlgn="auto" latinLnBrk="0" hangingPunct="1">
              <a:lnSpc>
                <a:spcPct val="90000"/>
              </a:lnSpc>
              <a:spcBef>
                <a:spcPts val="500"/>
              </a:spcBef>
              <a:spcAft>
                <a:spcPts val="0"/>
              </a:spcAft>
              <a:buClrTx/>
              <a:buSzTx/>
              <a:buFont typeface="Arial" panose="020B0604020202020204" pitchFamily="34" charset="0"/>
              <a:buChar char="•"/>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tab pos="3138488" algn="l"/>
              </a:tabLst>
              <a:defRPr/>
            </a:pPr>
            <a:endParaRPr kumimoji="0" lang="en-GB" sz="1800" b="1" i="0" u="sng"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tab pos="3138488" algn="l"/>
              </a:tabLst>
              <a:defRPr/>
            </a:pPr>
            <a:r>
              <a:rPr kumimoji="0" lang="en-GB" sz="1800" b="1" i="0" u="sng" strike="noStrike" kern="1200" cap="none" spc="0" normalizeH="0" baseline="0" noProof="0" dirty="0">
                <a:ln>
                  <a:noFill/>
                </a:ln>
                <a:solidFill>
                  <a:prstClr val="black"/>
                </a:solidFill>
                <a:effectLst/>
                <a:uLnTx/>
                <a:uFillTx/>
                <a:latin typeface="Calibri" panose="020F0502020204030204"/>
                <a:ea typeface="+mn-ea"/>
                <a:cs typeface="+mn-cs"/>
              </a:rPr>
              <a:t>Two cases</a:t>
            </a:r>
          </a:p>
          <a:p>
            <a:pPr marL="342900" marR="0" lvl="1" indent="-342900" algn="l" defTabSz="914400" rtl="0" eaLnBrk="1" fontAlgn="auto" latinLnBrk="0" hangingPunct="1">
              <a:lnSpc>
                <a:spcPct val="90000"/>
              </a:lnSpc>
              <a:spcBef>
                <a:spcPts val="500"/>
              </a:spcBef>
              <a:spcAft>
                <a:spcPts val="0"/>
              </a:spcAft>
              <a:buClrTx/>
              <a:buSzTx/>
              <a:buFont typeface="+mj-lt"/>
              <a:buAutoNum type="alphaUcPeriod"/>
              <a:tabLst>
                <a:tab pos="3138488" algn="l"/>
              </a:tabLst>
              <a:defRPr/>
            </a:pPr>
            <a:r>
              <a:rPr kumimoji="0" lang="en-GB" sz="1800" b="1" i="0" u="none" strike="noStrike" kern="1200" cap="none" spc="0" normalizeH="0" baseline="0" noProof="0" dirty="0">
                <a:ln>
                  <a:noFill/>
                </a:ln>
                <a:solidFill>
                  <a:prstClr val="white">
                    <a:lumMod val="65000"/>
                  </a:prstClr>
                </a:solidFill>
                <a:effectLst/>
                <a:uLnTx/>
                <a:uFillTx/>
                <a:latin typeface="Calibri" panose="020F0502020204030204"/>
                <a:ea typeface="+mn-ea"/>
                <a:cs typeface="+mn-cs"/>
              </a:rPr>
              <a:t>Only attributes</a:t>
            </a:r>
          </a:p>
          <a:p>
            <a:pPr marL="342900" marR="0" lvl="1" indent="-342900" algn="l" defTabSz="914400" rtl="0" eaLnBrk="1" fontAlgn="auto" latinLnBrk="0" hangingPunct="1">
              <a:lnSpc>
                <a:spcPct val="90000"/>
              </a:lnSpc>
              <a:spcBef>
                <a:spcPts val="500"/>
              </a:spcBef>
              <a:spcAft>
                <a:spcPts val="0"/>
              </a:spcAft>
              <a:buClrTx/>
              <a:buSzTx/>
              <a:buFont typeface="+mj-lt"/>
              <a:buAutoNum type="alphaUcPeriod"/>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1" indent="-342900" algn="l" defTabSz="914400" rtl="0" eaLnBrk="1" fontAlgn="auto" latinLnBrk="0" hangingPunct="1">
              <a:lnSpc>
                <a:spcPct val="90000"/>
              </a:lnSpc>
              <a:spcBef>
                <a:spcPts val="500"/>
              </a:spcBef>
              <a:spcAft>
                <a:spcPts val="0"/>
              </a:spcAft>
              <a:buClrTx/>
              <a:buSzTx/>
              <a:buFont typeface="+mj-lt"/>
              <a:buAutoNum type="alphaUcPeriod"/>
              <a:tabLst>
                <a:tab pos="3138488" algn="l"/>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Attributes + socio demographic variables</a:t>
            </a:r>
          </a:p>
          <a:p>
            <a:pPr marL="285750" marR="0" lvl="1" indent="-285750" algn="l" defTabSz="914400" rtl="0" eaLnBrk="1" fontAlgn="auto" latinLnBrk="0" hangingPunct="1">
              <a:lnSpc>
                <a:spcPct val="90000"/>
              </a:lnSpc>
              <a:spcBef>
                <a:spcPts val="50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257300" marR="0" lvl="3" indent="-400050" algn="l" defTabSz="914400" rtl="0" eaLnBrk="1" fontAlgn="auto" latinLnBrk="0" hangingPunct="1">
              <a:lnSpc>
                <a:spcPct val="90000"/>
              </a:lnSpc>
              <a:spcBef>
                <a:spcPts val="50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2" indent="-400050" algn="l" defTabSz="914400" rtl="0" eaLnBrk="1" fontAlgn="auto" latinLnBrk="0" hangingPunct="1">
              <a:lnSpc>
                <a:spcPct val="90000"/>
              </a:lnSpc>
              <a:spcBef>
                <a:spcPts val="50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2" indent="-400050" algn="l" defTabSz="914400" rtl="0" eaLnBrk="1" fontAlgn="auto" latinLnBrk="0" hangingPunct="1">
              <a:lnSpc>
                <a:spcPct val="90000"/>
              </a:lnSpc>
              <a:spcBef>
                <a:spcPts val="50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2" indent="-400050" algn="l" defTabSz="914400" rtl="0" eaLnBrk="1" fontAlgn="auto" latinLnBrk="0" hangingPunct="1">
              <a:lnSpc>
                <a:spcPct val="90000"/>
              </a:lnSpc>
              <a:spcBef>
                <a:spcPts val="50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2" indent="-400050" algn="l" defTabSz="914400" rtl="0" eaLnBrk="1" fontAlgn="auto" latinLnBrk="0" hangingPunct="1">
              <a:lnSpc>
                <a:spcPct val="90000"/>
              </a:lnSpc>
              <a:spcBef>
                <a:spcPts val="50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2" indent="-400050" algn="l" defTabSz="914400" rtl="0" eaLnBrk="1" fontAlgn="auto" latinLnBrk="0" hangingPunct="1">
              <a:lnSpc>
                <a:spcPct val="90000"/>
              </a:lnSpc>
              <a:spcBef>
                <a:spcPts val="50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2" indent="-400050" algn="l" defTabSz="914400" rtl="0" eaLnBrk="1" fontAlgn="auto" latinLnBrk="0" hangingPunct="1">
              <a:lnSpc>
                <a:spcPct val="90000"/>
              </a:lnSpc>
              <a:spcBef>
                <a:spcPts val="50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2" indent="-400050" algn="l" defTabSz="914400" rtl="0" eaLnBrk="1" fontAlgn="auto" latinLnBrk="0" hangingPunct="1">
              <a:lnSpc>
                <a:spcPct val="90000"/>
              </a:lnSpc>
              <a:spcBef>
                <a:spcPts val="50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itle 1">
            <a:extLst>
              <a:ext uri="{FF2B5EF4-FFF2-40B4-BE49-F238E27FC236}">
                <a16:creationId xmlns:a16="http://schemas.microsoft.com/office/drawing/2014/main" id="{C80E18E8-756B-60A1-07F2-0E1DDADF32C3}"/>
              </a:ext>
            </a:extLst>
          </p:cNvPr>
          <p:cNvSpPr txBox="1">
            <a:spLocks/>
          </p:cNvSpPr>
          <p:nvPr/>
        </p:nvSpPr>
        <p:spPr>
          <a:xfrm>
            <a:off x="2032000" y="-79300"/>
            <a:ext cx="8229600" cy="114300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000" kern="1200">
                <a:solidFill>
                  <a:schemeClr val="tx1"/>
                </a:solidFill>
                <a:latin typeface="+mj-lt"/>
                <a:ea typeface="+mj-ea"/>
                <a:cs typeface="+mj-cs"/>
              </a:defRPr>
            </a:lvl1pPr>
          </a:lstStyle>
          <a:p>
            <a:r>
              <a:rPr lang="en-GB" dirty="0"/>
              <a:t>Empirical example MLP</a:t>
            </a:r>
            <a:endParaRPr lang="en-GB" sz="1800" dirty="0"/>
          </a:p>
        </p:txBody>
      </p:sp>
      <p:sp>
        <p:nvSpPr>
          <p:cNvPr id="9" name="Line 2">
            <a:extLst>
              <a:ext uri="{FF2B5EF4-FFF2-40B4-BE49-F238E27FC236}">
                <a16:creationId xmlns:a16="http://schemas.microsoft.com/office/drawing/2014/main" id="{B853B44B-5BB5-D724-E32D-A44A98F6577E}"/>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0" name="Line 2">
            <a:extLst>
              <a:ext uri="{FF2B5EF4-FFF2-40B4-BE49-F238E27FC236}">
                <a16:creationId xmlns:a16="http://schemas.microsoft.com/office/drawing/2014/main" id="{EE7C0842-A32E-65D0-4A7E-6B29B567D1AB}"/>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dirty="0"/>
          </a:p>
        </p:txBody>
      </p:sp>
    </p:spTree>
    <p:extLst>
      <p:ext uri="{BB962C8B-B14F-4D97-AF65-F5344CB8AC3E}">
        <p14:creationId xmlns:p14="http://schemas.microsoft.com/office/powerpoint/2010/main" val="19522706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720000" y="1268760"/>
            <a:ext cx="10225136" cy="5400600"/>
          </a:xfrm>
        </p:spPr>
        <p:txBody>
          <a:bodyPr>
            <a:noAutofit/>
          </a:bodyPr>
          <a:lstStyle/>
          <a:p>
            <a:pPr marL="0" lvl="1" indent="0">
              <a:buNone/>
              <a:tabLst>
                <a:tab pos="3138488" algn="l"/>
              </a:tabLst>
            </a:pPr>
            <a:r>
              <a:rPr lang="en-GB" b="1" dirty="0"/>
              <a:t>MLP using attributes of alternatives only</a:t>
            </a:r>
          </a:p>
          <a:p>
            <a:pPr marL="0" lvl="1" indent="0">
              <a:buNone/>
              <a:tabLst>
                <a:tab pos="3138488" algn="l"/>
              </a:tabLst>
            </a:pPr>
            <a:endParaRPr lang="en-GB" sz="1800" dirty="0"/>
          </a:p>
          <a:p>
            <a:pPr marL="342900" lvl="1" indent="-342900">
              <a:buFont typeface="+mj-lt"/>
              <a:buAutoNum type="arabicPeriod"/>
              <a:tabLst>
                <a:tab pos="3138488" algn="l"/>
              </a:tabLst>
            </a:pPr>
            <a:r>
              <a:rPr lang="en-GB" b="1" dirty="0"/>
              <a:t>Split data in a training and test set</a:t>
            </a:r>
          </a:p>
          <a:p>
            <a:pPr marL="0" lvl="1" indent="0">
              <a:buNone/>
              <a:tabLst>
                <a:tab pos="3138488" algn="l"/>
              </a:tabLst>
            </a:pPr>
            <a:endParaRPr lang="en-GB" sz="1800" dirty="0"/>
          </a:p>
          <a:p>
            <a:pPr marL="1257300" lvl="3"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Title 1"/>
          <p:cNvSpPr>
            <a:spLocks noGrp="1"/>
          </p:cNvSpPr>
          <p:nvPr>
            <p:ph type="title"/>
          </p:nvPr>
        </p:nvSpPr>
        <p:spPr>
          <a:xfrm>
            <a:off x="1981200" y="-41608"/>
            <a:ext cx="8229600" cy="1143000"/>
          </a:xfrm>
        </p:spPr>
        <p:txBody>
          <a:bodyPr/>
          <a:lstStyle/>
          <a:p>
            <a:r>
              <a:rPr lang="en-GB" dirty="0"/>
              <a:t>Empirical example MLP: Case A</a:t>
            </a:r>
            <a:endParaRPr lang="en-GB" sz="1800" dirty="0"/>
          </a:p>
        </p:txBody>
      </p:sp>
      <p:pic>
        <p:nvPicPr>
          <p:cNvPr id="3" name="Picture 2" descr="A screenshot of a computer program&#10;&#10;Description automatically generated">
            <a:extLst>
              <a:ext uri="{FF2B5EF4-FFF2-40B4-BE49-F238E27FC236}">
                <a16:creationId xmlns:a16="http://schemas.microsoft.com/office/drawing/2014/main" id="{A947FBFF-2476-002B-7DF1-0A8E26D664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8707" y="1886977"/>
            <a:ext cx="7340621" cy="3036087"/>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45111684-289F-67E4-B33D-AFE0BD558174}"/>
              </a:ext>
            </a:extLst>
          </p:cNvPr>
          <p:cNvSpPr txBox="1"/>
          <p:nvPr/>
        </p:nvSpPr>
        <p:spPr>
          <a:xfrm>
            <a:off x="4648707" y="5257800"/>
            <a:ext cx="7340621" cy="1463675"/>
          </a:xfrm>
          <a:prstGeom prst="rect">
            <a:avLst/>
          </a:prstGeom>
          <a:noFill/>
        </p:spPr>
        <p:txBody>
          <a:bodyPr wrap="square" rtlCol="0">
            <a:noAutofit/>
          </a:bodyPr>
          <a:lstStyle/>
          <a:p>
            <a:pPr marL="285750" marR="0" lvl="0"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The data set is ‘manually’ split by ‘ID’ to avoid data leakage</a:t>
            </a:r>
          </a:p>
          <a:p>
            <a:pPr marL="285750" marR="0" lvl="0"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endParaRPr>
          </a:p>
          <a:p>
            <a:pPr marL="285750" marR="0" lvl="0"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r>
              <a:rPr kumimoji="0" lang="en-GB" sz="1800" b="0" i="0" u="sng"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Data leakage</a:t>
            </a: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 refers to the unintentional spoiling of information from the training data into the test set</a:t>
            </a:r>
          </a:p>
        </p:txBody>
      </p:sp>
      <p:sp>
        <p:nvSpPr>
          <p:cNvPr id="2" name="Line 2">
            <a:extLst>
              <a:ext uri="{FF2B5EF4-FFF2-40B4-BE49-F238E27FC236}">
                <a16:creationId xmlns:a16="http://schemas.microsoft.com/office/drawing/2014/main" id="{32CD16F8-9C8C-82A7-3827-73DE8830C837}"/>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8" name="Line 2">
            <a:extLst>
              <a:ext uri="{FF2B5EF4-FFF2-40B4-BE49-F238E27FC236}">
                <a16:creationId xmlns:a16="http://schemas.microsoft.com/office/drawing/2014/main" id="{93E95200-5793-A7C5-85CC-1BBA990D9720}"/>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31492564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720000" y="1268760"/>
            <a:ext cx="4894416" cy="5400600"/>
          </a:xfrm>
        </p:spPr>
        <p:txBody>
          <a:bodyPr>
            <a:noAutofit/>
          </a:bodyPr>
          <a:lstStyle/>
          <a:p>
            <a:pPr marL="0" lvl="1" indent="0">
              <a:buNone/>
              <a:tabLst>
                <a:tab pos="3138488" algn="l"/>
              </a:tabLst>
            </a:pPr>
            <a:r>
              <a:rPr lang="en-GB" b="1" dirty="0"/>
              <a:t>MLP using attributes of alternatives only</a:t>
            </a:r>
          </a:p>
          <a:p>
            <a:pPr marL="0" lvl="1" indent="0">
              <a:buNone/>
              <a:tabLst>
                <a:tab pos="3138488" algn="l"/>
              </a:tabLst>
            </a:pPr>
            <a:endParaRPr lang="en-GB" sz="1800" dirty="0"/>
          </a:p>
          <a:p>
            <a:pPr marL="342900" lvl="1" indent="-342900">
              <a:buFont typeface="+mj-lt"/>
              <a:buAutoNum type="arabicPeriod"/>
              <a:tabLst>
                <a:tab pos="3138488" algn="l"/>
              </a:tabLst>
            </a:pPr>
            <a:r>
              <a:rPr lang="en-GB" dirty="0"/>
              <a:t>Split data in a training and test set</a:t>
            </a:r>
          </a:p>
          <a:p>
            <a:pPr marL="342900" lvl="1" indent="-342900">
              <a:buFont typeface="+mj-lt"/>
              <a:buAutoNum type="arabicPeriod"/>
              <a:tabLst>
                <a:tab pos="3138488" algn="l"/>
              </a:tabLst>
            </a:pPr>
            <a:endParaRPr lang="en-GB" dirty="0"/>
          </a:p>
          <a:p>
            <a:pPr marL="342900" lvl="1" indent="-342900">
              <a:buFont typeface="+mj-lt"/>
              <a:buAutoNum type="arabicPeriod"/>
              <a:tabLst>
                <a:tab pos="3138488" algn="l"/>
              </a:tabLst>
            </a:pPr>
            <a:r>
              <a:rPr lang="en-GB" dirty="0"/>
              <a:t>A) Estimate linear RUM-MNL on the train data</a:t>
            </a:r>
          </a:p>
          <a:p>
            <a:pPr marL="361950" lvl="2" indent="0">
              <a:buNone/>
              <a:tabLst>
                <a:tab pos="3138488" algn="l"/>
              </a:tabLst>
            </a:pPr>
            <a:r>
              <a:rPr lang="en-GB" dirty="0"/>
              <a:t>B) Compute the Log-likelihood of the test data given the model (as the benchmark)</a:t>
            </a:r>
          </a:p>
          <a:p>
            <a:pPr marL="800100" lvl="2" indent="-400050">
              <a:tabLst>
                <a:tab pos="3138488" algn="l"/>
              </a:tabLst>
            </a:pPr>
            <a:endParaRPr lang="en-GB" sz="1800" dirty="0"/>
          </a:p>
          <a:p>
            <a:pPr marL="800100" lvl="2" indent="-400050">
              <a:tabLst>
                <a:tab pos="3138488" algn="l"/>
              </a:tabLst>
            </a:pPr>
            <a:endParaRPr lang="en-GB" sz="18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7" name="TextBox 36">
            <a:extLst>
              <a:ext uri="{FF2B5EF4-FFF2-40B4-BE49-F238E27FC236}">
                <a16:creationId xmlns:a16="http://schemas.microsoft.com/office/drawing/2014/main" id="{B8044BC8-2FB2-9DC0-38B6-D3A294104A57}"/>
              </a:ext>
            </a:extLst>
          </p:cNvPr>
          <p:cNvSpPr txBox="1"/>
          <p:nvPr/>
        </p:nvSpPr>
        <p:spPr>
          <a:xfrm>
            <a:off x="6289223" y="2411759"/>
            <a:ext cx="2841171" cy="1107048"/>
          </a:xfrm>
          <a:prstGeom prst="rect">
            <a:avLst/>
          </a:prstGeom>
          <a:noFill/>
        </p:spPr>
        <p:txBody>
          <a:bodyPr wrap="square" rtlCol="0">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Always good practice to start with a simple linear-additive RUM-MNL</a:t>
            </a:r>
          </a:p>
        </p:txBody>
      </p:sp>
      <p:sp>
        <p:nvSpPr>
          <p:cNvPr id="38" name="Right Brace 37">
            <a:extLst>
              <a:ext uri="{FF2B5EF4-FFF2-40B4-BE49-F238E27FC236}">
                <a16:creationId xmlns:a16="http://schemas.microsoft.com/office/drawing/2014/main" id="{5FEAAFE2-8149-958E-66D2-64AF25FB2844}"/>
              </a:ext>
            </a:extLst>
          </p:cNvPr>
          <p:cNvSpPr/>
          <p:nvPr/>
        </p:nvSpPr>
        <p:spPr>
          <a:xfrm>
            <a:off x="5666014" y="2411760"/>
            <a:ext cx="236765" cy="1107047"/>
          </a:xfrm>
          <a:prstGeom prst="rightBrace">
            <a:avLst>
              <a:gd name="adj1" fmla="val 8333"/>
              <a:gd name="adj2" fmla="val 34513"/>
            </a:avLst>
          </a:prstGeom>
          <a:ln>
            <a:solidFill>
              <a:srgbClr val="24B5B3"/>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itle 1">
            <a:extLst>
              <a:ext uri="{FF2B5EF4-FFF2-40B4-BE49-F238E27FC236}">
                <a16:creationId xmlns:a16="http://schemas.microsoft.com/office/drawing/2014/main" id="{D9718801-E7EA-4CA5-C634-65C8486F12C2}"/>
              </a:ext>
            </a:extLst>
          </p:cNvPr>
          <p:cNvSpPr txBox="1">
            <a:spLocks/>
          </p:cNvSpPr>
          <p:nvPr/>
        </p:nvSpPr>
        <p:spPr>
          <a:xfrm>
            <a:off x="1981200" y="-41608"/>
            <a:ext cx="8229600" cy="114300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000" kern="1200">
                <a:solidFill>
                  <a:schemeClr val="tx1"/>
                </a:solidFill>
                <a:latin typeface="+mj-lt"/>
                <a:ea typeface="+mj-ea"/>
                <a:cs typeface="+mj-cs"/>
              </a:defRPr>
            </a:lvl1pPr>
          </a:lstStyle>
          <a:p>
            <a:r>
              <a:rPr lang="en-GB"/>
              <a:t>Empirical example MLP: Case A</a:t>
            </a:r>
            <a:endParaRPr lang="en-GB" sz="1800" dirty="0"/>
          </a:p>
        </p:txBody>
      </p:sp>
      <p:sp>
        <p:nvSpPr>
          <p:cNvPr id="8" name="Line 2">
            <a:extLst>
              <a:ext uri="{FF2B5EF4-FFF2-40B4-BE49-F238E27FC236}">
                <a16:creationId xmlns:a16="http://schemas.microsoft.com/office/drawing/2014/main" id="{92124F95-B22C-F136-F093-CF4A4AE9595A}"/>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9" name="Line 2">
            <a:extLst>
              <a:ext uri="{FF2B5EF4-FFF2-40B4-BE49-F238E27FC236}">
                <a16:creationId xmlns:a16="http://schemas.microsoft.com/office/drawing/2014/main" id="{E88EA141-628D-9E02-FE8C-BA8960639553}"/>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6320207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7702E38-93A2-E49D-E1EE-4B7EC54DFE22}"/>
              </a:ext>
            </a:extLst>
          </p:cNvPr>
          <p:cNvPicPr>
            <a:picLocks noChangeAspect="1"/>
          </p:cNvPicPr>
          <p:nvPr/>
        </p:nvPicPr>
        <p:blipFill>
          <a:blip r:embed="rId2"/>
          <a:stretch>
            <a:fillRect/>
          </a:stretch>
        </p:blipFill>
        <p:spPr>
          <a:xfrm>
            <a:off x="6782785" y="1135081"/>
            <a:ext cx="5211108" cy="5558961"/>
          </a:xfrm>
          <a:prstGeom prst="rect">
            <a:avLst/>
          </a:prstGeom>
        </p:spPr>
      </p:pic>
      <p:sp>
        <p:nvSpPr>
          <p:cNvPr id="5" name="Content Placeholder 2"/>
          <p:cNvSpPr>
            <a:spLocks noGrp="1"/>
          </p:cNvSpPr>
          <p:nvPr>
            <p:ph idx="1"/>
          </p:nvPr>
        </p:nvSpPr>
        <p:spPr>
          <a:xfrm>
            <a:off x="720000" y="1268760"/>
            <a:ext cx="4894416" cy="5400600"/>
          </a:xfrm>
        </p:spPr>
        <p:txBody>
          <a:bodyPr>
            <a:noAutofit/>
          </a:bodyPr>
          <a:lstStyle/>
          <a:p>
            <a:pPr marL="0" lvl="1" indent="0">
              <a:buNone/>
              <a:tabLst>
                <a:tab pos="3138488" algn="l"/>
              </a:tabLst>
            </a:pPr>
            <a:r>
              <a:rPr lang="en-GB" b="1" dirty="0"/>
              <a:t>MLP using attributes of alternatives only</a:t>
            </a:r>
          </a:p>
          <a:p>
            <a:pPr marL="0" lvl="1" indent="0">
              <a:buNone/>
              <a:tabLst>
                <a:tab pos="3138488" algn="l"/>
              </a:tabLst>
            </a:pPr>
            <a:endParaRPr lang="en-GB" sz="1800" dirty="0"/>
          </a:p>
          <a:p>
            <a:pPr marL="342900" lvl="1" indent="-342900">
              <a:buFont typeface="+mj-lt"/>
              <a:buAutoNum type="arabicPeriod"/>
              <a:tabLst>
                <a:tab pos="3138488" algn="l"/>
              </a:tabLst>
            </a:pPr>
            <a:r>
              <a:rPr lang="en-GB" dirty="0"/>
              <a:t>Split data in a training and test set</a:t>
            </a:r>
          </a:p>
          <a:p>
            <a:pPr marL="342900" lvl="1" indent="-342900">
              <a:buFont typeface="+mj-lt"/>
              <a:buAutoNum type="arabicPeriod"/>
              <a:tabLst>
                <a:tab pos="3138488" algn="l"/>
              </a:tabLst>
            </a:pPr>
            <a:endParaRPr lang="en-GB" dirty="0"/>
          </a:p>
          <a:p>
            <a:pPr marL="342900" lvl="1" indent="-342900">
              <a:buFont typeface="+mj-lt"/>
              <a:buAutoNum type="arabicPeriod"/>
              <a:tabLst>
                <a:tab pos="3138488" algn="l"/>
              </a:tabLst>
            </a:pPr>
            <a:r>
              <a:rPr lang="en-GB" b="1" dirty="0"/>
              <a:t>A) Estimate linear RUM-MNL on the train data</a:t>
            </a:r>
          </a:p>
          <a:p>
            <a:pPr marL="361950" lvl="2" indent="0">
              <a:buNone/>
              <a:tabLst>
                <a:tab pos="3138488" algn="l"/>
              </a:tabLst>
            </a:pPr>
            <a:r>
              <a:rPr lang="en-GB" dirty="0"/>
              <a:t>B) Compute the Log-likelihood of the test data given the model</a:t>
            </a:r>
          </a:p>
          <a:p>
            <a:pPr marL="800100" lvl="2" indent="-400050">
              <a:tabLst>
                <a:tab pos="3138488" algn="l"/>
              </a:tabLst>
            </a:pPr>
            <a:endParaRPr lang="en-GB" sz="1800" dirty="0"/>
          </a:p>
          <a:p>
            <a:pPr marL="800100" lvl="2" indent="-400050">
              <a:tabLst>
                <a:tab pos="3138488" algn="l"/>
              </a:tabLst>
            </a:pPr>
            <a:endParaRPr lang="en-GB" sz="18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Title 1">
            <a:extLst>
              <a:ext uri="{FF2B5EF4-FFF2-40B4-BE49-F238E27FC236}">
                <a16:creationId xmlns:a16="http://schemas.microsoft.com/office/drawing/2014/main" id="{53C14B7B-7FAF-76CC-E561-7C05D28DB048}"/>
              </a:ext>
            </a:extLst>
          </p:cNvPr>
          <p:cNvSpPr>
            <a:spLocks noGrp="1"/>
          </p:cNvSpPr>
          <p:nvPr>
            <p:ph type="title"/>
          </p:nvPr>
        </p:nvSpPr>
        <p:spPr>
          <a:xfrm>
            <a:off x="1981200" y="-41608"/>
            <a:ext cx="8229600" cy="1143000"/>
          </a:xfrm>
        </p:spPr>
        <p:txBody>
          <a:bodyPr/>
          <a:lstStyle/>
          <a:p>
            <a:r>
              <a:rPr lang="en-GB" dirty="0"/>
              <a:t>Empirical example MLP: Case A</a:t>
            </a:r>
            <a:endParaRPr lang="en-GB" sz="1800" dirty="0"/>
          </a:p>
        </p:txBody>
      </p:sp>
      <p:sp>
        <p:nvSpPr>
          <p:cNvPr id="9" name="Line 2">
            <a:extLst>
              <a:ext uri="{FF2B5EF4-FFF2-40B4-BE49-F238E27FC236}">
                <a16:creationId xmlns:a16="http://schemas.microsoft.com/office/drawing/2014/main" id="{CB618281-C35A-D256-D4BD-D45C2F69846A}"/>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0" name="Line 2">
            <a:extLst>
              <a:ext uri="{FF2B5EF4-FFF2-40B4-BE49-F238E27FC236}">
                <a16:creationId xmlns:a16="http://schemas.microsoft.com/office/drawing/2014/main" id="{053DA365-2069-5DF9-3120-21CB30C90238}"/>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14798472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E6D3100-4B69-89D8-FBB9-1AE6F8AA609F}"/>
              </a:ext>
            </a:extLst>
          </p:cNvPr>
          <p:cNvPicPr>
            <a:picLocks noChangeAspect="1"/>
          </p:cNvPicPr>
          <p:nvPr/>
        </p:nvPicPr>
        <p:blipFill>
          <a:blip r:embed="rId2"/>
          <a:stretch>
            <a:fillRect/>
          </a:stretch>
        </p:blipFill>
        <p:spPr>
          <a:xfrm>
            <a:off x="6677816" y="1267968"/>
            <a:ext cx="5273601" cy="2891676"/>
          </a:xfrm>
          <a:prstGeom prst="rect">
            <a:avLst/>
          </a:prstGeom>
        </p:spPr>
      </p:pic>
      <p:sp>
        <p:nvSpPr>
          <p:cNvPr id="5" name="Content Placeholder 2"/>
          <p:cNvSpPr>
            <a:spLocks noGrp="1"/>
          </p:cNvSpPr>
          <p:nvPr>
            <p:ph idx="1"/>
          </p:nvPr>
        </p:nvSpPr>
        <p:spPr>
          <a:xfrm>
            <a:off x="720000" y="1268760"/>
            <a:ext cx="4894416" cy="5400600"/>
          </a:xfrm>
        </p:spPr>
        <p:txBody>
          <a:bodyPr>
            <a:noAutofit/>
          </a:bodyPr>
          <a:lstStyle/>
          <a:p>
            <a:pPr marL="0" lvl="1" indent="0">
              <a:buNone/>
              <a:tabLst>
                <a:tab pos="3138488" algn="l"/>
              </a:tabLst>
            </a:pPr>
            <a:r>
              <a:rPr lang="en-GB" b="1" dirty="0"/>
              <a:t>MLP using attributes of alternatives only</a:t>
            </a:r>
          </a:p>
          <a:p>
            <a:pPr marL="0" lvl="1" indent="0">
              <a:buNone/>
              <a:tabLst>
                <a:tab pos="3138488" algn="l"/>
              </a:tabLst>
            </a:pPr>
            <a:endParaRPr lang="en-GB" sz="1800" dirty="0"/>
          </a:p>
          <a:p>
            <a:pPr marL="342900" lvl="1" indent="-342900">
              <a:buFont typeface="+mj-lt"/>
              <a:buAutoNum type="arabicPeriod"/>
              <a:tabLst>
                <a:tab pos="3138488" algn="l"/>
              </a:tabLst>
            </a:pPr>
            <a:r>
              <a:rPr lang="en-GB" dirty="0"/>
              <a:t>Split data in a training and test set</a:t>
            </a:r>
          </a:p>
          <a:p>
            <a:pPr marL="342900" lvl="1" indent="-342900">
              <a:buFont typeface="+mj-lt"/>
              <a:buAutoNum type="arabicPeriod"/>
              <a:tabLst>
                <a:tab pos="3138488" algn="l"/>
              </a:tabLst>
            </a:pPr>
            <a:endParaRPr lang="en-GB" dirty="0"/>
          </a:p>
          <a:p>
            <a:pPr marL="342900" lvl="1" indent="-342900">
              <a:buFont typeface="+mj-lt"/>
              <a:buAutoNum type="arabicPeriod"/>
              <a:tabLst>
                <a:tab pos="3138488" algn="l"/>
              </a:tabLst>
            </a:pPr>
            <a:r>
              <a:rPr lang="en-GB" b="1" dirty="0"/>
              <a:t>A) Estimate linear RUM-MNL on the train data</a:t>
            </a:r>
          </a:p>
          <a:p>
            <a:pPr marL="361950" lvl="2" indent="0">
              <a:buNone/>
              <a:tabLst>
                <a:tab pos="3138488" algn="l"/>
              </a:tabLst>
            </a:pPr>
            <a:r>
              <a:rPr lang="en-GB" dirty="0"/>
              <a:t>B) Compute the Log-likelihood of the test data given the model</a:t>
            </a:r>
          </a:p>
          <a:p>
            <a:pPr marL="800100" lvl="2" indent="-400050">
              <a:tabLst>
                <a:tab pos="3138488" algn="l"/>
              </a:tabLst>
            </a:pPr>
            <a:endParaRPr lang="en-GB" sz="1800" dirty="0"/>
          </a:p>
          <a:p>
            <a:pPr marL="800100" lvl="2" indent="-400050">
              <a:tabLst>
                <a:tab pos="3138488" algn="l"/>
              </a:tabLst>
            </a:pPr>
            <a:endParaRPr lang="en-GB" sz="18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Rounded Rectangle 2">
            <a:extLst>
              <a:ext uri="{FF2B5EF4-FFF2-40B4-BE49-F238E27FC236}">
                <a16:creationId xmlns:a16="http://schemas.microsoft.com/office/drawing/2014/main" id="{4FA0A4CE-9C2D-CAA6-ECED-618B8936B841}"/>
              </a:ext>
            </a:extLst>
          </p:cNvPr>
          <p:cNvSpPr/>
          <p:nvPr/>
        </p:nvSpPr>
        <p:spPr>
          <a:xfrm>
            <a:off x="8795970" y="2093975"/>
            <a:ext cx="750366" cy="205695"/>
          </a:xfrm>
          <a:prstGeom prst="roundRect">
            <a:avLst/>
          </a:prstGeom>
          <a:noFill/>
          <a:ln w="28575">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ounded Rectangle 6">
            <a:extLst>
              <a:ext uri="{FF2B5EF4-FFF2-40B4-BE49-F238E27FC236}">
                <a16:creationId xmlns:a16="http://schemas.microsoft.com/office/drawing/2014/main" id="{2C693CFB-07EE-7702-EB99-6F63586ED24B}"/>
              </a:ext>
            </a:extLst>
          </p:cNvPr>
          <p:cNvSpPr/>
          <p:nvPr/>
        </p:nvSpPr>
        <p:spPr>
          <a:xfrm>
            <a:off x="8795970" y="1610136"/>
            <a:ext cx="384606" cy="205695"/>
          </a:xfrm>
          <a:prstGeom prst="roundRect">
            <a:avLst/>
          </a:prstGeom>
          <a:noFill/>
          <a:ln w="28575">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6749EB6A-2929-83EF-1BE7-21DDBDC3C453}"/>
              </a:ext>
            </a:extLst>
          </p:cNvPr>
          <p:cNvSpPr txBox="1"/>
          <p:nvPr/>
        </p:nvSpPr>
        <p:spPr>
          <a:xfrm>
            <a:off x="9143721" y="1465612"/>
            <a:ext cx="2952165" cy="427512"/>
          </a:xfrm>
          <a:prstGeom prst="rect">
            <a:avLst/>
          </a:prstGeom>
          <a:noFill/>
        </p:spPr>
        <p:txBody>
          <a:bodyPr wrap="square" rtlCol="0" anchor="ctr">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 Sample size of train set</a:t>
            </a:r>
          </a:p>
        </p:txBody>
      </p:sp>
      <p:sp>
        <p:nvSpPr>
          <p:cNvPr id="9" name="TextBox 8">
            <a:extLst>
              <a:ext uri="{FF2B5EF4-FFF2-40B4-BE49-F238E27FC236}">
                <a16:creationId xmlns:a16="http://schemas.microsoft.com/office/drawing/2014/main" id="{DE6EB911-FB30-E44B-66E9-4F9CFF34B817}"/>
              </a:ext>
            </a:extLst>
          </p:cNvPr>
          <p:cNvSpPr txBox="1"/>
          <p:nvPr/>
        </p:nvSpPr>
        <p:spPr>
          <a:xfrm>
            <a:off x="9518904" y="1964778"/>
            <a:ext cx="2294817" cy="427512"/>
          </a:xfrm>
          <a:prstGeom prst="rect">
            <a:avLst/>
          </a:prstGeom>
          <a:noFill/>
        </p:spPr>
        <p:txBody>
          <a:bodyPr wrap="square" rtlCol="0" anchor="ctr">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 </a:t>
            </a:r>
            <a:r>
              <a:rPr kumimoji="0" lang="en-GB" sz="1800" b="0" i="0" u="none" strike="noStrike" kern="1200" cap="none" spc="0" normalizeH="0" baseline="0" noProof="0" dirty="0" err="1">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LL</a:t>
            </a:r>
            <a:r>
              <a:rPr kumimoji="0" lang="en-GB" sz="1800" b="0" i="0" u="none" strike="noStrike" kern="1200" cap="none" spc="0" normalizeH="0" baseline="-25000" noProof="0" dirty="0" err="1">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training</a:t>
            </a:r>
            <a:r>
              <a:rPr kumimoji="0" lang="en-GB" sz="1800" b="0" i="0" u="none" strike="noStrike" kern="1200" cap="none" spc="0" normalizeH="0" baseline="-2500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 set</a:t>
            </a:r>
          </a:p>
        </p:txBody>
      </p:sp>
      <p:sp>
        <p:nvSpPr>
          <p:cNvPr id="12" name="Title 1">
            <a:extLst>
              <a:ext uri="{FF2B5EF4-FFF2-40B4-BE49-F238E27FC236}">
                <a16:creationId xmlns:a16="http://schemas.microsoft.com/office/drawing/2014/main" id="{72761996-11D3-7EE4-C94D-F986554AFDD3}"/>
              </a:ext>
            </a:extLst>
          </p:cNvPr>
          <p:cNvSpPr>
            <a:spLocks noGrp="1"/>
          </p:cNvSpPr>
          <p:nvPr>
            <p:ph type="title"/>
          </p:nvPr>
        </p:nvSpPr>
        <p:spPr>
          <a:xfrm>
            <a:off x="1981200" y="-41608"/>
            <a:ext cx="8229600" cy="1143000"/>
          </a:xfrm>
        </p:spPr>
        <p:txBody>
          <a:bodyPr/>
          <a:lstStyle/>
          <a:p>
            <a:r>
              <a:rPr lang="en-GB" dirty="0"/>
              <a:t>Empirical example MLP: Case A</a:t>
            </a:r>
            <a:endParaRPr lang="en-GB" sz="1800" dirty="0"/>
          </a:p>
        </p:txBody>
      </p:sp>
      <p:sp>
        <p:nvSpPr>
          <p:cNvPr id="13" name="Line 2">
            <a:extLst>
              <a:ext uri="{FF2B5EF4-FFF2-40B4-BE49-F238E27FC236}">
                <a16:creationId xmlns:a16="http://schemas.microsoft.com/office/drawing/2014/main" id="{9DDA5C89-DEFB-957A-B7A1-8E9320973052}"/>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4" name="Line 2">
            <a:extLst>
              <a:ext uri="{FF2B5EF4-FFF2-40B4-BE49-F238E27FC236}">
                <a16:creationId xmlns:a16="http://schemas.microsoft.com/office/drawing/2014/main" id="{14FFD628-1972-8E3F-9F16-5ACF63FAFE96}"/>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219256125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E3A4A4E-F8FD-D359-AD7D-DB6D1BB062F4}"/>
              </a:ext>
            </a:extLst>
          </p:cNvPr>
          <p:cNvPicPr>
            <a:picLocks noChangeAspect="1"/>
          </p:cNvPicPr>
          <p:nvPr/>
        </p:nvPicPr>
        <p:blipFill>
          <a:blip r:embed="rId2"/>
          <a:stretch>
            <a:fillRect/>
          </a:stretch>
        </p:blipFill>
        <p:spPr>
          <a:xfrm>
            <a:off x="6677815" y="4356489"/>
            <a:ext cx="5220001" cy="2163960"/>
          </a:xfrm>
          <a:prstGeom prst="rect">
            <a:avLst/>
          </a:prstGeom>
        </p:spPr>
      </p:pic>
      <p:sp>
        <p:nvSpPr>
          <p:cNvPr id="5" name="Content Placeholder 2"/>
          <p:cNvSpPr>
            <a:spLocks noGrp="1"/>
          </p:cNvSpPr>
          <p:nvPr>
            <p:ph idx="1"/>
          </p:nvPr>
        </p:nvSpPr>
        <p:spPr>
          <a:xfrm>
            <a:off x="720000" y="1268760"/>
            <a:ext cx="4986836" cy="5400600"/>
          </a:xfrm>
        </p:spPr>
        <p:txBody>
          <a:bodyPr>
            <a:noAutofit/>
          </a:bodyPr>
          <a:lstStyle/>
          <a:p>
            <a:pPr marL="0" lvl="1" indent="0">
              <a:buNone/>
              <a:tabLst>
                <a:tab pos="3138488" algn="l"/>
              </a:tabLst>
            </a:pPr>
            <a:r>
              <a:rPr lang="en-GB" b="1" dirty="0"/>
              <a:t>MLP using attributes of alternatives only</a:t>
            </a:r>
          </a:p>
          <a:p>
            <a:pPr marL="0" lvl="1" indent="0">
              <a:buNone/>
              <a:tabLst>
                <a:tab pos="3138488" algn="l"/>
              </a:tabLst>
            </a:pPr>
            <a:endParaRPr lang="en-GB" sz="1800" dirty="0"/>
          </a:p>
          <a:p>
            <a:pPr marL="342900" lvl="1" indent="-342900">
              <a:buFont typeface="+mj-lt"/>
              <a:buAutoNum type="arabicPeriod"/>
              <a:tabLst>
                <a:tab pos="3138488" algn="l"/>
              </a:tabLst>
            </a:pPr>
            <a:r>
              <a:rPr lang="en-GB" dirty="0"/>
              <a:t>Split data in a training and test set</a:t>
            </a:r>
          </a:p>
          <a:p>
            <a:pPr marL="342900" lvl="1" indent="-342900">
              <a:buFont typeface="+mj-lt"/>
              <a:buAutoNum type="arabicPeriod"/>
              <a:tabLst>
                <a:tab pos="3138488" algn="l"/>
              </a:tabLst>
            </a:pPr>
            <a:endParaRPr lang="en-GB" dirty="0"/>
          </a:p>
          <a:p>
            <a:pPr marL="342900" lvl="1" indent="-342900">
              <a:buFont typeface="+mj-lt"/>
              <a:buAutoNum type="arabicPeriod"/>
              <a:tabLst>
                <a:tab pos="3138488" algn="l"/>
              </a:tabLst>
            </a:pPr>
            <a:r>
              <a:rPr lang="en-GB" dirty="0"/>
              <a:t>A) Estimate linear RUM-MNL on the train data</a:t>
            </a:r>
          </a:p>
          <a:p>
            <a:pPr marL="361950" lvl="2" indent="0">
              <a:buNone/>
              <a:tabLst>
                <a:tab pos="3138488" algn="l"/>
              </a:tabLst>
            </a:pPr>
            <a:r>
              <a:rPr lang="en-GB" b="1" dirty="0"/>
              <a:t>B) Compute the Log-likelihood of the </a:t>
            </a:r>
            <a:r>
              <a:rPr lang="en-GB" b="1" u="sng" dirty="0"/>
              <a:t>test data</a:t>
            </a:r>
            <a:r>
              <a:rPr lang="en-GB" b="1" dirty="0"/>
              <a:t> given the model</a:t>
            </a:r>
          </a:p>
          <a:p>
            <a:pPr marL="800100" lvl="2" indent="-400050">
              <a:tabLst>
                <a:tab pos="3138488" algn="l"/>
              </a:tabLst>
            </a:pPr>
            <a:endParaRPr lang="en-GB" sz="1800" dirty="0"/>
          </a:p>
          <a:p>
            <a:pPr marL="800100" lvl="2" indent="-400050">
              <a:tabLst>
                <a:tab pos="3138488" algn="l"/>
              </a:tabLst>
            </a:pPr>
            <a:endParaRPr lang="en-GB" sz="18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2" name="Picture 1">
            <a:extLst>
              <a:ext uri="{FF2B5EF4-FFF2-40B4-BE49-F238E27FC236}">
                <a16:creationId xmlns:a16="http://schemas.microsoft.com/office/drawing/2014/main" id="{2E05B983-8AE9-0BD9-242E-7819D8B27395}"/>
              </a:ext>
            </a:extLst>
          </p:cNvPr>
          <p:cNvPicPr>
            <a:picLocks noChangeAspect="1"/>
          </p:cNvPicPr>
          <p:nvPr/>
        </p:nvPicPr>
        <p:blipFill>
          <a:blip r:embed="rId3"/>
          <a:stretch>
            <a:fillRect/>
          </a:stretch>
        </p:blipFill>
        <p:spPr>
          <a:xfrm>
            <a:off x="6677816" y="1268760"/>
            <a:ext cx="5220000" cy="2778102"/>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2B15E9B4-DE70-8953-2FA9-F3C9E819A664}"/>
              </a:ext>
            </a:extLst>
          </p:cNvPr>
          <p:cNvSpPr txBox="1"/>
          <p:nvPr/>
        </p:nvSpPr>
        <p:spPr>
          <a:xfrm>
            <a:off x="3304034" y="6241848"/>
            <a:ext cx="3273552" cy="427512"/>
          </a:xfrm>
          <a:prstGeom prst="rect">
            <a:avLst/>
          </a:prstGeom>
          <a:noFill/>
        </p:spPr>
        <p:txBody>
          <a:bodyPr wrap="square" rtlCol="0" anchor="ctr">
            <a:noAutofit/>
          </a:bodyPr>
          <a:lstStyle/>
          <a:p>
            <a:pPr marL="0" marR="0" lvl="0" indent="0" algn="r"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1"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LL of the benchmark model   </a:t>
            </a:r>
          </a:p>
        </p:txBody>
      </p:sp>
      <p:sp>
        <p:nvSpPr>
          <p:cNvPr id="8" name="TextBox 7">
            <a:extLst>
              <a:ext uri="{FF2B5EF4-FFF2-40B4-BE49-F238E27FC236}">
                <a16:creationId xmlns:a16="http://schemas.microsoft.com/office/drawing/2014/main" id="{8367F6A5-4105-DBC2-566D-BDCB9B2D74F1}"/>
              </a:ext>
            </a:extLst>
          </p:cNvPr>
          <p:cNvSpPr txBox="1"/>
          <p:nvPr/>
        </p:nvSpPr>
        <p:spPr>
          <a:xfrm>
            <a:off x="461595" y="5088972"/>
            <a:ext cx="6166106" cy="544128"/>
          </a:xfrm>
          <a:prstGeom prst="rect">
            <a:avLst/>
          </a:prstGeom>
          <a:noFill/>
        </p:spPr>
        <p:txBody>
          <a:bodyPr wrap="square" rtlCol="0" anchor="ctr">
            <a:noAutofit/>
          </a:bodyPr>
          <a:lstStyle/>
          <a:p>
            <a:pPr marL="0" marR="0" lvl="0" indent="0" algn="r"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Simulate the choice probabilities using β of estimated model   </a:t>
            </a:r>
          </a:p>
        </p:txBody>
      </p:sp>
      <p:sp>
        <p:nvSpPr>
          <p:cNvPr id="9" name="TextBox 8">
            <a:extLst>
              <a:ext uri="{FF2B5EF4-FFF2-40B4-BE49-F238E27FC236}">
                <a16:creationId xmlns:a16="http://schemas.microsoft.com/office/drawing/2014/main" id="{FEEF46A5-B66E-1B37-6E52-E87FBC80C22C}"/>
              </a:ext>
            </a:extLst>
          </p:cNvPr>
          <p:cNvSpPr txBox="1"/>
          <p:nvPr/>
        </p:nvSpPr>
        <p:spPr>
          <a:xfrm>
            <a:off x="1869771" y="4875216"/>
            <a:ext cx="4757930" cy="427512"/>
          </a:xfrm>
          <a:prstGeom prst="rect">
            <a:avLst/>
          </a:prstGeom>
          <a:noFill/>
        </p:spPr>
        <p:txBody>
          <a:bodyPr wrap="square" rtlCol="0" anchor="ctr">
            <a:noAutofit/>
          </a:bodyPr>
          <a:lstStyle/>
          <a:p>
            <a:pPr marL="0" marR="0" lvl="0" indent="0" algn="r"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Create simulation object for test data set    </a:t>
            </a:r>
          </a:p>
        </p:txBody>
      </p:sp>
      <p:sp>
        <p:nvSpPr>
          <p:cNvPr id="11" name="Rounded Rectangle 10">
            <a:extLst>
              <a:ext uri="{FF2B5EF4-FFF2-40B4-BE49-F238E27FC236}">
                <a16:creationId xmlns:a16="http://schemas.microsoft.com/office/drawing/2014/main" id="{BF9D72C9-0ADB-5586-B23D-302A5E3A3B0F}"/>
              </a:ext>
            </a:extLst>
          </p:cNvPr>
          <p:cNvSpPr/>
          <p:nvPr/>
        </p:nvSpPr>
        <p:spPr>
          <a:xfrm>
            <a:off x="8284464" y="5061540"/>
            <a:ext cx="768096" cy="177180"/>
          </a:xfrm>
          <a:prstGeom prst="roundRect">
            <a:avLst/>
          </a:prstGeom>
          <a:noFill/>
          <a:ln w="28575">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ounded Rectangle 11">
            <a:extLst>
              <a:ext uri="{FF2B5EF4-FFF2-40B4-BE49-F238E27FC236}">
                <a16:creationId xmlns:a16="http://schemas.microsoft.com/office/drawing/2014/main" id="{7CA5FA9D-4BA0-E12F-BB8D-091180DF7AA5}"/>
              </a:ext>
            </a:extLst>
          </p:cNvPr>
          <p:cNvSpPr/>
          <p:nvPr/>
        </p:nvSpPr>
        <p:spPr>
          <a:xfrm>
            <a:off x="10091140" y="5186706"/>
            <a:ext cx="1540028" cy="253974"/>
          </a:xfrm>
          <a:prstGeom prst="roundRect">
            <a:avLst/>
          </a:prstGeom>
          <a:noFill/>
          <a:ln w="28575">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ounded Rectangle 12">
            <a:extLst>
              <a:ext uri="{FF2B5EF4-FFF2-40B4-BE49-F238E27FC236}">
                <a16:creationId xmlns:a16="http://schemas.microsoft.com/office/drawing/2014/main" id="{2D512273-6FA9-FE03-0A0F-B0B96514EE7C}"/>
              </a:ext>
            </a:extLst>
          </p:cNvPr>
          <p:cNvSpPr/>
          <p:nvPr/>
        </p:nvSpPr>
        <p:spPr>
          <a:xfrm>
            <a:off x="8768538" y="2075687"/>
            <a:ext cx="750366" cy="205695"/>
          </a:xfrm>
          <a:prstGeom prst="roundRect">
            <a:avLst/>
          </a:prstGeom>
          <a:noFill/>
          <a:ln w="28575">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ounded Rectangle 13">
            <a:extLst>
              <a:ext uri="{FF2B5EF4-FFF2-40B4-BE49-F238E27FC236}">
                <a16:creationId xmlns:a16="http://schemas.microsoft.com/office/drawing/2014/main" id="{16F4C3AC-9B4E-52C2-53D9-C766C12F95F7}"/>
              </a:ext>
            </a:extLst>
          </p:cNvPr>
          <p:cNvSpPr/>
          <p:nvPr/>
        </p:nvSpPr>
        <p:spPr>
          <a:xfrm>
            <a:off x="8768538" y="1591848"/>
            <a:ext cx="384606" cy="205695"/>
          </a:xfrm>
          <a:prstGeom prst="roundRect">
            <a:avLst/>
          </a:prstGeom>
          <a:noFill/>
          <a:ln w="28575">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3738CE7C-901C-5696-D833-7121A54D69B0}"/>
              </a:ext>
            </a:extLst>
          </p:cNvPr>
          <p:cNvSpPr txBox="1"/>
          <p:nvPr/>
        </p:nvSpPr>
        <p:spPr>
          <a:xfrm>
            <a:off x="9143721" y="1465612"/>
            <a:ext cx="2952165" cy="427512"/>
          </a:xfrm>
          <a:prstGeom prst="rect">
            <a:avLst/>
          </a:prstGeom>
          <a:noFill/>
        </p:spPr>
        <p:txBody>
          <a:bodyPr wrap="square" rtlCol="0" anchor="ctr">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 Sample size of train set</a:t>
            </a:r>
          </a:p>
        </p:txBody>
      </p:sp>
      <p:sp>
        <p:nvSpPr>
          <p:cNvPr id="16" name="TextBox 15">
            <a:extLst>
              <a:ext uri="{FF2B5EF4-FFF2-40B4-BE49-F238E27FC236}">
                <a16:creationId xmlns:a16="http://schemas.microsoft.com/office/drawing/2014/main" id="{2598C124-0A40-67ED-5683-62F098E0E560}"/>
              </a:ext>
            </a:extLst>
          </p:cNvPr>
          <p:cNvSpPr txBox="1"/>
          <p:nvPr/>
        </p:nvSpPr>
        <p:spPr>
          <a:xfrm>
            <a:off x="9518904" y="1964778"/>
            <a:ext cx="2294817" cy="427512"/>
          </a:xfrm>
          <a:prstGeom prst="rect">
            <a:avLst/>
          </a:prstGeom>
          <a:noFill/>
        </p:spPr>
        <p:txBody>
          <a:bodyPr wrap="square" rtlCol="0" anchor="ctr">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 </a:t>
            </a:r>
            <a:r>
              <a:rPr kumimoji="0" lang="en-GB" sz="1800" b="0" i="0" u="none" strike="noStrike" kern="1200" cap="none" spc="0" normalizeH="0" baseline="0" noProof="0" dirty="0" err="1">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LL</a:t>
            </a:r>
            <a:r>
              <a:rPr kumimoji="0" lang="en-GB" sz="1800" b="0" i="0" u="none" strike="noStrike" kern="1200" cap="none" spc="0" normalizeH="0" baseline="-25000" noProof="0" dirty="0" err="1">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training</a:t>
            </a:r>
            <a:r>
              <a:rPr kumimoji="0" lang="en-GB" sz="1800" b="0" i="0" u="none" strike="noStrike" kern="1200" cap="none" spc="0" normalizeH="0" baseline="-2500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 set</a:t>
            </a:r>
          </a:p>
        </p:txBody>
      </p:sp>
      <p:sp>
        <p:nvSpPr>
          <p:cNvPr id="18" name="Title 1">
            <a:extLst>
              <a:ext uri="{FF2B5EF4-FFF2-40B4-BE49-F238E27FC236}">
                <a16:creationId xmlns:a16="http://schemas.microsoft.com/office/drawing/2014/main" id="{60CEBA0A-9D53-83D8-CFC4-F2A0DC946B3E}"/>
              </a:ext>
            </a:extLst>
          </p:cNvPr>
          <p:cNvSpPr>
            <a:spLocks noGrp="1"/>
          </p:cNvSpPr>
          <p:nvPr>
            <p:ph type="title"/>
          </p:nvPr>
        </p:nvSpPr>
        <p:spPr>
          <a:xfrm>
            <a:off x="1981200" y="-41608"/>
            <a:ext cx="8229600" cy="1143000"/>
          </a:xfrm>
        </p:spPr>
        <p:txBody>
          <a:bodyPr/>
          <a:lstStyle/>
          <a:p>
            <a:r>
              <a:rPr lang="en-GB" dirty="0"/>
              <a:t>Empirical example MLP: Case A</a:t>
            </a:r>
            <a:endParaRPr lang="en-GB" sz="1800" dirty="0"/>
          </a:p>
        </p:txBody>
      </p:sp>
      <p:sp>
        <p:nvSpPr>
          <p:cNvPr id="19" name="Line 2">
            <a:extLst>
              <a:ext uri="{FF2B5EF4-FFF2-40B4-BE49-F238E27FC236}">
                <a16:creationId xmlns:a16="http://schemas.microsoft.com/office/drawing/2014/main" id="{92238C97-F501-6F0C-6906-355FB2317D28}"/>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20" name="Line 2">
            <a:extLst>
              <a:ext uri="{FF2B5EF4-FFF2-40B4-BE49-F238E27FC236}">
                <a16:creationId xmlns:a16="http://schemas.microsoft.com/office/drawing/2014/main" id="{18951588-F9EB-A4A2-12D0-F2CA6565F417}"/>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21127280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720000" y="1268760"/>
            <a:ext cx="4894416" cy="5400600"/>
          </a:xfrm>
        </p:spPr>
        <p:txBody>
          <a:bodyPr>
            <a:noAutofit/>
          </a:bodyPr>
          <a:lstStyle/>
          <a:p>
            <a:pPr marL="0" lvl="1" indent="0">
              <a:buNone/>
              <a:tabLst>
                <a:tab pos="3138488" algn="l"/>
              </a:tabLst>
            </a:pPr>
            <a:r>
              <a:rPr lang="en-GB" b="1" dirty="0"/>
              <a:t>MLP using attributes of alternatives only</a:t>
            </a:r>
          </a:p>
          <a:p>
            <a:pPr marL="0" lvl="1" indent="0">
              <a:buNone/>
              <a:tabLst>
                <a:tab pos="3138488" algn="l"/>
              </a:tabLst>
            </a:pPr>
            <a:endParaRPr lang="en-GB" sz="1800" dirty="0"/>
          </a:p>
          <a:p>
            <a:pPr marL="342900" lvl="1" indent="-342900">
              <a:buFont typeface="+mj-lt"/>
              <a:buAutoNum type="arabicPeriod"/>
              <a:tabLst>
                <a:tab pos="3138488" algn="l"/>
              </a:tabLst>
            </a:pPr>
            <a:r>
              <a:rPr lang="en-GB" dirty="0"/>
              <a:t>Split data in a training and test set</a:t>
            </a:r>
          </a:p>
          <a:p>
            <a:pPr marL="342900" lvl="1" indent="-342900">
              <a:buFont typeface="+mj-lt"/>
              <a:buAutoNum type="arabicPeriod"/>
              <a:tabLst>
                <a:tab pos="3138488" algn="l"/>
              </a:tabLst>
            </a:pPr>
            <a:endParaRPr lang="en-GB" dirty="0"/>
          </a:p>
          <a:p>
            <a:pPr marL="342900" lvl="1" indent="-342900">
              <a:buFont typeface="+mj-lt"/>
              <a:buAutoNum type="arabicPeriod"/>
              <a:tabLst>
                <a:tab pos="3138488" algn="l"/>
              </a:tabLst>
            </a:pPr>
            <a:r>
              <a:rPr lang="en-GB" dirty="0"/>
              <a:t>A) Estimate linear-RUM MNL on the train data</a:t>
            </a:r>
          </a:p>
          <a:p>
            <a:pPr marL="361950" lvl="2" indent="0">
              <a:buNone/>
              <a:tabLst>
                <a:tab pos="3138488" algn="l"/>
              </a:tabLst>
            </a:pPr>
            <a:r>
              <a:rPr lang="en-GB" dirty="0"/>
              <a:t>B) Compute the Log-likelihood of the test data given the model</a:t>
            </a:r>
          </a:p>
          <a:p>
            <a:pPr marL="361950" lvl="2" indent="0">
              <a:buNone/>
              <a:tabLst>
                <a:tab pos="3138488" algn="l"/>
              </a:tabLst>
            </a:pPr>
            <a:endParaRPr lang="en-GB" dirty="0"/>
          </a:p>
          <a:p>
            <a:pPr marL="247650" lvl="1" indent="-342900">
              <a:buFont typeface="+mj-lt"/>
              <a:buAutoNum type="arabicPeriod"/>
              <a:tabLst>
                <a:tab pos="3138488" algn="l"/>
              </a:tabLst>
            </a:pPr>
            <a:r>
              <a:rPr lang="en-GB" b="1" dirty="0"/>
              <a:t>Scale the data</a:t>
            </a:r>
          </a:p>
          <a:p>
            <a:pPr marL="0" lvl="1" indent="0">
              <a:buNone/>
              <a:tabLst>
                <a:tab pos="3138488" algn="l"/>
              </a:tabLst>
            </a:pPr>
            <a:endParaRPr lang="en-GB" sz="1800" dirty="0"/>
          </a:p>
          <a:p>
            <a:pPr marL="1257300" lvl="3"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21" name="Picture 20">
            <a:extLst>
              <a:ext uri="{FF2B5EF4-FFF2-40B4-BE49-F238E27FC236}">
                <a16:creationId xmlns:a16="http://schemas.microsoft.com/office/drawing/2014/main" id="{64FCBD0B-C757-87F0-93C3-689CDF491ADC}"/>
              </a:ext>
            </a:extLst>
          </p:cNvPr>
          <p:cNvPicPr>
            <a:picLocks noChangeAspect="1"/>
          </p:cNvPicPr>
          <p:nvPr/>
        </p:nvPicPr>
        <p:blipFill>
          <a:blip r:embed="rId2"/>
          <a:stretch>
            <a:fillRect/>
          </a:stretch>
        </p:blipFill>
        <p:spPr>
          <a:xfrm>
            <a:off x="6705179" y="2842129"/>
            <a:ext cx="5180426" cy="2954900"/>
          </a:xfrm>
          <a:prstGeom prst="rect">
            <a:avLst/>
          </a:prstGeom>
          <a:ln>
            <a:noFill/>
          </a:ln>
          <a:effectLst>
            <a:outerShdw blurRad="292100" dist="139700" dir="2700000" algn="tl" rotWithShape="0">
              <a:srgbClr val="333333">
                <a:alpha val="65000"/>
              </a:srgbClr>
            </a:outerShdw>
          </a:effectLst>
        </p:spPr>
      </p:pic>
      <p:sp>
        <p:nvSpPr>
          <p:cNvPr id="22" name="TextBox 21">
            <a:extLst>
              <a:ext uri="{FF2B5EF4-FFF2-40B4-BE49-F238E27FC236}">
                <a16:creationId xmlns:a16="http://schemas.microsoft.com/office/drawing/2014/main" id="{905BA622-FF36-B396-6A13-4D2C38DFD2F6}"/>
              </a:ext>
            </a:extLst>
          </p:cNvPr>
          <p:cNvSpPr txBox="1"/>
          <p:nvPr/>
        </p:nvSpPr>
        <p:spPr>
          <a:xfrm>
            <a:off x="3331029" y="4449533"/>
            <a:ext cx="2947306" cy="661307"/>
          </a:xfrm>
          <a:prstGeom prst="rect">
            <a:avLst/>
          </a:prstGeom>
          <a:noFill/>
        </p:spPr>
        <p:txBody>
          <a:bodyPr wrap="square" rtlCol="0">
            <a:noAutofit/>
          </a:bodyPr>
          <a:lstStyle/>
          <a:p>
            <a:pPr marL="0" marR="0" lvl="0" indent="0" algn="r"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Availabilities enter the model just as any other feature</a:t>
            </a:r>
          </a:p>
        </p:txBody>
      </p:sp>
      <p:cxnSp>
        <p:nvCxnSpPr>
          <p:cNvPr id="24" name="Elbow Connector 23">
            <a:extLst>
              <a:ext uri="{FF2B5EF4-FFF2-40B4-BE49-F238E27FC236}">
                <a16:creationId xmlns:a16="http://schemas.microsoft.com/office/drawing/2014/main" id="{3FBE91FF-4257-1E69-2084-81A965497C93}"/>
              </a:ext>
            </a:extLst>
          </p:cNvPr>
          <p:cNvCxnSpPr>
            <a:cxnSpLocks/>
          </p:cNvCxnSpPr>
          <p:nvPr/>
        </p:nvCxnSpPr>
        <p:spPr>
          <a:xfrm rot="5400000" flipH="1" flipV="1">
            <a:off x="5728670" y="3610959"/>
            <a:ext cx="1161506" cy="536326"/>
          </a:xfrm>
          <a:prstGeom prst="bentConnector3">
            <a:avLst>
              <a:gd name="adj1" fmla="val 99906"/>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FBC7BE2E-F0D5-E782-F74A-583C4501F09A}"/>
              </a:ext>
            </a:extLst>
          </p:cNvPr>
          <p:cNvSpPr txBox="1"/>
          <p:nvPr/>
        </p:nvSpPr>
        <p:spPr>
          <a:xfrm>
            <a:off x="3568891" y="5583494"/>
            <a:ext cx="2947306" cy="661307"/>
          </a:xfrm>
          <a:prstGeom prst="rect">
            <a:avLst/>
          </a:prstGeom>
          <a:noFill/>
        </p:spPr>
        <p:txBody>
          <a:bodyPr wrap="square" rtlCol="0">
            <a:noAutofit/>
          </a:bodyPr>
          <a:lstStyle/>
          <a:p>
            <a:pPr marL="0" marR="0" lvl="0" indent="0" algn="r"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Rescale the data using the </a:t>
            </a:r>
            <a:r>
              <a:rPr kumimoji="0" lang="en-GB" sz="1800" b="0" i="0" u="none" strike="noStrike" kern="1200" cap="none" spc="0" normalizeH="0" baseline="0" noProof="0" dirty="0" err="1">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StandardScaler</a:t>
            </a:r>
            <a:endPar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endParaRPr>
          </a:p>
        </p:txBody>
      </p:sp>
      <p:cxnSp>
        <p:nvCxnSpPr>
          <p:cNvPr id="29" name="Elbow Connector 28">
            <a:extLst>
              <a:ext uri="{FF2B5EF4-FFF2-40B4-BE49-F238E27FC236}">
                <a16:creationId xmlns:a16="http://schemas.microsoft.com/office/drawing/2014/main" id="{174F3934-2AFF-B07C-9ECB-C5E57C98C370}"/>
              </a:ext>
            </a:extLst>
          </p:cNvPr>
          <p:cNvCxnSpPr>
            <a:cxnSpLocks/>
          </p:cNvCxnSpPr>
          <p:nvPr/>
        </p:nvCxnSpPr>
        <p:spPr>
          <a:xfrm rot="5400000" flipH="1" flipV="1">
            <a:off x="5988511" y="4963332"/>
            <a:ext cx="909989" cy="330336"/>
          </a:xfrm>
          <a:prstGeom prst="bentConnector3">
            <a:avLst>
              <a:gd name="adj1" fmla="val 100242"/>
            </a:avLst>
          </a:prstGeom>
          <a:ln>
            <a:tailEnd type="triangle"/>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81392A07-B1FC-B41D-770C-4B7E7179AEE4}"/>
              </a:ext>
            </a:extLst>
          </p:cNvPr>
          <p:cNvPicPr>
            <a:picLocks noChangeAspect="1"/>
          </p:cNvPicPr>
          <p:nvPr/>
        </p:nvPicPr>
        <p:blipFill>
          <a:blip r:embed="rId3"/>
          <a:stretch>
            <a:fillRect/>
          </a:stretch>
        </p:blipFill>
        <p:spPr>
          <a:xfrm>
            <a:off x="6705178" y="1606022"/>
            <a:ext cx="5180427" cy="1052118"/>
          </a:xfrm>
          <a:prstGeom prst="rect">
            <a:avLst/>
          </a:prstGeom>
          <a:ln>
            <a:noFill/>
          </a:ln>
          <a:effectLst>
            <a:outerShdw blurRad="292100" dist="139700" dir="2700000" algn="tl" rotWithShape="0">
              <a:srgbClr val="333333">
                <a:alpha val="65000"/>
              </a:srgbClr>
            </a:outerShdw>
          </a:effectLst>
        </p:spPr>
      </p:pic>
      <p:sp>
        <p:nvSpPr>
          <p:cNvPr id="8" name="Title 1">
            <a:extLst>
              <a:ext uri="{FF2B5EF4-FFF2-40B4-BE49-F238E27FC236}">
                <a16:creationId xmlns:a16="http://schemas.microsoft.com/office/drawing/2014/main" id="{8DD0B1D6-7E6D-47DF-921F-7579C83342E3}"/>
              </a:ext>
            </a:extLst>
          </p:cNvPr>
          <p:cNvSpPr>
            <a:spLocks noGrp="1"/>
          </p:cNvSpPr>
          <p:nvPr>
            <p:ph type="title"/>
          </p:nvPr>
        </p:nvSpPr>
        <p:spPr>
          <a:xfrm>
            <a:off x="1981200" y="-41608"/>
            <a:ext cx="8229600" cy="1143000"/>
          </a:xfrm>
        </p:spPr>
        <p:txBody>
          <a:bodyPr/>
          <a:lstStyle/>
          <a:p>
            <a:r>
              <a:rPr lang="en-GB" dirty="0"/>
              <a:t>Empirical example MLP: Case A</a:t>
            </a:r>
            <a:endParaRPr lang="en-GB" sz="1800" dirty="0"/>
          </a:p>
        </p:txBody>
      </p:sp>
      <p:sp>
        <p:nvSpPr>
          <p:cNvPr id="9" name="Line 2">
            <a:extLst>
              <a:ext uri="{FF2B5EF4-FFF2-40B4-BE49-F238E27FC236}">
                <a16:creationId xmlns:a16="http://schemas.microsoft.com/office/drawing/2014/main" id="{13904042-353C-71A0-0F1E-F43173E0124B}"/>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0" name="Line 2">
            <a:extLst>
              <a:ext uri="{FF2B5EF4-FFF2-40B4-BE49-F238E27FC236}">
                <a16:creationId xmlns:a16="http://schemas.microsoft.com/office/drawing/2014/main" id="{532A6E65-5393-8D07-E09D-76F279160D17}"/>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15720309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720000" y="1268760"/>
            <a:ext cx="4894416" cy="5400600"/>
          </a:xfrm>
        </p:spPr>
        <p:txBody>
          <a:bodyPr>
            <a:noAutofit/>
          </a:bodyPr>
          <a:lstStyle/>
          <a:p>
            <a:pPr marL="0" lvl="1" indent="0">
              <a:buNone/>
              <a:tabLst>
                <a:tab pos="3138488" algn="l"/>
              </a:tabLst>
            </a:pPr>
            <a:r>
              <a:rPr lang="en-GB" b="1" dirty="0"/>
              <a:t>MLP using attributes of alternatives only</a:t>
            </a:r>
          </a:p>
          <a:p>
            <a:pPr marL="0" lvl="1" indent="0">
              <a:buNone/>
              <a:tabLst>
                <a:tab pos="3138488" algn="l"/>
              </a:tabLst>
            </a:pPr>
            <a:endParaRPr lang="en-GB" sz="1800" dirty="0"/>
          </a:p>
          <a:p>
            <a:pPr marL="342900" lvl="1" indent="-342900">
              <a:buFont typeface="+mj-lt"/>
              <a:buAutoNum type="arabicPeriod"/>
              <a:tabLst>
                <a:tab pos="3138488" algn="l"/>
              </a:tabLst>
            </a:pPr>
            <a:r>
              <a:rPr lang="en-GB" dirty="0"/>
              <a:t>Split data in a training and test set</a:t>
            </a:r>
          </a:p>
          <a:p>
            <a:pPr marL="342900" lvl="1" indent="-342900">
              <a:buFont typeface="+mj-lt"/>
              <a:buAutoNum type="arabicPeriod"/>
              <a:tabLst>
                <a:tab pos="3138488" algn="l"/>
              </a:tabLst>
            </a:pPr>
            <a:endParaRPr lang="en-GB" dirty="0"/>
          </a:p>
          <a:p>
            <a:pPr marL="342900" lvl="1" indent="-342900">
              <a:buFont typeface="+mj-lt"/>
              <a:buAutoNum type="arabicPeriod"/>
              <a:tabLst>
                <a:tab pos="3138488" algn="l"/>
              </a:tabLst>
            </a:pPr>
            <a:r>
              <a:rPr lang="en-GB" dirty="0"/>
              <a:t>A) Estimate linear-RUM MNL on the train data</a:t>
            </a:r>
          </a:p>
          <a:p>
            <a:pPr marL="361950" lvl="2" indent="0">
              <a:buNone/>
              <a:tabLst>
                <a:tab pos="3138488" algn="l"/>
              </a:tabLst>
            </a:pPr>
            <a:r>
              <a:rPr lang="en-GB" dirty="0"/>
              <a:t>B) Compute the Log-likelihood of the </a:t>
            </a:r>
            <a:r>
              <a:rPr lang="en-GB" b="1" u="sng" dirty="0"/>
              <a:t>test data</a:t>
            </a:r>
            <a:r>
              <a:rPr lang="en-GB" dirty="0"/>
              <a:t> given the model</a:t>
            </a:r>
          </a:p>
          <a:p>
            <a:pPr marL="361950" lvl="2" indent="0">
              <a:buNone/>
              <a:tabLst>
                <a:tab pos="3138488" algn="l"/>
              </a:tabLst>
            </a:pPr>
            <a:endParaRPr lang="en-GB" dirty="0"/>
          </a:p>
          <a:p>
            <a:pPr marL="247650" lvl="1" indent="-342900">
              <a:buFont typeface="+mj-lt"/>
              <a:buAutoNum type="arabicPeriod"/>
              <a:tabLst>
                <a:tab pos="3138488" algn="l"/>
              </a:tabLst>
            </a:pPr>
            <a:r>
              <a:rPr lang="en-GB" dirty="0"/>
              <a:t>Scale the data</a:t>
            </a:r>
          </a:p>
          <a:p>
            <a:pPr marL="247650" lvl="1" indent="-342900">
              <a:buFont typeface="+mj-lt"/>
              <a:buAutoNum type="arabicPeriod"/>
              <a:tabLst>
                <a:tab pos="3138488" algn="l"/>
              </a:tabLst>
            </a:pPr>
            <a:endParaRPr lang="en-GB" dirty="0"/>
          </a:p>
          <a:p>
            <a:pPr marL="247650" lvl="1" indent="-342900">
              <a:buFont typeface="+mj-lt"/>
              <a:buAutoNum type="arabicPeriod"/>
              <a:tabLst>
                <a:tab pos="3138488" algn="l"/>
              </a:tabLst>
            </a:pPr>
            <a:r>
              <a:rPr lang="en-GB" b="1" dirty="0"/>
              <a:t>Dummy code the choices </a:t>
            </a:r>
          </a:p>
          <a:p>
            <a:pPr marL="0" lvl="1" indent="0">
              <a:buNone/>
              <a:tabLst>
                <a:tab pos="3138488" algn="l"/>
              </a:tabLst>
            </a:pPr>
            <a:endParaRPr lang="en-GB" sz="1800" dirty="0"/>
          </a:p>
          <a:p>
            <a:pPr marL="1257300" lvl="3"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2" name="Picture 1">
            <a:extLst>
              <a:ext uri="{FF2B5EF4-FFF2-40B4-BE49-F238E27FC236}">
                <a16:creationId xmlns:a16="http://schemas.microsoft.com/office/drawing/2014/main" id="{D865E2F2-6282-030B-C25E-45E99CF3C471}"/>
              </a:ext>
            </a:extLst>
          </p:cNvPr>
          <p:cNvPicPr>
            <a:picLocks noChangeAspect="1"/>
          </p:cNvPicPr>
          <p:nvPr/>
        </p:nvPicPr>
        <p:blipFill rotWithShape="1">
          <a:blip r:embed="rId2"/>
          <a:srcRect r="11646" b="16263"/>
          <a:stretch/>
        </p:blipFill>
        <p:spPr>
          <a:xfrm>
            <a:off x="6326372" y="3742296"/>
            <a:ext cx="5510208" cy="1282378"/>
          </a:xfrm>
          <a:prstGeom prst="rect">
            <a:avLst/>
          </a:prstGeom>
          <a:ln>
            <a:noFill/>
          </a:ln>
          <a:effectLst>
            <a:outerShdw blurRad="292100" dist="139700" dir="2700000" algn="tl" rotWithShape="0">
              <a:srgbClr val="333333">
                <a:alpha val="65000"/>
              </a:srgbClr>
            </a:outerShdw>
          </a:effectLst>
        </p:spPr>
      </p:pic>
      <p:sp>
        <p:nvSpPr>
          <p:cNvPr id="8" name="Title 1">
            <a:extLst>
              <a:ext uri="{FF2B5EF4-FFF2-40B4-BE49-F238E27FC236}">
                <a16:creationId xmlns:a16="http://schemas.microsoft.com/office/drawing/2014/main" id="{4BBDB9D5-150C-18FE-59A6-9B8C483E7147}"/>
              </a:ext>
            </a:extLst>
          </p:cNvPr>
          <p:cNvSpPr>
            <a:spLocks noGrp="1"/>
          </p:cNvSpPr>
          <p:nvPr>
            <p:ph type="title"/>
          </p:nvPr>
        </p:nvSpPr>
        <p:spPr>
          <a:xfrm>
            <a:off x="1981200" y="-41608"/>
            <a:ext cx="8229600" cy="1143000"/>
          </a:xfrm>
        </p:spPr>
        <p:txBody>
          <a:bodyPr/>
          <a:lstStyle/>
          <a:p>
            <a:r>
              <a:rPr lang="en-GB" dirty="0"/>
              <a:t>Empirical example MLP: Case A</a:t>
            </a:r>
            <a:endParaRPr lang="en-GB" sz="1800" dirty="0"/>
          </a:p>
        </p:txBody>
      </p:sp>
      <p:sp>
        <p:nvSpPr>
          <p:cNvPr id="9" name="Line 2">
            <a:extLst>
              <a:ext uri="{FF2B5EF4-FFF2-40B4-BE49-F238E27FC236}">
                <a16:creationId xmlns:a16="http://schemas.microsoft.com/office/drawing/2014/main" id="{68476685-5823-2ABC-FE9F-3A9BA297A3E9}"/>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0" name="Line 2">
            <a:extLst>
              <a:ext uri="{FF2B5EF4-FFF2-40B4-BE49-F238E27FC236}">
                <a16:creationId xmlns:a16="http://schemas.microsoft.com/office/drawing/2014/main" id="{AFEDFB21-3B0D-C6EE-90E1-7FC9684913BB}"/>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396181907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720000" y="1268760"/>
            <a:ext cx="4856207" cy="5400600"/>
          </a:xfrm>
        </p:spPr>
        <p:txBody>
          <a:bodyPr>
            <a:noAutofit/>
          </a:bodyPr>
          <a:lstStyle/>
          <a:p>
            <a:pPr marL="0" lvl="1" indent="0">
              <a:buNone/>
              <a:tabLst>
                <a:tab pos="3138488" algn="l"/>
              </a:tabLst>
            </a:pPr>
            <a:r>
              <a:rPr lang="en-GB" b="1" dirty="0"/>
              <a:t>MLP using attributes of alternatives only</a:t>
            </a:r>
          </a:p>
          <a:p>
            <a:pPr marL="0" lvl="1" indent="0">
              <a:buNone/>
              <a:tabLst>
                <a:tab pos="3138488" algn="l"/>
              </a:tabLst>
            </a:pPr>
            <a:endParaRPr lang="en-GB" sz="1800" dirty="0"/>
          </a:p>
          <a:p>
            <a:pPr marL="342900" lvl="1" indent="-342900">
              <a:buFont typeface="+mj-lt"/>
              <a:buAutoNum type="arabicPeriod"/>
              <a:tabLst>
                <a:tab pos="3138488" algn="l"/>
              </a:tabLst>
            </a:pPr>
            <a:r>
              <a:rPr lang="en-GB" dirty="0"/>
              <a:t>Split data in a training and test set</a:t>
            </a:r>
          </a:p>
          <a:p>
            <a:pPr marL="342900" lvl="1" indent="-342900">
              <a:buFont typeface="+mj-lt"/>
              <a:buAutoNum type="arabicPeriod"/>
              <a:tabLst>
                <a:tab pos="3138488" algn="l"/>
              </a:tabLst>
            </a:pPr>
            <a:endParaRPr lang="en-GB" dirty="0"/>
          </a:p>
          <a:p>
            <a:pPr marL="342900" lvl="1" indent="-342900">
              <a:buFont typeface="+mj-lt"/>
              <a:buAutoNum type="arabicPeriod"/>
              <a:tabLst>
                <a:tab pos="3138488" algn="l"/>
              </a:tabLst>
            </a:pPr>
            <a:r>
              <a:rPr lang="en-GB" dirty="0"/>
              <a:t>A) Estimate linear-RUM MNL on the train data</a:t>
            </a:r>
          </a:p>
          <a:p>
            <a:pPr marL="361950" lvl="2" indent="0">
              <a:buNone/>
              <a:tabLst>
                <a:tab pos="3138488" algn="l"/>
              </a:tabLst>
            </a:pPr>
            <a:r>
              <a:rPr lang="en-GB" dirty="0"/>
              <a:t>B) Compute the Log-likelihood of the </a:t>
            </a:r>
            <a:r>
              <a:rPr lang="en-GB" b="1" u="sng" dirty="0"/>
              <a:t>test data</a:t>
            </a:r>
            <a:r>
              <a:rPr lang="en-GB" dirty="0"/>
              <a:t> given the model</a:t>
            </a:r>
          </a:p>
          <a:p>
            <a:pPr marL="361950" lvl="2" indent="0">
              <a:buNone/>
              <a:tabLst>
                <a:tab pos="3138488" algn="l"/>
              </a:tabLst>
            </a:pPr>
            <a:endParaRPr lang="en-GB" dirty="0"/>
          </a:p>
          <a:p>
            <a:pPr marL="247650" lvl="1" indent="-342900">
              <a:buFont typeface="+mj-lt"/>
              <a:buAutoNum type="arabicPeriod"/>
              <a:tabLst>
                <a:tab pos="3138488" algn="l"/>
              </a:tabLst>
            </a:pPr>
            <a:r>
              <a:rPr lang="en-GB" dirty="0"/>
              <a:t>Scale the data</a:t>
            </a:r>
          </a:p>
          <a:p>
            <a:pPr marL="247650" lvl="1" indent="-342900">
              <a:buFont typeface="+mj-lt"/>
              <a:buAutoNum type="arabicPeriod"/>
              <a:tabLst>
                <a:tab pos="3138488" algn="l"/>
              </a:tabLst>
            </a:pPr>
            <a:endParaRPr lang="en-GB" dirty="0"/>
          </a:p>
          <a:p>
            <a:pPr marL="247650" lvl="1" indent="-342900">
              <a:buFont typeface="+mj-lt"/>
              <a:buAutoNum type="arabicPeriod"/>
              <a:tabLst>
                <a:tab pos="3138488" algn="l"/>
              </a:tabLst>
            </a:pPr>
            <a:r>
              <a:rPr lang="en-GB" dirty="0"/>
              <a:t>Dummy code the choices </a:t>
            </a:r>
          </a:p>
          <a:p>
            <a:pPr marL="247650" lvl="1" indent="-342900">
              <a:buFont typeface="+mj-lt"/>
              <a:buAutoNum type="arabicPeriod"/>
              <a:tabLst>
                <a:tab pos="3138488" algn="l"/>
              </a:tabLst>
            </a:pPr>
            <a:endParaRPr lang="en-GB" dirty="0"/>
          </a:p>
          <a:p>
            <a:pPr marL="247650" lvl="1" indent="-342900">
              <a:buFont typeface="+mj-lt"/>
              <a:buAutoNum type="arabicPeriod"/>
              <a:tabLst>
                <a:tab pos="3138488" algn="l"/>
              </a:tabLst>
            </a:pPr>
            <a:r>
              <a:rPr lang="en-GB" b="1" dirty="0"/>
              <a:t>Tune hyperparameters, using a </a:t>
            </a:r>
            <a:r>
              <a:rPr lang="en-GB" b="1" dirty="0" err="1"/>
              <a:t>gridsearch</a:t>
            </a:r>
            <a:r>
              <a:rPr lang="en-GB" b="1" dirty="0"/>
              <a:t> object</a:t>
            </a:r>
          </a:p>
          <a:p>
            <a:pPr marL="0" lvl="1" indent="0">
              <a:buNone/>
              <a:tabLst>
                <a:tab pos="3138488" algn="l"/>
              </a:tabLst>
            </a:pPr>
            <a:endParaRPr lang="en-GB" sz="1800" dirty="0"/>
          </a:p>
          <a:p>
            <a:pPr marL="1257300" lvl="3"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3" name="Picture 2">
            <a:extLst>
              <a:ext uri="{FF2B5EF4-FFF2-40B4-BE49-F238E27FC236}">
                <a16:creationId xmlns:a16="http://schemas.microsoft.com/office/drawing/2014/main" id="{D04FD410-BE1A-01BA-B8DB-5427B8568008}"/>
              </a:ext>
            </a:extLst>
          </p:cNvPr>
          <p:cNvPicPr>
            <a:picLocks noChangeAspect="1"/>
          </p:cNvPicPr>
          <p:nvPr/>
        </p:nvPicPr>
        <p:blipFill rotWithShape="1">
          <a:blip r:embed="rId2"/>
          <a:srcRect b="5788"/>
          <a:stretch/>
        </p:blipFill>
        <p:spPr>
          <a:xfrm>
            <a:off x="5815332" y="1417638"/>
            <a:ext cx="6279132" cy="3878736"/>
          </a:xfrm>
          <a:prstGeom prst="rect">
            <a:avLst/>
          </a:prstGeom>
          <a:ln>
            <a:noFill/>
          </a:ln>
          <a:effectLst>
            <a:outerShdw blurRad="292100" dist="139700" dir="2700000" algn="tl" rotWithShape="0">
              <a:srgbClr val="333333">
                <a:alpha val="65000"/>
              </a:srgbClr>
            </a:outerShdw>
          </a:effectLst>
        </p:spPr>
      </p:pic>
      <p:sp>
        <p:nvSpPr>
          <p:cNvPr id="7" name="Rounded Rectangle 6">
            <a:extLst>
              <a:ext uri="{FF2B5EF4-FFF2-40B4-BE49-F238E27FC236}">
                <a16:creationId xmlns:a16="http://schemas.microsoft.com/office/drawing/2014/main" id="{B6FB9D05-EABA-293F-300A-DD5A3299D104}"/>
              </a:ext>
            </a:extLst>
          </p:cNvPr>
          <p:cNvSpPr/>
          <p:nvPr/>
        </p:nvSpPr>
        <p:spPr>
          <a:xfrm>
            <a:off x="6025243" y="2560638"/>
            <a:ext cx="2906485" cy="812681"/>
          </a:xfrm>
          <a:prstGeom prst="roundRect">
            <a:avLst/>
          </a:prstGeom>
          <a:noFill/>
          <a:ln w="28575">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D6DE2213-997F-5791-1162-69597E023622}"/>
              </a:ext>
            </a:extLst>
          </p:cNvPr>
          <p:cNvSpPr txBox="1"/>
          <p:nvPr/>
        </p:nvSpPr>
        <p:spPr>
          <a:xfrm>
            <a:off x="9027196" y="2560638"/>
            <a:ext cx="2971800" cy="427512"/>
          </a:xfrm>
          <a:prstGeom prst="rect">
            <a:avLst/>
          </a:prstGeom>
          <a:noFill/>
        </p:spPr>
        <p:txBody>
          <a:bodyPr wrap="square" rtlCol="0" anchor="ctr">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 Search space</a:t>
            </a:r>
            <a:endParaRPr kumimoji="0" lang="en-GB" sz="1800" b="0" i="0" u="none" strike="noStrike" kern="1200" cap="none" spc="0" normalizeH="0" baseline="-2500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endParaRPr>
          </a:p>
        </p:txBody>
      </p:sp>
      <p:sp>
        <p:nvSpPr>
          <p:cNvPr id="9" name="Rounded Rectangle 8">
            <a:extLst>
              <a:ext uri="{FF2B5EF4-FFF2-40B4-BE49-F238E27FC236}">
                <a16:creationId xmlns:a16="http://schemas.microsoft.com/office/drawing/2014/main" id="{02F9BAC5-973A-A3AF-C72C-865BCB4BFB7C}"/>
              </a:ext>
            </a:extLst>
          </p:cNvPr>
          <p:cNvSpPr/>
          <p:nvPr/>
        </p:nvSpPr>
        <p:spPr>
          <a:xfrm>
            <a:off x="6096000" y="3629200"/>
            <a:ext cx="4746171" cy="163080"/>
          </a:xfrm>
          <a:prstGeom prst="roundRect">
            <a:avLst/>
          </a:prstGeom>
          <a:noFill/>
          <a:ln w="28575">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11CD499D-FAB6-CADF-9524-40A296A4E1B7}"/>
              </a:ext>
            </a:extLst>
          </p:cNvPr>
          <p:cNvSpPr txBox="1"/>
          <p:nvPr/>
        </p:nvSpPr>
        <p:spPr>
          <a:xfrm>
            <a:off x="9340814" y="3159563"/>
            <a:ext cx="2801384" cy="427512"/>
          </a:xfrm>
          <a:prstGeom prst="rect">
            <a:avLst/>
          </a:prstGeom>
          <a:noFill/>
        </p:spPr>
        <p:txBody>
          <a:bodyPr wrap="square" rtlCol="0" anchor="ctr">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↓Define the loss function</a:t>
            </a:r>
            <a:endParaRPr kumimoji="0" lang="en-GB" sz="1800" b="0" i="0" u="none" strike="noStrike" kern="1200" cap="none" spc="0" normalizeH="0" baseline="-2500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endParaRPr>
          </a:p>
        </p:txBody>
      </p:sp>
      <p:sp>
        <p:nvSpPr>
          <p:cNvPr id="11" name="TextBox 10">
            <a:extLst>
              <a:ext uri="{FF2B5EF4-FFF2-40B4-BE49-F238E27FC236}">
                <a16:creationId xmlns:a16="http://schemas.microsoft.com/office/drawing/2014/main" id="{24EC5136-080E-1DB9-BB9B-D8B12C483835}"/>
              </a:ext>
            </a:extLst>
          </p:cNvPr>
          <p:cNvSpPr txBox="1"/>
          <p:nvPr/>
        </p:nvSpPr>
        <p:spPr>
          <a:xfrm>
            <a:off x="3708218" y="5565755"/>
            <a:ext cx="1867989" cy="355044"/>
          </a:xfrm>
          <a:prstGeom prst="rect">
            <a:avLst/>
          </a:prstGeom>
          <a:noFill/>
        </p:spPr>
        <p:txBody>
          <a:bodyPr wrap="square" rtlCol="0">
            <a:noAutofit/>
          </a:bodyPr>
          <a:lstStyle/>
          <a:p>
            <a:pPr marL="0" marR="0" lvl="0" indent="0" algn="r"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0" i="0" u="none" strike="noStrike" kern="1200" cap="none" spc="0" normalizeH="0" baseline="0" noProof="0" dirty="0" err="1">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Gridsearch</a:t>
            </a: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 object</a:t>
            </a:r>
          </a:p>
        </p:txBody>
      </p:sp>
      <p:sp>
        <p:nvSpPr>
          <p:cNvPr id="17" name="TextBox 16">
            <a:extLst>
              <a:ext uri="{FF2B5EF4-FFF2-40B4-BE49-F238E27FC236}">
                <a16:creationId xmlns:a16="http://schemas.microsoft.com/office/drawing/2014/main" id="{D3BA879D-4458-BE8A-8B89-F3BBD150B833}"/>
              </a:ext>
            </a:extLst>
          </p:cNvPr>
          <p:cNvSpPr txBox="1"/>
          <p:nvPr/>
        </p:nvSpPr>
        <p:spPr>
          <a:xfrm>
            <a:off x="2835349" y="6045892"/>
            <a:ext cx="2860421" cy="355044"/>
          </a:xfrm>
          <a:prstGeom prst="rect">
            <a:avLst/>
          </a:prstGeom>
          <a:noFill/>
        </p:spPr>
        <p:txBody>
          <a:bodyPr wrap="square" rtlCol="0">
            <a:noAutofit/>
          </a:bodyPr>
          <a:lstStyle/>
          <a:p>
            <a:pPr marL="0" marR="0" lvl="0" indent="0" algn="r"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Start training the models!</a:t>
            </a:r>
          </a:p>
        </p:txBody>
      </p:sp>
      <p:cxnSp>
        <p:nvCxnSpPr>
          <p:cNvPr id="18" name="Elbow Connector 17">
            <a:extLst>
              <a:ext uri="{FF2B5EF4-FFF2-40B4-BE49-F238E27FC236}">
                <a16:creationId xmlns:a16="http://schemas.microsoft.com/office/drawing/2014/main" id="{2E26AE0B-8A42-23F5-CEAB-C581246FBD2E}"/>
              </a:ext>
            </a:extLst>
          </p:cNvPr>
          <p:cNvCxnSpPr>
            <a:cxnSpLocks/>
          </p:cNvCxnSpPr>
          <p:nvPr/>
        </p:nvCxnSpPr>
        <p:spPr>
          <a:xfrm rot="5400000" flipH="1" flipV="1">
            <a:off x="5097767" y="5529423"/>
            <a:ext cx="1172136" cy="167525"/>
          </a:xfrm>
          <a:prstGeom prst="bentConnector3">
            <a:avLst>
              <a:gd name="adj1" fmla="val 100193"/>
            </a:avLst>
          </a:prstGeom>
          <a:ln>
            <a:tailEnd type="triangle"/>
          </a:ln>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779DBE44-ACA1-AC8C-9C99-66C111810E3D}"/>
              </a:ext>
            </a:extLst>
          </p:cNvPr>
          <p:cNvPicPr>
            <a:picLocks noChangeAspect="1"/>
          </p:cNvPicPr>
          <p:nvPr/>
        </p:nvPicPr>
        <p:blipFill>
          <a:blip r:embed="rId3"/>
          <a:stretch>
            <a:fillRect/>
          </a:stretch>
        </p:blipFill>
        <p:spPr>
          <a:xfrm>
            <a:off x="5815331" y="5727509"/>
            <a:ext cx="6279132" cy="710438"/>
          </a:xfrm>
          <a:prstGeom prst="rect">
            <a:avLst/>
          </a:prstGeom>
          <a:ln>
            <a:noFill/>
          </a:ln>
          <a:effectLst>
            <a:outerShdw blurRad="292100" dist="139700" dir="2700000" algn="tl" rotWithShape="0">
              <a:srgbClr val="333333">
                <a:alpha val="65000"/>
              </a:srgbClr>
            </a:outerShdw>
          </a:effectLst>
        </p:spPr>
      </p:pic>
      <p:sp>
        <p:nvSpPr>
          <p:cNvPr id="2" name="TextBox 1">
            <a:extLst>
              <a:ext uri="{FF2B5EF4-FFF2-40B4-BE49-F238E27FC236}">
                <a16:creationId xmlns:a16="http://schemas.microsoft.com/office/drawing/2014/main" id="{79B8BF68-6D15-19DC-2F3D-63A267DBCB19}"/>
              </a:ext>
            </a:extLst>
          </p:cNvPr>
          <p:cNvSpPr txBox="1"/>
          <p:nvPr/>
        </p:nvSpPr>
        <p:spPr>
          <a:xfrm>
            <a:off x="2800102" y="6479065"/>
            <a:ext cx="2860421" cy="355044"/>
          </a:xfrm>
          <a:prstGeom prst="rect">
            <a:avLst/>
          </a:prstGeom>
          <a:noFill/>
        </p:spPr>
        <p:txBody>
          <a:bodyPr wrap="square" rtlCol="0">
            <a:noAutofit/>
          </a:bodyPr>
          <a:lstStyle/>
          <a:p>
            <a:pPr marL="0" marR="0" lvl="0" indent="0" algn="r"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Best hyperparameters</a:t>
            </a:r>
          </a:p>
        </p:txBody>
      </p:sp>
      <p:cxnSp>
        <p:nvCxnSpPr>
          <p:cNvPr id="13" name="Elbow Connector 12">
            <a:extLst>
              <a:ext uri="{FF2B5EF4-FFF2-40B4-BE49-F238E27FC236}">
                <a16:creationId xmlns:a16="http://schemas.microsoft.com/office/drawing/2014/main" id="{DEAAB4A2-D941-52DE-DF91-9045992DB69F}"/>
              </a:ext>
            </a:extLst>
          </p:cNvPr>
          <p:cNvCxnSpPr>
            <a:cxnSpLocks/>
          </p:cNvCxnSpPr>
          <p:nvPr/>
        </p:nvCxnSpPr>
        <p:spPr>
          <a:xfrm flipV="1">
            <a:off x="5601410" y="6504611"/>
            <a:ext cx="2232144" cy="207008"/>
          </a:xfrm>
          <a:prstGeom prst="bentConnector3">
            <a:avLst>
              <a:gd name="adj1" fmla="val 100097"/>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7B5541C2-08C8-D446-E40E-7CE03DDD7665}"/>
              </a:ext>
            </a:extLst>
          </p:cNvPr>
          <p:cNvSpPr txBox="1"/>
          <p:nvPr/>
        </p:nvSpPr>
        <p:spPr>
          <a:xfrm>
            <a:off x="9892828" y="1561626"/>
            <a:ext cx="2201635" cy="427512"/>
          </a:xfrm>
          <a:prstGeom prst="rect">
            <a:avLst/>
          </a:prstGeom>
          <a:noFill/>
        </p:spPr>
        <p:txBody>
          <a:bodyPr wrap="square" rtlCol="0" anchor="ctr">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 Create MLP object</a:t>
            </a:r>
            <a:endParaRPr kumimoji="0" lang="en-GB" sz="1800" b="0" i="0" u="none" strike="noStrike" kern="1200" cap="none" spc="0" normalizeH="0" baseline="-2500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endParaRPr>
          </a:p>
        </p:txBody>
      </p:sp>
      <p:sp>
        <p:nvSpPr>
          <p:cNvPr id="15" name="Title 1">
            <a:extLst>
              <a:ext uri="{FF2B5EF4-FFF2-40B4-BE49-F238E27FC236}">
                <a16:creationId xmlns:a16="http://schemas.microsoft.com/office/drawing/2014/main" id="{744B09BC-4BF6-23E9-E364-6E879110EDB9}"/>
              </a:ext>
            </a:extLst>
          </p:cNvPr>
          <p:cNvSpPr>
            <a:spLocks noGrp="1"/>
          </p:cNvSpPr>
          <p:nvPr>
            <p:ph type="title"/>
          </p:nvPr>
        </p:nvSpPr>
        <p:spPr>
          <a:xfrm>
            <a:off x="1981200" y="-41608"/>
            <a:ext cx="8229600" cy="1143000"/>
          </a:xfrm>
        </p:spPr>
        <p:txBody>
          <a:bodyPr/>
          <a:lstStyle/>
          <a:p>
            <a:r>
              <a:rPr lang="en-GB" dirty="0"/>
              <a:t>Empirical example MLP: Case A</a:t>
            </a:r>
            <a:endParaRPr lang="en-GB" sz="1800" dirty="0"/>
          </a:p>
        </p:txBody>
      </p:sp>
      <p:sp>
        <p:nvSpPr>
          <p:cNvPr id="16" name="Line 2">
            <a:extLst>
              <a:ext uri="{FF2B5EF4-FFF2-40B4-BE49-F238E27FC236}">
                <a16:creationId xmlns:a16="http://schemas.microsoft.com/office/drawing/2014/main" id="{760DB8BF-2F57-C1EB-FD40-8CAD314BA339}"/>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9" name="Line 2">
            <a:extLst>
              <a:ext uri="{FF2B5EF4-FFF2-40B4-BE49-F238E27FC236}">
                <a16:creationId xmlns:a16="http://schemas.microsoft.com/office/drawing/2014/main" id="{DFBEEA91-9100-A2D5-FF8F-218CA91A53E3}"/>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156088140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EB428B2-3526-6247-C907-8151CBA14C82}"/>
              </a:ext>
            </a:extLst>
          </p:cNvPr>
          <p:cNvPicPr>
            <a:picLocks noChangeAspect="1"/>
          </p:cNvPicPr>
          <p:nvPr/>
        </p:nvPicPr>
        <p:blipFill>
          <a:blip r:embed="rId2"/>
          <a:stretch>
            <a:fillRect/>
          </a:stretch>
        </p:blipFill>
        <p:spPr>
          <a:xfrm>
            <a:off x="6096000" y="2266759"/>
            <a:ext cx="5976000" cy="2221026"/>
          </a:xfrm>
          <a:prstGeom prst="rect">
            <a:avLst/>
          </a:prstGeom>
        </p:spPr>
      </p:pic>
      <p:sp>
        <p:nvSpPr>
          <p:cNvPr id="5" name="Content Placeholder 2"/>
          <p:cNvSpPr>
            <a:spLocks noGrp="1"/>
          </p:cNvSpPr>
          <p:nvPr>
            <p:ph idx="1"/>
          </p:nvPr>
        </p:nvSpPr>
        <p:spPr>
          <a:xfrm>
            <a:off x="720000" y="1268760"/>
            <a:ext cx="4856207" cy="5400600"/>
          </a:xfrm>
        </p:spPr>
        <p:txBody>
          <a:bodyPr>
            <a:noAutofit/>
          </a:bodyPr>
          <a:lstStyle/>
          <a:p>
            <a:pPr marL="0" lvl="1" indent="0">
              <a:buNone/>
              <a:tabLst>
                <a:tab pos="3138488" algn="l"/>
              </a:tabLst>
            </a:pPr>
            <a:r>
              <a:rPr lang="en-GB" b="1" dirty="0"/>
              <a:t>MLP using attributes of alternatives only</a:t>
            </a:r>
          </a:p>
          <a:p>
            <a:pPr marL="0" lvl="1" indent="0">
              <a:buNone/>
              <a:tabLst>
                <a:tab pos="3138488" algn="l"/>
              </a:tabLst>
            </a:pPr>
            <a:endParaRPr lang="en-GB" sz="1800" dirty="0"/>
          </a:p>
          <a:p>
            <a:pPr marL="342900" lvl="1" indent="-342900">
              <a:buFont typeface="+mj-lt"/>
              <a:buAutoNum type="arabicPeriod"/>
              <a:tabLst>
                <a:tab pos="3138488" algn="l"/>
              </a:tabLst>
            </a:pPr>
            <a:r>
              <a:rPr lang="en-GB" dirty="0"/>
              <a:t>Split data in a training and test set</a:t>
            </a:r>
          </a:p>
          <a:p>
            <a:pPr marL="342900" lvl="1" indent="-342900">
              <a:buFont typeface="+mj-lt"/>
              <a:buAutoNum type="arabicPeriod"/>
              <a:tabLst>
                <a:tab pos="3138488" algn="l"/>
              </a:tabLst>
            </a:pPr>
            <a:endParaRPr lang="en-GB" dirty="0"/>
          </a:p>
          <a:p>
            <a:pPr marL="342900" lvl="1" indent="-342900">
              <a:buFont typeface="+mj-lt"/>
              <a:buAutoNum type="arabicPeriod"/>
              <a:tabLst>
                <a:tab pos="3138488" algn="l"/>
              </a:tabLst>
            </a:pPr>
            <a:r>
              <a:rPr lang="en-GB" dirty="0"/>
              <a:t>A) Estimate linear-RUM MNL on the train data</a:t>
            </a:r>
          </a:p>
          <a:p>
            <a:pPr marL="361950" lvl="2" indent="0">
              <a:buNone/>
              <a:tabLst>
                <a:tab pos="3138488" algn="l"/>
              </a:tabLst>
            </a:pPr>
            <a:r>
              <a:rPr lang="en-GB" dirty="0"/>
              <a:t>B) Compute the Log-likelihood of the </a:t>
            </a:r>
            <a:r>
              <a:rPr lang="en-GB" b="1" u="sng" dirty="0"/>
              <a:t>test data</a:t>
            </a:r>
            <a:r>
              <a:rPr lang="en-GB" dirty="0"/>
              <a:t> given the model</a:t>
            </a:r>
          </a:p>
          <a:p>
            <a:pPr marL="361950" lvl="2" indent="0">
              <a:buNone/>
              <a:tabLst>
                <a:tab pos="3138488" algn="l"/>
              </a:tabLst>
            </a:pPr>
            <a:endParaRPr lang="en-GB" dirty="0"/>
          </a:p>
          <a:p>
            <a:pPr marL="247650" lvl="1" indent="-342900">
              <a:buFont typeface="+mj-lt"/>
              <a:buAutoNum type="arabicPeriod"/>
              <a:tabLst>
                <a:tab pos="3138488" algn="l"/>
              </a:tabLst>
            </a:pPr>
            <a:r>
              <a:rPr lang="en-GB" dirty="0"/>
              <a:t>Scale the data</a:t>
            </a:r>
          </a:p>
          <a:p>
            <a:pPr marL="247650" lvl="1" indent="-342900">
              <a:buFont typeface="+mj-lt"/>
              <a:buAutoNum type="arabicPeriod"/>
              <a:tabLst>
                <a:tab pos="3138488" algn="l"/>
              </a:tabLst>
            </a:pPr>
            <a:endParaRPr lang="en-GB" dirty="0"/>
          </a:p>
          <a:p>
            <a:pPr marL="247650" lvl="1" indent="-342900">
              <a:buFont typeface="+mj-lt"/>
              <a:buAutoNum type="arabicPeriod"/>
              <a:tabLst>
                <a:tab pos="3138488" algn="l"/>
              </a:tabLst>
            </a:pPr>
            <a:r>
              <a:rPr lang="en-GB" dirty="0"/>
              <a:t>Dummy code the choices </a:t>
            </a:r>
          </a:p>
          <a:p>
            <a:pPr marL="247650" lvl="1" indent="-342900">
              <a:buFont typeface="+mj-lt"/>
              <a:buAutoNum type="arabicPeriod"/>
              <a:tabLst>
                <a:tab pos="3138488" algn="l"/>
              </a:tabLst>
            </a:pPr>
            <a:endParaRPr lang="en-GB" dirty="0"/>
          </a:p>
          <a:p>
            <a:pPr marL="247650" lvl="1" indent="-342900">
              <a:buFont typeface="+mj-lt"/>
              <a:buAutoNum type="arabicPeriod"/>
              <a:tabLst>
                <a:tab pos="3138488" algn="l"/>
              </a:tabLst>
            </a:pPr>
            <a:r>
              <a:rPr lang="en-GB" dirty="0"/>
              <a:t>Tune hyperparameters, using a </a:t>
            </a:r>
            <a:r>
              <a:rPr lang="en-GB" dirty="0" err="1"/>
              <a:t>gridsearch</a:t>
            </a:r>
            <a:endParaRPr lang="en-GB" dirty="0"/>
          </a:p>
          <a:p>
            <a:pPr marL="247650" lvl="1" indent="-342900">
              <a:buFont typeface="+mj-lt"/>
              <a:buAutoNum type="arabicPeriod"/>
              <a:tabLst>
                <a:tab pos="3138488" algn="l"/>
              </a:tabLst>
            </a:pPr>
            <a:endParaRPr lang="en-GB" sz="1800" dirty="0"/>
          </a:p>
          <a:p>
            <a:pPr marL="247650" lvl="1" indent="-342900">
              <a:buFont typeface="+mj-lt"/>
              <a:buAutoNum type="arabicPeriod"/>
              <a:tabLst>
                <a:tab pos="3138488" algn="l"/>
              </a:tabLst>
            </a:pPr>
            <a:r>
              <a:rPr lang="en-GB" b="1" dirty="0"/>
              <a:t>Train model with tuned hyperparameters</a:t>
            </a:r>
            <a:endParaRPr lang="en-GB" sz="1800" b="1" dirty="0"/>
          </a:p>
          <a:p>
            <a:pPr marL="1257300" lvl="3"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Title 1">
            <a:extLst>
              <a:ext uri="{FF2B5EF4-FFF2-40B4-BE49-F238E27FC236}">
                <a16:creationId xmlns:a16="http://schemas.microsoft.com/office/drawing/2014/main" id="{E9878D34-1C58-C8C1-1213-8679805F1F53}"/>
              </a:ext>
            </a:extLst>
          </p:cNvPr>
          <p:cNvSpPr>
            <a:spLocks noGrp="1"/>
          </p:cNvSpPr>
          <p:nvPr>
            <p:ph type="title"/>
          </p:nvPr>
        </p:nvSpPr>
        <p:spPr>
          <a:xfrm>
            <a:off x="1981200" y="-41608"/>
            <a:ext cx="8229600" cy="1143000"/>
          </a:xfrm>
        </p:spPr>
        <p:txBody>
          <a:bodyPr/>
          <a:lstStyle/>
          <a:p>
            <a:r>
              <a:rPr lang="en-GB" dirty="0"/>
              <a:t>Empirical example MLP: Case A</a:t>
            </a:r>
            <a:endParaRPr lang="en-GB" sz="1800" dirty="0"/>
          </a:p>
        </p:txBody>
      </p:sp>
      <p:sp>
        <p:nvSpPr>
          <p:cNvPr id="9" name="Line 2">
            <a:extLst>
              <a:ext uri="{FF2B5EF4-FFF2-40B4-BE49-F238E27FC236}">
                <a16:creationId xmlns:a16="http://schemas.microsoft.com/office/drawing/2014/main" id="{DBE968E0-A238-716E-6738-E399BD8634A4}"/>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0" name="Line 2">
            <a:extLst>
              <a:ext uri="{FF2B5EF4-FFF2-40B4-BE49-F238E27FC236}">
                <a16:creationId xmlns:a16="http://schemas.microsoft.com/office/drawing/2014/main" id="{9A74F21A-550F-2523-9425-0D1405C873FE}"/>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294003372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720000" y="1268760"/>
            <a:ext cx="4856207" cy="5400600"/>
          </a:xfrm>
        </p:spPr>
        <p:txBody>
          <a:bodyPr>
            <a:noAutofit/>
          </a:bodyPr>
          <a:lstStyle/>
          <a:p>
            <a:pPr marL="0" lvl="1" indent="0">
              <a:buNone/>
              <a:tabLst>
                <a:tab pos="3138488" algn="l"/>
              </a:tabLst>
            </a:pPr>
            <a:r>
              <a:rPr lang="en-GB" b="1" dirty="0"/>
              <a:t>MLP using attributes of alternatives only</a:t>
            </a:r>
          </a:p>
          <a:p>
            <a:pPr marL="0" lvl="1" indent="0">
              <a:buNone/>
              <a:tabLst>
                <a:tab pos="3138488" algn="l"/>
              </a:tabLst>
            </a:pPr>
            <a:endParaRPr lang="en-GB" sz="1800" dirty="0"/>
          </a:p>
          <a:p>
            <a:pPr marL="342900" lvl="1" indent="-342900">
              <a:buFont typeface="+mj-lt"/>
              <a:buAutoNum type="arabicPeriod"/>
              <a:tabLst>
                <a:tab pos="3138488" algn="l"/>
              </a:tabLst>
            </a:pPr>
            <a:r>
              <a:rPr lang="en-GB" dirty="0"/>
              <a:t>Split data in a training and test set</a:t>
            </a:r>
          </a:p>
          <a:p>
            <a:pPr marL="342900" lvl="1" indent="-342900">
              <a:buFont typeface="+mj-lt"/>
              <a:buAutoNum type="arabicPeriod"/>
              <a:tabLst>
                <a:tab pos="3138488" algn="l"/>
              </a:tabLst>
            </a:pPr>
            <a:endParaRPr lang="en-GB" dirty="0"/>
          </a:p>
          <a:p>
            <a:pPr marL="342900" lvl="1" indent="-342900">
              <a:buFont typeface="+mj-lt"/>
              <a:buAutoNum type="arabicPeriod"/>
              <a:tabLst>
                <a:tab pos="3138488" algn="l"/>
              </a:tabLst>
            </a:pPr>
            <a:r>
              <a:rPr lang="en-GB" dirty="0"/>
              <a:t>A) Estimate linear-RUM MNL on the train data</a:t>
            </a:r>
          </a:p>
          <a:p>
            <a:pPr marL="361950" lvl="2" indent="0">
              <a:buNone/>
              <a:tabLst>
                <a:tab pos="3138488" algn="l"/>
              </a:tabLst>
            </a:pPr>
            <a:r>
              <a:rPr lang="en-GB" dirty="0"/>
              <a:t>B) Compute the Log-likelihood of the </a:t>
            </a:r>
            <a:r>
              <a:rPr lang="en-GB" b="1" u="sng" dirty="0"/>
              <a:t>test data</a:t>
            </a:r>
            <a:r>
              <a:rPr lang="en-GB" dirty="0"/>
              <a:t> given the model</a:t>
            </a:r>
          </a:p>
          <a:p>
            <a:pPr marL="361950" lvl="2" indent="0">
              <a:buNone/>
              <a:tabLst>
                <a:tab pos="3138488" algn="l"/>
              </a:tabLst>
            </a:pPr>
            <a:endParaRPr lang="en-GB" dirty="0"/>
          </a:p>
          <a:p>
            <a:pPr marL="247650" lvl="1" indent="-342900">
              <a:buFont typeface="+mj-lt"/>
              <a:buAutoNum type="arabicPeriod"/>
              <a:tabLst>
                <a:tab pos="3138488" algn="l"/>
              </a:tabLst>
            </a:pPr>
            <a:r>
              <a:rPr lang="en-GB" dirty="0"/>
              <a:t>Scale the data</a:t>
            </a:r>
          </a:p>
          <a:p>
            <a:pPr marL="247650" lvl="1" indent="-342900">
              <a:buFont typeface="+mj-lt"/>
              <a:buAutoNum type="arabicPeriod"/>
              <a:tabLst>
                <a:tab pos="3138488" algn="l"/>
              </a:tabLst>
            </a:pPr>
            <a:endParaRPr lang="en-GB" dirty="0"/>
          </a:p>
          <a:p>
            <a:pPr marL="247650" lvl="1" indent="-342900">
              <a:buFont typeface="+mj-lt"/>
              <a:buAutoNum type="arabicPeriod"/>
              <a:tabLst>
                <a:tab pos="3138488" algn="l"/>
              </a:tabLst>
            </a:pPr>
            <a:r>
              <a:rPr lang="en-GB" dirty="0"/>
              <a:t>Dummy code the choices </a:t>
            </a:r>
          </a:p>
          <a:p>
            <a:pPr marL="247650" lvl="1" indent="-342900">
              <a:buFont typeface="+mj-lt"/>
              <a:buAutoNum type="arabicPeriod"/>
              <a:tabLst>
                <a:tab pos="3138488" algn="l"/>
              </a:tabLst>
            </a:pPr>
            <a:endParaRPr lang="en-GB" dirty="0"/>
          </a:p>
          <a:p>
            <a:pPr marL="247650" lvl="1" indent="-342900">
              <a:buFont typeface="+mj-lt"/>
              <a:buAutoNum type="arabicPeriod"/>
              <a:tabLst>
                <a:tab pos="3138488" algn="l"/>
              </a:tabLst>
            </a:pPr>
            <a:r>
              <a:rPr lang="en-GB" dirty="0"/>
              <a:t>Tune hyperparameters using a </a:t>
            </a:r>
            <a:r>
              <a:rPr lang="en-GB" dirty="0" err="1"/>
              <a:t>gridsearch</a:t>
            </a:r>
            <a:endParaRPr lang="en-GB" dirty="0"/>
          </a:p>
          <a:p>
            <a:pPr marL="247650" lvl="1" indent="-342900">
              <a:buFont typeface="+mj-lt"/>
              <a:buAutoNum type="arabicPeriod"/>
              <a:tabLst>
                <a:tab pos="3138488" algn="l"/>
              </a:tabLst>
            </a:pPr>
            <a:endParaRPr lang="en-GB" sz="1800" dirty="0"/>
          </a:p>
          <a:p>
            <a:pPr marL="247650" lvl="1" indent="-342900">
              <a:buFont typeface="+mj-lt"/>
              <a:buAutoNum type="arabicPeriod"/>
              <a:tabLst>
                <a:tab pos="3138488" algn="l"/>
              </a:tabLst>
            </a:pPr>
            <a:r>
              <a:rPr lang="en-GB" dirty="0"/>
              <a:t>Train model with tuned hyperparameters</a:t>
            </a:r>
          </a:p>
          <a:p>
            <a:pPr marL="247650" lvl="1" indent="-342900">
              <a:buFont typeface="+mj-lt"/>
              <a:buAutoNum type="arabicPeriod"/>
              <a:tabLst>
                <a:tab pos="3138488" algn="l"/>
              </a:tabLst>
            </a:pPr>
            <a:endParaRPr lang="en-GB" sz="1800" dirty="0"/>
          </a:p>
          <a:p>
            <a:pPr marL="247650" lvl="1" indent="-342900">
              <a:buFont typeface="+mj-lt"/>
              <a:buAutoNum type="arabicPeriod"/>
              <a:tabLst>
                <a:tab pos="3138488" algn="l"/>
              </a:tabLst>
            </a:pPr>
            <a:r>
              <a:rPr lang="en-GB" b="1" dirty="0"/>
              <a:t>Compute the log-likelihood of the test data, given the trained MLP model</a:t>
            </a:r>
            <a:endParaRPr lang="en-GB" sz="1800" b="1" dirty="0"/>
          </a:p>
          <a:p>
            <a:pPr marL="1257300" lvl="3"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TextBox 6">
            <a:extLst>
              <a:ext uri="{FF2B5EF4-FFF2-40B4-BE49-F238E27FC236}">
                <a16:creationId xmlns:a16="http://schemas.microsoft.com/office/drawing/2014/main" id="{31A03BBB-5D5C-2F5F-C425-0A2025EB1244}"/>
              </a:ext>
            </a:extLst>
          </p:cNvPr>
          <p:cNvSpPr txBox="1"/>
          <p:nvPr/>
        </p:nvSpPr>
        <p:spPr>
          <a:xfrm>
            <a:off x="7090075" y="4858989"/>
            <a:ext cx="4989363" cy="1999011"/>
          </a:xfrm>
          <a:prstGeom prst="rect">
            <a:avLst/>
          </a:prstGeom>
          <a:noFill/>
        </p:spPr>
        <p:txBody>
          <a:bodyPr wrap="square" rtlCol="0">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Now we can compare LL</a:t>
            </a:r>
            <a:r>
              <a:rPr kumimoji="0" lang="en-GB" sz="1800" b="0" i="0" u="none" strike="noStrike" kern="1200" cap="none" spc="0" normalizeH="0" baseline="-2500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MLP</a:t>
            </a:r>
            <a:r>
              <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 with LL</a:t>
            </a:r>
            <a:r>
              <a:rPr kumimoji="0" lang="en-GB" sz="1800" b="0" i="0" u="none" strike="noStrike" kern="1200" cap="none" spc="0" normalizeH="0" baseline="-2500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MNL</a:t>
            </a:r>
            <a:r>
              <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 (-1146)</a:t>
            </a:r>
          </a:p>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endPar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endParaRPr>
          </a:p>
          <a:p>
            <a:pPr marL="285750" marR="0" lvl="0" indent="-285750" algn="l" defTabSz="904875" rtl="0" eaLnBrk="1" fontAlgn="auto" latinLnBrk="0" hangingPunct="1">
              <a:lnSpc>
                <a:spcPct val="100000"/>
              </a:lnSpc>
              <a:spcBef>
                <a:spcPts val="0"/>
              </a:spcBef>
              <a:spcAft>
                <a:spcPts val="0"/>
              </a:spcAft>
              <a:buClrTx/>
              <a:buSzTx/>
              <a:buFont typeface="Wingdings" pitchFamily="2" charset="2"/>
              <a:buChar char="Ø"/>
              <a:tabLst>
                <a:tab pos="715963" algn="l"/>
                <a:tab pos="3228975" algn="l"/>
              </a:tabLst>
              <a:defRPr/>
            </a:pPr>
            <a:r>
              <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MLP model obtains a much better model fit       (-116 LL points) </a:t>
            </a:r>
          </a:p>
          <a:p>
            <a:pPr marL="285750" marR="0" lvl="0" indent="-285750" algn="l" defTabSz="904875" rtl="0" eaLnBrk="1" fontAlgn="auto" latinLnBrk="0" hangingPunct="1">
              <a:lnSpc>
                <a:spcPct val="100000"/>
              </a:lnSpc>
              <a:spcBef>
                <a:spcPts val="0"/>
              </a:spcBef>
              <a:spcAft>
                <a:spcPts val="0"/>
              </a:spcAft>
              <a:buClrTx/>
              <a:buSzTx/>
              <a:buFont typeface="Wingdings" pitchFamily="2" charset="2"/>
              <a:buChar char="Ø"/>
              <a:tabLst>
                <a:tab pos="715963" algn="l"/>
                <a:tab pos="3228975" algn="l"/>
              </a:tabLst>
              <a:defRPr/>
            </a:pPr>
            <a:endPar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endParaRPr>
          </a:p>
          <a:p>
            <a:pPr marL="285750" marR="0" lvl="0" indent="-285750" algn="l" defTabSz="904875" rtl="0" eaLnBrk="1" fontAlgn="auto" latinLnBrk="0" hangingPunct="1">
              <a:lnSpc>
                <a:spcPct val="100000"/>
              </a:lnSpc>
              <a:spcBef>
                <a:spcPts val="0"/>
              </a:spcBef>
              <a:spcAft>
                <a:spcPts val="0"/>
              </a:spcAft>
              <a:buClrTx/>
              <a:buSzTx/>
              <a:buFont typeface="Wingdings" pitchFamily="2" charset="2"/>
              <a:buChar char="Ø"/>
              <a:tabLst>
                <a:tab pos="715963" algn="l"/>
                <a:tab pos="3228975" algn="l"/>
              </a:tabLst>
              <a:defRPr/>
            </a:pPr>
            <a:r>
              <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Suggests data generating process substantially deviate from linear-additive RUM!</a:t>
            </a:r>
          </a:p>
          <a:p>
            <a:pPr marL="285750" marR="0" lvl="0" indent="-285750" algn="l" defTabSz="904875" rtl="0" eaLnBrk="1" fontAlgn="auto" latinLnBrk="0" hangingPunct="1">
              <a:lnSpc>
                <a:spcPct val="100000"/>
              </a:lnSpc>
              <a:spcBef>
                <a:spcPts val="0"/>
              </a:spcBef>
              <a:spcAft>
                <a:spcPts val="0"/>
              </a:spcAft>
              <a:buClrTx/>
              <a:buSzTx/>
              <a:buFont typeface="Wingdings" pitchFamily="2" charset="2"/>
              <a:buChar char="Ø"/>
              <a:tabLst>
                <a:tab pos="715963" algn="l"/>
                <a:tab pos="3228975" algn="l"/>
              </a:tabLst>
              <a:defRPr/>
            </a:pPr>
            <a:endPar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endParaRPr>
          </a:p>
        </p:txBody>
      </p:sp>
      <p:pic>
        <p:nvPicPr>
          <p:cNvPr id="8" name="Picture 2" descr="Image result for understand icon">
            <a:extLst>
              <a:ext uri="{FF2B5EF4-FFF2-40B4-BE49-F238E27FC236}">
                <a16:creationId xmlns:a16="http://schemas.microsoft.com/office/drawing/2014/main" id="{CDB802C7-14AC-43C8-D390-D7C27E17E13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47075" y="4981039"/>
            <a:ext cx="1143000" cy="11430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2CF24742-4FDA-F708-2344-C34B06A291A8}"/>
              </a:ext>
            </a:extLst>
          </p:cNvPr>
          <p:cNvPicPr>
            <a:picLocks noChangeAspect="1"/>
          </p:cNvPicPr>
          <p:nvPr/>
        </p:nvPicPr>
        <p:blipFill>
          <a:blip r:embed="rId3"/>
          <a:stretch>
            <a:fillRect/>
          </a:stretch>
        </p:blipFill>
        <p:spPr>
          <a:xfrm>
            <a:off x="6096001" y="2499828"/>
            <a:ext cx="5350654" cy="2213702"/>
          </a:xfrm>
          <a:prstGeom prst="rect">
            <a:avLst/>
          </a:prstGeom>
        </p:spPr>
      </p:pic>
      <p:sp>
        <p:nvSpPr>
          <p:cNvPr id="10" name="Title 1">
            <a:extLst>
              <a:ext uri="{FF2B5EF4-FFF2-40B4-BE49-F238E27FC236}">
                <a16:creationId xmlns:a16="http://schemas.microsoft.com/office/drawing/2014/main" id="{12429841-B77C-15B6-9B6B-89037DC0AB57}"/>
              </a:ext>
            </a:extLst>
          </p:cNvPr>
          <p:cNvSpPr>
            <a:spLocks noGrp="1"/>
          </p:cNvSpPr>
          <p:nvPr>
            <p:ph type="title"/>
          </p:nvPr>
        </p:nvSpPr>
        <p:spPr>
          <a:xfrm>
            <a:off x="1981200" y="-41608"/>
            <a:ext cx="8229600" cy="1143000"/>
          </a:xfrm>
        </p:spPr>
        <p:txBody>
          <a:bodyPr/>
          <a:lstStyle/>
          <a:p>
            <a:r>
              <a:rPr lang="en-GB" dirty="0"/>
              <a:t>Empirical example MLP: Case A</a:t>
            </a:r>
            <a:endParaRPr lang="en-GB" sz="1800" dirty="0"/>
          </a:p>
        </p:txBody>
      </p:sp>
      <p:sp>
        <p:nvSpPr>
          <p:cNvPr id="11" name="Line 2">
            <a:extLst>
              <a:ext uri="{FF2B5EF4-FFF2-40B4-BE49-F238E27FC236}">
                <a16:creationId xmlns:a16="http://schemas.microsoft.com/office/drawing/2014/main" id="{AC11ECAF-5222-4ACD-3F63-CDDB12080647}"/>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2" name="Line 2">
            <a:extLst>
              <a:ext uri="{FF2B5EF4-FFF2-40B4-BE49-F238E27FC236}">
                <a16:creationId xmlns:a16="http://schemas.microsoft.com/office/drawing/2014/main" id="{8845A074-D19F-422D-5AEE-4F33937F7DEB}"/>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27679057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720000" y="1268760"/>
            <a:ext cx="4856207" cy="5087590"/>
          </a:xfrm>
        </p:spPr>
        <p:txBody>
          <a:bodyPr>
            <a:noAutofit/>
          </a:bodyPr>
          <a:lstStyle/>
          <a:p>
            <a:pPr marL="0" lvl="1" indent="0">
              <a:buNone/>
              <a:tabLst>
                <a:tab pos="3138488" algn="l"/>
              </a:tabLst>
            </a:pPr>
            <a:r>
              <a:rPr lang="en-GB" b="1" dirty="0"/>
              <a:t>MLP using attributes of alternatives only</a:t>
            </a:r>
            <a:endParaRPr lang="en-GB"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800100" lvl="2" indent="-400050">
              <a:tabLst>
                <a:tab pos="3138488" algn="l"/>
              </a:tabLst>
            </a:pPr>
            <a:endParaRPr lang="en-GB" sz="1800" dirty="0"/>
          </a:p>
          <a:p>
            <a:pPr marL="0" lvl="1" indent="-57150">
              <a:buNone/>
              <a:tabLst>
                <a:tab pos="3138488" algn="l"/>
              </a:tabLst>
            </a:pPr>
            <a:endParaRPr lang="en-GB" dirty="0"/>
          </a:p>
          <a:p>
            <a:pPr marL="0" lvl="1" indent="-57150">
              <a:buNone/>
              <a:tabLst>
                <a:tab pos="3138488" algn="l"/>
              </a:tabLst>
            </a:pPr>
            <a:endParaRPr lang="en-GB" dirty="0"/>
          </a:p>
          <a:p>
            <a:pPr marL="800100" lvl="2" indent="-400050">
              <a:tabLst>
                <a:tab pos="3138488" algn="l"/>
              </a:tabLst>
            </a:pPr>
            <a:endParaRPr lang="en-GB" sz="18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TextBox 6">
            <a:extLst>
              <a:ext uri="{FF2B5EF4-FFF2-40B4-BE49-F238E27FC236}">
                <a16:creationId xmlns:a16="http://schemas.microsoft.com/office/drawing/2014/main" id="{31A03BBB-5D5C-2F5F-C425-0A2025EB1244}"/>
              </a:ext>
            </a:extLst>
          </p:cNvPr>
          <p:cNvSpPr txBox="1"/>
          <p:nvPr/>
        </p:nvSpPr>
        <p:spPr>
          <a:xfrm>
            <a:off x="7283375" y="3295998"/>
            <a:ext cx="4693363" cy="3287364"/>
          </a:xfrm>
          <a:prstGeom prst="rect">
            <a:avLst/>
          </a:prstGeom>
          <a:noFill/>
        </p:spPr>
        <p:txBody>
          <a:bodyPr wrap="square" rtlCol="0">
            <a:noAutofit/>
          </a:bodyPr>
          <a:lstStyle/>
          <a:p>
            <a:pPr marL="285750" marR="0" lvl="0" indent="-285750" algn="l" defTabSz="904875" rtl="0" eaLnBrk="1" fontAlgn="auto" latinLnBrk="0" hangingPunct="1">
              <a:lnSpc>
                <a:spcPct val="100000"/>
              </a:lnSpc>
              <a:spcBef>
                <a:spcPts val="0"/>
              </a:spcBef>
              <a:spcAft>
                <a:spcPts val="0"/>
              </a:spcAft>
              <a:buClrTx/>
              <a:buSzTx/>
              <a:buFont typeface="Wingdings" pitchFamily="2" charset="2"/>
              <a:buChar char="Ø"/>
              <a:tabLst>
                <a:tab pos="715963" algn="l"/>
                <a:tab pos="3228975" algn="l"/>
              </a:tabLst>
              <a:defRPr/>
            </a:pPr>
            <a:r>
              <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MNL is uniquely identifiable. Convex LL  guaranteed unique solution</a:t>
            </a:r>
          </a:p>
          <a:p>
            <a:pPr marL="285750" marR="0" lvl="0" indent="-285750" algn="l" defTabSz="904875" rtl="0" eaLnBrk="1" fontAlgn="auto" latinLnBrk="0" hangingPunct="1">
              <a:lnSpc>
                <a:spcPct val="100000"/>
              </a:lnSpc>
              <a:spcBef>
                <a:spcPts val="0"/>
              </a:spcBef>
              <a:spcAft>
                <a:spcPts val="0"/>
              </a:spcAft>
              <a:buClrTx/>
              <a:buSzTx/>
              <a:buFont typeface="Wingdings" pitchFamily="2" charset="2"/>
              <a:buChar char="Ø"/>
              <a:tabLst>
                <a:tab pos="715963" algn="l"/>
                <a:tab pos="3228975" algn="l"/>
              </a:tabLst>
              <a:defRPr/>
            </a:pPr>
            <a:endPar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endParaRPr>
          </a:p>
          <a:p>
            <a:pPr marL="285750" marR="0" lvl="0" indent="-285750" algn="l" defTabSz="904875" rtl="0" eaLnBrk="1" fontAlgn="auto" latinLnBrk="0" hangingPunct="1">
              <a:lnSpc>
                <a:spcPct val="100000"/>
              </a:lnSpc>
              <a:spcBef>
                <a:spcPts val="0"/>
              </a:spcBef>
              <a:spcAft>
                <a:spcPts val="0"/>
              </a:spcAft>
              <a:buClrTx/>
              <a:buSzTx/>
              <a:buFont typeface="Wingdings" pitchFamily="2" charset="2"/>
              <a:buChar char="Ø"/>
              <a:tabLst>
                <a:tab pos="715963" algn="l"/>
                <a:tab pos="3228975" algn="l"/>
              </a:tabLst>
              <a:defRPr/>
            </a:pPr>
            <a:r>
              <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MLP model robustly improves model fit, on </a:t>
            </a:r>
            <a:r>
              <a:rPr kumimoji="0" lang="en-GB" sz="1800" b="0" i="0" u="none" strike="noStrike" kern="1200" cap="none" spc="0" normalizeH="0" baseline="0" noProof="0" dirty="0" err="1">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avg</a:t>
            </a:r>
            <a:r>
              <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 by almost 120 LL points</a:t>
            </a:r>
          </a:p>
          <a:p>
            <a:pPr marL="285750" marR="0" lvl="0" indent="-285750" algn="l" defTabSz="904875" rtl="0" eaLnBrk="1" fontAlgn="auto" latinLnBrk="0" hangingPunct="1">
              <a:lnSpc>
                <a:spcPct val="100000"/>
              </a:lnSpc>
              <a:spcBef>
                <a:spcPts val="0"/>
              </a:spcBef>
              <a:spcAft>
                <a:spcPts val="0"/>
              </a:spcAft>
              <a:buClrTx/>
              <a:buSzTx/>
              <a:buFont typeface="Wingdings" pitchFamily="2" charset="2"/>
              <a:buChar char="Ø"/>
              <a:tabLst>
                <a:tab pos="715963" algn="l"/>
                <a:tab pos="3228975" algn="l"/>
              </a:tabLst>
              <a:defRPr/>
            </a:pPr>
            <a:endPar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endParaRPr>
          </a:p>
          <a:p>
            <a:pPr marL="285750" marR="0" lvl="0" indent="-285750" algn="l" defTabSz="904875" rtl="0" eaLnBrk="1" fontAlgn="auto" latinLnBrk="0" hangingPunct="1">
              <a:lnSpc>
                <a:spcPct val="100000"/>
              </a:lnSpc>
              <a:spcBef>
                <a:spcPts val="0"/>
              </a:spcBef>
              <a:spcAft>
                <a:spcPts val="0"/>
              </a:spcAft>
              <a:buClrTx/>
              <a:buSzTx/>
              <a:buFont typeface="Wingdings" pitchFamily="2" charset="2"/>
              <a:buChar char="Ø"/>
              <a:tabLst>
                <a:tab pos="715963" algn="l"/>
                <a:tab pos="3228975" algn="l"/>
              </a:tabLst>
              <a:defRPr/>
            </a:pPr>
            <a:r>
              <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Var(LL) = ~70 LL</a:t>
            </a:r>
          </a:p>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endPar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endParaRPr>
          </a:p>
        </p:txBody>
      </p:sp>
      <p:pic>
        <p:nvPicPr>
          <p:cNvPr id="2" name="Picture 1">
            <a:extLst>
              <a:ext uri="{FF2B5EF4-FFF2-40B4-BE49-F238E27FC236}">
                <a16:creationId xmlns:a16="http://schemas.microsoft.com/office/drawing/2014/main" id="{BB5A3EE8-F757-A83F-A8CB-C0DC06445340}"/>
              </a:ext>
            </a:extLst>
          </p:cNvPr>
          <p:cNvPicPr>
            <a:picLocks noChangeAspect="1"/>
          </p:cNvPicPr>
          <p:nvPr/>
        </p:nvPicPr>
        <p:blipFill>
          <a:blip r:embed="rId2">
            <a:duotone>
              <a:schemeClr val="accent5">
                <a:shade val="45000"/>
                <a:satMod val="135000"/>
              </a:schemeClr>
              <a:prstClr val="white"/>
            </a:duotone>
          </a:blip>
          <a:stretch>
            <a:fillRect/>
          </a:stretch>
        </p:blipFill>
        <p:spPr>
          <a:xfrm>
            <a:off x="910978" y="1813691"/>
            <a:ext cx="778511" cy="813600"/>
          </a:xfrm>
          <a:prstGeom prst="rect">
            <a:avLst/>
          </a:prstGeom>
        </p:spPr>
      </p:pic>
      <p:sp>
        <p:nvSpPr>
          <p:cNvPr id="9" name="TextBox 8">
            <a:extLst>
              <a:ext uri="{FF2B5EF4-FFF2-40B4-BE49-F238E27FC236}">
                <a16:creationId xmlns:a16="http://schemas.microsoft.com/office/drawing/2014/main" id="{10097362-4502-42A5-B23C-1ED95F9959E3}"/>
              </a:ext>
            </a:extLst>
          </p:cNvPr>
          <p:cNvSpPr txBox="1"/>
          <p:nvPr/>
        </p:nvSpPr>
        <p:spPr>
          <a:xfrm>
            <a:off x="1863000" y="1956391"/>
            <a:ext cx="3527707" cy="543437"/>
          </a:xfrm>
          <a:prstGeom prst="rect">
            <a:avLst/>
          </a:prstGeom>
          <a:noFill/>
        </p:spPr>
        <p:txBody>
          <a:bodyPr wrap="square" rtlCol="0" anchor="ctr">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MLPs are not uniquely identifiable</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rPr>
              <a:t> </a:t>
            </a:r>
          </a:p>
        </p:txBody>
      </p:sp>
      <p:grpSp>
        <p:nvGrpSpPr>
          <p:cNvPr id="3" name="Group 2">
            <a:extLst>
              <a:ext uri="{FF2B5EF4-FFF2-40B4-BE49-F238E27FC236}">
                <a16:creationId xmlns:a16="http://schemas.microsoft.com/office/drawing/2014/main" id="{B57C2E2B-D0BD-B670-542D-CBE112B75EB0}"/>
              </a:ext>
            </a:extLst>
          </p:cNvPr>
          <p:cNvGrpSpPr/>
          <p:nvPr/>
        </p:nvGrpSpPr>
        <p:grpSpPr>
          <a:xfrm>
            <a:off x="546265" y="1743364"/>
            <a:ext cx="10961373" cy="4935706"/>
            <a:chOff x="546265" y="1743364"/>
            <a:chExt cx="10961373" cy="4935706"/>
          </a:xfrm>
        </p:grpSpPr>
        <p:pic>
          <p:nvPicPr>
            <p:cNvPr id="17" name="Picture 16">
              <a:extLst>
                <a:ext uri="{FF2B5EF4-FFF2-40B4-BE49-F238E27FC236}">
                  <a16:creationId xmlns:a16="http://schemas.microsoft.com/office/drawing/2014/main" id="{D35F8E19-DF01-F239-CAFE-E2FD40757A10}"/>
                </a:ext>
              </a:extLst>
            </p:cNvPr>
            <p:cNvPicPr>
              <a:picLocks noChangeAspect="1"/>
            </p:cNvPicPr>
            <p:nvPr/>
          </p:nvPicPr>
          <p:blipFill>
            <a:blip r:embed="rId3"/>
            <a:stretch>
              <a:fillRect/>
            </a:stretch>
          </p:blipFill>
          <p:spPr>
            <a:xfrm>
              <a:off x="546265" y="3295070"/>
              <a:ext cx="6558214" cy="3384000"/>
            </a:xfrm>
            <a:prstGeom prst="rect">
              <a:avLst/>
            </a:prstGeom>
          </p:spPr>
        </p:pic>
        <p:pic>
          <p:nvPicPr>
            <p:cNvPr id="10" name="Picture 2" descr="Image result for understand icon">
              <a:extLst>
                <a:ext uri="{FF2B5EF4-FFF2-40B4-BE49-F238E27FC236}">
                  <a16:creationId xmlns:a16="http://schemas.microsoft.com/office/drawing/2014/main" id="{5ED6F463-AF6E-78E6-FA12-A9186A7B13F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13886" y="1743364"/>
              <a:ext cx="969489" cy="969489"/>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629E0C90-EC09-FD1F-266E-EB2D55A2D7D4}"/>
                </a:ext>
              </a:extLst>
            </p:cNvPr>
            <p:cNvSpPr txBox="1"/>
            <p:nvPr/>
          </p:nvSpPr>
          <p:spPr>
            <a:xfrm>
              <a:off x="7283375" y="1915219"/>
              <a:ext cx="4224263" cy="750029"/>
            </a:xfrm>
            <a:prstGeom prst="rect">
              <a:avLst/>
            </a:prstGeom>
            <a:noFill/>
          </p:spPr>
          <p:txBody>
            <a:bodyPr wrap="square" rtlCol="0" anchor="ctr">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To see how robust the improvement in performance is, we must train numerous instances of the MLP</a:t>
              </a:r>
            </a:p>
          </p:txBody>
        </p:sp>
      </p:grpSp>
      <p:sp>
        <p:nvSpPr>
          <p:cNvPr id="13" name="Title 1">
            <a:extLst>
              <a:ext uri="{FF2B5EF4-FFF2-40B4-BE49-F238E27FC236}">
                <a16:creationId xmlns:a16="http://schemas.microsoft.com/office/drawing/2014/main" id="{DCE81571-730C-6CD9-BF5D-BF9EE899A7FC}"/>
              </a:ext>
            </a:extLst>
          </p:cNvPr>
          <p:cNvSpPr>
            <a:spLocks noGrp="1"/>
          </p:cNvSpPr>
          <p:nvPr>
            <p:ph type="title"/>
          </p:nvPr>
        </p:nvSpPr>
        <p:spPr>
          <a:xfrm>
            <a:off x="1981200" y="-41608"/>
            <a:ext cx="8229600" cy="1143000"/>
          </a:xfrm>
        </p:spPr>
        <p:txBody>
          <a:bodyPr/>
          <a:lstStyle/>
          <a:p>
            <a:r>
              <a:rPr lang="en-GB" dirty="0"/>
              <a:t>Empirical example MLP: Case A</a:t>
            </a:r>
            <a:endParaRPr lang="en-GB" sz="1800" dirty="0"/>
          </a:p>
        </p:txBody>
      </p:sp>
      <p:sp>
        <p:nvSpPr>
          <p:cNvPr id="14" name="Line 2">
            <a:extLst>
              <a:ext uri="{FF2B5EF4-FFF2-40B4-BE49-F238E27FC236}">
                <a16:creationId xmlns:a16="http://schemas.microsoft.com/office/drawing/2014/main" id="{4BB27E15-9141-7D5D-446F-F0200CD41CC3}"/>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5" name="Line 2">
            <a:extLst>
              <a:ext uri="{FF2B5EF4-FFF2-40B4-BE49-F238E27FC236}">
                <a16:creationId xmlns:a16="http://schemas.microsoft.com/office/drawing/2014/main" id="{7E83F414-EE48-EB67-82D4-7C234DF6865C}"/>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1629590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720000" y="1268760"/>
            <a:ext cx="6839644" cy="2160240"/>
          </a:xfrm>
        </p:spPr>
        <p:txBody>
          <a:bodyPr>
            <a:noAutofit/>
          </a:bodyPr>
          <a:lstStyle/>
          <a:p>
            <a:pPr marL="0" lvl="1" indent="0">
              <a:buNone/>
              <a:tabLst>
                <a:tab pos="3138488" algn="l"/>
              </a:tabLst>
            </a:pPr>
            <a:r>
              <a:rPr lang="en-GB" b="1" dirty="0"/>
              <a:t>MLP using attributes of alternatives + socio-demographic variables</a:t>
            </a:r>
          </a:p>
          <a:p>
            <a:pPr marL="285750" lvl="1" indent="-285750">
              <a:tabLst>
                <a:tab pos="3138488" algn="l"/>
              </a:tabLst>
            </a:pPr>
            <a:endParaRPr lang="en-GB" b="1" dirty="0"/>
          </a:p>
          <a:p>
            <a:pPr marL="285750" lvl="1" indent="-285750">
              <a:tabLst>
                <a:tab pos="3138488" algn="l"/>
              </a:tabLst>
            </a:pPr>
            <a:r>
              <a:rPr lang="en-GB" dirty="0">
                <a:cs typeface="Calibri" panose="020F0502020204030204" pitchFamily="34" charset="0"/>
                <a:sym typeface="Wingdings" panose="05000000000000000000" pitchFamily="2" charset="2"/>
              </a:rPr>
              <a:t>There is no good </a:t>
            </a:r>
            <a:r>
              <a:rPr lang="en-GB" b="1" dirty="0">
                <a:cs typeface="Calibri" panose="020F0502020204030204" pitchFamily="34" charset="0"/>
                <a:sym typeface="Wingdings" panose="05000000000000000000" pitchFamily="2" charset="2"/>
              </a:rPr>
              <a:t>theory</a:t>
            </a:r>
            <a:r>
              <a:rPr lang="en-GB" dirty="0">
                <a:cs typeface="Calibri" panose="020F0502020204030204" pitchFamily="34" charset="0"/>
                <a:sym typeface="Wingdings" panose="05000000000000000000" pitchFamily="2" charset="2"/>
              </a:rPr>
              <a:t> about how socio-demographic variables </a:t>
            </a:r>
            <a:r>
              <a:rPr lang="en-GB" b="1" dirty="0">
                <a:cs typeface="Calibri" panose="020F0502020204030204" pitchFamily="34" charset="0"/>
                <a:sym typeface="Wingdings" panose="05000000000000000000" pitchFamily="2" charset="2"/>
              </a:rPr>
              <a:t>interact</a:t>
            </a:r>
            <a:r>
              <a:rPr lang="en-GB" dirty="0">
                <a:cs typeface="Calibri" panose="020F0502020204030204" pitchFamily="34" charset="0"/>
                <a:sym typeface="Wingdings" panose="05000000000000000000" pitchFamily="2" charset="2"/>
              </a:rPr>
              <a:t> with tastes and preferences</a:t>
            </a:r>
          </a:p>
          <a:p>
            <a:pPr marL="285750" lvl="1" indent="-285750">
              <a:tabLst>
                <a:tab pos="3138488" algn="l"/>
              </a:tabLst>
            </a:pPr>
            <a:endParaRPr lang="en-GB" b="1" dirty="0"/>
          </a:p>
          <a:p>
            <a:pPr marL="285750" lvl="1" indent="-285750">
              <a:buFont typeface="Wingdings" pitchFamily="2" charset="2"/>
              <a:buChar char="Ø"/>
              <a:tabLst>
                <a:tab pos="3138488" algn="l"/>
              </a:tabLst>
            </a:pPr>
            <a:r>
              <a:rPr lang="en-GB" dirty="0">
                <a:cs typeface="Calibri" panose="020F0502020204030204" pitchFamily="34" charset="0"/>
                <a:sym typeface="Wingdings" panose="05000000000000000000" pitchFamily="2" charset="2"/>
              </a:rPr>
              <a:t>It is often unclear how to incorporate socio-demographic variables in the utility function</a:t>
            </a:r>
          </a:p>
          <a:p>
            <a:pPr marL="285750" lvl="1" indent="-285750">
              <a:tabLst>
                <a:tab pos="3138488" algn="l"/>
              </a:tabLst>
            </a:pPr>
            <a:endParaRPr lang="en-GB" b="1"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Content Placeholder 2">
            <a:extLst>
              <a:ext uri="{FF2B5EF4-FFF2-40B4-BE49-F238E27FC236}">
                <a16:creationId xmlns:a16="http://schemas.microsoft.com/office/drawing/2014/main" id="{472FBBEC-0EDC-A590-F354-1C5A88DA60E6}"/>
              </a:ext>
            </a:extLst>
          </p:cNvPr>
          <p:cNvSpPr txBox="1">
            <a:spLocks/>
          </p:cNvSpPr>
          <p:nvPr/>
        </p:nvSpPr>
        <p:spPr>
          <a:xfrm>
            <a:off x="720000" y="3168502"/>
            <a:ext cx="4856207" cy="35008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514350" algn="l" defTabSz="914400" rtl="0" eaLnBrk="1" fontAlgn="auto" latinLnBrk="0" hangingPunct="1">
              <a:lnSpc>
                <a:spcPct val="90000"/>
              </a:lnSpc>
              <a:spcBef>
                <a:spcPts val="1000"/>
              </a:spcBef>
              <a:spcAft>
                <a:spcPts val="0"/>
              </a:spcAft>
              <a:buClrTx/>
              <a:buSzTx/>
              <a:buFont typeface="Arial" panose="020B0604020202020204" pitchFamily="34" charset="0"/>
              <a:buNone/>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2" descr="Image result for understand icon">
            <a:extLst>
              <a:ext uri="{FF2B5EF4-FFF2-40B4-BE49-F238E27FC236}">
                <a16:creationId xmlns:a16="http://schemas.microsoft.com/office/drawing/2014/main" id="{D14D7958-D6C1-948A-75FA-345374BCA7F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5326" y="3859023"/>
            <a:ext cx="969489" cy="969489"/>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1A35073E-36E4-A30B-577D-2088C5BB661F}"/>
              </a:ext>
            </a:extLst>
          </p:cNvPr>
          <p:cNvSpPr txBox="1"/>
          <p:nvPr/>
        </p:nvSpPr>
        <p:spPr>
          <a:xfrm>
            <a:off x="1981201" y="3507673"/>
            <a:ext cx="6329880" cy="1672191"/>
          </a:xfrm>
          <a:prstGeom prst="rect">
            <a:avLst/>
          </a:prstGeom>
          <a:noFill/>
        </p:spPr>
        <p:txBody>
          <a:bodyPr wrap="square" rtlCol="0" anchor="ctr">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We might as well feed socio-demographic variables to the MLP</a:t>
            </a:r>
          </a:p>
        </p:txBody>
      </p:sp>
      <p:pic>
        <p:nvPicPr>
          <p:cNvPr id="18" name="Picture 2" descr="Inducing choice paralysis: how retailers bury customers in an avalanche of  options">
            <a:extLst>
              <a:ext uri="{FF2B5EF4-FFF2-40B4-BE49-F238E27FC236}">
                <a16:creationId xmlns:a16="http://schemas.microsoft.com/office/drawing/2014/main" id="{2A2AF620-0821-E5B6-4ED2-E4C779F506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8588513" y="1080000"/>
            <a:ext cx="3239418" cy="232833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9" name="Title 1">
            <a:extLst>
              <a:ext uri="{FF2B5EF4-FFF2-40B4-BE49-F238E27FC236}">
                <a16:creationId xmlns:a16="http://schemas.microsoft.com/office/drawing/2014/main" id="{DC072B3A-08F9-66D2-74ED-B59C1C91E2F1}"/>
              </a:ext>
            </a:extLst>
          </p:cNvPr>
          <p:cNvSpPr>
            <a:spLocks noGrp="1"/>
          </p:cNvSpPr>
          <p:nvPr>
            <p:ph type="title"/>
          </p:nvPr>
        </p:nvSpPr>
        <p:spPr>
          <a:xfrm>
            <a:off x="1981200" y="-41608"/>
            <a:ext cx="8229600" cy="1143000"/>
          </a:xfrm>
        </p:spPr>
        <p:txBody>
          <a:bodyPr/>
          <a:lstStyle/>
          <a:p>
            <a:r>
              <a:rPr lang="en-GB" dirty="0"/>
              <a:t>Empirical example MLP: Case B</a:t>
            </a:r>
            <a:endParaRPr lang="en-GB" sz="1800" dirty="0"/>
          </a:p>
        </p:txBody>
      </p:sp>
      <p:sp>
        <p:nvSpPr>
          <p:cNvPr id="10" name="Line 2">
            <a:extLst>
              <a:ext uri="{FF2B5EF4-FFF2-40B4-BE49-F238E27FC236}">
                <a16:creationId xmlns:a16="http://schemas.microsoft.com/office/drawing/2014/main" id="{AD99FDDF-44B8-FF95-BE67-42E7E728928A}"/>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1" name="Line 2">
            <a:extLst>
              <a:ext uri="{FF2B5EF4-FFF2-40B4-BE49-F238E27FC236}">
                <a16:creationId xmlns:a16="http://schemas.microsoft.com/office/drawing/2014/main" id="{D60D2243-3C54-9018-2889-D5C5450E9DB7}"/>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70033418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719999" y="1268760"/>
            <a:ext cx="6912071" cy="443082"/>
          </a:xfrm>
        </p:spPr>
        <p:txBody>
          <a:bodyPr>
            <a:noAutofit/>
          </a:bodyPr>
          <a:lstStyle/>
          <a:p>
            <a:pPr marL="0" lvl="1" indent="0">
              <a:buNone/>
              <a:tabLst>
                <a:tab pos="3138488" algn="l"/>
              </a:tabLst>
            </a:pPr>
            <a:r>
              <a:rPr lang="en-GB" b="1" dirty="0"/>
              <a:t>MLP using attributes of alternatives + socio-demographic variables</a:t>
            </a:r>
          </a:p>
          <a:p>
            <a:pPr marL="0" lvl="1" indent="0">
              <a:buNone/>
              <a:tabLst>
                <a:tab pos="3138488" algn="l"/>
              </a:tabLst>
            </a:pPr>
            <a:endParaRPr lang="en-GB" b="1"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Content Placeholder 2">
            <a:extLst>
              <a:ext uri="{FF2B5EF4-FFF2-40B4-BE49-F238E27FC236}">
                <a16:creationId xmlns:a16="http://schemas.microsoft.com/office/drawing/2014/main" id="{472FBBEC-0EDC-A590-F354-1C5A88DA60E6}"/>
              </a:ext>
            </a:extLst>
          </p:cNvPr>
          <p:cNvSpPr txBox="1">
            <a:spLocks/>
          </p:cNvSpPr>
          <p:nvPr/>
        </p:nvSpPr>
        <p:spPr>
          <a:xfrm>
            <a:off x="720000" y="3168502"/>
            <a:ext cx="4856207" cy="35008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514350" algn="l" defTabSz="914400" rtl="0" eaLnBrk="1" fontAlgn="auto" latinLnBrk="0" hangingPunct="1">
              <a:lnSpc>
                <a:spcPct val="90000"/>
              </a:lnSpc>
              <a:spcBef>
                <a:spcPts val="1000"/>
              </a:spcBef>
              <a:spcAft>
                <a:spcPts val="0"/>
              </a:spcAft>
              <a:buClrTx/>
              <a:buSzTx/>
              <a:buFont typeface="Arial" panose="020B0604020202020204" pitchFamily="34" charset="0"/>
              <a:buNone/>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Content Placeholder 2">
            <a:extLst>
              <a:ext uri="{FF2B5EF4-FFF2-40B4-BE49-F238E27FC236}">
                <a16:creationId xmlns:a16="http://schemas.microsoft.com/office/drawing/2014/main" id="{25F1079E-FEC0-0AEF-5294-1B1D95E55BAB}"/>
              </a:ext>
            </a:extLst>
          </p:cNvPr>
          <p:cNvSpPr txBox="1">
            <a:spLocks/>
          </p:cNvSpPr>
          <p:nvPr/>
        </p:nvSpPr>
        <p:spPr>
          <a:xfrm>
            <a:off x="720000" y="1728000"/>
            <a:ext cx="4856207" cy="48299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04875" rtl="0" eaLnBrk="1" fontAlgn="auto" latinLnBrk="0" hangingPunct="1">
              <a:lnSpc>
                <a:spcPct val="90000"/>
              </a:lnSpc>
              <a:spcBef>
                <a:spcPts val="1000"/>
              </a:spcBef>
              <a:spcAft>
                <a:spcPts val="0"/>
              </a:spcAft>
              <a:buClrTx/>
              <a:buSzTx/>
              <a:buFont typeface="+mj-lt"/>
              <a:buAutoNum type="arabicPeriod"/>
              <a:tabLst>
                <a:tab pos="715963" algn="l"/>
                <a:tab pos="3228975" algn="l"/>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rPr>
              <a:t>Categorical socio-</a:t>
            </a:r>
            <a:r>
              <a:rPr kumimoji="0" lang="en-GB" sz="1800" b="1" i="0" u="none" strike="noStrike" kern="1200" cap="none" spc="0" normalizeH="0" baseline="0" noProof="0" dirty="0" err="1">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rPr>
              <a:t>dem</a:t>
            </a: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rPr>
              <a:t> data with more than two levels (e.g. ‘AGE’, INCOME’) must be dummy-coded</a:t>
            </a:r>
            <a:endPar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2" indent="-400050" algn="l" defTabSz="914400" rtl="0" eaLnBrk="1" fontAlgn="auto" latinLnBrk="0" hangingPunct="1">
              <a:lnSpc>
                <a:spcPct val="90000"/>
              </a:lnSpc>
              <a:spcBef>
                <a:spcPts val="50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2" indent="-400050" algn="l" defTabSz="914400" rtl="0" eaLnBrk="1" fontAlgn="auto" latinLnBrk="0" hangingPunct="1">
              <a:lnSpc>
                <a:spcPct val="90000"/>
              </a:lnSpc>
              <a:spcBef>
                <a:spcPts val="50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2" indent="-400050" algn="l" defTabSz="914400" rtl="0" eaLnBrk="1" fontAlgn="auto" latinLnBrk="0" hangingPunct="1">
              <a:lnSpc>
                <a:spcPct val="90000"/>
              </a:lnSpc>
              <a:spcBef>
                <a:spcPts val="50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2" indent="-400050" algn="l" defTabSz="914400" rtl="0" eaLnBrk="1" fontAlgn="auto" latinLnBrk="0" hangingPunct="1">
              <a:lnSpc>
                <a:spcPct val="90000"/>
              </a:lnSpc>
              <a:spcBef>
                <a:spcPts val="50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2" indent="-400050" algn="l" defTabSz="914400" rtl="0" eaLnBrk="1" fontAlgn="auto" latinLnBrk="0" hangingPunct="1">
              <a:lnSpc>
                <a:spcPct val="90000"/>
              </a:lnSpc>
              <a:spcBef>
                <a:spcPts val="50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2" indent="-400050" algn="l" defTabSz="914400" rtl="0" eaLnBrk="1" fontAlgn="auto" latinLnBrk="0" hangingPunct="1">
              <a:lnSpc>
                <a:spcPct val="90000"/>
              </a:lnSpc>
              <a:spcBef>
                <a:spcPts val="50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2" indent="-400050" algn="l" defTabSz="914400" rtl="0" eaLnBrk="1" fontAlgn="auto" latinLnBrk="0" hangingPunct="1">
              <a:lnSpc>
                <a:spcPct val="90000"/>
              </a:lnSpc>
              <a:spcBef>
                <a:spcPts val="50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80AB0E11-EE6A-85E8-8780-4AA7C8C42DB3}"/>
              </a:ext>
            </a:extLst>
          </p:cNvPr>
          <p:cNvSpPr txBox="1"/>
          <p:nvPr/>
        </p:nvSpPr>
        <p:spPr>
          <a:xfrm>
            <a:off x="4827180" y="4379581"/>
            <a:ext cx="5146159" cy="2289777"/>
          </a:xfrm>
          <a:prstGeom prst="rect">
            <a:avLst/>
          </a:prstGeom>
          <a:noFill/>
        </p:spPr>
        <p:txBody>
          <a:bodyPr wrap="square" rtlCol="0">
            <a:noAutofit/>
          </a:bodyPr>
          <a:lstStyle/>
          <a:p>
            <a:pPr marL="342900" marR="0" lvl="0" indent="-34290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Dummy coding each ORIGIN/DEST station leads to many sparse columns</a:t>
            </a:r>
          </a:p>
          <a:p>
            <a:pPr marL="342900" marR="0" lvl="0" indent="-34290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endPar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endParaRPr>
          </a:p>
          <a:p>
            <a:pPr marL="342900" marR="0" lvl="0" indent="-34290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Just 5 stations account for the majority of the trips</a:t>
            </a:r>
          </a:p>
          <a:p>
            <a:pPr marL="342900" marR="0" lvl="0" indent="-342900" algn="l" defTabSz="904875" rtl="0" eaLnBrk="1" fontAlgn="auto" latinLnBrk="0" hangingPunct="1">
              <a:lnSpc>
                <a:spcPct val="100000"/>
              </a:lnSpc>
              <a:spcBef>
                <a:spcPts val="0"/>
              </a:spcBef>
              <a:spcAft>
                <a:spcPts val="0"/>
              </a:spcAft>
              <a:buClrTx/>
              <a:buSzTx/>
              <a:buFont typeface="+mj-lt"/>
              <a:buAutoNum type="arabicPeriod"/>
              <a:tabLst>
                <a:tab pos="715963" algn="l"/>
                <a:tab pos="3228975" algn="l"/>
              </a:tabLst>
              <a:defRPr/>
            </a:pPr>
            <a:endPar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endParaRPr>
          </a:p>
          <a:p>
            <a:pPr marL="342900" marR="0" lvl="0" indent="-342900" algn="l" defTabSz="904875" rtl="0" eaLnBrk="1" fontAlgn="auto" latinLnBrk="0" hangingPunct="1">
              <a:lnSpc>
                <a:spcPct val="100000"/>
              </a:lnSpc>
              <a:spcBef>
                <a:spcPts val="0"/>
              </a:spcBef>
              <a:spcAft>
                <a:spcPts val="0"/>
              </a:spcAft>
              <a:buClrTx/>
              <a:buSzTx/>
              <a:buFont typeface="Wingdings" pitchFamily="2" charset="2"/>
              <a:buChar char="Ø"/>
              <a:tabLst>
                <a:tab pos="715963" algn="l"/>
                <a:tab pos="3228975" algn="l"/>
              </a:tabLst>
              <a:defRPr/>
            </a:pP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Therefore, we treat (recode) all non-frequent stations as one category</a:t>
            </a:r>
          </a:p>
          <a:p>
            <a:pPr marL="342900" marR="0" lvl="0" indent="-342900" algn="l" defTabSz="904875" rtl="0" eaLnBrk="1" fontAlgn="auto" latinLnBrk="0" hangingPunct="1">
              <a:lnSpc>
                <a:spcPct val="100000"/>
              </a:lnSpc>
              <a:spcBef>
                <a:spcPts val="0"/>
              </a:spcBef>
              <a:spcAft>
                <a:spcPts val="0"/>
              </a:spcAft>
              <a:buClrTx/>
              <a:buSzTx/>
              <a:buFont typeface="+mj-lt"/>
              <a:buAutoNum type="arabicPeriod"/>
              <a:tabLst>
                <a:tab pos="715963" algn="l"/>
                <a:tab pos="3228975" algn="l"/>
              </a:tabLst>
              <a:defRPr/>
            </a:pPr>
            <a:endPar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endParaRPr>
          </a:p>
          <a:p>
            <a:pPr marL="342900" marR="0" lvl="0" indent="-342900" algn="l" defTabSz="904875" rtl="0" eaLnBrk="1" fontAlgn="auto" latinLnBrk="0" hangingPunct="1">
              <a:lnSpc>
                <a:spcPct val="100000"/>
              </a:lnSpc>
              <a:spcBef>
                <a:spcPts val="0"/>
              </a:spcBef>
              <a:spcAft>
                <a:spcPts val="0"/>
              </a:spcAft>
              <a:buClrTx/>
              <a:buSzTx/>
              <a:buFont typeface="+mj-lt"/>
              <a:buAutoNum type="arabicPeriod"/>
              <a:tabLst>
                <a:tab pos="715963" algn="l"/>
                <a:tab pos="3228975" algn="l"/>
              </a:tabLst>
              <a:defRPr/>
            </a:pPr>
            <a:endPar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endParaRPr>
          </a:p>
        </p:txBody>
      </p:sp>
      <p:cxnSp>
        <p:nvCxnSpPr>
          <p:cNvPr id="10" name="Elbow Connector 9">
            <a:extLst>
              <a:ext uri="{FF2B5EF4-FFF2-40B4-BE49-F238E27FC236}">
                <a16:creationId xmlns:a16="http://schemas.microsoft.com/office/drawing/2014/main" id="{3F6B0753-127D-231A-5A1E-D4171CB9F17F}"/>
              </a:ext>
            </a:extLst>
          </p:cNvPr>
          <p:cNvCxnSpPr>
            <a:cxnSpLocks/>
          </p:cNvCxnSpPr>
          <p:nvPr/>
        </p:nvCxnSpPr>
        <p:spPr>
          <a:xfrm rot="5400000" flipH="1" flipV="1">
            <a:off x="3970280" y="3263782"/>
            <a:ext cx="2284967" cy="288941"/>
          </a:xfrm>
          <a:prstGeom prst="bentConnector3">
            <a:avLst>
              <a:gd name="adj1" fmla="val 99790"/>
            </a:avLst>
          </a:prstGeom>
          <a:ln>
            <a:headEnd type="oval"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BE44F612-E9B2-6438-1C8B-A77DCDB6D9BD}"/>
              </a:ext>
            </a:extLst>
          </p:cNvPr>
          <p:cNvPicPr>
            <a:picLocks noChangeAspect="1"/>
          </p:cNvPicPr>
          <p:nvPr/>
        </p:nvPicPr>
        <p:blipFill>
          <a:blip r:embed="rId2"/>
          <a:stretch>
            <a:fillRect/>
          </a:stretch>
        </p:blipFill>
        <p:spPr>
          <a:xfrm>
            <a:off x="645727" y="3505625"/>
            <a:ext cx="4006476" cy="3163734"/>
          </a:xfrm>
          <a:prstGeom prst="rect">
            <a:avLst/>
          </a:prstGeom>
          <a:ln>
            <a:noFill/>
          </a:ln>
          <a:effectLst>
            <a:outerShdw blurRad="292100" dist="139700" dir="2700000" algn="tl" rotWithShape="0">
              <a:srgbClr val="333333">
                <a:alpha val="65000"/>
              </a:srgbClr>
            </a:outerShdw>
          </a:effectLst>
        </p:spPr>
      </p:pic>
      <p:cxnSp>
        <p:nvCxnSpPr>
          <p:cNvPr id="15" name="Elbow Connector 14">
            <a:extLst>
              <a:ext uri="{FF2B5EF4-FFF2-40B4-BE49-F238E27FC236}">
                <a16:creationId xmlns:a16="http://schemas.microsoft.com/office/drawing/2014/main" id="{252555E2-F9D2-A609-F65E-75EF1178BC36}"/>
              </a:ext>
            </a:extLst>
          </p:cNvPr>
          <p:cNvCxnSpPr>
            <a:cxnSpLocks/>
          </p:cNvCxnSpPr>
          <p:nvPr/>
        </p:nvCxnSpPr>
        <p:spPr>
          <a:xfrm rot="5400000" flipH="1" flipV="1">
            <a:off x="4792589" y="3405791"/>
            <a:ext cx="883534" cy="111249"/>
          </a:xfrm>
          <a:prstGeom prst="bentConnector3">
            <a:avLst>
              <a:gd name="adj1" fmla="val 99340"/>
            </a:avLst>
          </a:prstGeom>
          <a:ln>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EBDBB0A-1A66-FADE-F05A-A3FE69FC2AA1}"/>
              </a:ext>
            </a:extLst>
          </p:cNvPr>
          <p:cNvSpPr txBox="1"/>
          <p:nvPr/>
        </p:nvSpPr>
        <p:spPr>
          <a:xfrm>
            <a:off x="5392051" y="3698706"/>
            <a:ext cx="6346293" cy="459016"/>
          </a:xfrm>
          <a:prstGeom prst="rect">
            <a:avLst/>
          </a:prstGeom>
          <a:noFill/>
        </p:spPr>
        <p:txBody>
          <a:bodyPr wrap="square" rtlCol="0">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Converts categorical data into new dummy columns</a:t>
            </a:r>
          </a:p>
        </p:txBody>
      </p:sp>
      <p:pic>
        <p:nvPicPr>
          <p:cNvPr id="8" name="Picture 7">
            <a:extLst>
              <a:ext uri="{FF2B5EF4-FFF2-40B4-BE49-F238E27FC236}">
                <a16:creationId xmlns:a16="http://schemas.microsoft.com/office/drawing/2014/main" id="{0A4B4C42-7056-08EF-AC38-185C109D98C1}"/>
              </a:ext>
            </a:extLst>
          </p:cNvPr>
          <p:cNvPicPr>
            <a:picLocks noChangeAspect="1"/>
          </p:cNvPicPr>
          <p:nvPr/>
        </p:nvPicPr>
        <p:blipFill>
          <a:blip r:embed="rId3"/>
          <a:stretch>
            <a:fillRect/>
          </a:stretch>
        </p:blipFill>
        <p:spPr>
          <a:xfrm>
            <a:off x="5407589" y="1913490"/>
            <a:ext cx="6610954" cy="2284967"/>
          </a:xfrm>
          <a:prstGeom prst="rect">
            <a:avLst/>
          </a:prstGeom>
        </p:spPr>
      </p:pic>
      <p:sp>
        <p:nvSpPr>
          <p:cNvPr id="13" name="Title 1">
            <a:extLst>
              <a:ext uri="{FF2B5EF4-FFF2-40B4-BE49-F238E27FC236}">
                <a16:creationId xmlns:a16="http://schemas.microsoft.com/office/drawing/2014/main" id="{64AA149E-E455-742E-DB8A-BDD02E91BA5B}"/>
              </a:ext>
            </a:extLst>
          </p:cNvPr>
          <p:cNvSpPr>
            <a:spLocks noGrp="1"/>
          </p:cNvSpPr>
          <p:nvPr>
            <p:ph type="title"/>
          </p:nvPr>
        </p:nvSpPr>
        <p:spPr>
          <a:xfrm>
            <a:off x="1981200" y="-41608"/>
            <a:ext cx="8229600" cy="1143000"/>
          </a:xfrm>
        </p:spPr>
        <p:txBody>
          <a:bodyPr/>
          <a:lstStyle/>
          <a:p>
            <a:r>
              <a:rPr lang="en-GB" dirty="0"/>
              <a:t>Empirical example MLP: Case B</a:t>
            </a:r>
            <a:endParaRPr lang="en-GB" sz="1800" dirty="0"/>
          </a:p>
        </p:txBody>
      </p:sp>
      <p:sp>
        <p:nvSpPr>
          <p:cNvPr id="14" name="Line 2">
            <a:extLst>
              <a:ext uri="{FF2B5EF4-FFF2-40B4-BE49-F238E27FC236}">
                <a16:creationId xmlns:a16="http://schemas.microsoft.com/office/drawing/2014/main" id="{2B46FE25-3885-4D10-73FB-97545194FED7}"/>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6" name="Line 2">
            <a:extLst>
              <a:ext uri="{FF2B5EF4-FFF2-40B4-BE49-F238E27FC236}">
                <a16:creationId xmlns:a16="http://schemas.microsoft.com/office/drawing/2014/main" id="{F1C9EADE-D7D8-9F4A-7627-534A6EBAFEE5}"/>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301928725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720000" y="1268760"/>
            <a:ext cx="6866804" cy="443082"/>
          </a:xfrm>
        </p:spPr>
        <p:txBody>
          <a:bodyPr>
            <a:noAutofit/>
          </a:bodyPr>
          <a:lstStyle/>
          <a:p>
            <a:pPr marL="0" lvl="1" indent="0">
              <a:buNone/>
              <a:tabLst>
                <a:tab pos="3138488" algn="l"/>
              </a:tabLst>
            </a:pPr>
            <a:r>
              <a:rPr lang="en-GB" b="1" dirty="0"/>
              <a:t>MLP using attributes of alternatives + socio-demographic variables</a:t>
            </a:r>
          </a:p>
          <a:p>
            <a:pPr marL="0" lvl="1" indent="0">
              <a:buNone/>
              <a:tabLst>
                <a:tab pos="3138488" algn="l"/>
              </a:tabLst>
            </a:pPr>
            <a:endParaRPr lang="en-GB" b="1"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Content Placeholder 2">
            <a:extLst>
              <a:ext uri="{FF2B5EF4-FFF2-40B4-BE49-F238E27FC236}">
                <a16:creationId xmlns:a16="http://schemas.microsoft.com/office/drawing/2014/main" id="{472FBBEC-0EDC-A590-F354-1C5A88DA60E6}"/>
              </a:ext>
            </a:extLst>
          </p:cNvPr>
          <p:cNvSpPr txBox="1">
            <a:spLocks/>
          </p:cNvSpPr>
          <p:nvPr/>
        </p:nvSpPr>
        <p:spPr>
          <a:xfrm>
            <a:off x="454178" y="3168502"/>
            <a:ext cx="4856207" cy="35008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514350" algn="l" defTabSz="914400" rtl="0" eaLnBrk="1" fontAlgn="auto" latinLnBrk="0" hangingPunct="1">
              <a:lnSpc>
                <a:spcPct val="90000"/>
              </a:lnSpc>
              <a:spcBef>
                <a:spcPts val="1000"/>
              </a:spcBef>
              <a:spcAft>
                <a:spcPts val="0"/>
              </a:spcAft>
              <a:buClrTx/>
              <a:buSzTx/>
              <a:buFont typeface="Arial" panose="020B0604020202020204" pitchFamily="34" charset="0"/>
              <a:buNone/>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Content Placeholder 2">
            <a:extLst>
              <a:ext uri="{FF2B5EF4-FFF2-40B4-BE49-F238E27FC236}">
                <a16:creationId xmlns:a16="http://schemas.microsoft.com/office/drawing/2014/main" id="{25F1079E-FEC0-0AEF-5294-1B1D95E55BAB}"/>
              </a:ext>
            </a:extLst>
          </p:cNvPr>
          <p:cNvSpPr txBox="1">
            <a:spLocks/>
          </p:cNvSpPr>
          <p:nvPr/>
        </p:nvSpPr>
        <p:spPr>
          <a:xfrm>
            <a:off x="720000" y="1728000"/>
            <a:ext cx="4856207" cy="48299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04875" rtl="0" eaLnBrk="1" fontAlgn="auto" latinLnBrk="0" hangingPunct="1">
              <a:lnSpc>
                <a:spcPct val="90000"/>
              </a:lnSpc>
              <a:spcBef>
                <a:spcPts val="1000"/>
              </a:spcBef>
              <a:spcAft>
                <a:spcPts val="0"/>
              </a:spcAft>
              <a:buClrTx/>
              <a:buSzTx/>
              <a:buFont typeface="+mj-lt"/>
              <a:buAutoNum type="arabicPeriod"/>
              <a:tabLst>
                <a:tab pos="715963" algn="l"/>
                <a:tab pos="3228975"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rPr>
              <a:t>Categorical socio-</a:t>
            </a:r>
            <a:r>
              <a:rPr kumimoji="0" lang="en-GB" sz="1800" b="0" i="0" u="none" strike="noStrike" kern="1200" cap="none" spc="0" normalizeH="0" baseline="0" noProof="0" dirty="0" err="1">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rPr>
              <a:t>dem</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rPr>
              <a:t> data (e.g. ‘purpose’, destination’) must be dummy-coded</a:t>
            </a:r>
          </a:p>
          <a:p>
            <a:pPr marL="342900" marR="0" lvl="0" indent="-342900" algn="l" defTabSz="904875" rtl="0" eaLnBrk="1" fontAlgn="auto" latinLnBrk="0" hangingPunct="1">
              <a:lnSpc>
                <a:spcPct val="90000"/>
              </a:lnSpc>
              <a:spcBef>
                <a:spcPts val="1000"/>
              </a:spcBef>
              <a:spcAft>
                <a:spcPts val="0"/>
              </a:spcAft>
              <a:buClrTx/>
              <a:buSzTx/>
              <a:buFont typeface="+mj-lt"/>
              <a:buAutoNum type="arabicPeriod"/>
              <a:tabLst>
                <a:tab pos="715963" algn="l"/>
                <a:tab pos="3228975"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endParaRPr>
          </a:p>
          <a:p>
            <a:pPr marL="342900" marR="0" lvl="0" indent="-342900" algn="l" defTabSz="904875" rtl="0" eaLnBrk="1" fontAlgn="auto" latinLnBrk="0" hangingPunct="1">
              <a:lnSpc>
                <a:spcPct val="90000"/>
              </a:lnSpc>
              <a:spcBef>
                <a:spcPts val="1000"/>
              </a:spcBef>
              <a:spcAft>
                <a:spcPts val="0"/>
              </a:spcAft>
              <a:buClrTx/>
              <a:buSzTx/>
              <a:buFont typeface="+mj-lt"/>
              <a:buAutoNum type="arabicPeriod"/>
              <a:tabLst>
                <a:tab pos="715963" algn="l"/>
                <a:tab pos="3228975" algn="l"/>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rPr>
              <a:t>Extend the list of features</a:t>
            </a:r>
            <a:endPar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2" indent="-400050" algn="l" defTabSz="914400" rtl="0" eaLnBrk="1" fontAlgn="auto" latinLnBrk="0" hangingPunct="1">
              <a:lnSpc>
                <a:spcPct val="90000"/>
              </a:lnSpc>
              <a:spcBef>
                <a:spcPts val="50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2" indent="-400050" algn="l" defTabSz="914400" rtl="0" eaLnBrk="1" fontAlgn="auto" latinLnBrk="0" hangingPunct="1">
              <a:lnSpc>
                <a:spcPct val="90000"/>
              </a:lnSpc>
              <a:spcBef>
                <a:spcPts val="50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2" indent="-400050" algn="l" defTabSz="914400" rtl="0" eaLnBrk="1" fontAlgn="auto" latinLnBrk="0" hangingPunct="1">
              <a:lnSpc>
                <a:spcPct val="90000"/>
              </a:lnSpc>
              <a:spcBef>
                <a:spcPts val="50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2" indent="-400050" algn="l" defTabSz="914400" rtl="0" eaLnBrk="1" fontAlgn="auto" latinLnBrk="0" hangingPunct="1">
              <a:lnSpc>
                <a:spcPct val="90000"/>
              </a:lnSpc>
              <a:spcBef>
                <a:spcPts val="50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2" indent="-400050" algn="l" defTabSz="914400" rtl="0" eaLnBrk="1" fontAlgn="auto" latinLnBrk="0" hangingPunct="1">
              <a:lnSpc>
                <a:spcPct val="90000"/>
              </a:lnSpc>
              <a:spcBef>
                <a:spcPts val="50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2" indent="-400050" algn="l" defTabSz="914400" rtl="0" eaLnBrk="1" fontAlgn="auto" latinLnBrk="0" hangingPunct="1">
              <a:lnSpc>
                <a:spcPct val="90000"/>
              </a:lnSpc>
              <a:spcBef>
                <a:spcPts val="50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C902DEC1-BCEB-0C33-A658-7B4AC1431C61}"/>
              </a:ext>
            </a:extLst>
          </p:cNvPr>
          <p:cNvPicPr>
            <a:picLocks noChangeAspect="1"/>
          </p:cNvPicPr>
          <p:nvPr/>
        </p:nvPicPr>
        <p:blipFill>
          <a:blip r:embed="rId2"/>
          <a:stretch>
            <a:fillRect/>
          </a:stretch>
        </p:blipFill>
        <p:spPr>
          <a:xfrm>
            <a:off x="816270" y="3408252"/>
            <a:ext cx="9431925" cy="2948098"/>
          </a:xfrm>
          <a:prstGeom prst="rect">
            <a:avLst/>
          </a:prstGeom>
          <a:ln>
            <a:noFill/>
          </a:ln>
          <a:effectLst>
            <a:outerShdw blurRad="292100" dist="139700" dir="2700000" algn="tl" rotWithShape="0">
              <a:srgbClr val="333333">
                <a:alpha val="65000"/>
              </a:srgbClr>
            </a:outerShdw>
          </a:effectLst>
        </p:spPr>
      </p:pic>
      <p:sp>
        <p:nvSpPr>
          <p:cNvPr id="13" name="Rounded Rectangle 12">
            <a:extLst>
              <a:ext uri="{FF2B5EF4-FFF2-40B4-BE49-F238E27FC236}">
                <a16:creationId xmlns:a16="http://schemas.microsoft.com/office/drawing/2014/main" id="{4DF109A3-DBFC-9891-6C6C-0BBD5EE039CD}"/>
              </a:ext>
            </a:extLst>
          </p:cNvPr>
          <p:cNvSpPr/>
          <p:nvPr/>
        </p:nvSpPr>
        <p:spPr>
          <a:xfrm>
            <a:off x="1857272" y="4295554"/>
            <a:ext cx="2556000" cy="202019"/>
          </a:xfrm>
          <a:prstGeom prst="roundRect">
            <a:avLst/>
          </a:prstGeom>
          <a:noFill/>
          <a:ln w="28575">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E1C31C59-DB1D-D959-2FF6-D560B27CE998}"/>
              </a:ext>
            </a:extLst>
          </p:cNvPr>
          <p:cNvSpPr txBox="1"/>
          <p:nvPr/>
        </p:nvSpPr>
        <p:spPr>
          <a:xfrm>
            <a:off x="6349974" y="3901314"/>
            <a:ext cx="3595004" cy="427512"/>
          </a:xfrm>
          <a:prstGeom prst="rect">
            <a:avLst/>
          </a:prstGeom>
          <a:noFill/>
        </p:spPr>
        <p:txBody>
          <a:bodyPr wrap="square" rtlCol="0" anchor="ctr">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Categorical data with just two levels</a:t>
            </a:r>
            <a:endParaRPr kumimoji="0" lang="en-GB" sz="1800" b="0" i="0" u="none" strike="noStrike" kern="1200" cap="none" spc="0" normalizeH="0" baseline="-2500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endParaRPr>
          </a:p>
        </p:txBody>
      </p:sp>
      <p:cxnSp>
        <p:nvCxnSpPr>
          <p:cNvPr id="17" name="Straight Arrow Connector 16">
            <a:extLst>
              <a:ext uri="{FF2B5EF4-FFF2-40B4-BE49-F238E27FC236}">
                <a16:creationId xmlns:a16="http://schemas.microsoft.com/office/drawing/2014/main" id="{1DFAAB3D-1D96-9256-44A5-B6476E313850}"/>
              </a:ext>
            </a:extLst>
          </p:cNvPr>
          <p:cNvCxnSpPr>
            <a:stCxn id="14" idx="1"/>
          </p:cNvCxnSpPr>
          <p:nvPr/>
        </p:nvCxnSpPr>
        <p:spPr>
          <a:xfrm flipH="1">
            <a:off x="4688950" y="4115070"/>
            <a:ext cx="1661024" cy="2549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ight Brace 17">
            <a:extLst>
              <a:ext uri="{FF2B5EF4-FFF2-40B4-BE49-F238E27FC236}">
                <a16:creationId xmlns:a16="http://schemas.microsoft.com/office/drawing/2014/main" id="{01954BAB-83AE-5C2C-1FFB-C90774FD823E}"/>
              </a:ext>
            </a:extLst>
          </p:cNvPr>
          <p:cNvSpPr/>
          <p:nvPr/>
        </p:nvSpPr>
        <p:spPr>
          <a:xfrm>
            <a:off x="10334843" y="4306186"/>
            <a:ext cx="425302" cy="186069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900747C8-99A8-4793-D5A0-29E9E6DB9293}"/>
              </a:ext>
            </a:extLst>
          </p:cNvPr>
          <p:cNvSpPr txBox="1"/>
          <p:nvPr/>
        </p:nvSpPr>
        <p:spPr>
          <a:xfrm>
            <a:off x="10834576" y="3785191"/>
            <a:ext cx="1294769" cy="2571159"/>
          </a:xfrm>
          <a:prstGeom prst="rect">
            <a:avLst/>
          </a:prstGeom>
          <a:noFill/>
        </p:spPr>
        <p:txBody>
          <a:bodyPr wrap="square" rtlCol="0">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We add many new features (43)</a:t>
            </a:r>
          </a:p>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endPar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endParaRPr>
          </a:p>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Increasing risk of overfitting</a:t>
            </a:r>
          </a:p>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endPar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endParaRPr>
          </a:p>
        </p:txBody>
      </p:sp>
      <p:sp>
        <p:nvSpPr>
          <p:cNvPr id="10" name="Title 1">
            <a:extLst>
              <a:ext uri="{FF2B5EF4-FFF2-40B4-BE49-F238E27FC236}">
                <a16:creationId xmlns:a16="http://schemas.microsoft.com/office/drawing/2014/main" id="{4CCDB53E-9429-34CA-F4C6-9774C5BD569C}"/>
              </a:ext>
            </a:extLst>
          </p:cNvPr>
          <p:cNvSpPr>
            <a:spLocks noGrp="1"/>
          </p:cNvSpPr>
          <p:nvPr>
            <p:ph type="title"/>
          </p:nvPr>
        </p:nvSpPr>
        <p:spPr>
          <a:xfrm>
            <a:off x="1981200" y="-41608"/>
            <a:ext cx="8229600" cy="1143000"/>
          </a:xfrm>
        </p:spPr>
        <p:txBody>
          <a:bodyPr/>
          <a:lstStyle/>
          <a:p>
            <a:r>
              <a:rPr lang="en-GB" dirty="0"/>
              <a:t>Empirical example MLP: Case B</a:t>
            </a:r>
            <a:endParaRPr lang="en-GB" sz="1800" dirty="0"/>
          </a:p>
        </p:txBody>
      </p:sp>
      <p:sp>
        <p:nvSpPr>
          <p:cNvPr id="11" name="Line 2">
            <a:extLst>
              <a:ext uri="{FF2B5EF4-FFF2-40B4-BE49-F238E27FC236}">
                <a16:creationId xmlns:a16="http://schemas.microsoft.com/office/drawing/2014/main" id="{823A8731-EAE2-B886-D09D-9610B9E88A8B}"/>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2" name="Line 2">
            <a:extLst>
              <a:ext uri="{FF2B5EF4-FFF2-40B4-BE49-F238E27FC236}">
                <a16:creationId xmlns:a16="http://schemas.microsoft.com/office/drawing/2014/main" id="{76B355AB-144F-11AD-DDC3-164828C82A5E}"/>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213464581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719999" y="1268760"/>
            <a:ext cx="6984499" cy="443082"/>
          </a:xfrm>
        </p:spPr>
        <p:txBody>
          <a:bodyPr>
            <a:noAutofit/>
          </a:bodyPr>
          <a:lstStyle/>
          <a:p>
            <a:pPr marL="0" lvl="1" indent="0">
              <a:buNone/>
              <a:tabLst>
                <a:tab pos="3138488" algn="l"/>
              </a:tabLst>
            </a:pPr>
            <a:r>
              <a:rPr lang="en-GB" b="1" dirty="0"/>
              <a:t>MLP using attributes of alternatives + socio-demographic variables</a:t>
            </a:r>
          </a:p>
          <a:p>
            <a:pPr marL="0" lvl="1" indent="0">
              <a:buNone/>
              <a:tabLst>
                <a:tab pos="3138488" algn="l"/>
              </a:tabLst>
            </a:pPr>
            <a:endParaRPr lang="en-GB" b="1"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Content Placeholder 2">
            <a:extLst>
              <a:ext uri="{FF2B5EF4-FFF2-40B4-BE49-F238E27FC236}">
                <a16:creationId xmlns:a16="http://schemas.microsoft.com/office/drawing/2014/main" id="{472FBBEC-0EDC-A590-F354-1C5A88DA60E6}"/>
              </a:ext>
            </a:extLst>
          </p:cNvPr>
          <p:cNvSpPr txBox="1">
            <a:spLocks/>
          </p:cNvSpPr>
          <p:nvPr/>
        </p:nvSpPr>
        <p:spPr>
          <a:xfrm>
            <a:off x="720000" y="3168502"/>
            <a:ext cx="4856207" cy="35008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514350" algn="l" defTabSz="914400" rtl="0" eaLnBrk="1" fontAlgn="auto" latinLnBrk="0" hangingPunct="1">
              <a:lnSpc>
                <a:spcPct val="90000"/>
              </a:lnSpc>
              <a:spcBef>
                <a:spcPts val="1000"/>
              </a:spcBef>
              <a:spcAft>
                <a:spcPts val="0"/>
              </a:spcAft>
              <a:buClrTx/>
              <a:buSzTx/>
              <a:buFont typeface="Arial" panose="020B0604020202020204" pitchFamily="34" charset="0"/>
              <a:buNone/>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Content Placeholder 2">
            <a:extLst>
              <a:ext uri="{FF2B5EF4-FFF2-40B4-BE49-F238E27FC236}">
                <a16:creationId xmlns:a16="http://schemas.microsoft.com/office/drawing/2014/main" id="{25F1079E-FEC0-0AEF-5294-1B1D95E55BAB}"/>
              </a:ext>
            </a:extLst>
          </p:cNvPr>
          <p:cNvSpPr txBox="1">
            <a:spLocks/>
          </p:cNvSpPr>
          <p:nvPr/>
        </p:nvSpPr>
        <p:spPr>
          <a:xfrm>
            <a:off x="720000" y="1728000"/>
            <a:ext cx="4856207" cy="50185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04875" rtl="0" eaLnBrk="1" fontAlgn="auto" latinLnBrk="0" hangingPunct="1">
              <a:lnSpc>
                <a:spcPct val="90000"/>
              </a:lnSpc>
              <a:spcBef>
                <a:spcPts val="1000"/>
              </a:spcBef>
              <a:spcAft>
                <a:spcPts val="0"/>
              </a:spcAft>
              <a:buClrTx/>
              <a:buSzTx/>
              <a:buFont typeface="+mj-lt"/>
              <a:buAutoNum type="arabicPeriod"/>
              <a:tabLst>
                <a:tab pos="715963" algn="l"/>
                <a:tab pos="3228975"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rPr>
              <a:t>Categorical socio-</a:t>
            </a:r>
            <a:r>
              <a:rPr kumimoji="0" lang="en-GB" sz="1800" b="0" i="0" u="none" strike="noStrike" kern="1200" cap="none" spc="0" normalizeH="0" baseline="0" noProof="0" dirty="0" err="1">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rPr>
              <a:t>dem</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rPr>
              <a:t> data (e.g. ‘purpose’, destination’) must be dummy-coded</a:t>
            </a:r>
          </a:p>
          <a:p>
            <a:pPr marL="342900" marR="0" lvl="0" indent="-342900" algn="l" defTabSz="904875" rtl="0" eaLnBrk="1" fontAlgn="auto" latinLnBrk="0" hangingPunct="1">
              <a:lnSpc>
                <a:spcPct val="90000"/>
              </a:lnSpc>
              <a:spcBef>
                <a:spcPts val="1000"/>
              </a:spcBef>
              <a:spcAft>
                <a:spcPts val="0"/>
              </a:spcAft>
              <a:buClrTx/>
              <a:buSzTx/>
              <a:buFont typeface="+mj-lt"/>
              <a:buAutoNum type="arabicPeriod"/>
              <a:tabLst>
                <a:tab pos="715963" algn="l"/>
                <a:tab pos="3228975"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endParaRPr>
          </a:p>
          <a:p>
            <a:pPr marL="342900" marR="0" lvl="0" indent="-342900" algn="l" defTabSz="904875" rtl="0" eaLnBrk="1" fontAlgn="auto" latinLnBrk="0" hangingPunct="1">
              <a:lnSpc>
                <a:spcPct val="90000"/>
              </a:lnSpc>
              <a:spcBef>
                <a:spcPts val="1000"/>
              </a:spcBef>
              <a:spcAft>
                <a:spcPts val="0"/>
              </a:spcAft>
              <a:buClrTx/>
              <a:buSzTx/>
              <a:buFont typeface="+mj-lt"/>
              <a:buAutoNum type="arabicPeriod"/>
              <a:tabLst>
                <a:tab pos="715963" algn="l"/>
                <a:tab pos="3228975"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rPr>
              <a:t>Extend the list of features</a:t>
            </a:r>
          </a:p>
          <a:p>
            <a:pPr marL="342900" marR="0" lvl="0" indent="-342900" algn="l" defTabSz="904875" rtl="0" eaLnBrk="1" fontAlgn="auto" latinLnBrk="0" hangingPunct="1">
              <a:lnSpc>
                <a:spcPct val="90000"/>
              </a:lnSpc>
              <a:spcBef>
                <a:spcPts val="1000"/>
              </a:spcBef>
              <a:spcAft>
                <a:spcPts val="0"/>
              </a:spcAft>
              <a:buClrTx/>
              <a:buSzTx/>
              <a:buFont typeface="+mj-lt"/>
              <a:buAutoNum type="arabicPeriod"/>
              <a:tabLst>
                <a:tab pos="715963" algn="l"/>
                <a:tab pos="3228975"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endParaRPr>
          </a:p>
          <a:p>
            <a:pPr marL="342900" marR="0" lvl="0" indent="-342900" algn="l" defTabSz="904875" rtl="0" eaLnBrk="1" fontAlgn="auto" latinLnBrk="0" hangingPunct="1">
              <a:lnSpc>
                <a:spcPct val="90000"/>
              </a:lnSpc>
              <a:spcBef>
                <a:spcPts val="1000"/>
              </a:spcBef>
              <a:spcAft>
                <a:spcPts val="0"/>
              </a:spcAft>
              <a:buClrTx/>
              <a:buSzTx/>
              <a:buFont typeface="+mj-lt"/>
              <a:buAutoNum type="arabicPeriod"/>
              <a:tabLst>
                <a:tab pos="715963" algn="l"/>
                <a:tab pos="3228975"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Scale the data</a:t>
            </a:r>
          </a:p>
          <a:p>
            <a:pPr marL="342900" marR="0" lvl="0" indent="-342900" algn="l" defTabSz="904875" rtl="0" eaLnBrk="1" fontAlgn="auto" latinLnBrk="0" hangingPunct="1">
              <a:lnSpc>
                <a:spcPct val="90000"/>
              </a:lnSpc>
              <a:spcBef>
                <a:spcPts val="1000"/>
              </a:spcBef>
              <a:spcAft>
                <a:spcPts val="0"/>
              </a:spcAft>
              <a:buClrTx/>
              <a:buSzTx/>
              <a:buFont typeface="+mj-lt"/>
              <a:buAutoNum type="arabicPeriod"/>
              <a:tabLst>
                <a:tab pos="715963" algn="l"/>
                <a:tab pos="3228975"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04875" rtl="0" eaLnBrk="1" fontAlgn="auto" latinLnBrk="0" hangingPunct="1">
              <a:lnSpc>
                <a:spcPct val="90000"/>
              </a:lnSpc>
              <a:spcBef>
                <a:spcPts val="1000"/>
              </a:spcBef>
              <a:spcAft>
                <a:spcPts val="0"/>
              </a:spcAft>
              <a:buClrTx/>
              <a:buSzTx/>
              <a:buFont typeface="+mj-lt"/>
              <a:buAutoNum type="arabicPeriod"/>
              <a:tabLst>
                <a:tab pos="715963" algn="l"/>
                <a:tab pos="3228975"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Dummy code the choices </a:t>
            </a:r>
          </a:p>
          <a:p>
            <a:pPr marL="342900" marR="0" lvl="0" indent="-342900" algn="l" defTabSz="904875" rtl="0" eaLnBrk="1" fontAlgn="auto" latinLnBrk="0" hangingPunct="1">
              <a:lnSpc>
                <a:spcPct val="90000"/>
              </a:lnSpc>
              <a:spcBef>
                <a:spcPts val="1000"/>
              </a:spcBef>
              <a:spcAft>
                <a:spcPts val="0"/>
              </a:spcAft>
              <a:buClrTx/>
              <a:buSzTx/>
              <a:buFont typeface="+mj-lt"/>
              <a:buAutoNum type="arabicPeriod"/>
              <a:tabLst>
                <a:tab pos="715963" algn="l"/>
                <a:tab pos="3228975"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04875" rtl="0" eaLnBrk="1" fontAlgn="auto" latinLnBrk="0" hangingPunct="1">
              <a:lnSpc>
                <a:spcPct val="90000"/>
              </a:lnSpc>
              <a:spcBef>
                <a:spcPts val="1000"/>
              </a:spcBef>
              <a:spcAft>
                <a:spcPts val="0"/>
              </a:spcAft>
              <a:buClrTx/>
              <a:buSzTx/>
              <a:buFont typeface="+mj-lt"/>
              <a:buAutoNum type="arabicPeriod"/>
              <a:tabLst>
                <a:tab pos="715963" algn="l"/>
                <a:tab pos="3228975"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Tune hyperparameters, using a </a:t>
            </a:r>
            <a:r>
              <a:rPr kumimoji="0" lang="en-GB" sz="1800" b="0" i="0" u="none" strike="noStrike" kern="1200" cap="none" spc="0" normalizeH="0" baseline="0" noProof="0" dirty="0" err="1">
                <a:ln>
                  <a:noFill/>
                </a:ln>
                <a:solidFill>
                  <a:prstClr val="black"/>
                </a:solidFill>
                <a:effectLst/>
                <a:uLnTx/>
                <a:uFillTx/>
                <a:latin typeface="Calibri" panose="020F0502020204030204"/>
                <a:ea typeface="+mn-ea"/>
                <a:cs typeface="+mn-cs"/>
              </a:rPr>
              <a:t>gridsearch</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04875" rtl="0" eaLnBrk="1" fontAlgn="auto" latinLnBrk="0" hangingPunct="1">
              <a:lnSpc>
                <a:spcPct val="90000"/>
              </a:lnSpc>
              <a:spcBef>
                <a:spcPts val="1000"/>
              </a:spcBef>
              <a:spcAft>
                <a:spcPts val="0"/>
              </a:spcAft>
              <a:buClrTx/>
              <a:buSzTx/>
              <a:buFont typeface="+mj-lt"/>
              <a:buAutoNum type="arabicPeriod"/>
              <a:tabLst>
                <a:tab pos="715963" algn="l"/>
                <a:tab pos="3228975"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04875" rtl="0" eaLnBrk="1" fontAlgn="auto" latinLnBrk="0" hangingPunct="1">
              <a:lnSpc>
                <a:spcPct val="90000"/>
              </a:lnSpc>
              <a:spcBef>
                <a:spcPts val="1000"/>
              </a:spcBef>
              <a:spcAft>
                <a:spcPts val="0"/>
              </a:spcAft>
              <a:buClrTx/>
              <a:buSzTx/>
              <a:buFont typeface="+mj-lt"/>
              <a:buAutoNum type="arabicPeriod"/>
              <a:tabLst>
                <a:tab pos="715963" algn="l"/>
                <a:tab pos="3228975"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Train model with tuned hyperparameters</a:t>
            </a:r>
          </a:p>
          <a:p>
            <a:pPr marL="342900" marR="0" lvl="0" indent="-342900" algn="l" defTabSz="904875" rtl="0" eaLnBrk="1" fontAlgn="auto" latinLnBrk="0" hangingPunct="1">
              <a:lnSpc>
                <a:spcPct val="90000"/>
              </a:lnSpc>
              <a:spcBef>
                <a:spcPts val="1000"/>
              </a:spcBef>
              <a:spcAft>
                <a:spcPts val="0"/>
              </a:spcAft>
              <a:buClrTx/>
              <a:buSzTx/>
              <a:buFont typeface="+mj-lt"/>
              <a:buAutoNum type="arabicPeriod"/>
              <a:tabLst>
                <a:tab pos="715963" algn="l"/>
                <a:tab pos="3228975"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04875" rtl="0" eaLnBrk="1" fontAlgn="auto" latinLnBrk="0" hangingPunct="1">
              <a:lnSpc>
                <a:spcPct val="90000"/>
              </a:lnSpc>
              <a:spcBef>
                <a:spcPts val="1000"/>
              </a:spcBef>
              <a:spcAft>
                <a:spcPts val="0"/>
              </a:spcAft>
              <a:buClrTx/>
              <a:buSzTx/>
              <a:buFont typeface="+mj-lt"/>
              <a:buAutoNum type="arabicPeriod"/>
              <a:tabLst>
                <a:tab pos="715963" algn="l"/>
                <a:tab pos="3228975"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Compute the Log-likelihood of the test data</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endParaRPr>
          </a:p>
          <a:p>
            <a:pPr marL="342900" marR="0" lvl="0" indent="-342900" algn="l" defTabSz="904875" rtl="0" eaLnBrk="1" fontAlgn="auto" latinLnBrk="0" hangingPunct="1">
              <a:lnSpc>
                <a:spcPct val="90000"/>
              </a:lnSpc>
              <a:spcBef>
                <a:spcPts val="1000"/>
              </a:spcBef>
              <a:spcAft>
                <a:spcPts val="0"/>
              </a:spcAft>
              <a:buClrTx/>
              <a:buSzTx/>
              <a:buFont typeface="+mj-lt"/>
              <a:buAutoNum type="arabicPeriod"/>
              <a:tabLst>
                <a:tab pos="715963" algn="l"/>
                <a:tab pos="3228975"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endParaRPr>
          </a:p>
          <a:p>
            <a:pPr marL="342900" marR="0" lvl="0" indent="-342900" algn="l" defTabSz="904875" rtl="0" eaLnBrk="1" fontAlgn="auto" latinLnBrk="0" hangingPunct="1">
              <a:lnSpc>
                <a:spcPct val="90000"/>
              </a:lnSpc>
              <a:spcBef>
                <a:spcPts val="1000"/>
              </a:spcBef>
              <a:spcAft>
                <a:spcPts val="0"/>
              </a:spcAft>
              <a:buClrTx/>
              <a:buSzTx/>
              <a:buFont typeface="+mj-lt"/>
              <a:buAutoNum type="arabicPeriod"/>
              <a:tabLst>
                <a:tab pos="715963" algn="l"/>
                <a:tab pos="3228975"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2" indent="-400050" algn="l" defTabSz="914400" rtl="0" eaLnBrk="1" fontAlgn="auto" latinLnBrk="0" hangingPunct="1">
              <a:lnSpc>
                <a:spcPct val="90000"/>
              </a:lnSpc>
              <a:spcBef>
                <a:spcPts val="50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2" indent="-400050" algn="l" defTabSz="914400" rtl="0" eaLnBrk="1" fontAlgn="auto" latinLnBrk="0" hangingPunct="1">
              <a:lnSpc>
                <a:spcPct val="90000"/>
              </a:lnSpc>
              <a:spcBef>
                <a:spcPts val="50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2" indent="-400050" algn="l" defTabSz="914400" rtl="0" eaLnBrk="1" fontAlgn="auto" latinLnBrk="0" hangingPunct="1">
              <a:lnSpc>
                <a:spcPct val="90000"/>
              </a:lnSpc>
              <a:spcBef>
                <a:spcPts val="50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2" indent="-400050" algn="l" defTabSz="914400" rtl="0" eaLnBrk="1" fontAlgn="auto" latinLnBrk="0" hangingPunct="1">
              <a:lnSpc>
                <a:spcPct val="90000"/>
              </a:lnSpc>
              <a:spcBef>
                <a:spcPts val="50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2" indent="-400050" algn="l" defTabSz="914400" rtl="0" eaLnBrk="1" fontAlgn="auto" latinLnBrk="0" hangingPunct="1">
              <a:lnSpc>
                <a:spcPct val="90000"/>
              </a:lnSpc>
              <a:spcBef>
                <a:spcPts val="50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2" indent="-400050" algn="l" defTabSz="914400" rtl="0" eaLnBrk="1" fontAlgn="auto" latinLnBrk="0" hangingPunct="1">
              <a:lnSpc>
                <a:spcPct val="90000"/>
              </a:lnSpc>
              <a:spcBef>
                <a:spcPts val="50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Right Brace 6">
            <a:extLst>
              <a:ext uri="{FF2B5EF4-FFF2-40B4-BE49-F238E27FC236}">
                <a16:creationId xmlns:a16="http://schemas.microsoft.com/office/drawing/2014/main" id="{EB47C34D-44F2-46DB-D3EF-39E410997B12}"/>
              </a:ext>
            </a:extLst>
          </p:cNvPr>
          <p:cNvSpPr/>
          <p:nvPr/>
        </p:nvSpPr>
        <p:spPr>
          <a:xfrm>
            <a:off x="5231219" y="3429000"/>
            <a:ext cx="344988" cy="331756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27D1646B-1507-75E5-DF25-13068E20B88C}"/>
              </a:ext>
            </a:extLst>
          </p:cNvPr>
          <p:cNvSpPr txBox="1"/>
          <p:nvPr/>
        </p:nvSpPr>
        <p:spPr>
          <a:xfrm>
            <a:off x="5618739" y="4568515"/>
            <a:ext cx="1265274" cy="1041991"/>
          </a:xfrm>
          <a:prstGeom prst="rect">
            <a:avLst/>
          </a:prstGeom>
          <a:noFill/>
        </p:spPr>
        <p:txBody>
          <a:bodyPr wrap="square" rtlCol="0" anchor="ctr">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Calibri" panose="020F0502020204030204" pitchFamily="34" charset="0"/>
                <a:sym typeface="Wingdings" panose="05000000000000000000" pitchFamily="2" charset="2"/>
              </a:rPr>
              <a:t>Exactly the same as before</a:t>
            </a:r>
          </a:p>
        </p:txBody>
      </p:sp>
      <p:sp>
        <p:nvSpPr>
          <p:cNvPr id="11" name="Title 1">
            <a:extLst>
              <a:ext uri="{FF2B5EF4-FFF2-40B4-BE49-F238E27FC236}">
                <a16:creationId xmlns:a16="http://schemas.microsoft.com/office/drawing/2014/main" id="{FDA829EB-6E0C-A27E-82BB-37DFA58E247A}"/>
              </a:ext>
            </a:extLst>
          </p:cNvPr>
          <p:cNvSpPr txBox="1">
            <a:spLocks/>
          </p:cNvSpPr>
          <p:nvPr/>
        </p:nvSpPr>
        <p:spPr>
          <a:xfrm>
            <a:off x="1981200" y="-41608"/>
            <a:ext cx="8229600" cy="114300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000" kern="1200">
                <a:solidFill>
                  <a:schemeClr val="tx1"/>
                </a:solidFill>
                <a:latin typeface="+mj-lt"/>
                <a:ea typeface="+mj-ea"/>
                <a:cs typeface="+mj-cs"/>
              </a:defRPr>
            </a:lvl1pPr>
          </a:lstStyle>
          <a:p>
            <a:r>
              <a:rPr lang="en-GB"/>
              <a:t>Empirical example MLP: Case B</a:t>
            </a:r>
            <a:endParaRPr lang="en-GB" sz="1800" dirty="0"/>
          </a:p>
        </p:txBody>
      </p:sp>
      <p:sp>
        <p:nvSpPr>
          <p:cNvPr id="12" name="Line 2">
            <a:extLst>
              <a:ext uri="{FF2B5EF4-FFF2-40B4-BE49-F238E27FC236}">
                <a16:creationId xmlns:a16="http://schemas.microsoft.com/office/drawing/2014/main" id="{9907F212-1818-FCA6-2F16-67AC301F7989}"/>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3" name="Line 2">
            <a:extLst>
              <a:ext uri="{FF2B5EF4-FFF2-40B4-BE49-F238E27FC236}">
                <a16:creationId xmlns:a16="http://schemas.microsoft.com/office/drawing/2014/main" id="{6F2B7F1C-38C6-BF2D-484F-BA4E126C8993}"/>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28865656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A763F07-1156-B4E2-090E-82F4BD983AEB}"/>
              </a:ext>
            </a:extLst>
          </p:cNvPr>
          <p:cNvPicPr>
            <a:picLocks noChangeAspect="1"/>
          </p:cNvPicPr>
          <p:nvPr/>
        </p:nvPicPr>
        <p:blipFill>
          <a:blip r:embed="rId2"/>
          <a:stretch>
            <a:fillRect/>
          </a:stretch>
        </p:blipFill>
        <p:spPr>
          <a:xfrm>
            <a:off x="720069" y="2038521"/>
            <a:ext cx="6558214" cy="3384000"/>
          </a:xfrm>
          <a:prstGeom prst="rect">
            <a:avLst/>
          </a:prstGeom>
        </p:spPr>
      </p:pic>
      <p:sp>
        <p:nvSpPr>
          <p:cNvPr id="5" name="Content Placeholder 2"/>
          <p:cNvSpPr>
            <a:spLocks noGrp="1"/>
          </p:cNvSpPr>
          <p:nvPr>
            <p:ph idx="1"/>
          </p:nvPr>
        </p:nvSpPr>
        <p:spPr>
          <a:xfrm>
            <a:off x="720000" y="1268760"/>
            <a:ext cx="6866804" cy="443082"/>
          </a:xfrm>
        </p:spPr>
        <p:txBody>
          <a:bodyPr>
            <a:noAutofit/>
          </a:bodyPr>
          <a:lstStyle/>
          <a:p>
            <a:pPr marL="0" lvl="1" indent="0">
              <a:buNone/>
              <a:tabLst>
                <a:tab pos="3138488" algn="l"/>
              </a:tabLst>
            </a:pPr>
            <a:r>
              <a:rPr lang="en-GB" b="1" dirty="0"/>
              <a:t>MLP using attributes of alternatives + socio-demographic variables</a:t>
            </a:r>
          </a:p>
          <a:p>
            <a:pPr marL="0" lvl="1" indent="0">
              <a:buNone/>
              <a:tabLst>
                <a:tab pos="3138488" algn="l"/>
              </a:tabLst>
            </a:pPr>
            <a:endParaRPr lang="en-GB" b="1"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Content Placeholder 2">
            <a:extLst>
              <a:ext uri="{FF2B5EF4-FFF2-40B4-BE49-F238E27FC236}">
                <a16:creationId xmlns:a16="http://schemas.microsoft.com/office/drawing/2014/main" id="{472FBBEC-0EDC-A590-F354-1C5A88DA60E6}"/>
              </a:ext>
            </a:extLst>
          </p:cNvPr>
          <p:cNvSpPr txBox="1">
            <a:spLocks/>
          </p:cNvSpPr>
          <p:nvPr/>
        </p:nvSpPr>
        <p:spPr>
          <a:xfrm>
            <a:off x="677397" y="1967023"/>
            <a:ext cx="4856207" cy="35008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514350" algn="l" defTabSz="914400" rtl="0" eaLnBrk="1" fontAlgn="auto" latinLnBrk="0" hangingPunct="1">
              <a:lnSpc>
                <a:spcPct val="90000"/>
              </a:lnSpc>
              <a:spcBef>
                <a:spcPts val="1000"/>
              </a:spcBef>
              <a:spcAft>
                <a:spcPts val="0"/>
              </a:spcAft>
              <a:buClrTx/>
              <a:buSzTx/>
              <a:buFont typeface="Arial" panose="020B0604020202020204" pitchFamily="34" charset="0"/>
              <a:buNone/>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EDB782C2-3560-15FB-C469-846293C4EF25}"/>
              </a:ext>
            </a:extLst>
          </p:cNvPr>
          <p:cNvSpPr txBox="1"/>
          <p:nvPr/>
        </p:nvSpPr>
        <p:spPr>
          <a:xfrm>
            <a:off x="7072777" y="2100404"/>
            <a:ext cx="4995176" cy="2824681"/>
          </a:xfrm>
          <a:prstGeom prst="rect">
            <a:avLst/>
          </a:prstGeom>
          <a:noFill/>
        </p:spPr>
        <p:txBody>
          <a:bodyPr wrap="square" rtlCol="0">
            <a:noAutofit/>
          </a:bodyPr>
          <a:lstStyle/>
          <a:p>
            <a:pPr marL="285750" marR="0" lvl="0" indent="-285750" algn="l" defTabSz="904875" rtl="0" eaLnBrk="1" fontAlgn="auto" latinLnBrk="0" hangingPunct="1">
              <a:lnSpc>
                <a:spcPct val="100000"/>
              </a:lnSpc>
              <a:spcBef>
                <a:spcPts val="0"/>
              </a:spcBef>
              <a:spcAft>
                <a:spcPts val="0"/>
              </a:spcAft>
              <a:buClrTx/>
              <a:buSzTx/>
              <a:buFont typeface="Wingdings" pitchFamily="2" charset="2"/>
              <a:buChar char="Ø"/>
              <a:tabLst>
                <a:tab pos="715963" algn="l"/>
                <a:tab pos="3228975" algn="l"/>
              </a:tabLst>
              <a:defRPr/>
            </a:pPr>
            <a:r>
              <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Adding socio-demographic features further substantially improves the generalisation performance</a:t>
            </a:r>
          </a:p>
          <a:p>
            <a:pPr marL="285750" marR="0" lvl="0" indent="-285750" algn="l" defTabSz="904875" rtl="0" eaLnBrk="1" fontAlgn="auto" latinLnBrk="0" hangingPunct="1">
              <a:lnSpc>
                <a:spcPct val="100000"/>
              </a:lnSpc>
              <a:spcBef>
                <a:spcPts val="0"/>
              </a:spcBef>
              <a:spcAft>
                <a:spcPts val="0"/>
              </a:spcAft>
              <a:buClrTx/>
              <a:buSzTx/>
              <a:buFont typeface="Wingdings" pitchFamily="2" charset="2"/>
              <a:buChar char="Ø"/>
              <a:tabLst>
                <a:tab pos="715963" algn="l"/>
                <a:tab pos="3228975" algn="l"/>
              </a:tabLst>
              <a:defRPr/>
            </a:pPr>
            <a:endPar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endParaRPr>
          </a:p>
          <a:p>
            <a:pPr marL="285750" marR="0" lvl="0" indent="-285750" algn="l" defTabSz="904875" rtl="0" eaLnBrk="1" fontAlgn="auto" latinLnBrk="0" hangingPunct="1">
              <a:lnSpc>
                <a:spcPct val="100000"/>
              </a:lnSpc>
              <a:spcBef>
                <a:spcPts val="0"/>
              </a:spcBef>
              <a:spcAft>
                <a:spcPts val="0"/>
              </a:spcAft>
              <a:buClrTx/>
              <a:buSzTx/>
              <a:buFont typeface="Wingdings" pitchFamily="2" charset="2"/>
              <a:buChar char="Ø"/>
              <a:tabLst>
                <a:tab pos="715963" algn="l"/>
                <a:tab pos="3228975" algn="l"/>
              </a:tabLst>
              <a:defRPr/>
            </a:pPr>
            <a:r>
              <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But it is unclear how this comes about</a:t>
            </a:r>
          </a:p>
          <a:p>
            <a:pPr marL="285750" marR="0" lvl="0" indent="-285750" algn="l" defTabSz="904875" rtl="0" eaLnBrk="1" fontAlgn="auto" latinLnBrk="0" hangingPunct="1">
              <a:lnSpc>
                <a:spcPct val="100000"/>
              </a:lnSpc>
              <a:spcBef>
                <a:spcPts val="0"/>
              </a:spcBef>
              <a:spcAft>
                <a:spcPts val="0"/>
              </a:spcAft>
              <a:buClrTx/>
              <a:buSzTx/>
              <a:buFont typeface="Wingdings" pitchFamily="2" charset="2"/>
              <a:buChar char="Ø"/>
              <a:tabLst>
                <a:tab pos="715963" algn="l"/>
                <a:tab pos="3228975" algn="l"/>
              </a:tabLst>
              <a:defRPr/>
            </a:pPr>
            <a:endPar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endParaRPr>
          </a:p>
          <a:p>
            <a:pPr marL="457200" marR="0" lvl="1"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endParaRPr kumimoji="0" lang="en-GB" sz="1800" b="1"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endParaRPr>
          </a:p>
        </p:txBody>
      </p:sp>
      <p:sp>
        <p:nvSpPr>
          <p:cNvPr id="8" name="Title 1">
            <a:extLst>
              <a:ext uri="{FF2B5EF4-FFF2-40B4-BE49-F238E27FC236}">
                <a16:creationId xmlns:a16="http://schemas.microsoft.com/office/drawing/2014/main" id="{F1987483-4C05-769F-E843-6AF8A73B9EA3}"/>
              </a:ext>
            </a:extLst>
          </p:cNvPr>
          <p:cNvSpPr>
            <a:spLocks noGrp="1"/>
          </p:cNvSpPr>
          <p:nvPr>
            <p:ph type="title"/>
          </p:nvPr>
        </p:nvSpPr>
        <p:spPr>
          <a:xfrm>
            <a:off x="1981200" y="-41608"/>
            <a:ext cx="8229600" cy="1143000"/>
          </a:xfrm>
        </p:spPr>
        <p:txBody>
          <a:bodyPr/>
          <a:lstStyle/>
          <a:p>
            <a:r>
              <a:rPr lang="en-GB" dirty="0"/>
              <a:t>Empirical example MLP: Case B</a:t>
            </a:r>
            <a:endParaRPr lang="en-GB" sz="1800" dirty="0"/>
          </a:p>
        </p:txBody>
      </p:sp>
      <p:sp>
        <p:nvSpPr>
          <p:cNvPr id="9" name="Line 2">
            <a:extLst>
              <a:ext uri="{FF2B5EF4-FFF2-40B4-BE49-F238E27FC236}">
                <a16:creationId xmlns:a16="http://schemas.microsoft.com/office/drawing/2014/main" id="{8687B25F-F63D-A7BD-6C4C-0EEAA9785115}"/>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2" name="Line 2">
            <a:extLst>
              <a:ext uri="{FF2B5EF4-FFF2-40B4-BE49-F238E27FC236}">
                <a16:creationId xmlns:a16="http://schemas.microsoft.com/office/drawing/2014/main" id="{621582B5-8EC6-89FC-49AD-33BA5C7973A8}"/>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23221444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5C23131-4261-1FE8-BAB5-18C39B4F2134}"/>
              </a:ext>
            </a:extLst>
          </p:cNvPr>
          <p:cNvPicPr>
            <a:picLocks noChangeAspect="1"/>
          </p:cNvPicPr>
          <p:nvPr/>
        </p:nvPicPr>
        <p:blipFill>
          <a:blip r:embed="rId2"/>
          <a:stretch>
            <a:fillRect/>
          </a:stretch>
        </p:blipFill>
        <p:spPr>
          <a:xfrm>
            <a:off x="720000" y="2046653"/>
            <a:ext cx="6558214" cy="3384000"/>
          </a:xfrm>
          <a:prstGeom prst="rect">
            <a:avLst/>
          </a:prstGeom>
        </p:spPr>
      </p:pic>
      <p:sp>
        <p:nvSpPr>
          <p:cNvPr id="5" name="Content Placeholder 2"/>
          <p:cNvSpPr>
            <a:spLocks noGrp="1"/>
          </p:cNvSpPr>
          <p:nvPr>
            <p:ph idx="1"/>
          </p:nvPr>
        </p:nvSpPr>
        <p:spPr>
          <a:xfrm>
            <a:off x="720000" y="1268760"/>
            <a:ext cx="6866804" cy="443082"/>
          </a:xfrm>
        </p:spPr>
        <p:txBody>
          <a:bodyPr>
            <a:noAutofit/>
          </a:bodyPr>
          <a:lstStyle/>
          <a:p>
            <a:pPr marL="0" lvl="1" indent="0">
              <a:buNone/>
              <a:tabLst>
                <a:tab pos="3138488" algn="l"/>
              </a:tabLst>
            </a:pPr>
            <a:r>
              <a:rPr lang="en-GB" b="1" dirty="0"/>
              <a:t>MLP using attributes of alternatives + socio-demographic variables</a:t>
            </a:r>
          </a:p>
          <a:p>
            <a:pPr marL="0" lvl="1" indent="0">
              <a:buNone/>
              <a:tabLst>
                <a:tab pos="3138488" algn="l"/>
              </a:tabLst>
            </a:pPr>
            <a:endParaRPr lang="en-GB" b="1"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Content Placeholder 2">
            <a:extLst>
              <a:ext uri="{FF2B5EF4-FFF2-40B4-BE49-F238E27FC236}">
                <a16:creationId xmlns:a16="http://schemas.microsoft.com/office/drawing/2014/main" id="{472FBBEC-0EDC-A590-F354-1C5A88DA60E6}"/>
              </a:ext>
            </a:extLst>
          </p:cNvPr>
          <p:cNvSpPr txBox="1">
            <a:spLocks/>
          </p:cNvSpPr>
          <p:nvPr/>
        </p:nvSpPr>
        <p:spPr>
          <a:xfrm>
            <a:off x="677397" y="1967023"/>
            <a:ext cx="4856207" cy="35008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514350" algn="l" defTabSz="914400" rtl="0" eaLnBrk="1" fontAlgn="auto" latinLnBrk="0" hangingPunct="1">
              <a:lnSpc>
                <a:spcPct val="90000"/>
              </a:lnSpc>
              <a:spcBef>
                <a:spcPts val="1000"/>
              </a:spcBef>
              <a:spcAft>
                <a:spcPts val="0"/>
              </a:spcAft>
              <a:buClrTx/>
              <a:buSzTx/>
              <a:buFont typeface="Arial" panose="020B0604020202020204" pitchFamily="34" charset="0"/>
              <a:buNone/>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EDB782C2-3560-15FB-C469-846293C4EF25}"/>
              </a:ext>
            </a:extLst>
          </p:cNvPr>
          <p:cNvSpPr txBox="1"/>
          <p:nvPr/>
        </p:nvSpPr>
        <p:spPr>
          <a:xfrm>
            <a:off x="7072777" y="2100404"/>
            <a:ext cx="4995176" cy="2824681"/>
          </a:xfrm>
          <a:prstGeom prst="rect">
            <a:avLst/>
          </a:prstGeom>
          <a:noFill/>
        </p:spPr>
        <p:txBody>
          <a:bodyPr wrap="square" rtlCol="0">
            <a:noAutofit/>
          </a:bodyPr>
          <a:lstStyle/>
          <a:p>
            <a:pPr marL="285750" marR="0" lvl="0" indent="-285750" algn="l" defTabSz="904875" rtl="0" eaLnBrk="1" fontAlgn="auto" latinLnBrk="0" hangingPunct="1">
              <a:lnSpc>
                <a:spcPct val="100000"/>
              </a:lnSpc>
              <a:spcBef>
                <a:spcPts val="0"/>
              </a:spcBef>
              <a:spcAft>
                <a:spcPts val="0"/>
              </a:spcAft>
              <a:buClrTx/>
              <a:buSzTx/>
              <a:buFont typeface="Wingdings" pitchFamily="2" charset="2"/>
              <a:buChar char="Ø"/>
              <a:tabLst>
                <a:tab pos="715963" algn="l"/>
                <a:tab pos="3228975" algn="l"/>
              </a:tabLst>
              <a:defRPr/>
            </a:pPr>
            <a:r>
              <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Adding socio-demographic features further substantially improves the generalisation performance</a:t>
            </a:r>
          </a:p>
          <a:p>
            <a:pPr marL="285750" marR="0" lvl="0" indent="-285750" algn="l" defTabSz="904875" rtl="0" eaLnBrk="1" fontAlgn="auto" latinLnBrk="0" hangingPunct="1">
              <a:lnSpc>
                <a:spcPct val="100000"/>
              </a:lnSpc>
              <a:spcBef>
                <a:spcPts val="0"/>
              </a:spcBef>
              <a:spcAft>
                <a:spcPts val="0"/>
              </a:spcAft>
              <a:buClrTx/>
              <a:buSzTx/>
              <a:buFont typeface="Wingdings" pitchFamily="2" charset="2"/>
              <a:buChar char="Ø"/>
              <a:tabLst>
                <a:tab pos="715963" algn="l"/>
                <a:tab pos="3228975" algn="l"/>
              </a:tabLst>
              <a:defRPr/>
            </a:pPr>
            <a:endPar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endParaRPr>
          </a:p>
          <a:p>
            <a:pPr marL="285750" marR="0" lvl="0" indent="-285750" algn="l" defTabSz="904875" rtl="0" eaLnBrk="1" fontAlgn="auto" latinLnBrk="0" hangingPunct="1">
              <a:lnSpc>
                <a:spcPct val="100000"/>
              </a:lnSpc>
              <a:spcBef>
                <a:spcPts val="0"/>
              </a:spcBef>
              <a:spcAft>
                <a:spcPts val="0"/>
              </a:spcAft>
              <a:buClrTx/>
              <a:buSzTx/>
              <a:buFont typeface="Wingdings" pitchFamily="2" charset="2"/>
              <a:buChar char="Ø"/>
              <a:tabLst>
                <a:tab pos="715963" algn="l"/>
                <a:tab pos="3228975" algn="l"/>
              </a:tabLst>
              <a:defRPr/>
            </a:pPr>
            <a:r>
              <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But it is unclear how this comes about</a:t>
            </a:r>
          </a:p>
          <a:p>
            <a:pPr marL="285750" marR="0" lvl="0" indent="-285750" algn="l" defTabSz="904875" rtl="0" eaLnBrk="1" fontAlgn="auto" latinLnBrk="0" hangingPunct="1">
              <a:lnSpc>
                <a:spcPct val="100000"/>
              </a:lnSpc>
              <a:spcBef>
                <a:spcPts val="0"/>
              </a:spcBef>
              <a:spcAft>
                <a:spcPts val="0"/>
              </a:spcAft>
              <a:buClrTx/>
              <a:buSzTx/>
              <a:buFont typeface="Wingdings" pitchFamily="2" charset="2"/>
              <a:buChar char="Ø"/>
              <a:tabLst>
                <a:tab pos="715963" algn="l"/>
                <a:tab pos="3228975" algn="l"/>
              </a:tabLst>
              <a:defRPr/>
            </a:pPr>
            <a:endPar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endParaRPr>
          </a:p>
          <a:p>
            <a:pPr marL="285750" marR="0" lvl="0" indent="-285750" algn="l" defTabSz="904875" rtl="0" eaLnBrk="1" fontAlgn="auto" latinLnBrk="0" hangingPunct="1">
              <a:lnSpc>
                <a:spcPct val="100000"/>
              </a:lnSpc>
              <a:spcBef>
                <a:spcPts val="0"/>
              </a:spcBef>
              <a:spcAft>
                <a:spcPts val="0"/>
              </a:spcAft>
              <a:buClrTx/>
              <a:buSzTx/>
              <a:buFont typeface="Wingdings" pitchFamily="2" charset="2"/>
              <a:buChar char="Ø"/>
              <a:tabLst>
                <a:tab pos="715963" algn="l"/>
                <a:tab pos="3228975" algn="l"/>
              </a:tabLst>
              <a:defRPr/>
            </a:pPr>
            <a:r>
              <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Var(LL) = ~150 LL  Variance increases</a:t>
            </a:r>
          </a:p>
          <a:p>
            <a:pPr marL="285750" marR="0" lvl="0" indent="-285750" algn="l" defTabSz="904875" rtl="0" eaLnBrk="1" fontAlgn="auto" latinLnBrk="0" hangingPunct="1">
              <a:lnSpc>
                <a:spcPct val="100000"/>
              </a:lnSpc>
              <a:spcBef>
                <a:spcPts val="0"/>
              </a:spcBef>
              <a:spcAft>
                <a:spcPts val="0"/>
              </a:spcAft>
              <a:buClrTx/>
              <a:buSzTx/>
              <a:buFont typeface="Wingdings" pitchFamily="2" charset="2"/>
              <a:buChar char="Ø"/>
              <a:tabLst>
                <a:tab pos="715963" algn="l"/>
                <a:tab pos="3228975" algn="l"/>
              </a:tabLst>
              <a:defRPr/>
            </a:pPr>
            <a:endPar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endParaRPr>
          </a:p>
          <a:p>
            <a:pPr marL="457200" marR="0" lvl="1"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endParaRPr kumimoji="0" lang="en-GB" sz="1800" b="1"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endParaRPr>
          </a:p>
        </p:txBody>
      </p:sp>
      <p:sp>
        <p:nvSpPr>
          <p:cNvPr id="8" name="Title 1">
            <a:extLst>
              <a:ext uri="{FF2B5EF4-FFF2-40B4-BE49-F238E27FC236}">
                <a16:creationId xmlns:a16="http://schemas.microsoft.com/office/drawing/2014/main" id="{11B4A06E-4308-045A-B372-A461F412AFB5}"/>
              </a:ext>
            </a:extLst>
          </p:cNvPr>
          <p:cNvSpPr>
            <a:spLocks noGrp="1"/>
          </p:cNvSpPr>
          <p:nvPr>
            <p:ph type="title"/>
          </p:nvPr>
        </p:nvSpPr>
        <p:spPr>
          <a:xfrm>
            <a:off x="1981200" y="-41608"/>
            <a:ext cx="8229600" cy="1143000"/>
          </a:xfrm>
        </p:spPr>
        <p:txBody>
          <a:bodyPr/>
          <a:lstStyle/>
          <a:p>
            <a:r>
              <a:rPr lang="en-GB" dirty="0"/>
              <a:t>Empirical example MLP: Case B</a:t>
            </a:r>
            <a:endParaRPr lang="en-GB" sz="1800" dirty="0"/>
          </a:p>
        </p:txBody>
      </p:sp>
      <p:sp>
        <p:nvSpPr>
          <p:cNvPr id="9" name="Line 2">
            <a:extLst>
              <a:ext uri="{FF2B5EF4-FFF2-40B4-BE49-F238E27FC236}">
                <a16:creationId xmlns:a16="http://schemas.microsoft.com/office/drawing/2014/main" id="{12B67AB9-7EFD-9656-F291-67661FA7EFFC}"/>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0" name="Line 2">
            <a:extLst>
              <a:ext uri="{FF2B5EF4-FFF2-40B4-BE49-F238E27FC236}">
                <a16:creationId xmlns:a16="http://schemas.microsoft.com/office/drawing/2014/main" id="{9EF78169-C2B8-B2B9-F9B8-687A72D470EC}"/>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8395380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720000" y="1268759"/>
            <a:ext cx="8379612" cy="1580767"/>
          </a:xfrm>
        </p:spPr>
        <p:txBody>
          <a:bodyPr>
            <a:noAutofit/>
          </a:bodyPr>
          <a:lstStyle/>
          <a:p>
            <a:pPr marL="0" lvl="1" indent="0">
              <a:buNone/>
              <a:tabLst>
                <a:tab pos="3138488" algn="l"/>
              </a:tabLst>
            </a:pPr>
            <a:r>
              <a:rPr lang="en-GB" b="1" dirty="0"/>
              <a:t>Final observations</a:t>
            </a:r>
          </a:p>
          <a:p>
            <a:pPr algn="l" defTabSz="904875">
              <a:tabLst>
                <a:tab pos="715963" algn="l"/>
                <a:tab pos="3228975" algn="l"/>
              </a:tabLst>
            </a:pPr>
            <a:r>
              <a:rPr lang="en-GB" dirty="0">
                <a:cs typeface="Calibri" panose="020F0502020204030204" pitchFamily="34" charset="0"/>
                <a:sym typeface="Wingdings" panose="05000000000000000000" pitchFamily="2" charset="2"/>
              </a:rPr>
              <a:t>MLPs usually outperform traditional MNL-based choice models in terms of model fit</a:t>
            </a:r>
          </a:p>
          <a:p>
            <a:pPr algn="l" defTabSz="904875">
              <a:tabLst>
                <a:tab pos="715963" algn="l"/>
                <a:tab pos="3228975" algn="l"/>
              </a:tabLst>
            </a:pPr>
            <a:endParaRPr lang="en-GB" dirty="0">
              <a:cs typeface="Calibri" panose="020F0502020204030204" pitchFamily="34" charset="0"/>
              <a:sym typeface="Wingdings" panose="05000000000000000000" pitchFamily="2" charset="2"/>
            </a:endParaRPr>
          </a:p>
          <a:p>
            <a:pPr algn="l" defTabSz="904875">
              <a:tabLst>
                <a:tab pos="715963" algn="l"/>
                <a:tab pos="3228975" algn="l"/>
              </a:tabLst>
            </a:pPr>
            <a:r>
              <a:rPr lang="en-GB" dirty="0">
                <a:cs typeface="Calibri" panose="020F0502020204030204" pitchFamily="34" charset="0"/>
                <a:sym typeface="Wingdings" panose="05000000000000000000" pitchFamily="2" charset="2"/>
              </a:rPr>
              <a:t>MLPs indeed can overcome the ad-hoc-ness of the model specification in traditional choice models</a:t>
            </a:r>
          </a:p>
          <a:p>
            <a:pPr marL="0" lvl="1" indent="0">
              <a:buNone/>
              <a:tabLst>
                <a:tab pos="3138488" algn="l"/>
              </a:tabLst>
            </a:pPr>
            <a:endParaRPr lang="en-GB" b="1"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Title 1"/>
          <p:cNvSpPr>
            <a:spLocks noGrp="1"/>
          </p:cNvSpPr>
          <p:nvPr>
            <p:ph type="title"/>
          </p:nvPr>
        </p:nvSpPr>
        <p:spPr>
          <a:xfrm>
            <a:off x="1979451" y="-60287"/>
            <a:ext cx="8229600" cy="1143000"/>
          </a:xfrm>
        </p:spPr>
        <p:txBody>
          <a:bodyPr/>
          <a:lstStyle/>
          <a:p>
            <a:r>
              <a:rPr lang="en-GB" dirty="0"/>
              <a:t>MLP</a:t>
            </a:r>
            <a:endParaRPr lang="en-GB" sz="1800" dirty="0"/>
          </a:p>
        </p:txBody>
      </p:sp>
      <p:sp>
        <p:nvSpPr>
          <p:cNvPr id="3" name="Content Placeholder 2">
            <a:extLst>
              <a:ext uri="{FF2B5EF4-FFF2-40B4-BE49-F238E27FC236}">
                <a16:creationId xmlns:a16="http://schemas.microsoft.com/office/drawing/2014/main" id="{472FBBEC-0EDC-A590-F354-1C5A88DA60E6}"/>
              </a:ext>
            </a:extLst>
          </p:cNvPr>
          <p:cNvSpPr txBox="1">
            <a:spLocks/>
          </p:cNvSpPr>
          <p:nvPr/>
        </p:nvSpPr>
        <p:spPr>
          <a:xfrm>
            <a:off x="677397" y="1967023"/>
            <a:ext cx="4856207" cy="35008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514350" algn="l" defTabSz="914400" rtl="0" eaLnBrk="1" fontAlgn="auto" latinLnBrk="0" hangingPunct="1">
              <a:lnSpc>
                <a:spcPct val="90000"/>
              </a:lnSpc>
              <a:spcBef>
                <a:spcPts val="1000"/>
              </a:spcBef>
              <a:spcAft>
                <a:spcPts val="0"/>
              </a:spcAft>
              <a:buClrTx/>
              <a:buSzTx/>
              <a:buFont typeface="Arial" panose="020B0604020202020204" pitchFamily="34" charset="0"/>
              <a:buNone/>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DAFCEE82-256B-01C7-01DA-E2ABF19E3EFF}"/>
              </a:ext>
            </a:extLst>
          </p:cNvPr>
          <p:cNvSpPr txBox="1"/>
          <p:nvPr/>
        </p:nvSpPr>
        <p:spPr>
          <a:xfrm>
            <a:off x="719999" y="3266613"/>
            <a:ext cx="6586147" cy="1790580"/>
          </a:xfrm>
          <a:prstGeom prst="rect">
            <a:avLst/>
          </a:prstGeom>
          <a:noFill/>
        </p:spPr>
        <p:txBody>
          <a:bodyPr wrap="square" rtlCol="0">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rPr>
              <a:t>However …</a:t>
            </a:r>
          </a:p>
          <a:p>
            <a:pPr marL="285750" marR="0" lvl="0"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rPr>
              <a:t>MLPs give ZERO behavioural or economic insight</a:t>
            </a:r>
          </a:p>
          <a:p>
            <a:pPr marL="285750" marR="0" lvl="0"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endPar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endParaRPr>
          </a:p>
          <a:p>
            <a:pPr marL="285750" marR="0" lvl="0"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rPr>
              <a:t>MLPs may violate behavioural regularity e.g.</a:t>
            </a:r>
          </a:p>
          <a:p>
            <a:pPr marL="742950" marR="0" lvl="1" indent="-285750" algn="l" defTabSz="904875" rtl="0" eaLnBrk="1" fontAlgn="auto" latinLnBrk="0" hangingPunct="1">
              <a:lnSpc>
                <a:spcPct val="100000"/>
              </a:lnSpc>
              <a:spcBef>
                <a:spcPts val="0"/>
              </a:spcBef>
              <a:spcAft>
                <a:spcPts val="0"/>
              </a:spcAft>
              <a:buClrTx/>
              <a:buSzTx/>
              <a:buFont typeface="System Font Regular"/>
              <a:buChar char="−"/>
              <a:tabLst>
                <a:tab pos="715963" algn="l"/>
                <a:tab pos="3228975"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rPr>
              <a:t>An increase in cost will (in some cases) lead to an increase in demand</a:t>
            </a:r>
          </a:p>
          <a:p>
            <a:pPr marL="742950" marR="0" lvl="1" indent="-285750" algn="l" defTabSz="904875" rtl="0" eaLnBrk="1" fontAlgn="auto" latinLnBrk="0" hangingPunct="1">
              <a:lnSpc>
                <a:spcPct val="100000"/>
              </a:lnSpc>
              <a:spcBef>
                <a:spcPts val="0"/>
              </a:spcBef>
              <a:spcAft>
                <a:spcPts val="0"/>
              </a:spcAft>
              <a:buClrTx/>
              <a:buSzTx/>
              <a:buFont typeface="System Font Regular"/>
              <a:buChar char="−"/>
              <a:tabLst>
                <a:tab pos="715963" algn="l"/>
                <a:tab pos="3228975"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endParaRPr>
          </a:p>
          <a:p>
            <a:pPr marL="285750" marR="0" lvl="0"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endParaRPr>
          </a:p>
        </p:txBody>
      </p:sp>
      <p:grpSp>
        <p:nvGrpSpPr>
          <p:cNvPr id="19" name="Group 18">
            <a:extLst>
              <a:ext uri="{FF2B5EF4-FFF2-40B4-BE49-F238E27FC236}">
                <a16:creationId xmlns:a16="http://schemas.microsoft.com/office/drawing/2014/main" id="{6BE446FD-3859-D4A9-5184-6485AE434A65}"/>
              </a:ext>
            </a:extLst>
          </p:cNvPr>
          <p:cNvGrpSpPr/>
          <p:nvPr/>
        </p:nvGrpSpPr>
        <p:grpSpPr>
          <a:xfrm>
            <a:off x="8946101" y="194894"/>
            <a:ext cx="3201618" cy="6545243"/>
            <a:chOff x="8946101" y="194894"/>
            <a:chExt cx="3201618" cy="6545243"/>
          </a:xfrm>
        </p:grpSpPr>
        <p:pic>
          <p:nvPicPr>
            <p:cNvPr id="11" name="Picture 10">
              <a:extLst>
                <a:ext uri="{FF2B5EF4-FFF2-40B4-BE49-F238E27FC236}">
                  <a16:creationId xmlns:a16="http://schemas.microsoft.com/office/drawing/2014/main" id="{6612947A-FE41-B240-475D-EBF2803C2863}"/>
                </a:ext>
              </a:extLst>
            </p:cNvPr>
            <p:cNvPicPr>
              <a:picLocks noChangeAspect="1"/>
            </p:cNvPicPr>
            <p:nvPr/>
          </p:nvPicPr>
          <p:blipFill rotWithShape="1">
            <a:blip r:embed="rId2"/>
            <a:srcRect r="66774" b="11712"/>
            <a:stretch/>
          </p:blipFill>
          <p:spPr>
            <a:xfrm>
              <a:off x="9057998" y="194894"/>
              <a:ext cx="2324914" cy="2090924"/>
            </a:xfrm>
            <a:prstGeom prst="rect">
              <a:avLst/>
            </a:prstGeom>
          </p:spPr>
        </p:pic>
        <p:pic>
          <p:nvPicPr>
            <p:cNvPr id="14" name="Picture 13">
              <a:extLst>
                <a:ext uri="{FF2B5EF4-FFF2-40B4-BE49-F238E27FC236}">
                  <a16:creationId xmlns:a16="http://schemas.microsoft.com/office/drawing/2014/main" id="{47171C58-29F0-3B21-B6C5-8C2226A606FA}"/>
                </a:ext>
              </a:extLst>
            </p:cNvPr>
            <p:cNvPicPr>
              <a:picLocks noChangeAspect="1"/>
            </p:cNvPicPr>
            <p:nvPr/>
          </p:nvPicPr>
          <p:blipFill rotWithShape="1">
            <a:blip r:embed="rId2"/>
            <a:srcRect l="67534" b="10628"/>
            <a:stretch/>
          </p:blipFill>
          <p:spPr>
            <a:xfrm>
              <a:off x="8966719" y="4555948"/>
              <a:ext cx="2344238" cy="2184189"/>
            </a:xfrm>
            <a:prstGeom prst="rect">
              <a:avLst/>
            </a:prstGeom>
          </p:spPr>
        </p:pic>
        <p:pic>
          <p:nvPicPr>
            <p:cNvPr id="15" name="Picture 14">
              <a:extLst>
                <a:ext uri="{FF2B5EF4-FFF2-40B4-BE49-F238E27FC236}">
                  <a16:creationId xmlns:a16="http://schemas.microsoft.com/office/drawing/2014/main" id="{1262FFA2-BE20-0ED2-2175-278ABFD09E7F}"/>
                </a:ext>
              </a:extLst>
            </p:cNvPr>
            <p:cNvPicPr>
              <a:picLocks noChangeAspect="1"/>
            </p:cNvPicPr>
            <p:nvPr/>
          </p:nvPicPr>
          <p:blipFill rotWithShape="1">
            <a:blip r:embed="rId2"/>
            <a:srcRect l="33194" r="31824" b="11591"/>
            <a:stretch/>
          </p:blipFill>
          <p:spPr>
            <a:xfrm>
              <a:off x="8946101" y="2355898"/>
              <a:ext cx="2525900" cy="2160639"/>
            </a:xfrm>
            <a:prstGeom prst="rect">
              <a:avLst/>
            </a:prstGeom>
          </p:spPr>
        </p:pic>
        <p:sp>
          <p:nvSpPr>
            <p:cNvPr id="16" name="TextBox 15">
              <a:extLst>
                <a:ext uri="{FF2B5EF4-FFF2-40B4-BE49-F238E27FC236}">
                  <a16:creationId xmlns:a16="http://schemas.microsoft.com/office/drawing/2014/main" id="{A0EF4028-74F3-22CA-9675-A2B531433B42}"/>
                </a:ext>
              </a:extLst>
            </p:cNvPr>
            <p:cNvSpPr txBox="1"/>
            <p:nvPr/>
          </p:nvSpPr>
          <p:spPr>
            <a:xfrm>
              <a:off x="11237051" y="194894"/>
              <a:ext cx="836762" cy="1867171"/>
            </a:xfrm>
            <a:prstGeom prst="rect">
              <a:avLst/>
            </a:prstGeom>
            <a:noFill/>
          </p:spPr>
          <p:txBody>
            <a:bodyPr wrap="square" rtlCol="0" anchor="ctr">
              <a:noAutofit/>
            </a:bodyPr>
            <a:lstStyle/>
            <a:p>
              <a:pPr algn="ctr" defTabSz="904875">
                <a:tabLst>
                  <a:tab pos="715963" algn="l"/>
                  <a:tab pos="3228975" algn="l"/>
                </a:tabLst>
              </a:pPr>
              <a:r>
                <a:rPr lang="en-GB" sz="1600" dirty="0">
                  <a:cs typeface="Calibri" panose="020F0502020204030204" pitchFamily="34" charset="0"/>
                  <a:sym typeface="Wingdings" panose="05000000000000000000" pitchFamily="2" charset="2"/>
                </a:rPr>
                <a:t>MNL</a:t>
              </a:r>
            </a:p>
          </p:txBody>
        </p:sp>
        <p:sp>
          <p:nvSpPr>
            <p:cNvPr id="17" name="TextBox 16">
              <a:extLst>
                <a:ext uri="{FF2B5EF4-FFF2-40B4-BE49-F238E27FC236}">
                  <a16:creationId xmlns:a16="http://schemas.microsoft.com/office/drawing/2014/main" id="{80A83322-9FC8-A3C4-5FA5-1292CD708DE5}"/>
                </a:ext>
              </a:extLst>
            </p:cNvPr>
            <p:cNvSpPr txBox="1"/>
            <p:nvPr/>
          </p:nvSpPr>
          <p:spPr>
            <a:xfrm>
              <a:off x="11237051" y="2495414"/>
              <a:ext cx="910668" cy="1867171"/>
            </a:xfrm>
            <a:prstGeom prst="rect">
              <a:avLst/>
            </a:prstGeom>
            <a:noFill/>
          </p:spPr>
          <p:txBody>
            <a:bodyPr wrap="square" rtlCol="0" anchor="ctr">
              <a:noAutofit/>
            </a:bodyPr>
            <a:lstStyle/>
            <a:p>
              <a:pPr algn="ctr" defTabSz="904875">
                <a:tabLst>
                  <a:tab pos="715963" algn="l"/>
                  <a:tab pos="3228975" algn="l"/>
                </a:tabLst>
              </a:pPr>
              <a:r>
                <a:rPr lang="en-GB" sz="1600" dirty="0">
                  <a:cs typeface="Calibri" panose="020F0502020204030204" pitchFamily="34" charset="0"/>
                  <a:sym typeface="Wingdings" panose="05000000000000000000" pitchFamily="2" charset="2"/>
                </a:rPr>
                <a:t>MLP</a:t>
              </a:r>
            </a:p>
            <a:p>
              <a:pPr algn="ctr" defTabSz="904875">
                <a:tabLst>
                  <a:tab pos="715963" algn="l"/>
                  <a:tab pos="3228975" algn="l"/>
                </a:tabLst>
              </a:pPr>
              <a:r>
                <a:rPr lang="en-GB" sz="1600" dirty="0">
                  <a:cs typeface="Calibri" panose="020F0502020204030204" pitchFamily="34" charset="0"/>
                  <a:sym typeface="Wingdings" panose="05000000000000000000" pitchFamily="2" charset="2"/>
                </a:rPr>
                <a:t>(best model)</a:t>
              </a:r>
            </a:p>
          </p:txBody>
        </p:sp>
        <p:sp>
          <p:nvSpPr>
            <p:cNvPr id="18" name="TextBox 17">
              <a:extLst>
                <a:ext uri="{FF2B5EF4-FFF2-40B4-BE49-F238E27FC236}">
                  <a16:creationId xmlns:a16="http://schemas.microsoft.com/office/drawing/2014/main" id="{0E1763BF-4562-2294-0BDD-3BD9DB86338A}"/>
                </a:ext>
              </a:extLst>
            </p:cNvPr>
            <p:cNvSpPr txBox="1"/>
            <p:nvPr/>
          </p:nvSpPr>
          <p:spPr>
            <a:xfrm>
              <a:off x="11237051" y="4586617"/>
              <a:ext cx="910668" cy="1867171"/>
            </a:xfrm>
            <a:prstGeom prst="rect">
              <a:avLst/>
            </a:prstGeom>
            <a:noFill/>
          </p:spPr>
          <p:txBody>
            <a:bodyPr wrap="square" rtlCol="0" anchor="ctr">
              <a:noAutofit/>
            </a:bodyPr>
            <a:lstStyle/>
            <a:p>
              <a:pPr algn="ctr" defTabSz="904875">
                <a:tabLst>
                  <a:tab pos="715963" algn="l"/>
                  <a:tab pos="3228975" algn="l"/>
                </a:tabLst>
              </a:pPr>
              <a:r>
                <a:rPr lang="en-GB" sz="1600" dirty="0">
                  <a:cs typeface="Calibri" panose="020F0502020204030204" pitchFamily="34" charset="0"/>
                  <a:sym typeface="Wingdings" panose="05000000000000000000" pitchFamily="2" charset="2"/>
                </a:rPr>
                <a:t>MLP</a:t>
              </a:r>
            </a:p>
            <a:p>
              <a:pPr algn="ctr" defTabSz="904875">
                <a:tabLst>
                  <a:tab pos="715963" algn="l"/>
                  <a:tab pos="3228975" algn="l"/>
                </a:tabLst>
              </a:pPr>
              <a:r>
                <a:rPr lang="en-GB" sz="1600" dirty="0">
                  <a:cs typeface="Calibri" panose="020F0502020204030204" pitchFamily="34" charset="0"/>
                  <a:sym typeface="Wingdings" panose="05000000000000000000" pitchFamily="2" charset="2"/>
                </a:rPr>
                <a:t>(top 10 models)</a:t>
              </a:r>
            </a:p>
          </p:txBody>
        </p:sp>
      </p:grpSp>
      <p:sp>
        <p:nvSpPr>
          <p:cNvPr id="7" name="Line 2">
            <a:extLst>
              <a:ext uri="{FF2B5EF4-FFF2-40B4-BE49-F238E27FC236}">
                <a16:creationId xmlns:a16="http://schemas.microsoft.com/office/drawing/2014/main" id="{6BC6C2B4-D5B4-3201-B124-247B062C69C3}"/>
              </a:ext>
            </a:extLst>
          </p:cNvPr>
          <p:cNvSpPr/>
          <p:nvPr/>
        </p:nvSpPr>
        <p:spPr>
          <a:xfrm>
            <a:off x="513273" y="87064"/>
            <a:ext cx="8229600"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8" name="Line 2">
            <a:extLst>
              <a:ext uri="{FF2B5EF4-FFF2-40B4-BE49-F238E27FC236}">
                <a16:creationId xmlns:a16="http://schemas.microsoft.com/office/drawing/2014/main" id="{26D5FBC1-D422-5BE4-DBFD-D5C4B2C74D20}"/>
              </a:ext>
            </a:extLst>
          </p:cNvPr>
          <p:cNvSpPr/>
          <p:nvPr/>
        </p:nvSpPr>
        <p:spPr>
          <a:xfrm>
            <a:off x="513273" y="899844"/>
            <a:ext cx="8229600"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dirty="0"/>
          </a:p>
        </p:txBody>
      </p:sp>
    </p:spTree>
    <p:extLst>
      <p:ext uri="{BB962C8B-B14F-4D97-AF65-F5344CB8AC3E}">
        <p14:creationId xmlns:p14="http://schemas.microsoft.com/office/powerpoint/2010/main" val="3728484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500"/>
                                        <p:tgtEl>
                                          <p:spTgt spid="2">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animEffect transition="in" filter="fade">
                                      <p:cBhvr>
                                        <p:cTn id="15" dur="500"/>
                                        <p:tgtEl>
                                          <p:spTgt spid="2">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FCC01-EFCA-F06B-9778-7B0F51918C03}"/>
            </a:ext>
          </a:extLst>
        </p:cNvPr>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A265B12-E321-65E4-EA61-0017713886C9}"/>
              </a:ext>
            </a:extLst>
          </p:cNvPr>
          <p:cNvSpPr>
            <a:spLocks noGrp="1"/>
          </p:cNvSpPr>
          <p:nvPr>
            <p:ph idx="1"/>
          </p:nvPr>
        </p:nvSpPr>
        <p:spPr>
          <a:xfrm>
            <a:off x="720000" y="1268759"/>
            <a:ext cx="8379612" cy="1580767"/>
          </a:xfrm>
        </p:spPr>
        <p:txBody>
          <a:bodyPr>
            <a:noAutofit/>
          </a:bodyPr>
          <a:lstStyle/>
          <a:p>
            <a:pPr marL="0" lvl="1" indent="0">
              <a:buNone/>
              <a:tabLst>
                <a:tab pos="3138488" algn="l"/>
              </a:tabLst>
            </a:pPr>
            <a:r>
              <a:rPr lang="en-GB" b="1" dirty="0"/>
              <a:t>Final observations</a:t>
            </a:r>
          </a:p>
          <a:p>
            <a:pPr algn="l" defTabSz="904875">
              <a:tabLst>
                <a:tab pos="715963" algn="l"/>
                <a:tab pos="3228975" algn="l"/>
              </a:tabLst>
            </a:pPr>
            <a:r>
              <a:rPr lang="en-GB" dirty="0">
                <a:cs typeface="Calibri" panose="020F0502020204030204" pitchFamily="34" charset="0"/>
                <a:sym typeface="Wingdings" panose="05000000000000000000" pitchFamily="2" charset="2"/>
              </a:rPr>
              <a:t>MLPs usually outperform traditional MNL-based choice models in terms of model fit</a:t>
            </a:r>
          </a:p>
          <a:p>
            <a:pPr algn="l" defTabSz="904875">
              <a:tabLst>
                <a:tab pos="715963" algn="l"/>
                <a:tab pos="3228975" algn="l"/>
              </a:tabLst>
            </a:pPr>
            <a:endParaRPr lang="en-GB" dirty="0">
              <a:cs typeface="Calibri" panose="020F0502020204030204" pitchFamily="34" charset="0"/>
              <a:sym typeface="Wingdings" panose="05000000000000000000" pitchFamily="2" charset="2"/>
            </a:endParaRPr>
          </a:p>
          <a:p>
            <a:pPr algn="l" defTabSz="904875">
              <a:tabLst>
                <a:tab pos="715963" algn="l"/>
                <a:tab pos="3228975" algn="l"/>
              </a:tabLst>
            </a:pPr>
            <a:r>
              <a:rPr lang="en-GB" dirty="0">
                <a:cs typeface="Calibri" panose="020F0502020204030204" pitchFamily="34" charset="0"/>
                <a:sym typeface="Wingdings" panose="05000000000000000000" pitchFamily="2" charset="2"/>
              </a:rPr>
              <a:t>MLPs indeed can overcome the ad-hoc-ness of the model specification in traditional choice models</a:t>
            </a:r>
          </a:p>
          <a:p>
            <a:pPr marL="0" lvl="1" indent="0">
              <a:buNone/>
              <a:tabLst>
                <a:tab pos="3138488" algn="l"/>
              </a:tabLst>
            </a:pPr>
            <a:endParaRPr lang="en-GB" b="1" dirty="0"/>
          </a:p>
        </p:txBody>
      </p:sp>
      <p:sp>
        <p:nvSpPr>
          <p:cNvPr id="4" name="Slide Number Placeholder 3">
            <a:extLst>
              <a:ext uri="{FF2B5EF4-FFF2-40B4-BE49-F238E27FC236}">
                <a16:creationId xmlns:a16="http://schemas.microsoft.com/office/drawing/2014/main" id="{B2B05FEE-5CE5-847A-E413-19FDAEAF129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Content Placeholder 2">
            <a:extLst>
              <a:ext uri="{FF2B5EF4-FFF2-40B4-BE49-F238E27FC236}">
                <a16:creationId xmlns:a16="http://schemas.microsoft.com/office/drawing/2014/main" id="{B075EFC2-177C-E2F5-FA47-95AE1050DA4C}"/>
              </a:ext>
            </a:extLst>
          </p:cNvPr>
          <p:cNvSpPr txBox="1">
            <a:spLocks/>
          </p:cNvSpPr>
          <p:nvPr/>
        </p:nvSpPr>
        <p:spPr>
          <a:xfrm>
            <a:off x="677397" y="1967023"/>
            <a:ext cx="4856207" cy="35008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514350" algn="l" defTabSz="914400" rtl="0" eaLnBrk="1" fontAlgn="auto" latinLnBrk="0" hangingPunct="1">
              <a:lnSpc>
                <a:spcPct val="90000"/>
              </a:lnSpc>
              <a:spcBef>
                <a:spcPts val="1000"/>
              </a:spcBef>
              <a:spcAft>
                <a:spcPts val="0"/>
              </a:spcAft>
              <a:buClrTx/>
              <a:buSzTx/>
              <a:buFont typeface="Arial" panose="020B0604020202020204" pitchFamily="34" charset="0"/>
              <a:buNone/>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14FA0AC0-C1DD-ED1C-F16F-E2463987E5E2}"/>
              </a:ext>
            </a:extLst>
          </p:cNvPr>
          <p:cNvSpPr txBox="1"/>
          <p:nvPr/>
        </p:nvSpPr>
        <p:spPr>
          <a:xfrm>
            <a:off x="719999" y="3266613"/>
            <a:ext cx="6586147" cy="1790580"/>
          </a:xfrm>
          <a:prstGeom prst="rect">
            <a:avLst/>
          </a:prstGeom>
          <a:noFill/>
        </p:spPr>
        <p:txBody>
          <a:bodyPr wrap="square" rtlCol="0">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rPr>
              <a:t>However …</a:t>
            </a:r>
          </a:p>
          <a:p>
            <a:pPr marL="285750" marR="0" lvl="0"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rPr>
              <a:t>MLPs give ZERO behavioural or economic insight</a:t>
            </a:r>
          </a:p>
          <a:p>
            <a:pPr marL="285750" marR="0" lvl="0"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endPar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endParaRPr>
          </a:p>
          <a:p>
            <a:pPr marL="285750" marR="0" lvl="0"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rPr>
              <a:t>MLPs may violate behavioural regularity e.g.</a:t>
            </a:r>
          </a:p>
          <a:p>
            <a:pPr marL="742950" marR="0" lvl="1" indent="-285750" algn="l" defTabSz="904875" rtl="0" eaLnBrk="1" fontAlgn="auto" latinLnBrk="0" hangingPunct="1">
              <a:lnSpc>
                <a:spcPct val="100000"/>
              </a:lnSpc>
              <a:spcBef>
                <a:spcPts val="0"/>
              </a:spcBef>
              <a:spcAft>
                <a:spcPts val="0"/>
              </a:spcAft>
              <a:buClrTx/>
              <a:buSzTx/>
              <a:buFont typeface="System Font Regular"/>
              <a:buChar char="−"/>
              <a:tabLst>
                <a:tab pos="715963" algn="l"/>
                <a:tab pos="3228975"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rPr>
              <a:t>An increase in cost will (in some cases) lead to an increase in demand</a:t>
            </a:r>
          </a:p>
          <a:p>
            <a:pPr marL="742950" marR="0" lvl="1" indent="-285750" algn="l" defTabSz="904875" rtl="0" eaLnBrk="1" fontAlgn="auto" latinLnBrk="0" hangingPunct="1">
              <a:lnSpc>
                <a:spcPct val="100000"/>
              </a:lnSpc>
              <a:spcBef>
                <a:spcPts val="0"/>
              </a:spcBef>
              <a:spcAft>
                <a:spcPts val="0"/>
              </a:spcAft>
              <a:buClrTx/>
              <a:buSzTx/>
              <a:buFont typeface="System Font Regular"/>
              <a:buChar char="−"/>
              <a:tabLst>
                <a:tab pos="715963" algn="l"/>
                <a:tab pos="3228975"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endParaRPr>
          </a:p>
          <a:p>
            <a:pPr marL="285750" marR="0" lvl="0"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endParaRPr>
          </a:p>
        </p:txBody>
      </p:sp>
      <p:sp>
        <p:nvSpPr>
          <p:cNvPr id="7" name="TextBox 6">
            <a:extLst>
              <a:ext uri="{FF2B5EF4-FFF2-40B4-BE49-F238E27FC236}">
                <a16:creationId xmlns:a16="http://schemas.microsoft.com/office/drawing/2014/main" id="{3F6CC4B2-64F0-980F-70F4-6569C672D84F}"/>
              </a:ext>
            </a:extLst>
          </p:cNvPr>
          <p:cNvSpPr txBox="1"/>
          <p:nvPr/>
        </p:nvSpPr>
        <p:spPr>
          <a:xfrm>
            <a:off x="719998" y="5186849"/>
            <a:ext cx="6586148" cy="1580768"/>
          </a:xfrm>
          <a:prstGeom prst="rect">
            <a:avLst/>
          </a:prstGeom>
          <a:noFill/>
        </p:spPr>
        <p:txBody>
          <a:bodyPr wrap="square" rtlCol="0">
            <a:noAutofit/>
          </a:bodyPr>
          <a:lstStyle/>
          <a:p>
            <a:pPr marL="742950" marR="0" lvl="1" indent="-285750" algn="l" defTabSz="904875" rtl="0" eaLnBrk="1" fontAlgn="auto" latinLnBrk="0" hangingPunct="1">
              <a:lnSpc>
                <a:spcPct val="100000"/>
              </a:lnSpc>
              <a:spcBef>
                <a:spcPts val="0"/>
              </a:spcBef>
              <a:spcAft>
                <a:spcPts val="0"/>
              </a:spcAft>
              <a:buClrTx/>
              <a:buSzTx/>
              <a:buFont typeface="System Font Regular"/>
              <a:buChar char="−"/>
              <a:tabLst>
                <a:tab pos="715963" algn="l"/>
                <a:tab pos="3228975"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rPr>
              <a:t>Proportional substitution. Despite their complexity ANNs cannot account for unobserved preference heterogeneity </a:t>
            </a:r>
          </a:p>
          <a:p>
            <a:pPr marL="742950" marR="0" lvl="1" indent="-285750" algn="l" defTabSz="904875" rtl="0" eaLnBrk="1" fontAlgn="auto" latinLnBrk="0" hangingPunct="1">
              <a:lnSpc>
                <a:spcPct val="100000"/>
              </a:lnSpc>
              <a:spcBef>
                <a:spcPts val="0"/>
              </a:spcBef>
              <a:spcAft>
                <a:spcPts val="0"/>
              </a:spcAft>
              <a:buClrTx/>
              <a:buSzTx/>
              <a:buFont typeface="System Font Regular"/>
              <a:buChar char="−"/>
              <a:tabLst>
                <a:tab pos="715963" algn="l"/>
                <a:tab pos="3228975"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endParaRPr>
          </a:p>
          <a:p>
            <a:pPr marL="742950" marR="0" lvl="1" indent="-285750" algn="l" defTabSz="904875" rtl="0" eaLnBrk="1" fontAlgn="auto" latinLnBrk="0" hangingPunct="1">
              <a:lnSpc>
                <a:spcPct val="100000"/>
              </a:lnSpc>
              <a:spcBef>
                <a:spcPts val="0"/>
              </a:spcBef>
              <a:spcAft>
                <a:spcPts val="0"/>
              </a:spcAft>
              <a:buClrTx/>
              <a:buSzTx/>
              <a:buFont typeface="System Font Regular"/>
              <a:buChar char="−"/>
              <a:tabLst>
                <a:tab pos="715963" algn="l"/>
                <a:tab pos="3228975"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rPr>
              <a:t>One cannot “trust” this model to make sensible predictions + multiple outcomes</a:t>
            </a:r>
          </a:p>
        </p:txBody>
      </p:sp>
      <p:grpSp>
        <p:nvGrpSpPr>
          <p:cNvPr id="8" name="Group 7">
            <a:extLst>
              <a:ext uri="{FF2B5EF4-FFF2-40B4-BE49-F238E27FC236}">
                <a16:creationId xmlns:a16="http://schemas.microsoft.com/office/drawing/2014/main" id="{91F5AA9F-631B-5C05-E65C-C878220CEA46}"/>
              </a:ext>
            </a:extLst>
          </p:cNvPr>
          <p:cNvGrpSpPr/>
          <p:nvPr/>
        </p:nvGrpSpPr>
        <p:grpSpPr>
          <a:xfrm>
            <a:off x="7950977" y="4018235"/>
            <a:ext cx="1249378" cy="1919334"/>
            <a:chOff x="7300267" y="2745853"/>
            <a:chExt cx="1249378" cy="1919334"/>
          </a:xfrm>
        </p:grpSpPr>
        <p:sp>
          <p:nvSpPr>
            <p:cNvPr id="9" name="Right Arrow 8">
              <a:extLst>
                <a:ext uri="{FF2B5EF4-FFF2-40B4-BE49-F238E27FC236}">
                  <a16:creationId xmlns:a16="http://schemas.microsoft.com/office/drawing/2014/main" id="{FB782BB0-4706-87AD-29C3-64B6752796B4}"/>
                </a:ext>
              </a:extLst>
            </p:cNvPr>
            <p:cNvSpPr/>
            <p:nvPr/>
          </p:nvSpPr>
          <p:spPr>
            <a:xfrm>
              <a:off x="7300267" y="2745853"/>
              <a:ext cx="1249378" cy="1919334"/>
            </a:xfrm>
            <a:prstGeom prst="rightArrow">
              <a:avLst>
                <a:gd name="adj1" fmla="val 51886"/>
                <a:gd name="adj2" fmla="val 50000"/>
              </a:avLst>
            </a:prstGeom>
            <a:noFill/>
            <a:ln w="57150">
              <a:solidFill>
                <a:srgbClr val="24B5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2" descr="Image result for understand icon">
              <a:extLst>
                <a:ext uri="{FF2B5EF4-FFF2-40B4-BE49-F238E27FC236}">
                  <a16:creationId xmlns:a16="http://schemas.microsoft.com/office/drawing/2014/main" id="{0A4035E4-4AE7-90FF-229A-D8D52442689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07675" y="3286270"/>
              <a:ext cx="838501" cy="83850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TextBox 11">
            <a:extLst>
              <a:ext uri="{FF2B5EF4-FFF2-40B4-BE49-F238E27FC236}">
                <a16:creationId xmlns:a16="http://schemas.microsoft.com/office/drawing/2014/main" id="{BA97E69E-4E83-05A9-6A83-4CCF5A730288}"/>
              </a:ext>
            </a:extLst>
          </p:cNvPr>
          <p:cNvSpPr txBox="1"/>
          <p:nvPr/>
        </p:nvSpPr>
        <p:spPr>
          <a:xfrm>
            <a:off x="9241777" y="4558652"/>
            <a:ext cx="2480324" cy="918988"/>
          </a:xfrm>
          <a:prstGeom prst="rect">
            <a:avLst/>
          </a:prstGeom>
          <a:noFill/>
        </p:spPr>
        <p:txBody>
          <a:bodyPr wrap="square" rtlCol="0">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NL" sz="1800" b="1"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Utility-based ML</a:t>
            </a:r>
          </a:p>
          <a:p>
            <a:pPr marL="285750" marR="0" lvl="0"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endParaRPr kumimoji="0" lang="en-NL"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endParaRPr>
          </a:p>
          <a:p>
            <a:pPr marL="285750" marR="0" lvl="0" indent="-285750" algn="l" defTabSz="904875" rtl="0" eaLnBrk="1" fontAlgn="auto" latinLnBrk="0" hangingPunct="1">
              <a:lnSpc>
                <a:spcPct val="100000"/>
              </a:lnSpc>
              <a:spcBef>
                <a:spcPts val="0"/>
              </a:spcBef>
              <a:spcAft>
                <a:spcPts val="0"/>
              </a:spcAft>
              <a:buClrTx/>
              <a:buSzTx/>
              <a:buFont typeface="Wingdings" pitchFamily="2" charset="2"/>
              <a:buChar char="Ø"/>
              <a:tabLst>
                <a:tab pos="715963" algn="l"/>
                <a:tab pos="3228975" algn="l"/>
              </a:tabLst>
              <a:defRPr/>
            </a:pPr>
            <a:r>
              <a:rPr kumimoji="0" lang="en-NL"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a.k.a. Hybrid choice models</a:t>
            </a:r>
            <a:endParaRPr kumimoji="0" lang="en-NL"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endParaRPr>
          </a:p>
          <a:p>
            <a:pPr marL="742950" marR="0" lvl="1"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endParaRPr kumimoji="0" lang="en-NL"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endParaRPr>
          </a:p>
        </p:txBody>
      </p:sp>
      <p:pic>
        <p:nvPicPr>
          <p:cNvPr id="13" name="Picture 4" descr="Too much balance memes busy be balanced out with imbalance memes :  r/thanosdidnothingwrong">
            <a:extLst>
              <a:ext uri="{FF2B5EF4-FFF2-40B4-BE49-F238E27FC236}">
                <a16:creationId xmlns:a16="http://schemas.microsoft.com/office/drawing/2014/main" id="{DB9F1053-09BB-2A75-F0F1-B00F477040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82093" y="3000914"/>
            <a:ext cx="1252946" cy="1454643"/>
          </a:xfrm>
          <a:prstGeom prst="rect">
            <a:avLst/>
          </a:prstGeom>
          <a:noFill/>
          <a:extLst>
            <a:ext uri="{909E8E84-426E-40DD-AFC4-6F175D3DCCD1}">
              <a14:hiddenFill xmlns:a14="http://schemas.microsoft.com/office/drawing/2010/main">
                <a:solidFill>
                  <a:srgbClr val="FFFFFF"/>
                </a:solidFill>
              </a14:hiddenFill>
            </a:ext>
          </a:extLst>
        </p:spPr>
      </p:pic>
      <p:sp>
        <p:nvSpPr>
          <p:cNvPr id="11" name="Line 2">
            <a:extLst>
              <a:ext uri="{FF2B5EF4-FFF2-40B4-BE49-F238E27FC236}">
                <a16:creationId xmlns:a16="http://schemas.microsoft.com/office/drawing/2014/main" id="{20197D0A-1E34-E5AC-74C1-A6A594ECE888}"/>
              </a:ext>
            </a:extLst>
          </p:cNvPr>
          <p:cNvSpPr/>
          <p:nvPr/>
        </p:nvSpPr>
        <p:spPr>
          <a:xfrm>
            <a:off x="513273" y="8706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4" name="Line 2">
            <a:extLst>
              <a:ext uri="{FF2B5EF4-FFF2-40B4-BE49-F238E27FC236}">
                <a16:creationId xmlns:a16="http://schemas.microsoft.com/office/drawing/2014/main" id="{8003D3E5-EBD5-8A0D-4315-AAF411B9340B}"/>
              </a:ext>
            </a:extLst>
          </p:cNvPr>
          <p:cNvSpPr/>
          <p:nvPr/>
        </p:nvSpPr>
        <p:spPr>
          <a:xfrm>
            <a:off x="513273" y="899844"/>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7" name="Title 1">
            <a:extLst>
              <a:ext uri="{FF2B5EF4-FFF2-40B4-BE49-F238E27FC236}">
                <a16:creationId xmlns:a16="http://schemas.microsoft.com/office/drawing/2014/main" id="{2040BB9F-86E9-9AB5-D2A4-1F2C61905F2F}"/>
              </a:ext>
            </a:extLst>
          </p:cNvPr>
          <p:cNvSpPr txBox="1">
            <a:spLocks/>
          </p:cNvSpPr>
          <p:nvPr/>
        </p:nvSpPr>
        <p:spPr>
          <a:xfrm>
            <a:off x="1979451" y="-60287"/>
            <a:ext cx="8229600" cy="114300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000" kern="1200">
                <a:solidFill>
                  <a:schemeClr val="tx1"/>
                </a:solidFill>
                <a:latin typeface="+mj-lt"/>
                <a:ea typeface="+mj-ea"/>
                <a:cs typeface="+mj-cs"/>
              </a:defRPr>
            </a:lvl1pPr>
          </a:lstStyle>
          <a:p>
            <a:r>
              <a:rPr lang="en-GB"/>
              <a:t>MLP</a:t>
            </a:r>
            <a:endParaRPr lang="en-GB" sz="1800" dirty="0"/>
          </a:p>
        </p:txBody>
      </p:sp>
    </p:spTree>
    <p:extLst>
      <p:ext uri="{BB962C8B-B14F-4D97-AF65-F5344CB8AC3E}">
        <p14:creationId xmlns:p14="http://schemas.microsoft.com/office/powerpoint/2010/main" val="24698312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24B5B3"/>
          </a:solidFill>
          <a:prstDash val="dash"/>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a:noAutofit/>
      </a:bodyPr>
      <a:lstStyle>
        <a:defPPr marL="285750" indent="-285750" algn="l" defTabSz="904875">
          <a:buFont typeface="Arial" panose="020B0604020202020204" pitchFamily="34" charset="0"/>
          <a:buChar char="•"/>
          <a:tabLst>
            <a:tab pos="715963" algn="l"/>
            <a:tab pos="3228975" algn="l"/>
          </a:tabLst>
          <a:defRPr dirty="0" smtClean="0">
            <a:cs typeface="Calibri" panose="020F0502020204030204" pitchFamily="34" charset="0"/>
            <a:sym typeface="Wingdings" panose="05000000000000000000" pitchFamily="2" charset="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a:noAutofit/>
      </a:bodyPr>
      <a:lstStyle>
        <a:defPPr marL="285750" indent="-285750" algn="l" defTabSz="904875">
          <a:buFont typeface="Arial" panose="020B0604020202020204" pitchFamily="34" charset="0"/>
          <a:buChar char="•"/>
          <a:tabLst>
            <a:tab pos="715963" algn="l"/>
            <a:tab pos="3228975" algn="l"/>
          </a:tabLst>
          <a:defRPr dirty="0" smtClean="0">
            <a:cs typeface="Calibri" panose="020F0502020204030204" pitchFamily="34" charset="0"/>
            <a:sym typeface="Wingdings" panose="05000000000000000000" pitchFamily="2" charset="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24B5B3"/>
          </a:solidFill>
          <a:prstDash val="dash"/>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a:noAutofit/>
      </a:bodyPr>
      <a:lstStyle>
        <a:defPPr marL="285750" indent="-285750" algn="l" defTabSz="904875">
          <a:buFont typeface="Arial" panose="020B0604020202020204" pitchFamily="34" charset="0"/>
          <a:buChar char="•"/>
          <a:tabLst>
            <a:tab pos="715963" algn="l"/>
            <a:tab pos="3228975" algn="l"/>
          </a:tabLst>
          <a:defRPr dirty="0" smtClean="0">
            <a:cs typeface="Calibri" panose="020F0502020204030204" pitchFamily="34" charset="0"/>
            <a:sym typeface="Wingdings" panose="05000000000000000000" pitchFamily="2" charset="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431</TotalTime>
  <Words>4912</Words>
  <Application>Microsoft Macintosh PowerPoint</Application>
  <PresentationFormat>Widescreen</PresentationFormat>
  <Paragraphs>1540</Paragraphs>
  <Slides>80</Slides>
  <Notes>33</Notes>
  <HiddenSlides>0</HiddenSlides>
  <MMClips>0</MMClips>
  <ScaleCrop>false</ScaleCrop>
  <HeadingPairs>
    <vt:vector size="8" baseType="variant">
      <vt:variant>
        <vt:lpstr>Fonts Used</vt:lpstr>
      </vt:variant>
      <vt:variant>
        <vt:i4>11</vt:i4>
      </vt:variant>
      <vt:variant>
        <vt:lpstr>Theme</vt:lpstr>
      </vt:variant>
      <vt:variant>
        <vt:i4>4</vt:i4>
      </vt:variant>
      <vt:variant>
        <vt:lpstr>Embedded OLE Servers</vt:lpstr>
      </vt:variant>
      <vt:variant>
        <vt:i4>2</vt:i4>
      </vt:variant>
      <vt:variant>
        <vt:lpstr>Slide Titles</vt:lpstr>
      </vt:variant>
      <vt:variant>
        <vt:i4>80</vt:i4>
      </vt:variant>
    </vt:vector>
  </HeadingPairs>
  <TitlesOfParts>
    <vt:vector size="97" baseType="lpstr">
      <vt:lpstr>-webkit-standard</vt:lpstr>
      <vt:lpstr>Arial</vt:lpstr>
      <vt:lpstr>Calibri</vt:lpstr>
      <vt:lpstr>Calibri Light</vt:lpstr>
      <vt:lpstr>Cambria Math</vt:lpstr>
      <vt:lpstr>Gadugi</vt:lpstr>
      <vt:lpstr>Symbol</vt:lpstr>
      <vt:lpstr>System Font Regular</vt:lpstr>
      <vt:lpstr>Tahoma</vt:lpstr>
      <vt:lpstr>Times New Roman</vt:lpstr>
      <vt:lpstr>Wingdings</vt:lpstr>
      <vt:lpstr>Office Theme</vt:lpstr>
      <vt:lpstr>Custom Design</vt:lpstr>
      <vt:lpstr>1_Custom Design</vt:lpstr>
      <vt:lpstr>2_Custom Design</vt:lpstr>
      <vt:lpstr>Equation</vt:lpstr>
      <vt:lpstr>Visio</vt:lpstr>
      <vt:lpstr>Machine learning approaches for discrete choice analysis</vt:lpstr>
      <vt:lpstr>Course set-up</vt:lpstr>
      <vt:lpstr>Theory-driven Models (RUM-MNL) </vt:lpstr>
      <vt:lpstr>Theory-driven vs data-driven</vt:lpstr>
      <vt:lpstr>Theory-driven vs data-driven</vt:lpstr>
      <vt:lpstr>Limitations of RUM-MNL models</vt:lpstr>
      <vt:lpstr>Limitations of RUM-MNL models</vt:lpstr>
      <vt:lpstr>Limitations of RUM-MNL models</vt:lpstr>
      <vt:lpstr>Limitations of RUM-MNL models</vt:lpstr>
      <vt:lpstr>PowerPoint Presentation</vt:lpstr>
      <vt:lpstr>PowerPoint Presentation</vt:lpstr>
      <vt:lpstr>Data-driven Models  </vt:lpstr>
      <vt:lpstr>Theory-driven vs data-driven</vt:lpstr>
      <vt:lpstr>Machine Learning paradigms</vt:lpstr>
      <vt:lpstr>PowerPoint Presentation</vt:lpstr>
      <vt:lpstr>PowerPoint Presentation</vt:lpstr>
      <vt:lpstr>Artificial Neural Networks </vt:lpstr>
      <vt:lpstr>Artificial neural networks </vt:lpstr>
      <vt:lpstr>Artificial neural networks </vt:lpstr>
      <vt:lpstr>Artificial neural networks </vt:lpstr>
      <vt:lpstr>Artificial neural networks </vt:lpstr>
      <vt:lpstr>Artificial neural networks </vt:lpstr>
      <vt:lpstr>Artificial neural networks </vt:lpstr>
      <vt:lpstr>Artificial neural networks </vt:lpstr>
      <vt:lpstr>Artificial neural networks </vt:lpstr>
      <vt:lpstr>Artificial neural networks </vt:lpstr>
      <vt:lpstr>Training ANNs</vt:lpstr>
      <vt:lpstr>Training ANNs</vt:lpstr>
      <vt:lpstr>Training ANNs</vt:lpstr>
      <vt:lpstr>Training ANNs</vt:lpstr>
      <vt:lpstr>Training ANNs</vt:lpstr>
      <vt:lpstr>Training ANNs</vt:lpstr>
      <vt:lpstr>Training ANNs</vt:lpstr>
      <vt:lpstr>Training ANNs</vt:lpstr>
      <vt:lpstr>Training ANNs</vt:lpstr>
      <vt:lpstr>Training ANNs</vt:lpstr>
      <vt:lpstr>Training ANNs</vt:lpstr>
      <vt:lpstr>Training ANNs</vt:lpstr>
      <vt:lpstr>Training ANNs</vt:lpstr>
      <vt:lpstr>Training ANNs</vt:lpstr>
      <vt:lpstr>Training ANNs</vt:lpstr>
      <vt:lpstr>Training ANNs</vt:lpstr>
      <vt:lpstr>K-fold cross validation</vt:lpstr>
      <vt:lpstr>Model performance metrics</vt:lpstr>
      <vt:lpstr>Model performance metrics</vt:lpstr>
      <vt:lpstr>Model performance metrics</vt:lpstr>
      <vt:lpstr>Model performance metrics</vt:lpstr>
      <vt:lpstr>Model performance metrics</vt:lpstr>
      <vt:lpstr>Model performance metrics</vt:lpstr>
      <vt:lpstr>Model performance metrics</vt:lpstr>
      <vt:lpstr>Model performance metrics</vt:lpstr>
      <vt:lpstr>Model performance metrics</vt:lpstr>
      <vt:lpstr>Model performance metrics</vt:lpstr>
      <vt:lpstr>Model performance metrics</vt:lpstr>
      <vt:lpstr>Model performance metrics</vt:lpstr>
      <vt:lpstr>Model performance metrics</vt:lpstr>
      <vt:lpstr>Model performance metrics</vt:lpstr>
      <vt:lpstr>      An empirical example MLP</vt:lpstr>
      <vt:lpstr>Empirical example MNL</vt:lpstr>
      <vt:lpstr>PowerPoint Presentation</vt:lpstr>
      <vt:lpstr>PowerPoint Presentation</vt:lpstr>
      <vt:lpstr>Empirical example MLP: Case A</vt:lpstr>
      <vt:lpstr>PowerPoint Presentation</vt:lpstr>
      <vt:lpstr>Empirical example MLP: Case A</vt:lpstr>
      <vt:lpstr>Empirical example MLP: Case A</vt:lpstr>
      <vt:lpstr>Empirical example MLP: Case A</vt:lpstr>
      <vt:lpstr>Empirical example MLP: Case A</vt:lpstr>
      <vt:lpstr>Empirical example MLP: Case A</vt:lpstr>
      <vt:lpstr>Empirical example MLP: Case A</vt:lpstr>
      <vt:lpstr>Empirical example MLP: Case A</vt:lpstr>
      <vt:lpstr>Empirical example MLP: Case A</vt:lpstr>
      <vt:lpstr>Empirical example MLP: Case A</vt:lpstr>
      <vt:lpstr>Empirical example MLP: Case B</vt:lpstr>
      <vt:lpstr>Empirical example MLP: Case B</vt:lpstr>
      <vt:lpstr>Empirical example MLP: Case B</vt:lpstr>
      <vt:lpstr>PowerPoint Presentation</vt:lpstr>
      <vt:lpstr>Empirical example MLP: Case B</vt:lpstr>
      <vt:lpstr>Empirical example MLP: Case B</vt:lpstr>
      <vt:lpstr>MLP</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Discrete Choice Analysis: micro-econometrics and machine learning approaches   Machine learning approaches for discrete choice analysis   Sander van Cranenburgh  Associate Professor  CityAI lab Section of Transport and Logistics Faculty of Technology, Policy and Management Delft University of Technology</dc:title>
  <dc:creator>Sander van Cranenburgh</dc:creator>
  <cp:lastModifiedBy>Gabriel Nova</cp:lastModifiedBy>
  <cp:revision>17</cp:revision>
  <dcterms:created xsi:type="dcterms:W3CDTF">2024-01-30T08:42:43Z</dcterms:created>
  <dcterms:modified xsi:type="dcterms:W3CDTF">2026-06-09T15:45:57Z</dcterms:modified>
</cp:coreProperties>
</file>