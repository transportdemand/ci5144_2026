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tmp" ContentType="image/p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3.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86" r:id="rId2"/>
    <p:sldMasterId id="2147483689" r:id="rId3"/>
    <p:sldMasterId id="2147483692" r:id="rId4"/>
  </p:sldMasterIdLst>
  <p:notesMasterIdLst>
    <p:notesMasterId r:id="rId85"/>
  </p:notesMasterIdLst>
  <p:sldIdLst>
    <p:sldId id="4319" r:id="rId5"/>
    <p:sldId id="259" r:id="rId6"/>
    <p:sldId id="978" r:id="rId7"/>
    <p:sldId id="457" r:id="rId8"/>
    <p:sldId id="458" r:id="rId9"/>
    <p:sldId id="648" r:id="rId10"/>
    <p:sldId id="611" r:id="rId11"/>
    <p:sldId id="629" r:id="rId12"/>
    <p:sldId id="617" r:id="rId13"/>
    <p:sldId id="4501" r:id="rId14"/>
    <p:sldId id="4431" r:id="rId15"/>
    <p:sldId id="4502" r:id="rId16"/>
    <p:sldId id="459" r:id="rId17"/>
    <p:sldId id="986" r:id="rId18"/>
    <p:sldId id="4416" r:id="rId19"/>
    <p:sldId id="4419" r:id="rId20"/>
    <p:sldId id="979" r:id="rId21"/>
    <p:sldId id="480" r:id="rId22"/>
    <p:sldId id="481" r:id="rId23"/>
    <p:sldId id="482" r:id="rId24"/>
    <p:sldId id="484" r:id="rId25"/>
    <p:sldId id="483" r:id="rId26"/>
    <p:sldId id="485" r:id="rId27"/>
    <p:sldId id="486" r:id="rId28"/>
    <p:sldId id="487" r:id="rId29"/>
    <p:sldId id="4503" r:id="rId30"/>
    <p:sldId id="307" r:id="rId31"/>
    <p:sldId id="501" r:id="rId32"/>
    <p:sldId id="645" r:id="rId33"/>
    <p:sldId id="488" r:id="rId34"/>
    <p:sldId id="550" r:id="rId35"/>
    <p:sldId id="551" r:id="rId36"/>
    <p:sldId id="4504" r:id="rId37"/>
    <p:sldId id="649" r:id="rId38"/>
    <p:sldId id="491" r:id="rId39"/>
    <p:sldId id="492" r:id="rId40"/>
    <p:sldId id="493" r:id="rId41"/>
    <p:sldId id="490" r:id="rId42"/>
    <p:sldId id="494" r:id="rId43"/>
    <p:sldId id="514" r:id="rId44"/>
    <p:sldId id="540" r:id="rId45"/>
    <p:sldId id="541" r:id="rId46"/>
    <p:sldId id="515" r:id="rId47"/>
    <p:sldId id="557" r:id="rId48"/>
    <p:sldId id="558" r:id="rId49"/>
    <p:sldId id="559" r:id="rId50"/>
    <p:sldId id="560" r:id="rId51"/>
    <p:sldId id="561" r:id="rId52"/>
    <p:sldId id="562" r:id="rId53"/>
    <p:sldId id="563" r:id="rId54"/>
    <p:sldId id="564" r:id="rId55"/>
    <p:sldId id="565" r:id="rId56"/>
    <p:sldId id="566" r:id="rId57"/>
    <p:sldId id="569" r:id="rId58"/>
    <p:sldId id="570" r:id="rId59"/>
    <p:sldId id="571" r:id="rId60"/>
    <p:sldId id="572" r:id="rId61"/>
    <p:sldId id="630" r:id="rId62"/>
    <p:sldId id="984" r:id="rId63"/>
    <p:sldId id="646" r:id="rId64"/>
    <p:sldId id="666" r:id="rId65"/>
    <p:sldId id="647" r:id="rId66"/>
    <p:sldId id="980" r:id="rId67"/>
    <p:sldId id="655" r:id="rId68"/>
    <p:sldId id="654" r:id="rId69"/>
    <p:sldId id="653" r:id="rId70"/>
    <p:sldId id="652" r:id="rId71"/>
    <p:sldId id="650" r:id="rId72"/>
    <p:sldId id="651" r:id="rId73"/>
    <p:sldId id="656" r:id="rId74"/>
    <p:sldId id="657" r:id="rId75"/>
    <p:sldId id="658" r:id="rId76"/>
    <p:sldId id="659" r:id="rId77"/>
    <p:sldId id="661" r:id="rId78"/>
    <p:sldId id="662" r:id="rId79"/>
    <p:sldId id="981" r:id="rId80"/>
    <p:sldId id="664" r:id="rId81"/>
    <p:sldId id="960" r:id="rId82"/>
    <p:sldId id="665" r:id="rId83"/>
    <p:sldId id="983" r:id="rId84"/>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452028-2121-4E49-B336-7942A1FEFD4F}">
          <p14:sldIdLst>
            <p14:sldId id="4319"/>
            <p14:sldId id="259"/>
          </p14:sldIdLst>
        </p14:section>
        <p14:section name="Limitations RUM-MNL" id="{217DE301-D1CF-784E-BC95-71CE262FA7D3}">
          <p14:sldIdLst>
            <p14:sldId id="978"/>
            <p14:sldId id="457"/>
            <p14:sldId id="458"/>
            <p14:sldId id="648"/>
            <p14:sldId id="611"/>
            <p14:sldId id="629"/>
            <p14:sldId id="617"/>
            <p14:sldId id="4501"/>
            <p14:sldId id="4431"/>
          </p14:sldIdLst>
        </p14:section>
        <p14:section name="Data-driven" id="{26C54A09-7B7A-584E-A5AF-41C4A6967A2B}">
          <p14:sldIdLst>
            <p14:sldId id="4502"/>
            <p14:sldId id="459"/>
          </p14:sldIdLst>
        </p14:section>
        <p14:section name="Machine learning" id="{79A8B3B4-0A9C-1A4C-9538-BFCB118262BF}">
          <p14:sldIdLst>
            <p14:sldId id="986"/>
            <p14:sldId id="4416"/>
            <p14:sldId id="4419"/>
          </p14:sldIdLst>
        </p14:section>
        <p14:section name="ANNs" id="{164AD8BA-23C0-4447-83B6-478E9D074CFB}">
          <p14:sldIdLst>
            <p14:sldId id="979"/>
            <p14:sldId id="480"/>
            <p14:sldId id="481"/>
            <p14:sldId id="482"/>
            <p14:sldId id="484"/>
            <p14:sldId id="483"/>
            <p14:sldId id="485"/>
            <p14:sldId id="486"/>
            <p14:sldId id="487"/>
            <p14:sldId id="4503"/>
            <p14:sldId id="307"/>
            <p14:sldId id="501"/>
            <p14:sldId id="645"/>
            <p14:sldId id="488"/>
            <p14:sldId id="550"/>
            <p14:sldId id="551"/>
            <p14:sldId id="4504"/>
            <p14:sldId id="649"/>
            <p14:sldId id="491"/>
            <p14:sldId id="492"/>
            <p14:sldId id="493"/>
            <p14:sldId id="490"/>
            <p14:sldId id="494"/>
            <p14:sldId id="514"/>
            <p14:sldId id="540"/>
            <p14:sldId id="541"/>
            <p14:sldId id="515"/>
          </p14:sldIdLst>
        </p14:section>
        <p14:section name="Performance metrics" id="{5CEB2287-7846-3042-87DB-206A401F67C6}">
          <p14:sldIdLst>
            <p14:sldId id="557"/>
            <p14:sldId id="558"/>
            <p14:sldId id="559"/>
            <p14:sldId id="560"/>
            <p14:sldId id="561"/>
            <p14:sldId id="562"/>
            <p14:sldId id="563"/>
            <p14:sldId id="564"/>
            <p14:sldId id="565"/>
            <p14:sldId id="566"/>
            <p14:sldId id="569"/>
            <p14:sldId id="570"/>
            <p14:sldId id="571"/>
            <p14:sldId id="572"/>
          </p14:sldIdLst>
        </p14:section>
        <p14:section name="Empirical example" id="{B86494E5-D8E6-9449-8130-DE252326B49B}">
          <p14:sldIdLst>
            <p14:sldId id="630"/>
            <p14:sldId id="984"/>
            <p14:sldId id="646"/>
            <p14:sldId id="666"/>
            <p14:sldId id="647"/>
            <p14:sldId id="980"/>
            <p14:sldId id="655"/>
            <p14:sldId id="654"/>
            <p14:sldId id="653"/>
            <p14:sldId id="652"/>
            <p14:sldId id="650"/>
            <p14:sldId id="651"/>
            <p14:sldId id="656"/>
            <p14:sldId id="657"/>
            <p14:sldId id="658"/>
            <p14:sldId id="659"/>
            <p14:sldId id="661"/>
            <p14:sldId id="662"/>
            <p14:sldId id="981"/>
            <p14:sldId id="664"/>
            <p14:sldId id="960"/>
            <p14:sldId id="665"/>
            <p14:sldId id="983"/>
          </p14:sldIdLst>
        </p14:section>
        <p14:section name="Lab session 1" id="{B5100C27-16CA-4A05-9155-4B87B661EE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00FF"/>
    <a:srgbClr val="3AB5B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588"/>
    <p:restoredTop sz="96137" autoAdjust="0"/>
  </p:normalViewPr>
  <p:slideViewPr>
    <p:cSldViewPr snapToGrid="0">
      <p:cViewPr varScale="1">
        <p:scale>
          <a:sx n="120" d="100"/>
          <a:sy n="120" d="100"/>
        </p:scale>
        <p:origin x="192" y="2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tableStyles" Target="tableStyle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viewProps" Target="view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AC97CB-A4CC-CC4D-A3F0-B49FE72F9AC4}" type="datetimeFigureOut">
              <a:rPr lang="en-GB" smtClean="0"/>
              <a:t>09/06/2026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B6DF17-24B9-C246-AFBD-A6645EA30728}" type="slidenum">
              <a:rPr lang="en-GB" smtClean="0"/>
              <a:t>‹#›</a:t>
            </a:fld>
            <a:endParaRPr lang="en-GB"/>
          </a:p>
        </p:txBody>
      </p:sp>
    </p:spTree>
    <p:extLst>
      <p:ext uri="{BB962C8B-B14F-4D97-AF65-F5344CB8AC3E}">
        <p14:creationId xmlns:p14="http://schemas.microsoft.com/office/powerpoint/2010/main" val="14789378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Today, I will present my ongoing research about the idea of assisting choice </a:t>
            </a:r>
            <a:r>
              <a:rPr lang="en-US" dirty="0" err="1"/>
              <a:t>modellers’</a:t>
            </a:r>
            <a:r>
              <a:rPr lang="en-US" dirty="0"/>
              <a:t> workflows through artificial intelligence.</a:t>
            </a:r>
          </a:p>
          <a:p>
            <a:br>
              <a:rPr lang="en-US" dirty="0"/>
            </a:br>
            <a:endParaRPr lang="en-US" dirty="0"/>
          </a:p>
          <a:p>
            <a:r>
              <a:rPr lang="en-US" dirty="0"/>
              <a:t>In particular, I will show how we frame model specification as a Markov decision process, and then introduce </a:t>
            </a:r>
            <a:r>
              <a:rPr lang="en-US" b="1" dirty="0"/>
              <a:t>Delphos</a:t>
            </a:r>
            <a:r>
              <a:rPr lang="en-US" dirty="0"/>
              <a:t>, which is a reinforcement learning agent that automate this process.</a:t>
            </a:r>
          </a:p>
          <a:p>
            <a:br>
              <a:rPr lang="en-US" dirty="0"/>
            </a:br>
            <a:endParaRPr lang="en-US" dirty="0"/>
          </a:p>
          <a:p>
            <a:r>
              <a:rPr lang="en-US" dirty="0"/>
              <a:t>Then, I will present two applications: first, Delphos working with a single dataset; and second, Delphos working with multiple datasets at the same time to train an agent capable of transferring modelling knowledge.</a:t>
            </a:r>
          </a:p>
          <a:p>
            <a:pPr marL="0" indent="0">
              <a:buFontTx/>
              <a:buNone/>
            </a:pPr>
            <a:endParaRPr lang="en-GB" noProof="1"/>
          </a:p>
        </p:txBody>
      </p:sp>
      <p:sp>
        <p:nvSpPr>
          <p:cNvPr id="4" name="Slide Number Placeholder 3"/>
          <p:cNvSpPr>
            <a:spLocks noGrp="1"/>
          </p:cNvSpPr>
          <p:nvPr>
            <p:ph type="sldNum" sz="quarter" idx="5"/>
          </p:nvPr>
        </p:nvSpPr>
        <p:spPr/>
        <p:txBody>
          <a:bodyPr/>
          <a:lstStyle/>
          <a:p>
            <a:fld id="{3B9F644A-22D0-0E41-9CB7-0D833FE0D1B3}" type="slidenum">
              <a:rPr lang="es-ES_tradnl" smtClean="0"/>
              <a:t>1</a:t>
            </a:fld>
            <a:endParaRPr lang="es-ES_tradnl"/>
          </a:p>
        </p:txBody>
      </p:sp>
    </p:spTree>
    <p:extLst>
      <p:ext uri="{BB962C8B-B14F-4D97-AF65-F5344CB8AC3E}">
        <p14:creationId xmlns:p14="http://schemas.microsoft.com/office/powerpoint/2010/main" val="84643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BB6DF17-24B9-C246-AFBD-A6645EA30728}" type="slidenum">
              <a:rPr lang="en-GB" smtClean="0"/>
              <a:t>3</a:t>
            </a:fld>
            <a:endParaRPr lang="en-GB"/>
          </a:p>
        </p:txBody>
      </p:sp>
    </p:spTree>
    <p:extLst>
      <p:ext uri="{BB962C8B-B14F-4D97-AF65-F5344CB8AC3E}">
        <p14:creationId xmlns:p14="http://schemas.microsoft.com/office/powerpoint/2010/main" val="1725815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6462354-8E3A-4216-9DBC-0E5E936618E1}"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726379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6462354-8E3A-4216-9DBC-0E5E936618E1}"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4213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BB6DF17-24B9-C246-AFBD-A6645EA30728}" type="slidenum">
              <a:rPr lang="en-GB" smtClean="0"/>
              <a:t>6</a:t>
            </a:fld>
            <a:endParaRPr lang="en-GB"/>
          </a:p>
        </p:txBody>
      </p:sp>
    </p:spTree>
    <p:extLst>
      <p:ext uri="{BB962C8B-B14F-4D97-AF65-F5344CB8AC3E}">
        <p14:creationId xmlns:p14="http://schemas.microsoft.com/office/powerpoint/2010/main" val="2190211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GB" b="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9366A6-7DC8-4C2E-B969-7A593BD97F4D}"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888455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b="1"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9366A6-7DC8-4C2E-B969-7A593BD97F4D}"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2833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b="1"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9366A6-7DC8-4C2E-B969-7A593BD97F4D}"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862519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E5A55-E388-5870-6F6C-293F152B9814}"/>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3AC22BE1-2338-B138-398A-75B9AB96C35F}"/>
              </a:ext>
            </a:extLst>
          </p:cNvPr>
          <p:cNvSpPr>
            <a:spLocks noGrp="1" noRot="1" noChangeAspect="1"/>
          </p:cNvSpPr>
          <p:nvPr>
            <p:ph type="sldImg"/>
          </p:nvPr>
        </p:nvSpPr>
        <p:spPr>
          <a:xfrm>
            <a:off x="685800" y="1143000"/>
            <a:ext cx="5486400" cy="3086100"/>
          </a:xfrm>
          <a:prstGeom prst="rect">
            <a:avLst/>
          </a:prstGeom>
        </p:spPr>
      </p:sp>
      <p:sp>
        <p:nvSpPr>
          <p:cNvPr id="521" name="PlaceHolder 2">
            <a:extLst>
              <a:ext uri="{FF2B5EF4-FFF2-40B4-BE49-F238E27FC236}">
                <a16:creationId xmlns:a16="http://schemas.microsoft.com/office/drawing/2014/main" id="{CF78A470-2EBD-44A6-9DBB-64BEBA744F9C}"/>
              </a:ext>
            </a:extLst>
          </p:cNvPr>
          <p:cNvSpPr>
            <a:spLocks noGrp="1"/>
          </p:cNvSpPr>
          <p:nvPr>
            <p:ph type="body"/>
          </p:nvPr>
        </p:nvSpPr>
        <p:spPr>
          <a:xfrm>
            <a:off x="685800" y="4400640"/>
            <a:ext cx="5485680" cy="3599640"/>
          </a:xfrm>
          <a:prstGeom prst="rect">
            <a:avLst/>
          </a:prstGeom>
        </p:spPr>
        <p:txBody>
          <a:bodyPr lIns="0" tIns="0" rIns="0" bIns="0">
            <a:noAutofit/>
          </a:bodyPr>
          <a:lstStyle/>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After choosing the model family, the main work is specification. </a:t>
            </a:r>
          </a:p>
          <a:p>
            <a:pPr marL="0" marR="0" lvl="0" indent="0" algn="l" defTabSz="914400" rtl="0" eaLnBrk="1" fontAlgn="auto" latinLnBrk="0" hangingPunct="1">
              <a:lnSpc>
                <a:spcPts val="1175"/>
              </a:lnSpc>
              <a:spcBef>
                <a:spcPts val="0"/>
              </a:spcBef>
              <a:spcAft>
                <a:spcPts val="800"/>
              </a:spcAft>
              <a:buClrTx/>
              <a:buSzTx/>
              <a:buFontTx/>
              <a:buNone/>
              <a:tabLst/>
              <a:defRPr/>
            </a:pPr>
            <a:endParaRPr lang="en-US" sz="2000" dirty="0"/>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err="1"/>
              <a:t>Modellers</a:t>
            </a:r>
            <a:r>
              <a:rPr lang="en-US" sz="2000" dirty="0"/>
              <a:t> must define the systematic utility by making several interrelated decisions. </a:t>
            </a:r>
          </a:p>
          <a:p>
            <a:pPr marL="0" marR="0" lvl="0" indent="0" algn="l" defTabSz="914400" rtl="0" eaLnBrk="1" fontAlgn="auto" latinLnBrk="0" hangingPunct="1">
              <a:lnSpc>
                <a:spcPts val="1175"/>
              </a:lnSpc>
              <a:spcBef>
                <a:spcPts val="0"/>
              </a:spcBef>
              <a:spcAft>
                <a:spcPts val="800"/>
              </a:spcAft>
              <a:buClrTx/>
              <a:buSzTx/>
              <a:buFontTx/>
              <a:buNone/>
              <a:tabLst/>
              <a:defRPr/>
            </a:pPr>
            <a:endParaRPr lang="en-US" sz="2000" dirty="0"/>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First, which attributes matter—time, cost, headway, reliability, comfort. </a:t>
            </a:r>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Second, whether tastes are generic or alternative-specific, which changes interpretation and flexibility. </a:t>
            </a:r>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Third, whether to introduce structure like non-linear transformations or interactions to capture </a:t>
            </a:r>
            <a:r>
              <a:rPr lang="en-US" sz="2000" dirty="0" err="1"/>
              <a:t>observerded</a:t>
            </a:r>
            <a:r>
              <a:rPr lang="en-US" sz="2000" dirty="0"/>
              <a:t> heterogeneity. </a:t>
            </a:r>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And then comes estimation and evaluation. </a:t>
            </a:r>
          </a:p>
          <a:p>
            <a:pPr marL="0" marR="0" lvl="0" indent="0" algn="l" defTabSz="914400" rtl="0" eaLnBrk="1" fontAlgn="auto" latinLnBrk="0" hangingPunct="1">
              <a:lnSpc>
                <a:spcPts val="1175"/>
              </a:lnSpc>
              <a:spcBef>
                <a:spcPts val="0"/>
              </a:spcBef>
              <a:spcAft>
                <a:spcPts val="800"/>
              </a:spcAft>
              <a:buClrTx/>
              <a:buSzTx/>
              <a:buFontTx/>
              <a:buNone/>
              <a:tabLst/>
              <a:defRPr/>
            </a:pPr>
            <a:endParaRPr lang="en-US" sz="2000" dirty="0"/>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Because these choices interact, the process is iterative: changes in one part of utility can alter the significance, signs, and overall fit, so </a:t>
            </a:r>
            <a:r>
              <a:rPr lang="en-US" sz="2000" dirty="0" err="1"/>
              <a:t>modellers</a:t>
            </a:r>
            <a:r>
              <a:rPr lang="en-US" sz="2000" dirty="0"/>
              <a:t> cycle through candidates until they reach a reasonable balance.</a:t>
            </a:r>
          </a:p>
          <a:p>
            <a:pPr>
              <a:lnSpc>
                <a:spcPts val="1175"/>
              </a:lnSpc>
              <a:spcAft>
                <a:spcPts val="800"/>
              </a:spcAft>
            </a:pPr>
            <a:endParaRPr lang="en-US" sz="2000" b="0" strike="noStrike" spc="-1" dirty="0">
              <a:latin typeface="Calibri"/>
            </a:endParaRPr>
          </a:p>
        </p:txBody>
      </p:sp>
      <p:sp>
        <p:nvSpPr>
          <p:cNvPr id="522" name="CustomShape 3">
            <a:extLst>
              <a:ext uri="{FF2B5EF4-FFF2-40B4-BE49-F238E27FC236}">
                <a16:creationId xmlns:a16="http://schemas.microsoft.com/office/drawing/2014/main" id="{7EC1CFD7-2B24-D126-74A0-2FF5F19CABE4}"/>
              </a:ext>
            </a:extLst>
          </p:cNvPr>
          <p:cNvSpPr/>
          <p:nvPr/>
        </p:nvSpPr>
        <p:spPr>
          <a:xfrm>
            <a:off x="3884760" y="8685360"/>
            <a:ext cx="2971080" cy="457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C4AD8394-06F2-4437-950A-2024FD027C4D}" type="slidenum">
              <a:rPr lang="es-ES_tradnl" sz="1200" b="0" strike="noStrike" spc="-1">
                <a:latin typeface="Calibri"/>
              </a:rPr>
              <a:t>10</a:t>
            </a:fld>
            <a:endParaRPr lang="en-US" sz="1200" b="0" strike="noStrike" spc="-1">
              <a:latin typeface="Calibri"/>
            </a:endParaRPr>
          </a:p>
        </p:txBody>
      </p:sp>
    </p:spTree>
    <p:extLst>
      <p:ext uri="{BB962C8B-B14F-4D97-AF65-F5344CB8AC3E}">
        <p14:creationId xmlns:p14="http://schemas.microsoft.com/office/powerpoint/2010/main" val="17278773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C54F4-DE35-17FF-3212-48121CDE06EB}"/>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7C366A78-25B7-7D9A-60E0-ED30DC16B0D3}"/>
              </a:ext>
            </a:extLst>
          </p:cNvPr>
          <p:cNvSpPr>
            <a:spLocks noGrp="1" noRot="1" noChangeAspect="1"/>
          </p:cNvSpPr>
          <p:nvPr>
            <p:ph type="sldImg"/>
          </p:nvPr>
        </p:nvSpPr>
        <p:spPr>
          <a:xfrm>
            <a:off x="685800" y="1143000"/>
            <a:ext cx="5486400" cy="3086100"/>
          </a:xfrm>
          <a:prstGeom prst="rect">
            <a:avLst/>
          </a:prstGeom>
        </p:spPr>
      </p:sp>
      <p:sp>
        <p:nvSpPr>
          <p:cNvPr id="521" name="PlaceHolder 2">
            <a:extLst>
              <a:ext uri="{FF2B5EF4-FFF2-40B4-BE49-F238E27FC236}">
                <a16:creationId xmlns:a16="http://schemas.microsoft.com/office/drawing/2014/main" id="{606A057C-8EF0-AC85-03D8-90F4FDBD67B6}"/>
              </a:ext>
            </a:extLst>
          </p:cNvPr>
          <p:cNvSpPr>
            <a:spLocks noGrp="1"/>
          </p:cNvSpPr>
          <p:nvPr>
            <p:ph type="body"/>
          </p:nvPr>
        </p:nvSpPr>
        <p:spPr>
          <a:xfrm>
            <a:off x="685800" y="4400640"/>
            <a:ext cx="5485680" cy="3599640"/>
          </a:xfrm>
          <a:prstGeom prst="rect">
            <a:avLst/>
          </a:prstGeom>
        </p:spPr>
        <p:txBody>
          <a:bodyPr lIns="0" tIns="0" rIns="0" bIns="0">
            <a:noAutofit/>
          </a:bodyPr>
          <a:lstStyle/>
          <a:p>
            <a:r>
              <a:rPr lang="en-US" sz="4400" dirty="0"/>
              <a:t>We use the </a:t>
            </a:r>
            <a:r>
              <a:rPr lang="en-US" sz="4400" dirty="0" err="1"/>
              <a:t>Swissmetro</a:t>
            </a:r>
            <a:r>
              <a:rPr lang="en-US" sz="4400" dirty="0"/>
              <a:t> dataset. In this case, the modelling space includes variables such as alternative-specific constants, travel time, travel cost, headway, and seat availability.</a:t>
            </a:r>
          </a:p>
          <a:p>
            <a:endParaRPr lang="en-US" sz="4400" dirty="0"/>
          </a:p>
          <a:p>
            <a:r>
              <a:rPr lang="en-US" sz="4400" dirty="0"/>
              <a:t>The agent may apply transformation as logarithmic and box-cox. Also, it may change taste parameters and add interaction with covariates. </a:t>
            </a:r>
          </a:p>
          <a:p>
            <a:endParaRPr lang="en-US" sz="44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4400" dirty="0"/>
              <a:t>After training, we could get Pareto front. This collects the specifications that offer the best trade-offs between competing objectives, such as improving model fit while keeping the model parsimonious. In other words, these are models where one objective cannot be improved without worsening another.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44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4400" dirty="0"/>
              <a:t>We also benchmarked our method using the variable neighborhood search metaheuristic (in dark dots and starts). As you can see, both approaches have similar pareto front, suggesting that Delphos propose plausible model but also it found specifications that outperform the ones proposed by VNS algorithm.</a:t>
            </a:r>
          </a:p>
          <a:p>
            <a:endParaRPr lang="en-US" sz="4400" dirty="0"/>
          </a:p>
          <a:p>
            <a:br>
              <a:rPr lang="en-US" sz="4400" dirty="0"/>
            </a:br>
            <a:endParaRPr lang="en-US" sz="4400" dirty="0"/>
          </a:p>
        </p:txBody>
      </p:sp>
      <p:sp>
        <p:nvSpPr>
          <p:cNvPr id="522" name="CustomShape 3">
            <a:extLst>
              <a:ext uri="{FF2B5EF4-FFF2-40B4-BE49-F238E27FC236}">
                <a16:creationId xmlns:a16="http://schemas.microsoft.com/office/drawing/2014/main" id="{5A2F2951-C7DE-D08F-5024-8C0AE6D193F5}"/>
              </a:ext>
            </a:extLst>
          </p:cNvPr>
          <p:cNvSpPr/>
          <p:nvPr/>
        </p:nvSpPr>
        <p:spPr>
          <a:xfrm>
            <a:off x="3884760" y="8685360"/>
            <a:ext cx="2971080" cy="457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C4AD8394-06F2-4437-950A-2024FD027C4D}" type="slidenum">
              <a:rPr lang="es-ES_tradnl" sz="1200" b="0" strike="noStrike" spc="-1">
                <a:latin typeface="Calibri"/>
              </a:rPr>
              <a:t>11</a:t>
            </a:fld>
            <a:endParaRPr lang="en-US" sz="1200" b="0" strike="noStrike" spc="-1">
              <a:latin typeface="Calibri"/>
            </a:endParaRPr>
          </a:p>
        </p:txBody>
      </p:sp>
    </p:spTree>
    <p:extLst>
      <p:ext uri="{BB962C8B-B14F-4D97-AF65-F5344CB8AC3E}">
        <p14:creationId xmlns:p14="http://schemas.microsoft.com/office/powerpoint/2010/main" val="421374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FF03-FE3D-27E2-AA17-384D0D354A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0EECE5-A30B-0298-4539-E0F9D2335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7BF02F-FE79-F44F-A8FE-52B22EFF3E7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626644A-0D5B-766A-A1A1-BF7FE22FB8BD}"/>
              </a:ext>
            </a:extLst>
          </p:cNvPr>
          <p:cNvSpPr>
            <a:spLocks noGrp="1"/>
          </p:cNvSpPr>
          <p:nvPr>
            <p:ph type="sldNum" sz="quarter" idx="5"/>
          </p:nvPr>
        </p:nvSpPr>
        <p:spPr/>
        <p:txBody>
          <a:bodyPr/>
          <a:lstStyle/>
          <a:p>
            <a:fld id="{8BB6DF17-24B9-C246-AFBD-A6645EA30728}" type="slidenum">
              <a:rPr lang="en-GB" smtClean="0"/>
              <a:t>12</a:t>
            </a:fld>
            <a:endParaRPr lang="en-GB"/>
          </a:p>
        </p:txBody>
      </p:sp>
    </p:spTree>
    <p:extLst>
      <p:ext uri="{BB962C8B-B14F-4D97-AF65-F5344CB8AC3E}">
        <p14:creationId xmlns:p14="http://schemas.microsoft.com/office/powerpoint/2010/main" val="29195543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6462354-8E3A-4216-9DBC-0E5E936618E1}"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27479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9268-1383-6417-BFDD-39093D0A52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C418BC-18FF-2164-32BF-0C9EB3B408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623057-DE1A-7336-BD67-2B1A27B8387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F099031-728C-820F-ECFD-FE1A3837B854}"/>
              </a:ext>
            </a:extLst>
          </p:cNvPr>
          <p:cNvSpPr>
            <a:spLocks noGrp="1"/>
          </p:cNvSpPr>
          <p:nvPr>
            <p:ph type="sldNum" sz="quarter" idx="5"/>
          </p:nvPr>
        </p:nvSpPr>
        <p:spPr/>
        <p:txBody>
          <a:bodyPr/>
          <a:lstStyle/>
          <a:p>
            <a:fld id="{8BB6DF17-24B9-C246-AFBD-A6645EA30728}" type="slidenum">
              <a:rPr lang="en-GB" smtClean="0"/>
              <a:t>14</a:t>
            </a:fld>
            <a:endParaRPr lang="en-GB"/>
          </a:p>
        </p:txBody>
      </p:sp>
    </p:spTree>
    <p:extLst>
      <p:ext uri="{BB962C8B-B14F-4D97-AF65-F5344CB8AC3E}">
        <p14:creationId xmlns:p14="http://schemas.microsoft.com/office/powerpoint/2010/main" val="20523450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9B798-B83A-5836-3830-2C0B6124951C}"/>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211F56CA-7D12-61C7-D825-87409AC99F06}"/>
              </a:ext>
            </a:extLst>
          </p:cNvPr>
          <p:cNvSpPr>
            <a:spLocks noGrp="1" noRot="1" noChangeAspect="1"/>
          </p:cNvSpPr>
          <p:nvPr>
            <p:ph type="sldImg"/>
          </p:nvPr>
        </p:nvSpPr>
        <p:spPr>
          <a:xfrm>
            <a:off x="685800" y="1143000"/>
            <a:ext cx="5486400" cy="3086100"/>
          </a:xfrm>
          <a:prstGeom prst="rect">
            <a:avLst/>
          </a:prstGeom>
        </p:spPr>
      </p:sp>
      <p:sp>
        <p:nvSpPr>
          <p:cNvPr id="521" name="PlaceHolder 2">
            <a:extLst>
              <a:ext uri="{FF2B5EF4-FFF2-40B4-BE49-F238E27FC236}">
                <a16:creationId xmlns:a16="http://schemas.microsoft.com/office/drawing/2014/main" id="{7EB9A16E-CD7E-A8DF-106B-1F12B65A215C}"/>
              </a:ext>
            </a:extLst>
          </p:cNvPr>
          <p:cNvSpPr>
            <a:spLocks noGrp="1"/>
          </p:cNvSpPr>
          <p:nvPr>
            <p:ph type="body"/>
          </p:nvPr>
        </p:nvSpPr>
        <p:spPr>
          <a:xfrm>
            <a:off x="685800" y="4400640"/>
            <a:ext cx="5485680" cy="3599640"/>
          </a:xfrm>
          <a:prstGeom prst="rect">
            <a:avLst/>
          </a:prstGeom>
        </p:spPr>
        <p:txBody>
          <a:bodyPr lIns="0" tIns="0" rIns="0" bIns="0">
            <a:noAutofit/>
          </a:bodyPr>
          <a:lstStyle/>
          <a:p>
            <a:pPr algn="just"/>
            <a:endParaRPr lang="en-US" sz="2000" dirty="0">
              <a:latin typeface="Times New Roman" panose="02020603050405020304" pitchFamily="18" charset="0"/>
            </a:endParaRPr>
          </a:p>
          <a:p>
            <a:pPr algn="just"/>
            <a:r>
              <a:rPr lang="en-US" sz="2000" dirty="0">
                <a:latin typeface="Times New Roman" panose="02020603050405020304" pitchFamily="18" charset="0"/>
              </a:rPr>
              <a:t>However, m</a:t>
            </a:r>
            <a:r>
              <a:rPr lang="en-US" sz="2000" dirty="0"/>
              <a:t>odel specification process is not a simple or static problem—it is a </a:t>
            </a:r>
            <a:r>
              <a:rPr lang="en-US" sz="2000" i="1" dirty="0"/>
              <a:t>learning process</a:t>
            </a:r>
            <a:r>
              <a:rPr lang="en-US" sz="2000" dirty="0"/>
              <a:t>.</a:t>
            </a:r>
          </a:p>
          <a:p>
            <a:pPr algn="just"/>
            <a:endParaRPr lang="en-US" sz="2000" dirty="0"/>
          </a:p>
          <a:p>
            <a:pPr algn="just"/>
            <a:r>
              <a:rPr lang="en-US" sz="2000" dirty="0"/>
              <a:t>Choice </a:t>
            </a:r>
            <a:r>
              <a:rPr lang="en-US" sz="2000" dirty="0" err="1"/>
              <a:t>modellers</a:t>
            </a:r>
            <a:r>
              <a:rPr lang="en-US" sz="2000" dirty="0"/>
              <a:t> iteratively refine their models through feedback, and they shape their decision based on the modelling outcomes. Thus, through several iteration, they improve their understanding the choice data</a:t>
            </a:r>
          </a:p>
          <a:p>
            <a:pPr algn="just"/>
            <a:endParaRPr lang="en-US" sz="2000" dirty="0"/>
          </a:p>
          <a:p>
            <a:pPr algn="just"/>
            <a:r>
              <a:rPr lang="en-US" sz="2000" dirty="0"/>
              <a:t> </a:t>
            </a:r>
            <a:br>
              <a:rPr lang="en-US" sz="2000" dirty="0"/>
            </a:br>
            <a:r>
              <a:rPr lang="en-US" sz="2000" dirty="0"/>
              <a:t>Although traditional metaheuristic approaches have been useful in automating parts of this process, they remain limited in critical points</a:t>
            </a:r>
          </a:p>
          <a:p>
            <a:pPr algn="just"/>
            <a:endParaRPr lang="en-US" sz="2000" dirty="0"/>
          </a:p>
          <a:p>
            <a:pPr algn="just"/>
            <a:r>
              <a:rPr lang="en-US" sz="2000" kern="1200" dirty="0">
                <a:solidFill>
                  <a:schemeClr val="tx1"/>
                </a:solidFill>
                <a:latin typeface="+mn-lt"/>
                <a:ea typeface="+mn-ea"/>
                <a:cs typeface="+mn-cs"/>
              </a:rPr>
              <a:t>they are static, so the operators remain fixed across all the task.</a:t>
            </a:r>
          </a:p>
          <a:p>
            <a:pPr algn="just"/>
            <a:endParaRPr lang="en-US" sz="2000" kern="1200" dirty="0">
              <a:solidFill>
                <a:schemeClr val="tx1"/>
              </a:solidFill>
              <a:latin typeface="+mn-lt"/>
              <a:ea typeface="+mn-ea"/>
              <a:cs typeface="+mn-cs"/>
            </a:endParaRPr>
          </a:p>
          <a:p>
            <a:pPr algn="just"/>
            <a:r>
              <a:rPr lang="en-US" sz="2000" kern="1200" dirty="0">
                <a:solidFill>
                  <a:schemeClr val="tx1"/>
                </a:solidFill>
                <a:latin typeface="+mn-lt"/>
                <a:ea typeface="+mn-ea"/>
                <a:cs typeface="+mn-cs"/>
              </a:rPr>
              <a:t>They lack memory, so they do not leverage the past modelling outcome to speed their modelling process or shape their operators </a:t>
            </a:r>
          </a:p>
          <a:p>
            <a:pPr algn="just"/>
            <a:endParaRPr lang="en-US" sz="2000" kern="1200" dirty="0">
              <a:solidFill>
                <a:schemeClr val="tx1"/>
              </a:solidFill>
              <a:latin typeface="+mn-lt"/>
              <a:ea typeface="+mn-ea"/>
              <a:cs typeface="+mn-cs"/>
            </a:endParaRPr>
          </a:p>
          <a:p>
            <a:pPr algn="just"/>
            <a:r>
              <a:rPr lang="en-US" sz="2000" kern="1200" dirty="0">
                <a:solidFill>
                  <a:schemeClr val="tx1"/>
                </a:solidFill>
                <a:latin typeface="+mn-lt"/>
                <a:ea typeface="+mn-ea"/>
                <a:cs typeface="+mn-cs"/>
              </a:rPr>
              <a:t>And lastly, conceptually, they </a:t>
            </a:r>
            <a:r>
              <a:rPr lang="en-US" sz="2000" dirty="0"/>
              <a:t>offer </a:t>
            </a:r>
            <a:r>
              <a:rPr lang="en-US" sz="2000" i="1" dirty="0"/>
              <a:t>minimal knowledge transfer</a:t>
            </a:r>
            <a:r>
              <a:rPr lang="en-US" sz="2000" dirty="0"/>
              <a:t> across modelling task. Since these algorithms must be run for each modelling task </a:t>
            </a:r>
          </a:p>
          <a:p>
            <a:pPr algn="just"/>
            <a:endParaRPr lang="en-US" sz="2000" dirty="0"/>
          </a:p>
          <a:p>
            <a:pPr algn="just"/>
            <a:r>
              <a:rPr lang="en-US" sz="2000" dirty="0"/>
              <a:t>In essence, they treat each modelling process from scratch, without building on prior experience.</a:t>
            </a:r>
          </a:p>
          <a:p>
            <a:pPr algn="just"/>
            <a:r>
              <a:rPr lang="en-US" sz="2000" dirty="0"/>
              <a:t> </a:t>
            </a:r>
            <a:br>
              <a:rPr lang="en-US" sz="2000" dirty="0"/>
            </a:br>
            <a:endParaRPr lang="en-US" sz="2000" dirty="0"/>
          </a:p>
          <a:p>
            <a:pPr algn="just"/>
            <a:r>
              <a:rPr lang="en-US" sz="2000" dirty="0"/>
              <a:t>Up to this point, I ask myself if machine learning can help us capture the learning driven nature of the model specification? And enhance our productivity?</a:t>
            </a:r>
          </a:p>
          <a:p>
            <a:pPr algn="just"/>
            <a:endParaRPr lang="en-US" sz="2000" dirty="0"/>
          </a:p>
          <a:p>
            <a:pPr algn="just"/>
            <a:endParaRPr lang="en-US" sz="2000" dirty="0"/>
          </a:p>
          <a:p>
            <a:pPr algn="just"/>
            <a:r>
              <a:rPr lang="en-US" sz="2000" dirty="0"/>
              <a:t>Well, Supervised learning is not a natural candidate, since it requires to have our choice dataset but also the true model as a label. Also may not capture the iterative nature of our process.</a:t>
            </a:r>
          </a:p>
          <a:p>
            <a:pPr algn="just"/>
            <a:endParaRPr lang="en-US" sz="2000" dirty="0"/>
          </a:p>
        </p:txBody>
      </p:sp>
      <p:sp>
        <p:nvSpPr>
          <p:cNvPr id="522" name="CustomShape 3">
            <a:extLst>
              <a:ext uri="{FF2B5EF4-FFF2-40B4-BE49-F238E27FC236}">
                <a16:creationId xmlns:a16="http://schemas.microsoft.com/office/drawing/2014/main" id="{68E9B35A-AE47-E77F-F09D-936A8BBBF6FC}"/>
              </a:ext>
            </a:extLst>
          </p:cNvPr>
          <p:cNvSpPr/>
          <p:nvPr/>
        </p:nvSpPr>
        <p:spPr>
          <a:xfrm>
            <a:off x="3884760" y="8685360"/>
            <a:ext cx="2971080" cy="457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C4AD8394-06F2-4437-950A-2024FD027C4D}" type="slidenum">
              <a:rPr lang="es-ES_tradnl" sz="1200" b="0" strike="noStrike" spc="-1">
                <a:latin typeface="Calibri"/>
              </a:rPr>
              <a:t>15</a:t>
            </a:fld>
            <a:endParaRPr lang="en-US" sz="1200" b="0" strike="noStrike" spc="-1">
              <a:latin typeface="Calibri"/>
            </a:endParaRPr>
          </a:p>
        </p:txBody>
      </p:sp>
    </p:spTree>
    <p:extLst>
      <p:ext uri="{BB962C8B-B14F-4D97-AF65-F5344CB8AC3E}">
        <p14:creationId xmlns:p14="http://schemas.microsoft.com/office/powerpoint/2010/main" val="2341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69F44-C2EE-D6CA-DE7F-77979EC1E3A0}"/>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85763431-309A-7915-B961-3D6B9BD97243}"/>
              </a:ext>
            </a:extLst>
          </p:cNvPr>
          <p:cNvSpPr>
            <a:spLocks noGrp="1" noRot="1" noChangeAspect="1"/>
          </p:cNvSpPr>
          <p:nvPr>
            <p:ph type="sldImg"/>
          </p:nvPr>
        </p:nvSpPr>
        <p:spPr>
          <a:xfrm>
            <a:off x="685800" y="1143000"/>
            <a:ext cx="5486400" cy="3086100"/>
          </a:xfrm>
          <a:prstGeom prst="rect">
            <a:avLst/>
          </a:prstGeom>
        </p:spPr>
      </p:sp>
      <p:sp>
        <p:nvSpPr>
          <p:cNvPr id="521" name="PlaceHolder 2">
            <a:extLst>
              <a:ext uri="{FF2B5EF4-FFF2-40B4-BE49-F238E27FC236}">
                <a16:creationId xmlns:a16="http://schemas.microsoft.com/office/drawing/2014/main" id="{2B96EC9C-67AD-5318-3C8F-9DE5D4A231FA}"/>
              </a:ext>
            </a:extLst>
          </p:cNvPr>
          <p:cNvSpPr>
            <a:spLocks noGrp="1"/>
          </p:cNvSpPr>
          <p:nvPr>
            <p:ph type="body"/>
          </p:nvPr>
        </p:nvSpPr>
        <p:spPr>
          <a:xfrm>
            <a:off x="685800" y="4400640"/>
            <a:ext cx="5485680" cy="3599640"/>
          </a:xfrm>
          <a:prstGeom prst="rect">
            <a:avLst/>
          </a:prstGeom>
        </p:spPr>
        <p:txBody>
          <a:bodyPr lIns="0" tIns="0" rIns="0" bIns="0">
            <a:noAutofit/>
          </a:bodyPr>
          <a:lstStyle/>
          <a:p>
            <a:pPr algn="just"/>
            <a:r>
              <a:rPr lang="en-US" sz="2000" dirty="0"/>
              <a:t>The second option that I consider was unsupervised learning. where, the label or the depend variable doesn’t exist. Which is aligned to our case but also doesn’t capture the learning process.</a:t>
            </a:r>
          </a:p>
        </p:txBody>
      </p:sp>
      <p:sp>
        <p:nvSpPr>
          <p:cNvPr id="522" name="CustomShape 3">
            <a:extLst>
              <a:ext uri="{FF2B5EF4-FFF2-40B4-BE49-F238E27FC236}">
                <a16:creationId xmlns:a16="http://schemas.microsoft.com/office/drawing/2014/main" id="{462A7CE9-A172-63E0-82A7-93ECEEC09349}"/>
              </a:ext>
            </a:extLst>
          </p:cNvPr>
          <p:cNvSpPr/>
          <p:nvPr/>
        </p:nvSpPr>
        <p:spPr>
          <a:xfrm>
            <a:off x="3884760" y="8685360"/>
            <a:ext cx="2971080" cy="457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C4AD8394-06F2-4437-950A-2024FD027C4D}" type="slidenum">
              <a:rPr lang="es-ES_tradnl" sz="1200" b="0" strike="noStrike" spc="-1">
                <a:latin typeface="Calibri"/>
              </a:rPr>
              <a:t>16</a:t>
            </a:fld>
            <a:endParaRPr lang="en-US" sz="1200" b="0" strike="noStrike" spc="-1">
              <a:latin typeface="Calibri"/>
            </a:endParaRPr>
          </a:p>
        </p:txBody>
      </p:sp>
    </p:spTree>
    <p:extLst>
      <p:ext uri="{BB962C8B-B14F-4D97-AF65-F5344CB8AC3E}">
        <p14:creationId xmlns:p14="http://schemas.microsoft.com/office/powerpoint/2010/main" val="32721420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89457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8482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6576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322513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434902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9718898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699040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976595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D5134-CA82-28DF-E813-83D5E306C2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8D82B6-B415-AFB6-174A-05FE3D5ACF01}"/>
              </a:ext>
            </a:extLst>
          </p:cNvPr>
          <p:cNvSpPr>
            <a:spLocks noGrp="1" noRot="1" noChangeAspect="1"/>
          </p:cNvSpPr>
          <p:nvPr>
            <p:ph type="sldImg"/>
          </p:nvPr>
        </p:nvSpPr>
        <p:spPr>
          <a:xfrm>
            <a:off x="88900" y="746125"/>
            <a:ext cx="6629400" cy="3729038"/>
          </a:xfrm>
        </p:spPr>
      </p:sp>
      <p:sp>
        <p:nvSpPr>
          <p:cNvPr id="3" name="Notes Placeholder 2">
            <a:extLst>
              <a:ext uri="{FF2B5EF4-FFF2-40B4-BE49-F238E27FC236}">
                <a16:creationId xmlns:a16="http://schemas.microsoft.com/office/drawing/2014/main" id="{D6570773-AF37-5656-C31D-6AF2DED066E4}"/>
              </a:ext>
            </a:extLst>
          </p:cNvPr>
          <p:cNvSpPr>
            <a:spLocks noGrp="1"/>
          </p:cNvSpPr>
          <p:nvPr>
            <p:ph type="body" idx="1"/>
          </p:nvPr>
        </p:nvSpPr>
        <p:spPr/>
        <p:txBody>
          <a:bodyPr/>
          <a:lstStyle/>
          <a:p>
            <a:endParaRPr lang="en-GB" baseline="0" dirty="0"/>
          </a:p>
        </p:txBody>
      </p:sp>
      <p:sp>
        <p:nvSpPr>
          <p:cNvPr id="4" name="Slide Number Placeholder 3">
            <a:extLst>
              <a:ext uri="{FF2B5EF4-FFF2-40B4-BE49-F238E27FC236}">
                <a16:creationId xmlns:a16="http://schemas.microsoft.com/office/drawing/2014/main" id="{068476F7-D648-0CD6-2D90-BBFC086FB4C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175225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605302F-B75A-46D5-9490-49AFD4B57BE2}"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000865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605302F-B75A-46D5-9490-49AFD4B57BE2}"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533168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BB6DF17-24B9-C246-AFBD-A6645EA30728}" type="slidenum">
              <a:rPr lang="en-GB" smtClean="0"/>
              <a:t>30</a:t>
            </a:fld>
            <a:endParaRPr lang="en-GB"/>
          </a:p>
        </p:txBody>
      </p:sp>
    </p:spTree>
    <p:extLst>
      <p:ext uri="{BB962C8B-B14F-4D97-AF65-F5344CB8AC3E}">
        <p14:creationId xmlns:p14="http://schemas.microsoft.com/office/powerpoint/2010/main" val="6708027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605302F-B75A-46D5-9490-49AFD4B57BE2}"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197887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605302F-B75A-46D5-9490-49AFD4B57BE2}"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496686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FEC3B-5B3F-4D28-8525-80791FAB33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24ADC3-2883-D392-DCD1-D691933F0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843BC-886E-B150-C25E-1D5E1E7DDCA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942E4DF-9957-42E4-0F8A-B26F02853BC6}"/>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605302F-B75A-46D5-9490-49AFD4B57BE2}"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776476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BB6DF17-24B9-C246-AFBD-A6645EA30728}" type="slidenum">
              <a:rPr lang="en-GB" smtClean="0"/>
              <a:t>35</a:t>
            </a:fld>
            <a:endParaRPr lang="en-GB"/>
          </a:p>
        </p:txBody>
      </p:sp>
    </p:spTree>
    <p:extLst>
      <p:ext uri="{BB962C8B-B14F-4D97-AF65-F5344CB8AC3E}">
        <p14:creationId xmlns:p14="http://schemas.microsoft.com/office/powerpoint/2010/main" val="16544037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6462354-8E3A-4216-9DBC-0E5E936618E1}"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772133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F5EF1-DB2F-B550-0E22-E9FF2B02D73B}"/>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CC6F0CB8-F802-E707-E1E3-CE6342AAD1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6895E065-DE0C-43F0-8A6C-A1086E90A960}"/>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5" name="Footer Placeholder 4">
            <a:extLst>
              <a:ext uri="{FF2B5EF4-FFF2-40B4-BE49-F238E27FC236}">
                <a16:creationId xmlns:a16="http://schemas.microsoft.com/office/drawing/2014/main" id="{494EAA22-8581-82EF-7783-E19FD868ABF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6C9999A-3083-47D9-8238-52D6FEC48B46}"/>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563136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9A7C2-DC8D-8216-5E01-1F88391D8BCF}"/>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485F2AE5-0F68-2FC9-21BE-7EF5B96538B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FEA85368-DF28-CA56-A1C8-673C16DAE641}"/>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5" name="Footer Placeholder 4">
            <a:extLst>
              <a:ext uri="{FF2B5EF4-FFF2-40B4-BE49-F238E27FC236}">
                <a16:creationId xmlns:a16="http://schemas.microsoft.com/office/drawing/2014/main" id="{DB780FCB-7077-57AF-FE85-713B5E92C44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3D0D42A-C555-5544-E928-55A79DE2929D}"/>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6637475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4B71F-687F-8BCD-2B08-B10699AE84F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D9B6A825-F8AE-1A15-A97E-48870640A4C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31FCD5C-FFF5-E5ED-745B-0DECE872D22A}"/>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5" name="Footer Placeholder 4">
            <a:extLst>
              <a:ext uri="{FF2B5EF4-FFF2-40B4-BE49-F238E27FC236}">
                <a16:creationId xmlns:a16="http://schemas.microsoft.com/office/drawing/2014/main" id="{2BBF4B34-07A2-4831-37A5-5544F81AC60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3BEBE38-BC8E-7BB5-672B-8DE509EB649F}"/>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7486333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10BB5-FDA4-B73F-E678-C67371126EF9}"/>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FCEDBC7F-4C31-0019-6F22-2BD23544F0F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19B8F770-66D0-A3AE-DB91-2CD280D4B52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B708B9BB-0941-5411-FC96-F4ED298193E1}"/>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6" name="Footer Placeholder 5">
            <a:extLst>
              <a:ext uri="{FF2B5EF4-FFF2-40B4-BE49-F238E27FC236}">
                <a16:creationId xmlns:a16="http://schemas.microsoft.com/office/drawing/2014/main" id="{2A78980E-AB4F-0775-14E7-809CD6F0BFE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A6559CA-F414-465A-E60E-6C2879F1AF0A}"/>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26429921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4A699-7700-9056-E7FD-3D8D4414A08B}"/>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68088FB3-C14E-86F0-5205-9CA38CC7701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9D515F8-4A17-3D36-88E4-554ED2E8052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0EE3B6A7-ED80-BDE4-38FF-A6C9313D0B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E0EADE1-282E-F27F-9368-062F62ED976B}"/>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6E3821CA-6258-5467-D16B-CA2CD0876427}"/>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8" name="Footer Placeholder 7">
            <a:extLst>
              <a:ext uri="{FF2B5EF4-FFF2-40B4-BE49-F238E27FC236}">
                <a16:creationId xmlns:a16="http://schemas.microsoft.com/office/drawing/2014/main" id="{16842E57-32C9-1727-807E-C715E9E3AA97}"/>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D67673E-2AD5-139A-8099-0260BC0ED879}"/>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23999447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86D81-0CA5-24B8-C175-A47CDA728CCC}"/>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4B97FF9A-57A0-C337-9096-3385E9C825C2}"/>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4" name="Footer Placeholder 3">
            <a:extLst>
              <a:ext uri="{FF2B5EF4-FFF2-40B4-BE49-F238E27FC236}">
                <a16:creationId xmlns:a16="http://schemas.microsoft.com/office/drawing/2014/main" id="{E38B7B73-7F33-B0E3-7858-3A220D44351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DDD5C68-E9B6-BD2E-76F1-8725DB898875}"/>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22956632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A7442FD-1237-7CC4-0C23-7330BA14AA48}"/>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3" name="Footer Placeholder 2">
            <a:extLst>
              <a:ext uri="{FF2B5EF4-FFF2-40B4-BE49-F238E27FC236}">
                <a16:creationId xmlns:a16="http://schemas.microsoft.com/office/drawing/2014/main" id="{A9A74FD6-6DE0-72EB-61C2-357760C20B5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2F374C31-BBEE-3E9C-4296-57A1D8EAFFF1}"/>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3377809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1148F1-48BC-DC45-9E02-E4E8740DCD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1706719F-D21F-898B-8856-BE0D3B068B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97D00702-F311-F127-02C9-1D8C582782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4C3A065-4876-02E2-8F37-EA59EE84B5A7}"/>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6" name="Footer Placeholder 5">
            <a:extLst>
              <a:ext uri="{FF2B5EF4-FFF2-40B4-BE49-F238E27FC236}">
                <a16:creationId xmlns:a16="http://schemas.microsoft.com/office/drawing/2014/main" id="{4F49F898-71D6-4115-F550-662A1246985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633FACD-6545-80D1-8718-1B38C610B284}"/>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17328898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60352E-F06B-B21A-F20E-04BD14D9EBB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D7F512C0-D19D-B830-302D-472DFD35FA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1AE2110E-02C9-C3CB-B14E-EAA15D3B37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ADB3FD7-AC91-5CA3-693F-6C357D7CF477}"/>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6" name="Footer Placeholder 5">
            <a:extLst>
              <a:ext uri="{FF2B5EF4-FFF2-40B4-BE49-F238E27FC236}">
                <a16:creationId xmlns:a16="http://schemas.microsoft.com/office/drawing/2014/main" id="{11623C49-126F-D1B8-2457-51998B850B8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F45DF3B-08E5-E9CC-B33F-23712D249BD8}"/>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7496855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845E1-5E8F-472C-F532-2D5CD17F6BE3}"/>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BE76D231-75AD-71A9-2934-602C7377277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B9E76CD-C9B4-3D08-1F56-D96F08D0B514}"/>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5" name="Footer Placeholder 4">
            <a:extLst>
              <a:ext uri="{FF2B5EF4-FFF2-40B4-BE49-F238E27FC236}">
                <a16:creationId xmlns:a16="http://schemas.microsoft.com/office/drawing/2014/main" id="{C5F64D43-9F65-F392-C8F9-FF1F550443F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0974F65-26E5-47E7-783D-5022E036E6FD}"/>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19603332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7E99DE-57AA-76D8-F4AA-05FFFB06DA15}"/>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51B4D27E-F0DB-7897-8DAE-F718EE21FE4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8D31AA70-E396-9871-2515-743A2D612C25}"/>
              </a:ext>
            </a:extLst>
          </p:cNvPr>
          <p:cNvSpPr>
            <a:spLocks noGrp="1"/>
          </p:cNvSpPr>
          <p:nvPr>
            <p:ph type="dt" sz="half" idx="10"/>
          </p:nvPr>
        </p:nvSpPr>
        <p:spPr/>
        <p:txBody>
          <a:bodyPr/>
          <a:lstStyle/>
          <a:p>
            <a:fld id="{231C7901-746D-E847-A4FB-2AC7E2637AD6}" type="datetimeFigureOut">
              <a:rPr lang="en-GB" smtClean="0"/>
              <a:t>09/06/2026</a:t>
            </a:fld>
            <a:endParaRPr lang="en-GB"/>
          </a:p>
        </p:txBody>
      </p:sp>
      <p:sp>
        <p:nvSpPr>
          <p:cNvPr id="5" name="Footer Placeholder 4">
            <a:extLst>
              <a:ext uri="{FF2B5EF4-FFF2-40B4-BE49-F238E27FC236}">
                <a16:creationId xmlns:a16="http://schemas.microsoft.com/office/drawing/2014/main" id="{79D9EEA6-2C9F-A0A4-1671-BC1CF6F8D0F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6C6A8FF-B321-6F05-7C51-F4869E75CF3B}"/>
              </a:ext>
            </a:extLst>
          </p:cNvPr>
          <p:cNvSpPr>
            <a:spLocks noGrp="1"/>
          </p:cNvSpPr>
          <p:nvPr>
            <p:ph type="sldNum" sz="quarter" idx="12"/>
          </p:nvPr>
        </p:nvSpPr>
        <p:spPr/>
        <p:txBody>
          <a:bodyPr/>
          <a:lstStyle/>
          <a:p>
            <a:fld id="{D69C9FE5-60B3-8E46-BD00-AB2C941A6A6D}" type="slidenum">
              <a:rPr lang="en-GB" smtClean="0"/>
              <a:t>‹#›</a:t>
            </a:fld>
            <a:endParaRPr lang="en-GB"/>
          </a:p>
        </p:txBody>
      </p:sp>
    </p:spTree>
    <p:extLst>
      <p:ext uri="{BB962C8B-B14F-4D97-AF65-F5344CB8AC3E}">
        <p14:creationId xmlns:p14="http://schemas.microsoft.com/office/powerpoint/2010/main" val="33319926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BF3A0-E321-6D51-BD9A-3F62634FA6B1}"/>
              </a:ext>
            </a:extLst>
          </p:cNvPr>
          <p:cNvSpPr>
            <a:spLocks noGrp="1"/>
          </p:cNvSpPr>
          <p:nvPr>
            <p:ph type="title"/>
          </p:nvPr>
        </p:nvSpPr>
        <p:spPr>
          <a:xfrm>
            <a:off x="715992" y="136525"/>
            <a:ext cx="10853708" cy="6099175"/>
          </a:xfrm>
        </p:spPr>
        <p:txBody>
          <a:bodyPr/>
          <a:lstStyle/>
          <a:p>
            <a:r>
              <a:rPr lang="en-GB" noProof="0" dirty="0"/>
              <a:t>Click to edit Master title style</a:t>
            </a:r>
          </a:p>
        </p:txBody>
      </p:sp>
      <p:sp>
        <p:nvSpPr>
          <p:cNvPr id="3" name="Slide Number Placeholder 2">
            <a:extLst>
              <a:ext uri="{FF2B5EF4-FFF2-40B4-BE49-F238E27FC236}">
                <a16:creationId xmlns:a16="http://schemas.microsoft.com/office/drawing/2014/main" id="{DCC2DC0C-EE15-1EC5-4B11-3BF0B83E7055}"/>
              </a:ext>
            </a:extLst>
          </p:cNvPr>
          <p:cNvSpPr>
            <a:spLocks noGrp="1"/>
          </p:cNvSpPr>
          <p:nvPr>
            <p:ph type="sldNum" sz="quarter" idx="10"/>
          </p:nvPr>
        </p:nvSpPr>
        <p:spPr/>
        <p:txBody>
          <a:bodyPr/>
          <a:lstStyle/>
          <a:p>
            <a:fld id="{01F60780-9D08-400B-AB0B-A1DD33AEF2DB}" type="slidenum">
              <a:rPr lang="en-GB" smtClean="0"/>
              <a:t>‹#›</a:t>
            </a:fld>
            <a:endParaRPr lang="en-GB"/>
          </a:p>
        </p:txBody>
      </p:sp>
    </p:spTree>
    <p:extLst>
      <p:ext uri="{BB962C8B-B14F-4D97-AF65-F5344CB8AC3E}">
        <p14:creationId xmlns:p14="http://schemas.microsoft.com/office/powerpoint/2010/main" val="10060183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noProof="0" dirty="0"/>
              <a:t>Click to edit Master title style</a:t>
            </a:r>
          </a:p>
        </p:txBody>
      </p:sp>
      <p:sp>
        <p:nvSpPr>
          <p:cNvPr id="3" name="Content Placeholder 2"/>
          <p:cNvSpPr>
            <a:spLocks noGrp="1"/>
          </p:cNvSpPr>
          <p:nvPr>
            <p:ph idx="1"/>
          </p:nvPr>
        </p:nvSpPr>
        <p:spPr>
          <a:xfrm>
            <a:off x="715992" y="1216324"/>
            <a:ext cx="10791646" cy="5641675"/>
          </a:xfrm>
        </p:spPr>
        <p:txBody>
          <a:bodyPr/>
          <a:lstStyle/>
          <a:p>
            <a:pPr lvl="0"/>
            <a:r>
              <a:rPr lang="en-GB" noProof="0" dirty="0"/>
              <a:t>Click to 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910415-8276-4E7F-AECA-B589B021D3EC}" type="datetime1">
              <a:rPr kumimoji="0" lang="en-GB" sz="18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09/06/2026</a:t>
            </a:fld>
            <a:endParaRPr kumimoji="0" lang="en-GB" sz="18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en-GB"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GB"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720803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noProof="0" dirty="0"/>
              <a:t>Click to edit Master title style</a:t>
            </a:r>
          </a:p>
        </p:txBody>
      </p:sp>
      <p:sp>
        <p:nvSpPr>
          <p:cNvPr id="3" name="Content Placeholder 2"/>
          <p:cNvSpPr>
            <a:spLocks noGrp="1"/>
          </p:cNvSpPr>
          <p:nvPr>
            <p:ph idx="1"/>
          </p:nvPr>
        </p:nvSpPr>
        <p:spPr>
          <a:xfrm>
            <a:off x="715992" y="1216324"/>
            <a:ext cx="10791646" cy="5641675"/>
          </a:xfrm>
        </p:spPr>
        <p:txBody>
          <a:bodyPr/>
          <a:lstStyle/>
          <a:p>
            <a:pPr lvl="0"/>
            <a:r>
              <a:rPr lang="en-GB" noProof="0" dirty="0"/>
              <a:t>Click to 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 Placeholder 3"/>
          <p:cNvSpPr>
            <a:spLocks noGrp="1"/>
          </p:cNvSpPr>
          <p:nvPr>
            <p:ph type="dt" sz="half" idx="10"/>
          </p:nvPr>
        </p:nvSpPr>
        <p:spPr/>
        <p:txBody>
          <a:bodyPr/>
          <a:lstStyle/>
          <a:p>
            <a:fld id="{A5910415-8276-4E7F-AECA-B589B021D3EC}" type="datetime1">
              <a:rPr lang="en-GB" noProof="0" smtClean="0">
                <a:solidFill>
                  <a:prstClr val="black">
                    <a:tint val="75000"/>
                  </a:prstClr>
                </a:solidFill>
              </a:rPr>
              <a:pPr/>
              <a:t>09/06/2026</a:t>
            </a:fld>
            <a:endParaRPr lang="en-GB" noProof="0"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GB" noProof="0"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B8038A88-BFD1-4DDE-9255-0657B8D83B52}" type="slidenum">
              <a:rPr lang="en-GB" noProof="0" smtClean="0">
                <a:solidFill>
                  <a:prstClr val="black">
                    <a:tint val="75000"/>
                  </a:prstClr>
                </a:solidFill>
              </a:rPr>
              <a:pPr/>
              <a:t>‹#›</a:t>
            </a:fld>
            <a:endParaRPr lang="en-GB" noProof="0" dirty="0">
              <a:solidFill>
                <a:prstClr val="black">
                  <a:tint val="75000"/>
                </a:prstClr>
              </a:solidFill>
            </a:endParaRPr>
          </a:p>
        </p:txBody>
      </p:sp>
    </p:spTree>
    <p:extLst>
      <p:ext uri="{BB962C8B-B14F-4D97-AF65-F5344CB8AC3E}">
        <p14:creationId xmlns:p14="http://schemas.microsoft.com/office/powerpoint/2010/main" val="279501675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BF3A0-E321-6D51-BD9A-3F62634FA6B1}"/>
              </a:ext>
            </a:extLst>
          </p:cNvPr>
          <p:cNvSpPr>
            <a:spLocks noGrp="1"/>
          </p:cNvSpPr>
          <p:nvPr>
            <p:ph type="title"/>
          </p:nvPr>
        </p:nvSpPr>
        <p:spPr>
          <a:xfrm>
            <a:off x="715992" y="136525"/>
            <a:ext cx="10853708" cy="6099175"/>
          </a:xfrm>
        </p:spPr>
        <p:txBody>
          <a:bodyPr/>
          <a:lstStyle/>
          <a:p>
            <a:r>
              <a:rPr lang="en-GB" noProof="0"/>
              <a:t>Click to edit Master title style</a:t>
            </a:r>
          </a:p>
        </p:txBody>
      </p:sp>
      <p:sp>
        <p:nvSpPr>
          <p:cNvPr id="3" name="Slide Number Placeholder 2">
            <a:extLst>
              <a:ext uri="{FF2B5EF4-FFF2-40B4-BE49-F238E27FC236}">
                <a16:creationId xmlns:a16="http://schemas.microsoft.com/office/drawing/2014/main" id="{DCC2DC0C-EE15-1EC5-4B11-3BF0B83E7055}"/>
              </a:ext>
            </a:extLst>
          </p:cNvPr>
          <p:cNvSpPr>
            <a:spLocks noGrp="1"/>
          </p:cNvSpPr>
          <p:nvPr>
            <p:ph type="sldNum" sz="quarter" idx="10"/>
          </p:nvPr>
        </p:nvSpPr>
        <p:spPr/>
        <p:txBody>
          <a:bodyPr/>
          <a:lstStyle/>
          <a:p>
            <a:fld id="{01F60780-9D08-400B-AB0B-A1DD33AEF2DB}" type="slidenum">
              <a:rPr lang="en-GB" smtClean="0"/>
              <a:t>‹#›</a:t>
            </a:fld>
            <a:endParaRPr lang="en-GB"/>
          </a:p>
        </p:txBody>
      </p:sp>
    </p:spTree>
    <p:extLst>
      <p:ext uri="{BB962C8B-B14F-4D97-AF65-F5344CB8AC3E}">
        <p14:creationId xmlns:p14="http://schemas.microsoft.com/office/powerpoint/2010/main" val="3269811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5269C4-1359-204D-A1B3-DCA47AA7C8A0}"/>
              </a:ext>
            </a:extLst>
          </p:cNvPr>
          <p:cNvSpPr>
            <a:spLocks noGrp="1"/>
          </p:cNvSpPr>
          <p:nvPr>
            <p:ph type="dt" sz="half" idx="10"/>
          </p:nvPr>
        </p:nvSpPr>
        <p:spPr/>
        <p:txBody>
          <a:bodyPr/>
          <a:lstStyle/>
          <a:p>
            <a:fld id="{B2C86080-8904-4BDD-A6D0-0A6F4DD66E1A}" type="datetimeFigureOut">
              <a:rPr lang="en-GB" smtClean="0"/>
              <a:t>09/06/2026</a:t>
            </a:fld>
            <a:endParaRPr lang="en-GB"/>
          </a:p>
        </p:txBody>
      </p:sp>
      <p:sp>
        <p:nvSpPr>
          <p:cNvPr id="3" name="Footer Placeholder 2">
            <a:extLst>
              <a:ext uri="{FF2B5EF4-FFF2-40B4-BE49-F238E27FC236}">
                <a16:creationId xmlns:a16="http://schemas.microsoft.com/office/drawing/2014/main" id="{A24E4F5D-DC93-F6AB-7D30-01F90E1FC814}"/>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ABA667A-C37A-172B-97FC-9AD8858FCC7A}"/>
              </a:ext>
            </a:extLst>
          </p:cNvPr>
          <p:cNvSpPr>
            <a:spLocks noGrp="1"/>
          </p:cNvSpPr>
          <p:nvPr>
            <p:ph type="sldNum" sz="quarter" idx="12"/>
          </p:nvPr>
        </p:nvSpPr>
        <p:spPr/>
        <p:txBody>
          <a:bodyPr/>
          <a:lstStyle/>
          <a:p>
            <a:fld id="{388BC78A-A539-4550-9801-40B5036F063D}" type="slidenum">
              <a:rPr lang="en-GB" smtClean="0"/>
              <a:t>‹#›</a:t>
            </a:fld>
            <a:endParaRPr lang="en-GB"/>
          </a:p>
        </p:txBody>
      </p:sp>
    </p:spTree>
    <p:extLst>
      <p:ext uri="{BB962C8B-B14F-4D97-AF65-F5344CB8AC3E}">
        <p14:creationId xmlns:p14="http://schemas.microsoft.com/office/powerpoint/2010/main" val="4994837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noProof="0" dirty="0"/>
              <a:t>Click to edit Master title style</a:t>
            </a:r>
          </a:p>
        </p:txBody>
      </p:sp>
      <p:sp>
        <p:nvSpPr>
          <p:cNvPr id="3" name="Content Placeholder 2"/>
          <p:cNvSpPr>
            <a:spLocks noGrp="1"/>
          </p:cNvSpPr>
          <p:nvPr>
            <p:ph idx="1"/>
          </p:nvPr>
        </p:nvSpPr>
        <p:spPr>
          <a:xfrm>
            <a:off x="715992" y="1216324"/>
            <a:ext cx="10791646" cy="5641675"/>
          </a:xfrm>
        </p:spPr>
        <p:txBody>
          <a:bodyPr/>
          <a:lstStyle/>
          <a:p>
            <a:pPr lvl="0"/>
            <a:r>
              <a:rPr lang="en-GB" noProof="0" dirty="0"/>
              <a:t>Click to 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 Placeholder 3"/>
          <p:cNvSpPr>
            <a:spLocks noGrp="1"/>
          </p:cNvSpPr>
          <p:nvPr>
            <p:ph type="dt" sz="half" idx="10"/>
          </p:nvPr>
        </p:nvSpPr>
        <p:spPr/>
        <p:txBody>
          <a:bodyPr/>
          <a:lstStyle/>
          <a:p>
            <a:fld id="{A5910415-8276-4E7F-AECA-B589B021D3EC}" type="datetime1">
              <a:rPr lang="en-GB" noProof="0" smtClean="0">
                <a:solidFill>
                  <a:prstClr val="black">
                    <a:tint val="75000"/>
                  </a:prstClr>
                </a:solidFill>
              </a:rPr>
              <a:pPr/>
              <a:t>09/06/2026</a:t>
            </a:fld>
            <a:endParaRPr lang="en-GB" noProof="0"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GB" noProof="0"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B8038A88-BFD1-4DDE-9255-0657B8D83B52}" type="slidenum">
              <a:rPr lang="en-GB" noProof="0" smtClean="0">
                <a:solidFill>
                  <a:prstClr val="black">
                    <a:tint val="75000"/>
                  </a:prstClr>
                </a:solidFill>
              </a:rPr>
              <a:pPr/>
              <a:t>‹#›</a:t>
            </a:fld>
            <a:endParaRPr lang="en-GB" noProof="0" dirty="0">
              <a:solidFill>
                <a:prstClr val="black">
                  <a:tint val="75000"/>
                </a:prstClr>
              </a:solidFill>
            </a:endParaRPr>
          </a:p>
        </p:txBody>
      </p:sp>
    </p:spTree>
    <p:extLst>
      <p:ext uri="{BB962C8B-B14F-4D97-AF65-F5344CB8AC3E}">
        <p14:creationId xmlns:p14="http://schemas.microsoft.com/office/powerpoint/2010/main" val="9976454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BF3A0-E321-6D51-BD9A-3F62634FA6B1}"/>
              </a:ext>
            </a:extLst>
          </p:cNvPr>
          <p:cNvSpPr>
            <a:spLocks noGrp="1"/>
          </p:cNvSpPr>
          <p:nvPr>
            <p:ph type="title"/>
          </p:nvPr>
        </p:nvSpPr>
        <p:spPr>
          <a:xfrm>
            <a:off x="715992" y="136525"/>
            <a:ext cx="10853708" cy="6099175"/>
          </a:xfrm>
        </p:spPr>
        <p:txBody>
          <a:bodyPr/>
          <a:lstStyle/>
          <a:p>
            <a:r>
              <a:rPr lang="en-GB" noProof="0" dirty="0"/>
              <a:t>Click to edit Master title style</a:t>
            </a:r>
          </a:p>
        </p:txBody>
      </p:sp>
      <p:sp>
        <p:nvSpPr>
          <p:cNvPr id="3" name="Slide Number Placeholder 2">
            <a:extLst>
              <a:ext uri="{FF2B5EF4-FFF2-40B4-BE49-F238E27FC236}">
                <a16:creationId xmlns:a16="http://schemas.microsoft.com/office/drawing/2014/main" id="{DCC2DC0C-EE15-1EC5-4B11-3BF0B83E7055}"/>
              </a:ext>
            </a:extLst>
          </p:cNvPr>
          <p:cNvSpPr>
            <a:spLocks noGrp="1"/>
          </p:cNvSpPr>
          <p:nvPr>
            <p:ph type="sldNum" sz="quarter" idx="10"/>
          </p:nvPr>
        </p:nvSpPr>
        <p:spPr/>
        <p:txBody>
          <a:bodyPr/>
          <a:lstStyle/>
          <a:p>
            <a:fld id="{01F60780-9D08-400B-AB0B-A1DD33AEF2DB}" type="slidenum">
              <a:rPr lang="en-GB" smtClean="0"/>
              <a:t>‹#›</a:t>
            </a:fld>
            <a:endParaRPr lang="en-GB"/>
          </a:p>
        </p:txBody>
      </p:sp>
    </p:spTree>
    <p:extLst>
      <p:ext uri="{BB962C8B-B14F-4D97-AF65-F5344CB8AC3E}">
        <p14:creationId xmlns:p14="http://schemas.microsoft.com/office/powerpoint/2010/main" val="2686587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5269C4-1359-204D-A1B3-DCA47AA7C8A0}"/>
              </a:ext>
            </a:extLst>
          </p:cNvPr>
          <p:cNvSpPr>
            <a:spLocks noGrp="1"/>
          </p:cNvSpPr>
          <p:nvPr>
            <p:ph type="dt" sz="half" idx="10"/>
          </p:nvPr>
        </p:nvSpPr>
        <p:spPr/>
        <p:txBody>
          <a:bodyPr/>
          <a:lstStyle/>
          <a:p>
            <a:fld id="{B2C86080-8904-4BDD-A6D0-0A6F4DD66E1A}" type="datetimeFigureOut">
              <a:rPr lang="en-GB" smtClean="0"/>
              <a:t>09/06/2026</a:t>
            </a:fld>
            <a:endParaRPr lang="en-GB"/>
          </a:p>
        </p:txBody>
      </p:sp>
      <p:sp>
        <p:nvSpPr>
          <p:cNvPr id="3" name="Footer Placeholder 2">
            <a:extLst>
              <a:ext uri="{FF2B5EF4-FFF2-40B4-BE49-F238E27FC236}">
                <a16:creationId xmlns:a16="http://schemas.microsoft.com/office/drawing/2014/main" id="{A24E4F5D-DC93-F6AB-7D30-01F90E1FC814}"/>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ABA667A-C37A-172B-97FC-9AD8858FCC7A}"/>
              </a:ext>
            </a:extLst>
          </p:cNvPr>
          <p:cNvSpPr>
            <a:spLocks noGrp="1"/>
          </p:cNvSpPr>
          <p:nvPr>
            <p:ph type="sldNum" sz="quarter" idx="12"/>
          </p:nvPr>
        </p:nvSpPr>
        <p:spPr/>
        <p:txBody>
          <a:bodyPr/>
          <a:lstStyle/>
          <a:p>
            <a:fld id="{388BC78A-A539-4550-9801-40B5036F063D}" type="slidenum">
              <a:rPr lang="en-GB" smtClean="0"/>
              <a:t>‹#›</a:t>
            </a:fld>
            <a:endParaRPr lang="en-GB"/>
          </a:p>
        </p:txBody>
      </p:sp>
    </p:spTree>
    <p:extLst>
      <p:ext uri="{BB962C8B-B14F-4D97-AF65-F5344CB8AC3E}">
        <p14:creationId xmlns:p14="http://schemas.microsoft.com/office/powerpoint/2010/main" val="9760381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6.xml"/><Relationship Id="rId2" Type="http://schemas.openxmlformats.org/officeDocument/2006/relationships/slideLayout" Target="../slideLayouts/slideLayout15.xml"/><Relationship Id="rId1" Type="http://schemas.openxmlformats.org/officeDocument/2006/relationships/slideLayout" Target="../slideLayouts/slideLayout14.xml"/><Relationship Id="rId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slideLayout" Target="../slideLayouts/slideLayout18.xml"/><Relationship Id="rId1" Type="http://schemas.openxmlformats.org/officeDocument/2006/relationships/slideLayout" Target="../slideLayouts/slideLayout17.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2EA104-C82C-66A4-E8FC-B669D5B5DB3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7849223D-7475-130D-B53E-0C9F660D554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9FCAF772-58B6-3C26-4069-3715627D8C0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31C7901-746D-E847-A4FB-2AC7E2637AD6}" type="datetimeFigureOut">
              <a:rPr lang="en-GB" smtClean="0"/>
              <a:t>09/06/2026</a:t>
            </a:fld>
            <a:endParaRPr lang="en-GB"/>
          </a:p>
        </p:txBody>
      </p:sp>
      <p:sp>
        <p:nvSpPr>
          <p:cNvPr id="5" name="Footer Placeholder 4">
            <a:extLst>
              <a:ext uri="{FF2B5EF4-FFF2-40B4-BE49-F238E27FC236}">
                <a16:creationId xmlns:a16="http://schemas.microsoft.com/office/drawing/2014/main" id="{49F238B4-63B2-DE28-C5E5-635BC3CF41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E76C41B2-21A0-2A65-BD0D-AFCCB68412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9C9FE5-60B3-8E46-BD00-AB2C941A6A6D}" type="slidenum">
              <a:rPr lang="en-GB" smtClean="0"/>
              <a:t>‹#›</a:t>
            </a:fld>
            <a:endParaRPr lang="en-GB"/>
          </a:p>
        </p:txBody>
      </p:sp>
    </p:spTree>
    <p:extLst>
      <p:ext uri="{BB962C8B-B14F-4D97-AF65-F5344CB8AC3E}">
        <p14:creationId xmlns:p14="http://schemas.microsoft.com/office/powerpoint/2010/main" val="33450924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CA20D4-431B-F797-0747-841E231FFFBC}"/>
              </a:ext>
            </a:extLst>
          </p:cNvPr>
          <p:cNvSpPr>
            <a:spLocks noGrp="1"/>
          </p:cNvSpPr>
          <p:nvPr>
            <p:ph type="title"/>
          </p:nvPr>
        </p:nvSpPr>
        <p:spPr>
          <a:xfrm>
            <a:off x="715992" y="136525"/>
            <a:ext cx="10791646" cy="898645"/>
          </a:xfrm>
          <a:prstGeom prst="rect">
            <a:avLst/>
          </a:prstGeom>
        </p:spPr>
        <p:txBody>
          <a:bodyPr vert="horz" lIns="91440" tIns="45720" rIns="91440" bIns="45720" rtlCol="0" anchor="ctr">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0067E53F-6D0D-C8D1-3747-6448C08EE0C0}"/>
              </a:ext>
            </a:extLst>
          </p:cNvPr>
          <p:cNvSpPr>
            <a:spLocks noGrp="1"/>
          </p:cNvSpPr>
          <p:nvPr>
            <p:ph type="body" idx="1"/>
          </p:nvPr>
        </p:nvSpPr>
        <p:spPr>
          <a:xfrm>
            <a:off x="715992" y="1216324"/>
            <a:ext cx="10791646" cy="5641675"/>
          </a:xfrm>
          <a:prstGeom prst="rect">
            <a:avLst/>
          </a:prstGeom>
        </p:spPr>
        <p:txBody>
          <a:bodyPr vert="horz" lIns="91440" tIns="45720" rIns="91440" bIns="45720" rtlCol="0">
            <a:noAutofit/>
          </a:bodyPr>
          <a:lstStyle/>
          <a:p>
            <a:pPr lvl="0"/>
            <a:r>
              <a:rPr lang="en-GB" noProof="0" dirty="0"/>
              <a:t>Click to 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6" name="Slide Number Placeholder 5">
            <a:extLst>
              <a:ext uri="{FF2B5EF4-FFF2-40B4-BE49-F238E27FC236}">
                <a16:creationId xmlns:a16="http://schemas.microsoft.com/office/drawing/2014/main" id="{499AA5CE-5ABB-08FC-C1DB-98A1B0B5639C}"/>
              </a:ext>
            </a:extLst>
          </p:cNvPr>
          <p:cNvSpPr>
            <a:spLocks noGrp="1"/>
          </p:cNvSpPr>
          <p:nvPr>
            <p:ph type="sldNum" sz="quarter" idx="4"/>
          </p:nvPr>
        </p:nvSpPr>
        <p:spPr>
          <a:xfrm>
            <a:off x="10308566" y="6356350"/>
            <a:ext cx="1199072"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F60780-9D08-400B-AB0B-A1DD33AEF2DB}" type="slidenum">
              <a:rPr lang="en-GB" smtClean="0"/>
              <a:t>‹#›</a:t>
            </a:fld>
            <a:endParaRPr lang="en-GB"/>
          </a:p>
        </p:txBody>
      </p:sp>
    </p:spTree>
    <p:extLst>
      <p:ext uri="{BB962C8B-B14F-4D97-AF65-F5344CB8AC3E}">
        <p14:creationId xmlns:p14="http://schemas.microsoft.com/office/powerpoint/2010/main" val="3930050908"/>
      </p:ext>
    </p:extLst>
  </p:cSld>
  <p:clrMap bg1="lt1" tx1="dk1" bg2="lt2" tx2="dk2" accent1="accent1" accent2="accent2" accent3="accent3" accent4="accent4" accent5="accent5" accent6="accent6" hlink="hlink" folHlink="folHlink"/>
  <p:sldLayoutIdLst>
    <p:sldLayoutId id="2147483688" r:id="rId1"/>
    <p:sldLayoutId id="2147483707" r:id="rId2"/>
  </p:sldLayoutIdLst>
  <p:txStyles>
    <p:title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CA20D4-431B-F797-0747-841E231FFFBC}"/>
              </a:ext>
            </a:extLst>
          </p:cNvPr>
          <p:cNvSpPr>
            <a:spLocks noGrp="1"/>
          </p:cNvSpPr>
          <p:nvPr>
            <p:ph type="title"/>
          </p:nvPr>
        </p:nvSpPr>
        <p:spPr>
          <a:xfrm>
            <a:off x="715992" y="136525"/>
            <a:ext cx="10791646" cy="898645"/>
          </a:xfrm>
          <a:prstGeom prst="rect">
            <a:avLst/>
          </a:prstGeom>
        </p:spPr>
        <p:txBody>
          <a:bodyPr vert="horz" lIns="91440" tIns="45720" rIns="91440" bIns="45720" rtlCol="0" anchor="ctr">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0067E53F-6D0D-C8D1-3747-6448C08EE0C0}"/>
              </a:ext>
            </a:extLst>
          </p:cNvPr>
          <p:cNvSpPr>
            <a:spLocks noGrp="1"/>
          </p:cNvSpPr>
          <p:nvPr>
            <p:ph type="body" idx="1"/>
          </p:nvPr>
        </p:nvSpPr>
        <p:spPr>
          <a:xfrm>
            <a:off x="715992" y="1216324"/>
            <a:ext cx="10791646" cy="564167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Slide Number Placeholder 5">
            <a:extLst>
              <a:ext uri="{FF2B5EF4-FFF2-40B4-BE49-F238E27FC236}">
                <a16:creationId xmlns:a16="http://schemas.microsoft.com/office/drawing/2014/main" id="{499AA5CE-5ABB-08FC-C1DB-98A1B0B5639C}"/>
              </a:ext>
            </a:extLst>
          </p:cNvPr>
          <p:cNvSpPr>
            <a:spLocks noGrp="1"/>
          </p:cNvSpPr>
          <p:nvPr>
            <p:ph type="sldNum" sz="quarter" idx="4"/>
          </p:nvPr>
        </p:nvSpPr>
        <p:spPr>
          <a:xfrm>
            <a:off x="10308566" y="6356350"/>
            <a:ext cx="1199072"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F60780-9D08-400B-AB0B-A1DD33AEF2DB}" type="slidenum">
              <a:rPr lang="en-GB" smtClean="0"/>
              <a:t>‹#›</a:t>
            </a:fld>
            <a:endParaRPr lang="en-GB"/>
          </a:p>
        </p:txBody>
      </p:sp>
    </p:spTree>
    <p:extLst>
      <p:ext uri="{BB962C8B-B14F-4D97-AF65-F5344CB8AC3E}">
        <p14:creationId xmlns:p14="http://schemas.microsoft.com/office/powerpoint/2010/main" val="130638056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721" r:id="rId3"/>
  </p:sldLayoutIdLst>
  <p:txStyles>
    <p:title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CA20D4-431B-F797-0747-841E231FFFBC}"/>
              </a:ext>
            </a:extLst>
          </p:cNvPr>
          <p:cNvSpPr>
            <a:spLocks noGrp="1"/>
          </p:cNvSpPr>
          <p:nvPr>
            <p:ph type="title"/>
          </p:nvPr>
        </p:nvSpPr>
        <p:spPr>
          <a:xfrm>
            <a:off x="715992" y="136525"/>
            <a:ext cx="10791646" cy="898645"/>
          </a:xfrm>
          <a:prstGeom prst="rect">
            <a:avLst/>
          </a:prstGeom>
        </p:spPr>
        <p:txBody>
          <a:bodyPr vert="horz" lIns="91440" tIns="45720" rIns="91440" bIns="45720" rtlCol="0" anchor="ctr">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0067E53F-6D0D-C8D1-3747-6448C08EE0C0}"/>
              </a:ext>
            </a:extLst>
          </p:cNvPr>
          <p:cNvSpPr>
            <a:spLocks noGrp="1"/>
          </p:cNvSpPr>
          <p:nvPr>
            <p:ph type="body" idx="1"/>
          </p:nvPr>
        </p:nvSpPr>
        <p:spPr>
          <a:xfrm>
            <a:off x="715992" y="1216324"/>
            <a:ext cx="10791646" cy="5641675"/>
          </a:xfrm>
          <a:prstGeom prst="rect">
            <a:avLst/>
          </a:prstGeom>
        </p:spPr>
        <p:txBody>
          <a:bodyPr vert="horz" lIns="91440" tIns="45720" rIns="91440" bIns="45720" rtlCol="0">
            <a:noAutofit/>
          </a:bodyPr>
          <a:lstStyle/>
          <a:p>
            <a:pPr lvl="0"/>
            <a:r>
              <a:rPr lang="en-GB" noProof="0" dirty="0"/>
              <a:t>Click to 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6" name="Slide Number Placeholder 5">
            <a:extLst>
              <a:ext uri="{FF2B5EF4-FFF2-40B4-BE49-F238E27FC236}">
                <a16:creationId xmlns:a16="http://schemas.microsoft.com/office/drawing/2014/main" id="{499AA5CE-5ABB-08FC-C1DB-98A1B0B5639C}"/>
              </a:ext>
            </a:extLst>
          </p:cNvPr>
          <p:cNvSpPr>
            <a:spLocks noGrp="1"/>
          </p:cNvSpPr>
          <p:nvPr>
            <p:ph type="sldNum" sz="quarter" idx="4"/>
          </p:nvPr>
        </p:nvSpPr>
        <p:spPr>
          <a:xfrm>
            <a:off x="10308566" y="6356350"/>
            <a:ext cx="1199072"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F60780-9D08-400B-AB0B-A1DD33AEF2DB}" type="slidenum">
              <a:rPr lang="en-GB" smtClean="0"/>
              <a:t>‹#›</a:t>
            </a:fld>
            <a:endParaRPr lang="en-GB"/>
          </a:p>
        </p:txBody>
      </p:sp>
    </p:spTree>
    <p:extLst>
      <p:ext uri="{BB962C8B-B14F-4D97-AF65-F5344CB8AC3E}">
        <p14:creationId xmlns:p14="http://schemas.microsoft.com/office/powerpoint/2010/main" val="2963900140"/>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720" r:id="rId3"/>
  </p:sldLayoutIdLst>
  <p:txStyles>
    <p:title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7.xml"/><Relationship Id="rId6" Type="http://schemas.openxmlformats.org/officeDocument/2006/relationships/image" Target="../media/image6.wmf"/><Relationship Id="rId5" Type="http://schemas.openxmlformats.org/officeDocument/2006/relationships/oleObject" Target="../embeddings/oleObject1.bin"/><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7.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14.xml"/><Relationship Id="rId4" Type="http://schemas.openxmlformats.org/officeDocument/2006/relationships/image" Target="../media/image9.tmp"/></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0.xml"/><Relationship Id="rId1" Type="http://schemas.openxmlformats.org/officeDocument/2006/relationships/slideLayout" Target="../slideLayouts/slideLayout16.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9.xml"/><Relationship Id="rId5" Type="http://schemas.openxmlformats.org/officeDocument/2006/relationships/image" Target="../media/image14.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9.xml"/><Relationship Id="rId11" Type="http://schemas.openxmlformats.org/officeDocument/2006/relationships/image" Target="../media/image160.png"/><Relationship Id="rId5" Type="http://schemas.openxmlformats.org/officeDocument/2006/relationships/image" Target="../media/image16.svg"/><Relationship Id="rId10" Type="http://schemas.openxmlformats.org/officeDocument/2006/relationships/image" Target="../media/image23.png"/><Relationship Id="rId4" Type="http://schemas.openxmlformats.org/officeDocument/2006/relationships/image" Target="../media/image15.svg"/><Relationship Id="rId9"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16.xml"/><Relationship Id="rId1" Type="http://schemas.openxmlformats.org/officeDocument/2006/relationships/slideLayout" Target="../slideLayouts/slideLayout17.xml"/><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17.xml"/><Relationship Id="rId1" Type="http://schemas.openxmlformats.org/officeDocument/2006/relationships/slideLayout" Target="../slideLayouts/slideLayout17.xml"/><Relationship Id="rId4" Type="http://schemas.openxmlformats.org/officeDocument/2006/relationships/image" Target="../media/image18.emf"/></Relationships>
</file>

<file path=ppt/slides/_rels/slide20.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oleObject" Target="../embeddings/oleObject2.bin"/><Relationship Id="rId7" Type="http://schemas.openxmlformats.org/officeDocument/2006/relationships/image" Target="../media/image21.wmf"/><Relationship Id="rId2" Type="http://schemas.openxmlformats.org/officeDocument/2006/relationships/notesSlide" Target="../notesSlides/notesSlide18.xml"/><Relationship Id="rId1" Type="http://schemas.openxmlformats.org/officeDocument/2006/relationships/slideLayout" Target="../slideLayouts/slideLayout17.xml"/><Relationship Id="rId6" Type="http://schemas.openxmlformats.org/officeDocument/2006/relationships/oleObject" Target="../embeddings/oleObject3.bin"/><Relationship Id="rId5" Type="http://schemas.openxmlformats.org/officeDocument/2006/relationships/image" Target="../media/image20.png"/><Relationship Id="rId4" Type="http://schemas.openxmlformats.org/officeDocument/2006/relationships/image" Target="../media/image19.emf"/><Relationship Id="rId9" Type="http://schemas.openxmlformats.org/officeDocument/2006/relationships/image" Target="../media/image22.wmf"/></Relationships>
</file>

<file path=ppt/slides/_rels/slide21.xml.rels><?xml version="1.0" encoding="UTF-8" standalone="yes"?>
<Relationships xmlns="http://schemas.openxmlformats.org/package/2006/relationships"><Relationship Id="rId3" Type="http://schemas.openxmlformats.org/officeDocument/2006/relationships/image" Target="../media/image23.tmp"/><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24.emf"/></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7.xml"/><Relationship Id="rId4" Type="http://schemas.openxmlformats.org/officeDocument/2006/relationships/image" Target="../media/image7.jpeg"/></Relationships>
</file>

<file path=ppt/slides/_rels/slide2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7.jpeg"/><Relationship Id="rId7" Type="http://schemas.openxmlformats.org/officeDocument/2006/relationships/image" Target="../media/image26.wmf"/><Relationship Id="rId2" Type="http://schemas.openxmlformats.org/officeDocument/2006/relationships/notesSlide" Target="../notesSlides/notesSlide22.xml"/><Relationship Id="rId1" Type="http://schemas.openxmlformats.org/officeDocument/2006/relationships/slideLayout" Target="../slideLayouts/slideLayout17.xml"/><Relationship Id="rId6" Type="http://schemas.openxmlformats.org/officeDocument/2006/relationships/oleObject" Target="../embeddings/oleObject60.bin"/><Relationship Id="rId5" Type="http://schemas.openxmlformats.org/officeDocument/2006/relationships/image" Target="../media/image26.wmf"/><Relationship Id="rId4" Type="http://schemas.openxmlformats.org/officeDocument/2006/relationships/oleObject" Target="../embeddings/oleObject6.bin"/></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17.xml"/><Relationship Id="rId5" Type="http://schemas.openxmlformats.org/officeDocument/2006/relationships/image" Target="../media/image29.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17.xml"/><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3" Type="http://schemas.openxmlformats.org/officeDocument/2006/relationships/image" Target="../media/image32.tmp"/><Relationship Id="rId2" Type="http://schemas.openxmlformats.org/officeDocument/2006/relationships/notesSlide" Target="../notesSlides/notesSlide26.xml"/><Relationship Id="rId1" Type="http://schemas.openxmlformats.org/officeDocument/2006/relationships/slideLayout" Target="../slideLayouts/slideLayout17.xml"/><Relationship Id="rId5" Type="http://schemas.openxmlformats.org/officeDocument/2006/relationships/image" Target="../media/image35.png"/><Relationship Id="rId4" Type="http://schemas.openxmlformats.org/officeDocument/2006/relationships/image" Target="../media/image33.tmp"/></Relationships>
</file>

<file path=ppt/slides/_rels/slide3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notesSlide" Target="../notesSlides/notesSlide27.xml"/><Relationship Id="rId1" Type="http://schemas.openxmlformats.org/officeDocument/2006/relationships/slideLayout" Target="../slideLayouts/slideLayout17.xml"/><Relationship Id="rId4" Type="http://schemas.openxmlformats.org/officeDocument/2006/relationships/image" Target="../media/image36.wmf"/></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9.xml"/><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30.xml"/><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36.xml.rels><?xml version="1.0" encoding="UTF-8" standalone="yes"?>
<Relationships xmlns="http://schemas.openxmlformats.org/package/2006/relationships"><Relationship Id="rId2" Type="http://schemas.openxmlformats.org/officeDocument/2006/relationships/image" Target="../media/image43.gif"/><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17.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gif"/><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3" Type="http://schemas.openxmlformats.org/officeDocument/2006/relationships/image" Target="../media/image49.wmf"/><Relationship Id="rId7" Type="http://schemas.openxmlformats.org/officeDocument/2006/relationships/image" Target="../media/image51.wmf"/><Relationship Id="rId2" Type="http://schemas.openxmlformats.org/officeDocument/2006/relationships/oleObject" Target="../embeddings/oleObject7.bin"/><Relationship Id="rId1" Type="http://schemas.openxmlformats.org/officeDocument/2006/relationships/slideLayout" Target="../slideLayouts/slideLayout17.xml"/><Relationship Id="rId6" Type="http://schemas.openxmlformats.org/officeDocument/2006/relationships/oleObject" Target="../embeddings/oleObject9.bin"/><Relationship Id="rId5" Type="http://schemas.openxmlformats.org/officeDocument/2006/relationships/image" Target="../media/image50.wmf"/><Relationship Id="rId4" Type="http://schemas.openxmlformats.org/officeDocument/2006/relationships/oleObject" Target="../embeddings/oleObject8.bin"/></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52.tmp"/><Relationship Id="rId1" Type="http://schemas.openxmlformats.org/officeDocument/2006/relationships/slideLayout" Target="../slideLayouts/slideLayout17.xml"/></Relationships>
</file>

<file path=ppt/slides/_rels/slide4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7.xml"/></Relationships>
</file>

<file path=ppt/slides/_rels/slide4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oleObject" Target="../embeddings/oleObject10.bin"/><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oleObject" Target="../embeddings/oleObject10.bin"/><Relationship Id="rId1" Type="http://schemas.openxmlformats.org/officeDocument/2006/relationships/slideLayout" Target="../slideLayouts/slideLayout2.xml"/><Relationship Id="rId5" Type="http://schemas.openxmlformats.org/officeDocument/2006/relationships/image" Target="../media/image56.wmf"/><Relationship Id="rId4" Type="http://schemas.openxmlformats.org/officeDocument/2006/relationships/oleObject" Target="../embeddings/oleObject11.bin"/></Relationships>
</file>

<file path=ppt/slides/_rels/slide50.xml.rels><?xml version="1.0" encoding="UTF-8" standalone="yes"?>
<Relationships xmlns="http://schemas.openxmlformats.org/package/2006/relationships"><Relationship Id="rId3" Type="http://schemas.openxmlformats.org/officeDocument/2006/relationships/image" Target="../media/image57.wmf"/><Relationship Id="rId2" Type="http://schemas.openxmlformats.org/officeDocument/2006/relationships/oleObject" Target="../embeddings/oleObject12.bin"/><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7.wmf"/><Relationship Id="rId2" Type="http://schemas.openxmlformats.org/officeDocument/2006/relationships/oleObject" Target="../embeddings/oleObject12.bin"/><Relationship Id="rId1" Type="http://schemas.openxmlformats.org/officeDocument/2006/relationships/slideLayout" Target="../slideLayouts/slideLayout2.xml"/><Relationship Id="rId5" Type="http://schemas.openxmlformats.org/officeDocument/2006/relationships/image" Target="../media/image58.wmf"/><Relationship Id="rId4" Type="http://schemas.openxmlformats.org/officeDocument/2006/relationships/oleObject" Target="../embeddings/oleObject13.bin"/></Relationships>
</file>

<file path=ppt/slides/_rels/slide52.x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oleObject" Target="../embeddings/oleObject14.bin"/><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oleObject" Target="../embeddings/oleObject14.bin"/><Relationship Id="rId1" Type="http://schemas.openxmlformats.org/officeDocument/2006/relationships/slideLayout" Target="../slideLayouts/slideLayout2.xml"/><Relationship Id="rId5" Type="http://schemas.openxmlformats.org/officeDocument/2006/relationships/image" Target="../media/image60.wmf"/><Relationship Id="rId4" Type="http://schemas.openxmlformats.org/officeDocument/2006/relationships/oleObject" Target="../embeddings/oleObject15.bin"/></Relationships>
</file>

<file path=ppt/slides/_rels/slide54.x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oleObject" Target="../embeddings/oleObject16.bin"/><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2.wmf"/><Relationship Id="rId2" Type="http://schemas.openxmlformats.org/officeDocument/2006/relationships/oleObject" Target="../embeddings/oleObject17.bin"/><Relationship Id="rId1" Type="http://schemas.openxmlformats.org/officeDocument/2006/relationships/slideLayout" Target="../slideLayouts/slideLayout2.xml"/><Relationship Id="rId5" Type="http://schemas.openxmlformats.org/officeDocument/2006/relationships/image" Target="../media/image61.wmf"/><Relationship Id="rId4" Type="http://schemas.openxmlformats.org/officeDocument/2006/relationships/oleObject" Target="../embeddings/oleObject16.bin"/></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image" Target="../media/image63.png"/><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57.xml.rels><?xml version="1.0" encoding="UTF-8" standalone="yes"?>
<Relationships xmlns="http://schemas.openxmlformats.org/package/2006/relationships"><Relationship Id="rId3" Type="http://schemas.openxmlformats.org/officeDocument/2006/relationships/image" Target="../media/image64.wmf"/><Relationship Id="rId7" Type="http://schemas.openxmlformats.org/officeDocument/2006/relationships/image" Target="../media/image66.wmf"/><Relationship Id="rId2" Type="http://schemas.openxmlformats.org/officeDocument/2006/relationships/oleObject" Target="../embeddings/oleObject18.bin"/><Relationship Id="rId1" Type="http://schemas.openxmlformats.org/officeDocument/2006/relationships/slideLayout" Target="../slideLayouts/slideLayout2.xml"/><Relationship Id="rId6" Type="http://schemas.openxmlformats.org/officeDocument/2006/relationships/oleObject" Target="../embeddings/oleObject20.bin"/><Relationship Id="rId5" Type="http://schemas.openxmlformats.org/officeDocument/2006/relationships/image" Target="../media/image65.wmf"/><Relationship Id="rId4" Type="http://schemas.openxmlformats.org/officeDocument/2006/relationships/oleObject" Target="../embeddings/oleObject19.bin"/></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3" Type="http://schemas.openxmlformats.org/officeDocument/2006/relationships/image" Target="../media/image67.emf"/><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_rels/slide6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3.xml"/><Relationship Id="rId5" Type="http://schemas.openxmlformats.org/officeDocument/2006/relationships/image" Target="../media/image71.png"/><Relationship Id="rId4" Type="http://schemas.openxmlformats.org/officeDocument/2006/relationships/image" Target="../media/image70.png"/></Relationships>
</file>

<file path=ppt/slides/_rels/slide6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3.xml"/><Relationship Id="rId5" Type="http://schemas.openxmlformats.org/officeDocument/2006/relationships/image" Target="../media/image72.png"/><Relationship Id="rId4" Type="http://schemas.openxmlformats.org/officeDocument/2006/relationships/image" Target="../media/image71.png"/></Relationships>
</file>

<file path=ppt/slides/_rels/slide6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3.xml"/><Relationship Id="rId4" Type="http://schemas.openxmlformats.org/officeDocument/2006/relationships/image" Target="../media/image7.jpeg"/></Relationships>
</file>

<file path=ppt/slides/_rels/slide73.xml.rels><?xml version="1.0" encoding="UTF-8" standalone="yes"?>
<Relationships xmlns="http://schemas.openxmlformats.org/package/2006/relationships"><Relationship Id="rId3" Type="http://schemas.openxmlformats.org/officeDocument/2006/relationships/image" Target="../media/image87.jpeg"/><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7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3.xml"/></Relationships>
</file>

<file path=ppt/slides/_rels/slide7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1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3.xml"/></Relationships>
</file>

<file path=ppt/slides/_rels/slide7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3.xml"/></Relationships>
</file>

<file path=ppt/slides/_rels/slide80.xml.rels><?xml version="1.0" encoding="UTF-8" standalone="yes"?>
<Relationships xmlns="http://schemas.openxmlformats.org/package/2006/relationships"><Relationship Id="rId3" Type="http://schemas.openxmlformats.org/officeDocument/2006/relationships/image" Target="../media/image93.jpeg"/><Relationship Id="rId2" Type="http://schemas.openxmlformats.org/officeDocument/2006/relationships/image" Target="../media/image7.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253834-B31D-7A4D-9536-ACDDD53296F5}"/>
              </a:ext>
            </a:extLst>
          </p:cNvPr>
          <p:cNvSpPr>
            <a:spLocks noGrp="1"/>
          </p:cNvSpPr>
          <p:nvPr>
            <p:ph type="ctrTitle"/>
          </p:nvPr>
        </p:nvSpPr>
        <p:spPr>
          <a:xfrm>
            <a:off x="732673" y="2287559"/>
            <a:ext cx="10964220" cy="1713533"/>
          </a:xfrm>
          <a:solidFill>
            <a:srgbClr val="1CADE4"/>
          </a:solidFill>
          <a:ln>
            <a:solidFill>
              <a:srgbClr val="1CADE4"/>
            </a:solidFill>
          </a:ln>
          <a:effectLst>
            <a:outerShdw blurRad="50800" dist="38100" dir="13500000" algn="br" rotWithShape="0">
              <a:prstClr val="black">
                <a:alpha val="40000"/>
              </a:prstClr>
            </a:outerShdw>
          </a:effectLst>
        </p:spPr>
        <p:style>
          <a:lnRef idx="2">
            <a:schemeClr val="accent5">
              <a:shade val="15000"/>
            </a:schemeClr>
          </a:lnRef>
          <a:fillRef idx="1">
            <a:schemeClr val="accent5"/>
          </a:fillRef>
          <a:effectRef idx="0">
            <a:schemeClr val="accent5"/>
          </a:effectRef>
          <a:fontRef idx="minor">
            <a:schemeClr val="lt1"/>
          </a:fontRef>
        </p:style>
        <p:txBody>
          <a:bodyPr anchor="ctr">
            <a:noAutofit/>
          </a:bodyPr>
          <a:lstStyle/>
          <a:p>
            <a:r>
              <a:rPr lang="en-GB" sz="3200" b="1" dirty="0">
                <a:latin typeface="Calibri" panose="020F0502020204030204" pitchFamily="34" charset="0"/>
              </a:rPr>
              <a:t>Machine learning approaches for discrete choice analysis</a:t>
            </a:r>
            <a:endParaRPr lang="en-GB" sz="2800" b="1" noProof="0" dirty="0"/>
          </a:p>
        </p:txBody>
      </p:sp>
      <p:sp>
        <p:nvSpPr>
          <p:cNvPr id="3" name="Subtitle 2">
            <a:extLst>
              <a:ext uri="{FF2B5EF4-FFF2-40B4-BE49-F238E27FC236}">
                <a16:creationId xmlns:a16="http://schemas.microsoft.com/office/drawing/2014/main" id="{5CCAFFE7-8548-674D-95EE-B2F39067BE4F}"/>
              </a:ext>
            </a:extLst>
          </p:cNvPr>
          <p:cNvSpPr>
            <a:spLocks noGrp="1"/>
          </p:cNvSpPr>
          <p:nvPr>
            <p:ph type="subTitle" idx="1"/>
          </p:nvPr>
        </p:nvSpPr>
        <p:spPr>
          <a:xfrm>
            <a:off x="1642783" y="4337491"/>
            <a:ext cx="9144000" cy="1938618"/>
          </a:xfrm>
        </p:spPr>
        <p:txBody>
          <a:bodyPr>
            <a:normAutofit/>
          </a:bodyPr>
          <a:lstStyle/>
          <a:p>
            <a:pPr marL="360045">
              <a:spcBef>
                <a:spcPts val="1200"/>
              </a:spcBef>
            </a:pPr>
            <a:r>
              <a:rPr lang="en-GB" sz="1800" b="0" spc="20" dirty="0">
                <a:effectLst/>
                <a:latin typeface="Times New Roman" panose="02020603050405020304" pitchFamily="18" charset="0"/>
                <a:ea typeface="Times New Roman" panose="02020603050405020304" pitchFamily="18" charset="0"/>
              </a:rPr>
              <a:t>Gabriel Nova*</a:t>
            </a:r>
            <a:r>
              <a:rPr lang="en-GB" sz="1800" b="0" spc="20" baseline="30000" dirty="0">
                <a:effectLst/>
                <a:latin typeface="Times New Roman" panose="02020603050405020304" pitchFamily="18" charset="0"/>
                <a:ea typeface="Times New Roman" panose="02020603050405020304" pitchFamily="18" charset="0"/>
              </a:rPr>
              <a:t>1</a:t>
            </a:r>
            <a:r>
              <a:rPr lang="en-GB" sz="1800" spc="20" dirty="0">
                <a:latin typeface="Times New Roman" panose="02020603050405020304" pitchFamily="18" charset="0"/>
                <a:ea typeface="Times New Roman" panose="02020603050405020304" pitchFamily="18" charset="0"/>
              </a:rPr>
              <a:t>, Sander van Cranenburgh</a:t>
            </a:r>
            <a:r>
              <a:rPr lang="en-GB" sz="1800" spc="20" baseline="30000" dirty="0">
                <a:latin typeface="Times New Roman" panose="02020603050405020304" pitchFamily="18" charset="0"/>
                <a:ea typeface="Times New Roman" panose="02020603050405020304" pitchFamily="18" charset="0"/>
              </a:rPr>
              <a:t>1</a:t>
            </a:r>
            <a:endParaRPr lang="en-GB" sz="1800" b="0" spc="20" baseline="30000" dirty="0">
              <a:effectLst/>
              <a:latin typeface="Times New Roman" panose="02020603050405020304" pitchFamily="18" charset="0"/>
              <a:ea typeface="Times New Roman" panose="02020603050405020304" pitchFamily="18" charset="0"/>
            </a:endParaRPr>
          </a:p>
          <a:p>
            <a:pPr marL="360045" marR="0" algn="ctr">
              <a:spcBef>
                <a:spcPts val="1200"/>
              </a:spcBef>
            </a:pPr>
            <a:endParaRPr lang="en-US" sz="1800" b="1" dirty="0">
              <a:effectLst/>
              <a:latin typeface="Times New Roman" panose="02020603050405020304" pitchFamily="18" charset="0"/>
              <a:ea typeface="Times New Roman" panose="02020603050405020304" pitchFamily="18" charset="0"/>
            </a:endParaRPr>
          </a:p>
          <a:p>
            <a:pPr>
              <a:lnSpc>
                <a:spcPct val="100000"/>
              </a:lnSpc>
              <a:spcBef>
                <a:spcPts val="0"/>
              </a:spcBef>
            </a:pPr>
            <a:r>
              <a:rPr lang="en-GB" b="0" spc="20" baseline="30000" dirty="0">
                <a:effectLst/>
                <a:latin typeface="Times New Roman" panose="02020603050405020304" pitchFamily="18" charset="0"/>
                <a:ea typeface="Times New Roman" panose="02020603050405020304" pitchFamily="18" charset="0"/>
              </a:rPr>
              <a:t>City </a:t>
            </a:r>
            <a:r>
              <a:rPr lang="en-GB" spc="20" baseline="30000" dirty="0">
                <a:latin typeface="Times New Roman" panose="02020603050405020304" pitchFamily="18" charset="0"/>
                <a:ea typeface="Times New Roman" panose="02020603050405020304" pitchFamily="18" charset="0"/>
              </a:rPr>
              <a:t>AI Lab, </a:t>
            </a:r>
            <a:r>
              <a:rPr lang="en-GB" b="0" spc="20" baseline="30000" dirty="0">
                <a:effectLst/>
                <a:latin typeface="Times New Roman" panose="02020603050405020304" pitchFamily="18" charset="0"/>
                <a:ea typeface="Times New Roman" panose="02020603050405020304" pitchFamily="18" charset="0"/>
              </a:rPr>
              <a:t>Transport and Logistics</a:t>
            </a:r>
            <a:br>
              <a:rPr lang="en-GB" b="0" spc="20" baseline="30000" dirty="0">
                <a:effectLst/>
                <a:latin typeface="Times New Roman" panose="02020603050405020304" pitchFamily="18" charset="0"/>
                <a:ea typeface="Times New Roman" panose="02020603050405020304" pitchFamily="18" charset="0"/>
              </a:rPr>
            </a:br>
            <a:r>
              <a:rPr lang="en-GB" b="0" spc="20" baseline="30000" dirty="0">
                <a:effectLst/>
                <a:latin typeface="Times New Roman" panose="02020603050405020304" pitchFamily="18" charset="0"/>
                <a:ea typeface="Times New Roman" panose="02020603050405020304" pitchFamily="18" charset="0"/>
              </a:rPr>
              <a:t>Faculty of Technology, Policy and Management, Delft University of Technology</a:t>
            </a:r>
            <a:endParaRPr lang="en-US" sz="3600" i="1" dirty="0"/>
          </a:p>
        </p:txBody>
      </p:sp>
      <p:pic>
        <p:nvPicPr>
          <p:cNvPr id="1026" name="Picture 2" descr="Zigzag DNA">
            <a:extLst>
              <a:ext uri="{FF2B5EF4-FFF2-40B4-BE49-F238E27FC236}">
                <a16:creationId xmlns:a16="http://schemas.microsoft.com/office/drawing/2014/main" id="{9F7BC26A-A130-8E47-9C60-6C375A43F2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840" y="0"/>
            <a:ext cx="1818415" cy="88458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D76EC1F7-F969-E74B-9294-1C2AC70CA8FD}"/>
              </a:ext>
            </a:extLst>
          </p:cNvPr>
          <p:cNvSpPr/>
          <p:nvPr/>
        </p:nvSpPr>
        <p:spPr>
          <a:xfrm>
            <a:off x="5977217" y="3624899"/>
            <a:ext cx="237566" cy="369332"/>
          </a:xfrm>
          <a:prstGeom prst="rect">
            <a:avLst/>
          </a:prstGeom>
        </p:spPr>
        <p:txBody>
          <a:bodyPr wrap="none">
            <a:spAutoFit/>
          </a:bodyPr>
          <a:lstStyle/>
          <a:p>
            <a:r>
              <a:rPr lang="en-US" dirty="0">
                <a:solidFill>
                  <a:srgbClr val="000000"/>
                </a:solidFill>
                <a:latin typeface="-webkit-standard"/>
              </a:rPr>
              <a:t> </a:t>
            </a:r>
            <a:endParaRPr lang="en-US" dirty="0"/>
          </a:p>
        </p:txBody>
      </p:sp>
      <p:sp>
        <p:nvSpPr>
          <p:cNvPr id="8" name="Rectangle 7">
            <a:extLst>
              <a:ext uri="{FF2B5EF4-FFF2-40B4-BE49-F238E27FC236}">
                <a16:creationId xmlns:a16="http://schemas.microsoft.com/office/drawing/2014/main" id="{9DE97810-3C4A-7D43-BEB5-A91B7F3F6A29}"/>
              </a:ext>
            </a:extLst>
          </p:cNvPr>
          <p:cNvSpPr/>
          <p:nvPr/>
        </p:nvSpPr>
        <p:spPr>
          <a:xfrm>
            <a:off x="5977217" y="3624899"/>
            <a:ext cx="237566" cy="369332"/>
          </a:xfrm>
          <a:prstGeom prst="rect">
            <a:avLst/>
          </a:prstGeom>
        </p:spPr>
        <p:txBody>
          <a:bodyPr wrap="none">
            <a:spAutoFit/>
          </a:bodyPr>
          <a:lstStyle/>
          <a:p>
            <a:r>
              <a:rPr lang="en-US" dirty="0">
                <a:solidFill>
                  <a:srgbClr val="000000"/>
                </a:solidFill>
                <a:latin typeface="-webkit-standard"/>
              </a:rPr>
              <a:t> </a:t>
            </a:r>
            <a:endParaRPr lang="en-US" dirty="0"/>
          </a:p>
        </p:txBody>
      </p:sp>
      <p:pic>
        <p:nvPicPr>
          <p:cNvPr id="11" name="Picture 10">
            <a:extLst>
              <a:ext uri="{FF2B5EF4-FFF2-40B4-BE49-F238E27FC236}">
                <a16:creationId xmlns:a16="http://schemas.microsoft.com/office/drawing/2014/main" id="{432A65C9-B905-8818-6F37-DE48035B9A9C}"/>
              </a:ext>
            </a:extLst>
          </p:cNvPr>
          <p:cNvPicPr>
            <a:picLocks noChangeAspect="1"/>
          </p:cNvPicPr>
          <p:nvPr/>
        </p:nvPicPr>
        <p:blipFill rotWithShape="1">
          <a:blip r:embed="rId4"/>
          <a:srcRect l="2060" t="2010" r="75448" b="78706"/>
          <a:stretch/>
        </p:blipFill>
        <p:spPr>
          <a:xfrm>
            <a:off x="9991142" y="128155"/>
            <a:ext cx="1983235" cy="1107256"/>
          </a:xfrm>
          <a:prstGeom prst="rect">
            <a:avLst/>
          </a:prstGeom>
        </p:spPr>
      </p:pic>
      <p:pic>
        <p:nvPicPr>
          <p:cNvPr id="5" name="Picture 2" descr="qr-code for edu.nl/6tb4y">
            <a:extLst>
              <a:ext uri="{FF2B5EF4-FFF2-40B4-BE49-F238E27FC236}">
                <a16:creationId xmlns:a16="http://schemas.microsoft.com/office/drawing/2014/main" id="{6D34E571-7D34-C874-78EF-9A9A70A64E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96690" y="5456471"/>
            <a:ext cx="1177687" cy="12733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828704"/>
      </p:ext>
    </p:extLst>
  </p:cSld>
  <p:clrMapOvr>
    <a:masterClrMapping/>
  </p:clrMapOvr>
  <mc:AlternateContent xmlns:mc="http://schemas.openxmlformats.org/markup-compatibility/2006" xmlns:p14="http://schemas.microsoft.com/office/powerpoint/2010/main">
    <mc:Choice Requires="p14">
      <p:transition spd="slow" p14:dur="2000" advTm="1159"/>
    </mc:Choice>
    <mc:Fallback xmlns="">
      <p:transition spd="slow" advTm="1159"/>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a:spLocks noChangeArrowheads="1"/>
          </p:cNvSpPr>
          <p:nvPr/>
        </p:nvSpPr>
        <p:spPr bwMode="auto">
          <a:xfrm>
            <a:off x="0" y="5949950"/>
            <a:ext cx="12192000" cy="908050"/>
          </a:xfrm>
          <a:prstGeom prst="rect">
            <a:avLst/>
          </a:prstGeom>
          <a:solidFill>
            <a:schemeClr val="bg1"/>
          </a:solidFill>
          <a:ln>
            <a:noFill/>
          </a:ln>
          <a:extLst>
            <a:ext uri="{91240B29-F687-4F45-9708-019B960494DF}">
              <a14:hiddenLine xmlns:a14="http://schemas.microsoft.com/office/drawing/2010/main" w="9525" algn="ctr">
                <a:solidFill>
                  <a:srgbClr val="000000"/>
                </a:solidFill>
                <a:round/>
                <a:headEnd/>
                <a:tailEnd/>
              </a14:hiddenLine>
            </a:ext>
          </a:extLst>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endParaRPr kumimoji="0" lang="en-US" sz="2200" b="0" i="0" u="none" strike="noStrike" kern="1200" cap="none" spc="0" normalizeH="0" baseline="0" noProof="0">
              <a:ln>
                <a:noFill/>
              </a:ln>
              <a:solidFill>
                <a:srgbClr val="000000"/>
              </a:solidFill>
              <a:effectLst/>
              <a:uLnTx/>
              <a:uFillTx/>
              <a:latin typeface="Tahoma"/>
              <a:ea typeface="+mn-ea"/>
              <a:cs typeface="+mn-cs"/>
            </a:endParaRPr>
          </a:p>
        </p:txBody>
      </p:sp>
      <p:sp>
        <p:nvSpPr>
          <p:cNvPr id="6" name="Title 1"/>
          <p:cNvSpPr>
            <a:spLocks noGrp="1"/>
          </p:cNvSpPr>
          <p:nvPr>
            <p:ph type="title"/>
          </p:nvPr>
        </p:nvSpPr>
        <p:spPr>
          <a:xfrm>
            <a:off x="1055441" y="457200"/>
            <a:ext cx="9045824" cy="451520"/>
          </a:xfrm>
        </p:spPr>
        <p:txBody>
          <a:bodyPr/>
          <a:lstStyle/>
          <a:p>
            <a:pPr lvl="0">
              <a:defRPr/>
            </a:pPr>
            <a:r>
              <a:rPr lang="en-GB" sz="2600" dirty="0">
                <a:solidFill>
                  <a:srgbClr val="000000"/>
                </a:solidFill>
              </a:rPr>
              <a:t>Course set-up</a:t>
            </a:r>
          </a:p>
        </p:txBody>
      </p:sp>
      <p:sp>
        <p:nvSpPr>
          <p:cNvPr id="3" name="Content Placeholder 2"/>
          <p:cNvSpPr>
            <a:spLocks noGrp="1"/>
          </p:cNvSpPr>
          <p:nvPr>
            <p:ph idx="1"/>
          </p:nvPr>
        </p:nvSpPr>
        <p:spPr>
          <a:xfrm>
            <a:off x="1055440" y="1484784"/>
            <a:ext cx="8064896" cy="5236692"/>
          </a:xfrm>
        </p:spPr>
        <p:txBody>
          <a:bodyPr/>
          <a:lstStyle/>
          <a:p>
            <a:pPr marL="0" indent="0" defTabSz="904875">
              <a:buNone/>
              <a:tabLst>
                <a:tab pos="1257300" algn="l"/>
                <a:tab pos="3228975" algn="l"/>
              </a:tabLst>
            </a:pPr>
            <a:r>
              <a:rPr lang="en-GB" sz="1800" dirty="0">
                <a:solidFill>
                  <a:srgbClr val="0070C0"/>
                </a:solidFill>
                <a:latin typeface="Calibri" panose="020F0502020204030204" pitchFamily="34" charset="0"/>
                <a:cs typeface="Times New Roman" panose="02020603050405020304" pitchFamily="18" charset="0"/>
              </a:rPr>
              <a:t>Course material</a:t>
            </a:r>
          </a:p>
          <a:p>
            <a:pPr marL="0" indent="0" defTabSz="904875">
              <a:buNone/>
              <a:tabLst>
                <a:tab pos="1257300" algn="l"/>
                <a:tab pos="3228975" algn="l"/>
              </a:tabLst>
            </a:pPr>
            <a:endParaRPr lang="en-GB" sz="1800" dirty="0">
              <a:solidFill>
                <a:srgbClr val="0070C0"/>
              </a:solidFill>
              <a:latin typeface="Calibri" panose="020F0502020204030204" pitchFamily="34" charset="0"/>
              <a:cs typeface="Times New Roman" panose="02020603050405020304" pitchFamily="18" charset="0"/>
            </a:endParaRPr>
          </a:p>
          <a:p>
            <a:pPr marL="342900" indent="-342900" defTabSz="904875">
              <a:lnSpc>
                <a:spcPct val="114000"/>
              </a:lnSpc>
              <a:buFont typeface="+mj-lt"/>
              <a:buAutoNum type="arabicPeriod"/>
              <a:tabLst>
                <a:tab pos="1257300" algn="l"/>
                <a:tab pos="3228975" algn="l"/>
              </a:tabLst>
            </a:pPr>
            <a:r>
              <a:rPr lang="en-US" sz="1400" dirty="0"/>
              <a:t>Van Cranenburgh, S., Wang, S., Vij, A., Pereira, F., &amp; Walker, J. (2022). Choice modelling in the age of machine learning-discussion paper. </a:t>
            </a:r>
            <a:r>
              <a:rPr lang="en-US" sz="1400" i="1" dirty="0"/>
              <a:t>Journal of Choice Modelling</a:t>
            </a:r>
            <a:r>
              <a:rPr lang="en-US" sz="1400" dirty="0"/>
              <a:t>, </a:t>
            </a:r>
            <a:r>
              <a:rPr lang="en-US" sz="1400" i="1" dirty="0"/>
              <a:t>42</a:t>
            </a:r>
            <a:r>
              <a:rPr lang="en-US" sz="1400" dirty="0"/>
              <a:t>, 100340.</a:t>
            </a:r>
          </a:p>
          <a:p>
            <a:pPr marL="342900" indent="-342900" defTabSz="904875">
              <a:lnSpc>
                <a:spcPct val="114000"/>
              </a:lnSpc>
              <a:buFont typeface="+mj-lt"/>
              <a:buAutoNum type="arabicPeriod"/>
              <a:tabLst>
                <a:tab pos="1257300" algn="l"/>
                <a:tab pos="3228975" algn="l"/>
              </a:tabLst>
            </a:pPr>
            <a:endParaRPr lang="en-US" sz="1400" dirty="0"/>
          </a:p>
          <a:p>
            <a:pPr marL="342900" indent="-342900" defTabSz="904875">
              <a:lnSpc>
                <a:spcPct val="114000"/>
              </a:lnSpc>
              <a:buFont typeface="+mj-lt"/>
              <a:buAutoNum type="arabicPeriod"/>
              <a:tabLst>
                <a:tab pos="1257300" algn="l"/>
                <a:tab pos="3228975" algn="l"/>
              </a:tabLst>
            </a:pPr>
            <a:r>
              <a:rPr lang="en-US" sz="1400" dirty="0" err="1"/>
              <a:t>Géron</a:t>
            </a:r>
            <a:r>
              <a:rPr lang="en-US" sz="1400" dirty="0"/>
              <a:t>, A. (2019). </a:t>
            </a:r>
            <a:r>
              <a:rPr lang="en-US" sz="1400" i="1" dirty="0"/>
              <a:t>Hands-on machine learning with </a:t>
            </a:r>
            <a:r>
              <a:rPr lang="en-US" sz="1400" i="1" dirty="0" err="1"/>
              <a:t>Scikit</a:t>
            </a:r>
            <a:r>
              <a:rPr lang="en-US" sz="1400" i="1" dirty="0"/>
              <a:t>-Learn, </a:t>
            </a:r>
            <a:r>
              <a:rPr lang="en-US" sz="1400" i="1" dirty="0" err="1"/>
              <a:t>Keras</a:t>
            </a:r>
            <a:r>
              <a:rPr lang="en-US" sz="1400" i="1" dirty="0"/>
              <a:t>, and </a:t>
            </a:r>
            <a:r>
              <a:rPr lang="en-US" sz="1400" i="1" dirty="0" err="1"/>
              <a:t>TensorFlow</a:t>
            </a:r>
            <a:r>
              <a:rPr lang="en-US" sz="1400" i="1" dirty="0"/>
              <a:t>: Concepts, tools, and techniques to build intelligent systems</a:t>
            </a:r>
            <a:r>
              <a:rPr lang="en-US" sz="1400" dirty="0"/>
              <a:t>. " O'Reilly Media, Inc.".</a:t>
            </a:r>
          </a:p>
          <a:p>
            <a:pPr marL="342900" indent="-342900" defTabSz="904875">
              <a:lnSpc>
                <a:spcPct val="114000"/>
              </a:lnSpc>
              <a:buFont typeface="+mj-lt"/>
              <a:buAutoNum type="arabicPeriod"/>
              <a:tabLst>
                <a:tab pos="1257300" algn="l"/>
                <a:tab pos="3228975" algn="l"/>
              </a:tabLst>
            </a:pPr>
            <a:endParaRPr lang="en-GB" sz="1400" dirty="0">
              <a:solidFill>
                <a:srgbClr val="0070C0"/>
              </a:solidFill>
              <a:cs typeface="Times New Roman" panose="02020603050405020304" pitchFamily="18" charset="0"/>
            </a:endParaRPr>
          </a:p>
          <a:p>
            <a:pPr marL="342900" indent="-342900" defTabSz="904875">
              <a:lnSpc>
                <a:spcPct val="114000"/>
              </a:lnSpc>
              <a:buFont typeface="+mj-lt"/>
              <a:buAutoNum type="arabicPeriod"/>
              <a:tabLst>
                <a:tab pos="1257300" algn="l"/>
                <a:tab pos="3228975" algn="l"/>
              </a:tabLst>
            </a:pPr>
            <a:r>
              <a:rPr lang="en-US" sz="1400" dirty="0" err="1"/>
              <a:t>Sifringer</a:t>
            </a:r>
            <a:r>
              <a:rPr lang="en-US" sz="1400" dirty="0"/>
              <a:t>, B., </a:t>
            </a:r>
            <a:r>
              <a:rPr lang="en-US" sz="1400" dirty="0" err="1"/>
              <a:t>Lurkin</a:t>
            </a:r>
            <a:r>
              <a:rPr lang="en-US" sz="1400" dirty="0"/>
              <a:t>, V., &amp; </a:t>
            </a:r>
            <a:r>
              <a:rPr lang="en-US" sz="1400" dirty="0" err="1"/>
              <a:t>Alahi</a:t>
            </a:r>
            <a:r>
              <a:rPr lang="en-US" sz="1400" dirty="0"/>
              <a:t>, A. (2020). Enhancing discrete choice models with representation learning. </a:t>
            </a:r>
            <a:r>
              <a:rPr lang="en-US" sz="1400" i="1" dirty="0"/>
              <a:t>Transportation Research Part B: Methodological</a:t>
            </a:r>
            <a:r>
              <a:rPr lang="en-US" sz="1400" dirty="0"/>
              <a:t>, </a:t>
            </a:r>
            <a:r>
              <a:rPr lang="en-US" sz="1400" i="1" dirty="0"/>
              <a:t>140</a:t>
            </a:r>
            <a:r>
              <a:rPr lang="en-US" sz="1400" dirty="0"/>
              <a:t>, 236-261.</a:t>
            </a:r>
          </a:p>
          <a:p>
            <a:pPr marL="342900" indent="-342900" defTabSz="904875">
              <a:lnSpc>
                <a:spcPct val="114000"/>
              </a:lnSpc>
              <a:buFont typeface="+mj-lt"/>
              <a:buAutoNum type="arabicPeriod"/>
              <a:tabLst>
                <a:tab pos="1257300" algn="l"/>
                <a:tab pos="3228975" algn="l"/>
              </a:tabLst>
            </a:pPr>
            <a:endParaRPr lang="en-US" sz="1400" dirty="0"/>
          </a:p>
          <a:p>
            <a:pPr marL="342900" indent="-342900" defTabSz="904875">
              <a:lnSpc>
                <a:spcPct val="114000"/>
              </a:lnSpc>
              <a:buFont typeface="+mj-lt"/>
              <a:buAutoNum type="arabicPeriod"/>
              <a:tabLst>
                <a:tab pos="1257300" algn="l"/>
                <a:tab pos="3228975" algn="l"/>
              </a:tabLst>
            </a:pPr>
            <a:r>
              <a:rPr lang="en-GB" sz="1400" dirty="0"/>
              <a:t>Molnar, C. (2020). </a:t>
            </a:r>
            <a:r>
              <a:rPr lang="en-GB" sz="1400" i="1" dirty="0"/>
              <a:t>Interpretable machine learning</a:t>
            </a:r>
            <a:r>
              <a:rPr lang="en-GB" sz="1400" dirty="0"/>
              <a:t>. Lulu. com</a:t>
            </a:r>
            <a:endParaRPr lang="en-US" sz="1400" dirty="0"/>
          </a:p>
          <a:p>
            <a:pPr marL="0" indent="0">
              <a:buNone/>
            </a:pPr>
            <a:endParaRPr lang="en-GB" sz="1800" dirty="0">
              <a:cs typeface="Times New Roman" panose="02020603050405020304" pitchFamily="18" charset="0"/>
            </a:endParaRPr>
          </a:p>
          <a:p>
            <a:pPr marL="0" indent="0">
              <a:buNone/>
            </a:pPr>
            <a:endParaRPr lang="en-GB" sz="1800" dirty="0">
              <a:cs typeface="Times New Roman" panose="02020603050405020304" pitchFamily="18" charset="0"/>
            </a:endParaRPr>
          </a:p>
          <a:p>
            <a:endParaRPr lang="en-GB" sz="1800" dirty="0">
              <a:cs typeface="Times New Roman" panose="02020603050405020304" pitchFamily="18" charset="0"/>
            </a:endParaRPr>
          </a:p>
        </p:txBody>
      </p:sp>
      <p:sp>
        <p:nvSpPr>
          <p:cNvPr id="7" name="Slide Number Placeholder 3"/>
          <p:cNvSpPr txBox="1">
            <a:spLocks/>
          </p:cNvSpPr>
          <p:nvPr/>
        </p:nvSpPr>
        <p:spPr>
          <a:xfrm>
            <a:off x="8737600" y="6356351"/>
            <a:ext cx="2844800" cy="365125"/>
          </a:xfrm>
          <a:prstGeom prst="rect">
            <a:avLst/>
          </a:prstGeom>
        </p:spPr>
        <p:txBody>
          <a:bodyPr vert="horz" lIns="91440" tIns="45720" rIns="91440" bIns="45720" rtlCol="0" anchor="ctr"/>
          <a:lstStyle>
            <a:defPPr>
              <a:defRPr lang="nl-NL"/>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1589592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6466730"/>
          </a:xfrm>
        </p:spPr>
        <p:txBody>
          <a:bodyPr/>
          <a:lstStyle/>
          <a:p>
            <a:r>
              <a:rPr lang="en-GB" sz="4000" dirty="0"/>
              <a:t>Theory-driven Models (RUM-MNL)</a:t>
            </a:r>
            <a:br>
              <a:rPr lang="en-GB" sz="4000" dirty="0"/>
            </a:br>
            <a:endParaRPr lang="en-GB" sz="40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682189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chor="t"/>
          <a:lstStyle/>
          <a:p>
            <a:r>
              <a:rPr lang="en-US" sz="4000" dirty="0"/>
              <a:t>Theory-driven vs data-driven</a:t>
            </a:r>
          </a:p>
        </p:txBody>
      </p:sp>
      <p:sp>
        <p:nvSpPr>
          <p:cNvPr id="7" name="Rounded Rectangle 6"/>
          <p:cNvSpPr/>
          <p:nvPr/>
        </p:nvSpPr>
        <p:spPr>
          <a:xfrm>
            <a:off x="2118284" y="1556792"/>
            <a:ext cx="3545667" cy="5184576"/>
          </a:xfrm>
          <a:prstGeom prst="roundRect">
            <a:avLst/>
          </a:prstGeom>
          <a:solidFill>
            <a:schemeClr val="bg1">
              <a:lumMod val="8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TextBox 11"/>
          <p:cNvSpPr txBox="1"/>
          <p:nvPr/>
        </p:nvSpPr>
        <p:spPr>
          <a:xfrm>
            <a:off x="2118283" y="1556793"/>
            <a:ext cx="3517110" cy="9233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Theory-driven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3" name="TextBox 12"/>
          <p:cNvSpPr txBox="1"/>
          <p:nvPr/>
        </p:nvSpPr>
        <p:spPr>
          <a:xfrm>
            <a:off x="2120255" y="2217054"/>
            <a:ext cx="3515139" cy="424731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1" u="none" strike="noStrike" kern="1200" cap="none" spc="0" normalizeH="0" baseline="0" noProof="0" dirty="0">
                <a:ln>
                  <a:noFill/>
                </a:ln>
                <a:solidFill>
                  <a:prstClr val="black"/>
                </a:solidFill>
                <a:effectLst/>
                <a:uLnTx/>
                <a:uFillTx/>
                <a:latin typeface="Calibri"/>
                <a:ea typeface="+mn-ea"/>
                <a:cs typeface="+mn-cs"/>
              </a:rPr>
              <a:t>Guiding principle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Data generating process is a stochastic model</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Analyst imposes </a:t>
            </a:r>
            <a:r>
              <a:rPr kumimoji="0" lang="en-GB" sz="1800" b="0" i="0" u="none" strike="noStrike" kern="1200" cap="none" spc="0" normalizeH="0" baseline="0" noProof="0" dirty="0">
                <a:ln>
                  <a:noFill/>
                </a:ln>
                <a:solidFill>
                  <a:prstClr val="black"/>
                </a:solidFill>
                <a:effectLst/>
                <a:uLnTx/>
                <a:uFillTx/>
                <a:latin typeface="Calibri"/>
                <a:ea typeface="+mn-ea"/>
                <a:cs typeface="+mn-cs"/>
              </a:rPr>
              <a:t>structure </a:t>
            </a:r>
            <a:r>
              <a:rPr kumimoji="0" lang="en-GB" sz="1800" b="1" i="0" u="none" strike="noStrike" kern="1200" cap="none" spc="0" normalizeH="0" baseline="0" noProof="0" dirty="0">
                <a:ln>
                  <a:noFill/>
                </a:ln>
                <a:solidFill>
                  <a:prstClr val="black"/>
                </a:solidFill>
                <a:effectLst/>
                <a:uLnTx/>
                <a:uFillTx/>
                <a:latin typeface="Calibri"/>
                <a:ea typeface="+mn-ea"/>
                <a:cs typeface="+mn-cs"/>
              </a:rPr>
              <a:t>based on theory</a:t>
            </a:r>
            <a:endParaRPr kumimoji="0" lang="en-GB" sz="1800" b="1"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Times New Roman" panose="02020603050405020304" pitchFamily="18" charset="0"/>
              </a:rPr>
              <a:t>Set of parameters, sign. levels</a:t>
            </a:r>
          </a:p>
        </p:txBody>
      </p:sp>
      <p:grpSp>
        <p:nvGrpSpPr>
          <p:cNvPr id="14" name="Group 13"/>
          <p:cNvGrpSpPr/>
          <p:nvPr/>
        </p:nvGrpSpPr>
        <p:grpSpPr>
          <a:xfrm>
            <a:off x="2160609" y="4446474"/>
            <a:ext cx="3515138" cy="1934855"/>
            <a:chOff x="755576" y="4833156"/>
            <a:chExt cx="3407127" cy="1934855"/>
          </a:xfrm>
        </p:grpSpPr>
        <p:pic>
          <p:nvPicPr>
            <p:cNvPr id="15" name="Picture 14"/>
            <p:cNvPicPr>
              <a:picLocks noChangeAspect="1"/>
            </p:cNvPicPr>
            <p:nvPr/>
          </p:nvPicPr>
          <p:blipFill rotWithShape="1">
            <a:blip r:embed="rId3">
              <a:extLst>
                <a:ext uri="{28A0092B-C50C-407E-A947-70E740481C1C}">
                  <a14:useLocalDpi xmlns:a14="http://schemas.microsoft.com/office/drawing/2010/main" val="0"/>
                </a:ext>
              </a:extLst>
            </a:blip>
            <a:srcRect l="24285" r="22762"/>
            <a:stretch/>
          </p:blipFill>
          <p:spPr>
            <a:xfrm>
              <a:off x="755576" y="4833156"/>
              <a:ext cx="3407127" cy="1934855"/>
            </a:xfrm>
            <a:prstGeom prst="rect">
              <a:avLst/>
            </a:prstGeom>
          </p:spPr>
        </p:pic>
        <p:sp>
          <p:nvSpPr>
            <p:cNvPr id="16" name="Rectangle 15"/>
            <p:cNvSpPr/>
            <p:nvPr/>
          </p:nvSpPr>
          <p:spPr>
            <a:xfrm>
              <a:off x="1778227" y="5625244"/>
              <a:ext cx="1081828" cy="43204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000" b="1" i="1" u="none" strike="noStrike" kern="1200" cap="none" spc="0" normalizeH="0" baseline="0" noProof="0" dirty="0">
                  <a:ln>
                    <a:noFill/>
                  </a:ln>
                  <a:solidFill>
                    <a:prstClr val="white"/>
                  </a:solidFill>
                  <a:effectLst/>
                  <a:uLnTx/>
                  <a:uFillTx/>
                  <a:latin typeface="Calibri"/>
                  <a:ea typeface="+mn-ea"/>
                  <a:cs typeface="+mn-cs"/>
                </a:rPr>
                <a:t>f</a:t>
              </a:r>
              <a:r>
                <a:rPr kumimoji="0" lang="en-GB" sz="2000" b="1" i="0" u="none" strike="noStrike" kern="1200" cap="none" spc="0" normalizeH="0" baseline="0" noProof="0" dirty="0">
                  <a:ln>
                    <a:noFill/>
                  </a:ln>
                  <a:solidFill>
                    <a:prstClr val="white"/>
                  </a:solidFill>
                  <a:effectLst/>
                  <a:uLnTx/>
                  <a:uFillTx/>
                  <a:latin typeface="Calibri"/>
                  <a:ea typeface="+mn-ea"/>
                  <a:cs typeface="+mn-cs"/>
                </a:rPr>
                <a:t> := </a:t>
              </a:r>
              <a:r>
                <a:rPr kumimoji="0" lang="en-GB" sz="2000" b="1" i="1" u="none" strike="noStrike" kern="1200" cap="none" spc="0" normalizeH="0" baseline="0" noProof="0" dirty="0">
                  <a:ln>
                    <a:noFill/>
                  </a:ln>
                  <a:solidFill>
                    <a:prstClr val="white"/>
                  </a:solidFill>
                  <a:effectLst/>
                  <a:uLnTx/>
                  <a:uFillTx/>
                  <a:latin typeface="Calibri"/>
                  <a:ea typeface="+mn-ea"/>
                  <a:cs typeface="+mn-cs"/>
                </a:rPr>
                <a:t>X</a:t>
              </a:r>
              <a:r>
                <a:rPr kumimoji="0" lang="en-GB" sz="1600" b="1" i="0" u="none" strike="noStrike" kern="1200" cap="none" spc="0" normalizeH="0" baseline="0" noProof="0" dirty="0">
                  <a:ln>
                    <a:noFill/>
                  </a:ln>
                  <a:solidFill>
                    <a:prstClr val="white"/>
                  </a:solidFill>
                  <a:effectLst/>
                  <a:uLnTx/>
                  <a:uFillTx/>
                  <a:latin typeface="Calibri"/>
                  <a:ea typeface="+mn-ea"/>
                  <a:cs typeface="+mn-cs"/>
                </a:rPr>
                <a:t>→</a:t>
              </a:r>
              <a:r>
                <a:rPr kumimoji="0" lang="en-GB" sz="2000" b="1" i="1" u="none" strike="noStrike" kern="1200" cap="none" spc="0" normalizeH="0" baseline="0" noProof="0" dirty="0">
                  <a:ln>
                    <a:noFill/>
                  </a:ln>
                  <a:solidFill>
                    <a:prstClr val="white"/>
                  </a:solidFill>
                  <a:effectLst/>
                  <a:uLnTx/>
                  <a:uFillTx/>
                  <a:latin typeface="Calibri"/>
                  <a:ea typeface="+mn-ea"/>
                  <a:cs typeface="+mn-cs"/>
                </a:rPr>
                <a:t>Y</a:t>
              </a:r>
              <a:endParaRPr kumimoji="0" lang="en-GB" sz="2000" b="1"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3" name="TextBox 2"/>
          <p:cNvSpPr txBox="1"/>
          <p:nvPr/>
        </p:nvSpPr>
        <p:spPr>
          <a:xfrm>
            <a:off x="6068156" y="1628800"/>
            <a:ext cx="6004508" cy="507831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70C0"/>
                </a:solidFill>
                <a:effectLst/>
                <a:uLnTx/>
                <a:uFillTx/>
                <a:latin typeface="Calibri"/>
                <a:ea typeface="+mn-ea"/>
                <a:cs typeface="+mn-cs"/>
              </a:rPr>
              <a:t>How does this work out in choice modelling?</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70C0"/>
                </a:solidFill>
                <a:effectLst/>
                <a:uLnTx/>
                <a:uFillTx/>
                <a:latin typeface="Calibri"/>
                <a:ea typeface="+mn-ea"/>
                <a:cs typeface="+mn-cs"/>
              </a:rPr>
              <a:t>Random Utility Theory: </a:t>
            </a:r>
            <a:r>
              <a:rPr kumimoji="0" lang="en-US" sz="1800" b="0"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Samuelson 1948Luce 1959  Lancaster 1966  McFadden, 1974</a:t>
            </a:r>
            <a:endParaRPr kumimoji="0" lang="en-US" sz="1800" b="0" i="0" u="none" strike="noStrike" kern="1200" cap="none" spc="0" normalizeH="0" baseline="0" noProof="0" dirty="0">
              <a:ln>
                <a:noFill/>
              </a:ln>
              <a:solidFill>
                <a:srgbClr val="0070C0"/>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Calibri" panose="020F0502020204030204" pitchFamily="34" charset="0"/>
              <a:buChar char="₋"/>
              <a:tabLst/>
              <a:defRPr/>
            </a:pPr>
            <a:r>
              <a:rPr kumimoji="0" lang="en-US" sz="1800" b="0" i="0" u="none" strike="noStrike" kern="1200" cap="none" spc="0" normalizeH="0" baseline="0" noProof="0" dirty="0">
                <a:ln>
                  <a:noFill/>
                </a:ln>
                <a:solidFill>
                  <a:srgbClr val="0070C0"/>
                </a:solidFill>
                <a:effectLst/>
                <a:uLnTx/>
                <a:uFillTx/>
                <a:latin typeface="Calibri"/>
                <a:ea typeface="+mn-ea"/>
                <a:cs typeface="+mn-cs"/>
              </a:rPr>
              <a:t>Alternative </a:t>
            </a:r>
            <a:r>
              <a:rPr kumimoji="0" lang="en-US" sz="1800" b="0" i="1" u="none" strike="noStrike" kern="1200" cap="none" spc="0" normalizeH="0" baseline="0" noProof="0" dirty="0" err="1">
                <a:ln>
                  <a:noFill/>
                </a:ln>
                <a:solidFill>
                  <a:srgbClr val="0070C0"/>
                </a:solidFill>
                <a:effectLst/>
                <a:uLnTx/>
                <a:uFillTx/>
                <a:latin typeface="Calibri"/>
                <a:ea typeface="+mn-ea"/>
                <a:cs typeface="+mn-cs"/>
              </a:rPr>
              <a:t>i</a:t>
            </a:r>
            <a:r>
              <a:rPr kumimoji="0" lang="en-US" sz="1800" b="0" i="0" u="none" strike="noStrike" kern="1200" cap="none" spc="0" normalizeH="0" baseline="0" noProof="0" dirty="0">
                <a:ln>
                  <a:noFill/>
                </a:ln>
                <a:solidFill>
                  <a:srgbClr val="0070C0"/>
                </a:solidFill>
                <a:effectLst/>
                <a:uLnTx/>
                <a:uFillTx/>
                <a:latin typeface="Calibri"/>
                <a:ea typeface="+mn-ea"/>
                <a:cs typeface="+mn-cs"/>
              </a:rPr>
              <a:t> is chosen if and only if </a:t>
            </a:r>
            <a:r>
              <a:rPr kumimoji="0" lang="en-US" sz="1800" b="0" i="1" u="none" strike="noStrike" kern="1200" cap="none" spc="0" normalizeH="0" baseline="0" noProof="0" dirty="0" err="1">
                <a:ln>
                  <a:noFill/>
                </a:ln>
                <a:solidFill>
                  <a:srgbClr val="0070C0"/>
                </a:solidFill>
                <a:effectLst/>
                <a:uLnTx/>
                <a:uFillTx/>
                <a:latin typeface="Calibri"/>
                <a:ea typeface="+mn-ea"/>
                <a:cs typeface="+mn-cs"/>
              </a:rPr>
              <a:t>U</a:t>
            </a:r>
            <a:r>
              <a:rPr kumimoji="0" lang="en-US" sz="1800" b="0" i="1" u="none" strike="noStrike" kern="1200" cap="none" spc="0" normalizeH="0" baseline="-25000" noProof="0" dirty="0" err="1">
                <a:ln>
                  <a:noFill/>
                </a:ln>
                <a:solidFill>
                  <a:srgbClr val="0070C0"/>
                </a:solidFill>
                <a:effectLst/>
                <a:uLnTx/>
                <a:uFillTx/>
                <a:latin typeface="Calibri"/>
                <a:ea typeface="+mn-ea"/>
                <a:cs typeface="+mn-cs"/>
              </a:rPr>
              <a:t>i</a:t>
            </a:r>
            <a:r>
              <a:rPr kumimoji="0" lang="en-US" sz="1800" b="0" i="0" u="none" strike="noStrike" kern="1200" cap="none" spc="0" normalizeH="0" baseline="0" noProof="0" dirty="0">
                <a:ln>
                  <a:noFill/>
                </a:ln>
                <a:solidFill>
                  <a:srgbClr val="0070C0"/>
                </a:solidFill>
                <a:effectLst/>
                <a:uLnTx/>
                <a:uFillTx/>
                <a:latin typeface="Calibri"/>
                <a:ea typeface="+mn-ea"/>
                <a:cs typeface="+mn-cs"/>
              </a:rPr>
              <a:t> &gt; </a:t>
            </a:r>
            <a:r>
              <a:rPr kumimoji="0" lang="en-US" sz="1800" b="0" i="1" u="none" strike="noStrike" kern="1200" cap="none" spc="0" normalizeH="0" baseline="0" noProof="0" dirty="0" err="1">
                <a:ln>
                  <a:noFill/>
                </a:ln>
                <a:solidFill>
                  <a:srgbClr val="0070C0"/>
                </a:solidFill>
                <a:effectLst/>
                <a:uLnTx/>
                <a:uFillTx/>
                <a:latin typeface="Calibri"/>
                <a:ea typeface="+mn-ea"/>
                <a:cs typeface="+mn-cs"/>
              </a:rPr>
              <a:t>U</a:t>
            </a:r>
            <a:r>
              <a:rPr kumimoji="0" lang="en-US" sz="1800" b="0" i="1" u="none" strike="noStrike" kern="1200" cap="none" spc="0" normalizeH="0" baseline="-25000" noProof="0" dirty="0" err="1">
                <a:ln>
                  <a:noFill/>
                </a:ln>
                <a:solidFill>
                  <a:srgbClr val="0070C0"/>
                </a:solidFill>
                <a:effectLst/>
                <a:uLnTx/>
                <a:uFillTx/>
                <a:latin typeface="Calibri"/>
                <a:ea typeface="+mn-ea"/>
                <a:cs typeface="+mn-cs"/>
              </a:rPr>
              <a:t>j</a:t>
            </a:r>
            <a:r>
              <a:rPr kumimoji="0" lang="en-US" sz="1800" b="0" i="0" u="none" strike="noStrike" kern="1200" cap="none" spc="0" normalizeH="0" baseline="0" noProof="0" dirty="0">
                <a:ln>
                  <a:noFill/>
                </a:ln>
                <a:solidFill>
                  <a:srgbClr val="0070C0"/>
                </a:solidFill>
                <a:effectLst/>
                <a:uLnTx/>
                <a:uFillTx/>
                <a:latin typeface="Calibri"/>
                <a:ea typeface="+mn-ea"/>
                <a:cs typeface="+mn-cs"/>
              </a:rPr>
              <a:t> ∀ </a:t>
            </a:r>
            <a:r>
              <a:rPr kumimoji="0" lang="en-US" sz="1800" b="0" i="1" u="none" strike="noStrike" kern="1200" cap="none" spc="0" normalizeH="0" baseline="0" noProof="0" dirty="0">
                <a:ln>
                  <a:noFill/>
                </a:ln>
                <a:solidFill>
                  <a:srgbClr val="0070C0"/>
                </a:solidFill>
                <a:effectLst/>
                <a:uLnTx/>
                <a:uFillTx/>
                <a:latin typeface="Calibri"/>
                <a:ea typeface="+mn-ea"/>
                <a:cs typeface="+mn-cs"/>
              </a:rPr>
              <a:t>j</a:t>
            </a:r>
            <a:r>
              <a:rPr kumimoji="0" lang="en-US" sz="1800" b="0" i="0" u="none" strike="noStrike" kern="1200" cap="none" spc="0" normalizeH="0" baseline="0" noProof="0" dirty="0">
                <a:ln>
                  <a:noFill/>
                </a:ln>
                <a:solidFill>
                  <a:srgbClr val="0070C0"/>
                </a:solidFill>
                <a:effectLst/>
                <a:uLnTx/>
                <a:uFillTx/>
                <a:latin typeface="Calibri"/>
                <a:ea typeface="+mn-ea"/>
                <a:cs typeface="+mn-cs"/>
              </a:rPr>
              <a:t> ≠ </a:t>
            </a:r>
            <a:r>
              <a:rPr kumimoji="0" lang="en-US" sz="1800" b="0" i="1" u="none" strike="noStrike" kern="1200" cap="none" spc="0" normalizeH="0" baseline="0" noProof="0" dirty="0" err="1">
                <a:ln>
                  <a:noFill/>
                </a:ln>
                <a:solidFill>
                  <a:srgbClr val="0070C0"/>
                </a:solidFill>
                <a:effectLst/>
                <a:uLnTx/>
                <a:uFillTx/>
                <a:latin typeface="Calibri"/>
                <a:ea typeface="+mn-ea"/>
                <a:cs typeface="+mn-cs"/>
              </a:rPr>
              <a:t>i</a:t>
            </a:r>
            <a:endParaRPr kumimoji="0" lang="en-US" sz="1800" b="0" i="1" u="none" strike="noStrike" kern="1200" cap="none" spc="0" normalizeH="0" baseline="0" noProof="0" dirty="0">
              <a:ln>
                <a:noFill/>
              </a:ln>
              <a:solidFill>
                <a:srgbClr val="0070C0"/>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Calibri" panose="020F0502020204030204" pitchFamily="34" charset="0"/>
              <a:buChar char="₋"/>
              <a:tabLst/>
              <a:defRPr/>
            </a:pPr>
            <a:endParaRPr kumimoji="0" lang="en-US" sz="1800" b="0" i="1" u="none" strike="noStrike" kern="1200" cap="none" spc="0" normalizeH="0" baseline="0" noProof="0" dirty="0">
              <a:ln>
                <a:noFill/>
              </a:ln>
              <a:solidFill>
                <a:srgbClr val="0070C0"/>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Calibri" panose="020F0502020204030204" pitchFamily="34" charset="0"/>
              <a:buChar char="₋"/>
              <a:tabLst/>
              <a:defRPr/>
            </a:pPr>
            <a:r>
              <a:rPr kumimoji="0" lang="en-US" sz="1800" b="0" i="1" u="none" strike="noStrike" kern="1200" cap="none" spc="0" normalizeH="0" baseline="0" noProof="0" dirty="0" err="1">
                <a:ln>
                  <a:noFill/>
                </a:ln>
                <a:solidFill>
                  <a:srgbClr val="0070C0"/>
                </a:solidFill>
                <a:effectLst/>
                <a:uLnTx/>
                <a:uFillTx/>
                <a:latin typeface="Calibri"/>
                <a:ea typeface="+mn-ea"/>
                <a:cs typeface="+mn-cs"/>
              </a:rPr>
              <a:t>U</a:t>
            </a:r>
            <a:r>
              <a:rPr kumimoji="0" lang="en-US" sz="1800" b="0" i="1" u="none" strike="noStrike" kern="1200" cap="none" spc="0" normalizeH="0" baseline="-25000" noProof="0" dirty="0" err="1">
                <a:ln>
                  <a:noFill/>
                </a:ln>
                <a:solidFill>
                  <a:srgbClr val="0070C0"/>
                </a:solidFill>
                <a:effectLst/>
                <a:uLnTx/>
                <a:uFillTx/>
                <a:latin typeface="Calibri"/>
                <a:ea typeface="+mn-ea"/>
                <a:cs typeface="+mn-cs"/>
              </a:rPr>
              <a:t>i</a:t>
            </a:r>
            <a:r>
              <a:rPr kumimoji="0" lang="en-US" sz="1800" b="0" i="1" u="none" strike="noStrike" kern="1200" cap="none" spc="0" normalizeH="0" baseline="0" noProof="0" dirty="0">
                <a:ln>
                  <a:noFill/>
                </a:ln>
                <a:solidFill>
                  <a:srgbClr val="0070C0"/>
                </a:solidFill>
                <a:effectLst/>
                <a:uLnTx/>
                <a:uFillTx/>
                <a:latin typeface="Calibri"/>
                <a:ea typeface="+mn-ea"/>
                <a:cs typeface="+mn-cs"/>
              </a:rPr>
              <a:t> = V</a:t>
            </a:r>
            <a:r>
              <a:rPr kumimoji="0" lang="en-US" sz="1800" b="0" i="1" u="none" strike="noStrike" kern="1200" cap="none" spc="0" normalizeH="0" baseline="-25000" noProof="0" dirty="0">
                <a:ln>
                  <a:noFill/>
                </a:ln>
                <a:solidFill>
                  <a:srgbClr val="0070C0"/>
                </a:solidFill>
                <a:effectLst/>
                <a:uLnTx/>
                <a:uFillTx/>
                <a:latin typeface="Calibri"/>
                <a:ea typeface="+mn-ea"/>
                <a:cs typeface="+mn-cs"/>
              </a:rPr>
              <a:t>i</a:t>
            </a:r>
            <a:r>
              <a:rPr kumimoji="0" lang="en-US" sz="1800" b="0" i="1" u="none" strike="noStrike" kern="1200" cap="none" spc="0" normalizeH="0" baseline="0" noProof="0" dirty="0">
                <a:ln>
                  <a:noFill/>
                </a:ln>
                <a:solidFill>
                  <a:srgbClr val="0070C0"/>
                </a:solidFill>
                <a:effectLst/>
                <a:uLnTx/>
                <a:uFillTx/>
                <a:latin typeface="Calibri"/>
                <a:ea typeface="+mn-ea"/>
                <a:cs typeface="+mn-cs"/>
              </a:rPr>
              <a:t> + </a:t>
            </a:r>
            <a:r>
              <a:rPr kumimoji="0" lang="el-GR" sz="1800" b="0" i="1" u="none" strike="noStrike" kern="1200" cap="none" spc="0" normalizeH="0" baseline="0" noProof="0" dirty="0">
                <a:ln>
                  <a:noFill/>
                </a:ln>
                <a:solidFill>
                  <a:srgbClr val="0070C0"/>
                </a:solidFill>
                <a:effectLst/>
                <a:uLnTx/>
                <a:uFillTx/>
                <a:latin typeface="Calibri"/>
                <a:ea typeface="+mn-ea"/>
                <a:cs typeface="+mn-cs"/>
              </a:rPr>
              <a:t>ε</a:t>
            </a:r>
            <a:r>
              <a:rPr kumimoji="0" lang="en-US" sz="1800" b="0" i="1" u="none" strike="noStrike" kern="1200" cap="none" spc="0" normalizeH="0" baseline="-25000" noProof="0" dirty="0" err="1">
                <a:ln>
                  <a:noFill/>
                </a:ln>
                <a:solidFill>
                  <a:srgbClr val="0070C0"/>
                </a:solidFill>
                <a:effectLst/>
                <a:uLnTx/>
                <a:uFillTx/>
                <a:latin typeface="Calibri"/>
                <a:ea typeface="+mn-ea"/>
                <a:cs typeface="+mn-cs"/>
              </a:rPr>
              <a:t>i</a:t>
            </a:r>
            <a:r>
              <a:rPr kumimoji="0" lang="en-US" sz="1800" b="0" i="1" u="none" strike="noStrike" kern="1200" cap="none" spc="0" normalizeH="0" baseline="0" noProof="0" dirty="0">
                <a:ln>
                  <a:noFill/>
                </a:ln>
                <a:solidFill>
                  <a:srgbClr val="0070C0"/>
                </a:solidFill>
                <a:effectLst/>
                <a:uLnTx/>
                <a:uFillTx/>
                <a:latin typeface="Calibri"/>
                <a:ea typeface="+mn-ea"/>
                <a:cs typeface="+mn-cs"/>
              </a:rPr>
              <a:t> </a:t>
            </a:r>
          </a:p>
          <a:p>
            <a:pPr marL="285750" marR="0" lvl="0" indent="-285750" algn="l" defTabSz="914400" rtl="0" eaLnBrk="1" fontAlgn="auto" latinLnBrk="0" hangingPunct="1">
              <a:lnSpc>
                <a:spcPct val="100000"/>
              </a:lnSpc>
              <a:spcBef>
                <a:spcPts val="0"/>
              </a:spcBef>
              <a:spcAft>
                <a:spcPts val="0"/>
              </a:spcAft>
              <a:buClrTx/>
              <a:buSzTx/>
              <a:buFont typeface="Calibri" panose="020F0502020204030204" pitchFamily="34" charset="0"/>
              <a:buChar char="₋"/>
              <a:tabLst/>
              <a:defRPr/>
            </a:pPr>
            <a:endParaRPr kumimoji="0" lang="en-US" sz="1800" b="0" i="1" u="none" strike="noStrike" kern="1200" cap="none" spc="0" normalizeH="0" baseline="0" noProof="0" dirty="0">
              <a:ln>
                <a:noFill/>
              </a:ln>
              <a:solidFill>
                <a:srgbClr val="0070C0"/>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Calibri" panose="020F0502020204030204" pitchFamily="34" charset="0"/>
              <a:buChar char="₋"/>
              <a:tabLst/>
              <a:defRPr/>
            </a:pPr>
            <a:r>
              <a:rPr kumimoji="0" lang="en-US" sz="1800" b="0" i="1" u="none" strike="noStrike" kern="1200" cap="none" spc="0" normalizeH="0" baseline="0" noProof="0" dirty="0">
                <a:ln>
                  <a:noFill/>
                </a:ln>
                <a:solidFill>
                  <a:srgbClr val="0070C0"/>
                </a:solidFill>
                <a:effectLst/>
                <a:uLnTx/>
                <a:uFillTx/>
                <a:latin typeface="Calibri"/>
                <a:ea typeface="+mn-ea"/>
                <a:cs typeface="+mn-cs"/>
              </a:rPr>
              <a:t>V</a:t>
            </a:r>
            <a:r>
              <a:rPr kumimoji="0" lang="en-US" sz="1800" b="0" i="1" u="none" strike="noStrike" kern="1200" cap="none" spc="0" normalizeH="0" baseline="-25000" noProof="0" dirty="0">
                <a:ln>
                  <a:noFill/>
                </a:ln>
                <a:solidFill>
                  <a:srgbClr val="0070C0"/>
                </a:solidFill>
                <a:effectLst/>
                <a:uLnTx/>
                <a:uFillTx/>
                <a:latin typeface="Calibri"/>
                <a:ea typeface="+mn-ea"/>
                <a:cs typeface="+mn-cs"/>
              </a:rPr>
              <a:t>i</a:t>
            </a:r>
            <a:r>
              <a:rPr kumimoji="0" lang="en-US" sz="1800" b="0" i="1" u="none" strike="noStrike" kern="1200" cap="none" spc="0" normalizeH="0" baseline="0" noProof="0" dirty="0">
                <a:ln>
                  <a:noFill/>
                </a:ln>
                <a:solidFill>
                  <a:srgbClr val="0070C0"/>
                </a:solidFill>
                <a:effectLst/>
                <a:uLnTx/>
                <a:uFillTx/>
                <a:latin typeface="Calibri"/>
                <a:ea typeface="+mn-ea"/>
                <a:cs typeface="+mn-cs"/>
              </a:rPr>
              <a:t> = f(</a:t>
            </a:r>
            <a:r>
              <a:rPr kumimoji="0" lang="en-US" sz="1800" b="0" i="1" u="none" strike="noStrike" kern="1200" cap="none" spc="0" normalizeH="0" baseline="0" noProof="0" dirty="0" err="1">
                <a:ln>
                  <a:noFill/>
                </a:ln>
                <a:solidFill>
                  <a:srgbClr val="0070C0"/>
                </a:solidFill>
                <a:effectLst/>
                <a:uLnTx/>
                <a:uFillTx/>
                <a:latin typeface="Calibri"/>
                <a:ea typeface="+mn-ea"/>
                <a:cs typeface="+mn-cs"/>
              </a:rPr>
              <a:t>x</a:t>
            </a:r>
            <a:r>
              <a:rPr kumimoji="0" lang="en-US" sz="1800" b="0" i="1" u="none" strike="noStrike" kern="1200" cap="none" spc="0" normalizeH="0" baseline="-25000" noProof="0" dirty="0" err="1">
                <a:ln>
                  <a:noFill/>
                </a:ln>
                <a:solidFill>
                  <a:srgbClr val="0070C0"/>
                </a:solidFill>
                <a:effectLst/>
                <a:uLnTx/>
                <a:uFillTx/>
                <a:latin typeface="Calibri"/>
                <a:ea typeface="+mn-ea"/>
                <a:cs typeface="+mn-cs"/>
              </a:rPr>
              <a:t>im</a:t>
            </a:r>
            <a:r>
              <a:rPr kumimoji="0" lang="en-US" sz="1800" b="0" i="1" u="none" strike="noStrike" kern="1200" cap="none" spc="0" normalizeH="0" baseline="0" noProof="0" dirty="0">
                <a:ln>
                  <a:noFill/>
                </a:ln>
                <a:solidFill>
                  <a:srgbClr val="0070C0"/>
                </a:solidFill>
                <a:effectLst/>
                <a:uLnTx/>
                <a:uFillTx/>
                <a:latin typeface="Calibri"/>
                <a:ea typeface="+mn-ea"/>
                <a:cs typeface="+mn-cs"/>
              </a:rPr>
              <a:t>,</a:t>
            </a:r>
            <a:r>
              <a:rPr kumimoji="0" lang="el-GR" sz="1800" b="0" i="0" u="none" strike="noStrike" kern="1200" cap="none" spc="0" normalizeH="0" baseline="0" noProof="0" dirty="0">
                <a:ln>
                  <a:noFill/>
                </a:ln>
                <a:solidFill>
                  <a:srgbClr val="0070C0"/>
                </a:solidFill>
                <a:effectLst/>
                <a:uLnTx/>
                <a:uFillTx/>
                <a:latin typeface="Calibri"/>
                <a:ea typeface="+mn-ea"/>
                <a:cs typeface="+mn-cs"/>
              </a:rPr>
              <a:t>β</a:t>
            </a:r>
            <a:r>
              <a:rPr kumimoji="0" lang="en-US" sz="1800" b="0" i="1" u="none" strike="noStrike" kern="1200" cap="none" spc="0" normalizeH="0" baseline="0" noProof="0" dirty="0">
                <a:ln>
                  <a:noFill/>
                </a:ln>
                <a:solidFill>
                  <a:srgbClr val="0070C0"/>
                </a:solidFill>
                <a:effectLst/>
                <a:uLnTx/>
                <a:uFillTx/>
                <a:latin typeface="Calibri"/>
                <a:ea typeface="+mn-ea"/>
                <a:cs typeface="+mn-cs"/>
              </a:rPr>
              <a:t>), </a:t>
            </a:r>
            <a:r>
              <a:rPr kumimoji="0" lang="el-GR" sz="1800" b="0" i="1" u="none" strike="noStrike" kern="1200" cap="none" spc="0" normalizeH="0" baseline="0" noProof="0" dirty="0">
                <a:ln>
                  <a:noFill/>
                </a:ln>
                <a:solidFill>
                  <a:srgbClr val="0070C0"/>
                </a:solidFill>
                <a:effectLst/>
                <a:uLnTx/>
                <a:uFillTx/>
                <a:latin typeface="Calibri"/>
                <a:ea typeface="+mn-ea"/>
                <a:cs typeface="+mn-cs"/>
              </a:rPr>
              <a:t>ε</a:t>
            </a:r>
            <a:r>
              <a:rPr kumimoji="0" lang="en-US" sz="1800" b="0" i="1" u="none" strike="noStrike" kern="1200" cap="none" spc="0" normalizeH="0" baseline="-25000" noProof="0" dirty="0" err="1">
                <a:ln>
                  <a:noFill/>
                </a:ln>
                <a:solidFill>
                  <a:srgbClr val="0070C0"/>
                </a:solidFill>
                <a:effectLst/>
                <a:uLnTx/>
                <a:uFillTx/>
                <a:latin typeface="Calibri"/>
                <a:ea typeface="+mn-ea"/>
                <a:cs typeface="+mn-cs"/>
              </a:rPr>
              <a:t>i</a:t>
            </a:r>
            <a:r>
              <a:rPr kumimoji="0" lang="en-US" sz="1800" b="0" i="1" u="none" strike="noStrike" kern="1200" cap="none" spc="0" normalizeH="0" baseline="0" noProof="0" dirty="0">
                <a:ln>
                  <a:noFill/>
                </a:ln>
                <a:solidFill>
                  <a:srgbClr val="0070C0"/>
                </a:solidFill>
                <a:effectLst/>
                <a:uLnTx/>
                <a:uFillTx/>
                <a:latin typeface="Calibri"/>
                <a:ea typeface="+mn-ea"/>
                <a:cs typeface="+mn-cs"/>
              </a:rPr>
              <a:t> ~ G(◦)</a:t>
            </a:r>
          </a:p>
          <a:p>
            <a:pPr marL="285750" marR="0" lvl="0" indent="-285750" algn="l" defTabSz="914400" rtl="0" eaLnBrk="1" fontAlgn="auto" latinLnBrk="0" hangingPunct="1">
              <a:lnSpc>
                <a:spcPct val="100000"/>
              </a:lnSpc>
              <a:spcBef>
                <a:spcPts val="0"/>
              </a:spcBef>
              <a:spcAft>
                <a:spcPts val="0"/>
              </a:spcAft>
              <a:buClrTx/>
              <a:buSzTx/>
              <a:buFont typeface="Calibri" panose="020F0502020204030204" pitchFamily="34" charset="0"/>
              <a:buChar char="₋"/>
              <a:tabLst/>
              <a:defRPr/>
            </a:pPr>
            <a:endParaRPr kumimoji="0" lang="en-US" sz="1800" b="0" i="1" u="none" strike="noStrike" kern="1200" cap="none" spc="0" normalizeH="0" baseline="0" noProof="0" dirty="0">
              <a:ln>
                <a:noFill/>
              </a:ln>
              <a:solidFill>
                <a:srgbClr val="0070C0"/>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Calibri" panose="020F0502020204030204" pitchFamily="34" charset="0"/>
              <a:buChar char="₋"/>
              <a:tabLst/>
              <a:defRPr/>
            </a:pPr>
            <a:r>
              <a:rPr kumimoji="0" lang="en-US" sz="1800" b="0" i="0" u="none" strike="noStrike" kern="1200" cap="none" spc="0" normalizeH="0" baseline="0" noProof="0" dirty="0">
                <a:ln>
                  <a:noFill/>
                </a:ln>
                <a:solidFill>
                  <a:srgbClr val="0070C0"/>
                </a:solidFill>
                <a:effectLst/>
                <a:uLnTx/>
                <a:uFillTx/>
                <a:latin typeface="Calibri"/>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dirty="0">
              <a:ln>
                <a:noFill/>
              </a:ln>
              <a:solidFill>
                <a:srgbClr val="0070C0"/>
              </a:solidFill>
              <a:effectLst/>
              <a:uLnTx/>
              <a:uFillTx/>
              <a:latin typeface="Calibri"/>
              <a:ea typeface="+mn-ea"/>
              <a:cs typeface="+mn-cs"/>
            </a:endParaRPr>
          </a:p>
        </p:txBody>
      </p:sp>
      <p:grpSp>
        <p:nvGrpSpPr>
          <p:cNvPr id="68" name="Group 67"/>
          <p:cNvGrpSpPr/>
          <p:nvPr/>
        </p:nvGrpSpPr>
        <p:grpSpPr>
          <a:xfrm>
            <a:off x="6240016" y="2145975"/>
            <a:ext cx="4048700" cy="1572162"/>
            <a:chOff x="6311159" y="4809167"/>
            <a:chExt cx="4048700" cy="1572162"/>
          </a:xfrm>
        </p:grpSpPr>
        <p:cxnSp>
          <p:nvCxnSpPr>
            <p:cNvPr id="36" name="Straight Arrow Connector 35"/>
            <p:cNvCxnSpPr/>
            <p:nvPr/>
          </p:nvCxnSpPr>
          <p:spPr>
            <a:xfrm>
              <a:off x="7122910" y="5502661"/>
              <a:ext cx="456993" cy="0"/>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6311159" y="5177212"/>
              <a:ext cx="953765"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70C0"/>
                  </a:solidFill>
                  <a:effectLst/>
                  <a:uLnTx/>
                  <a:uFillTx/>
                  <a:latin typeface="Gadugi" panose="020B0502040204020203" pitchFamily="34" charset="0"/>
                  <a:ea typeface="Gadugi" panose="020B0502040204020203" pitchFamily="34" charset="0"/>
                  <a:cs typeface="+mn-cs"/>
                </a:rPr>
                <a:t>Choice task</a:t>
              </a:r>
            </a:p>
          </p:txBody>
        </p:sp>
        <p:sp>
          <p:nvSpPr>
            <p:cNvPr id="38" name="TextBox 37"/>
            <p:cNvSpPr txBox="1"/>
            <p:nvPr/>
          </p:nvSpPr>
          <p:spPr>
            <a:xfrm>
              <a:off x="9432399" y="5333384"/>
              <a:ext cx="927460"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70C0"/>
                  </a:solidFill>
                  <a:effectLst/>
                  <a:uLnTx/>
                  <a:uFillTx/>
                  <a:latin typeface="Gadugi" panose="020B0502040204020203" pitchFamily="34" charset="0"/>
                  <a:ea typeface="Gadugi" panose="020B0502040204020203" pitchFamily="34" charset="0"/>
                  <a:cs typeface="+mn-cs"/>
                </a:rPr>
                <a:t>Choice</a:t>
              </a:r>
            </a:p>
          </p:txBody>
        </p:sp>
        <p:pic>
          <p:nvPicPr>
            <p:cNvPr id="45" name="Picture 6" descr="Afbeeldingsresultaat voor psychological factors ico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669130" y="4809167"/>
              <a:ext cx="1127856" cy="1572162"/>
            </a:xfrm>
            <a:prstGeom prst="rect">
              <a:avLst/>
            </a:prstGeom>
            <a:noFill/>
            <a:extLst>
              <a:ext uri="{909E8E84-426E-40DD-AFC4-6F175D3DCCD1}">
                <a14:hiddenFill xmlns:a14="http://schemas.microsoft.com/office/drawing/2010/main">
                  <a:solidFill>
                    <a:srgbClr val="FFFFFF"/>
                  </a:solidFill>
                </a14:hiddenFill>
              </a:ext>
            </a:extLst>
          </p:spPr>
        </p:pic>
        <p:cxnSp>
          <p:nvCxnSpPr>
            <p:cNvPr id="67" name="Straight Arrow Connector 66"/>
            <p:cNvCxnSpPr/>
            <p:nvPr/>
          </p:nvCxnSpPr>
          <p:spPr>
            <a:xfrm>
              <a:off x="8796986" y="5502661"/>
              <a:ext cx="456993" cy="0"/>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72" name="Object 71"/>
          <p:cNvGraphicFramePr>
            <a:graphicFrameLocks noChangeAspect="1"/>
          </p:cNvGraphicFramePr>
          <p:nvPr/>
        </p:nvGraphicFramePr>
        <p:xfrm>
          <a:off x="6375885" y="6079854"/>
          <a:ext cx="1351764" cy="552994"/>
        </p:xfrm>
        <a:graphic>
          <a:graphicData uri="http://schemas.openxmlformats.org/presentationml/2006/ole">
            <mc:AlternateContent xmlns:mc="http://schemas.openxmlformats.org/markup-compatibility/2006">
              <mc:Choice xmlns:v="urn:schemas-microsoft-com:vml" Requires="v">
                <p:oleObj name="Equation" r:id="rId5" imgW="838080" imgH="342720" progId="Equation.DSMT4">
                  <p:embed/>
                </p:oleObj>
              </mc:Choice>
              <mc:Fallback>
                <p:oleObj name="Equation" r:id="rId5" imgW="838080" imgH="342720" progId="Equation.DSMT4">
                  <p:embed/>
                  <p:pic>
                    <p:nvPicPr>
                      <p:cNvPr id="72" name="Object 71"/>
                      <p:cNvPicPr/>
                      <p:nvPr/>
                    </p:nvPicPr>
                    <p:blipFill>
                      <a:blip r:embed="rId6"/>
                      <a:stretch>
                        <a:fillRect/>
                      </a:stretch>
                    </p:blipFill>
                    <p:spPr>
                      <a:xfrm>
                        <a:off x="6375885" y="6079854"/>
                        <a:ext cx="1351764" cy="552994"/>
                      </a:xfrm>
                      <a:prstGeom prst="rect">
                        <a:avLst/>
                      </a:prstGeom>
                    </p:spPr>
                  </p:pic>
                </p:oleObj>
              </mc:Fallback>
            </mc:AlternateContent>
          </a:graphicData>
        </a:graphic>
      </p:graphicFrame>
      <p:sp>
        <p:nvSpPr>
          <p:cNvPr id="74" name="Rectangle 73"/>
          <p:cNvSpPr/>
          <p:nvPr/>
        </p:nvSpPr>
        <p:spPr>
          <a:xfrm>
            <a:off x="6240016" y="2217054"/>
            <a:ext cx="4176464" cy="1355962"/>
          </a:xfrm>
          <a:prstGeom prst="rect">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Slide Number Placeholder 3"/>
          <p:cNvSpPr>
            <a:spLocks noGrp="1"/>
          </p:cNvSpPr>
          <p:nvPr>
            <p:ph type="sldNum" sz="quarter" idx="12"/>
          </p:nvPr>
        </p:nvSpPr>
        <p:spPr>
          <a:xfrm>
            <a:off x="8737600" y="6356351"/>
            <a:ext cx="28448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4" name="Line 2">
            <a:extLst>
              <a:ext uri="{FF2B5EF4-FFF2-40B4-BE49-F238E27FC236}">
                <a16:creationId xmlns:a16="http://schemas.microsoft.com/office/drawing/2014/main" id="{E8568918-47DE-C9C7-A169-DFAE6D00C3D5}"/>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5" name="Line 2">
            <a:extLst>
              <a:ext uri="{FF2B5EF4-FFF2-40B4-BE49-F238E27FC236}">
                <a16:creationId xmlns:a16="http://schemas.microsoft.com/office/drawing/2014/main" id="{471546C4-9E32-1039-598D-6250504ADCAC}"/>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95312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animEffect transition="in" filter="fade">
                                      <p:cBhvr>
                                        <p:cTn id="7" dur="500"/>
                                        <p:tgtEl>
                                          <p:spTgt spid="13">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xEl>
                                              <p:pRg st="12" end="12"/>
                                            </p:txEl>
                                          </p:spTgt>
                                        </p:tgtEl>
                                        <p:attrNameLst>
                                          <p:attrName>style.visibility</p:attrName>
                                        </p:attrNameLst>
                                      </p:cBhvr>
                                      <p:to>
                                        <p:strVal val="visible"/>
                                      </p:to>
                                    </p:set>
                                    <p:animEffect transition="in" filter="fade">
                                      <p:cBhvr>
                                        <p:cTn id="13" dur="500"/>
                                        <p:tgtEl>
                                          <p:spTgt spid="13">
                                            <p:txEl>
                                              <p:pRg st="12" end="1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500"/>
                                        <p:tgtEl>
                                          <p:spTgt spid="3"/>
                                        </p:tgtEl>
                                      </p:cBhvr>
                                    </p:animEffect>
                                  </p:childTnLst>
                                </p:cTn>
                              </p:par>
                              <p:par>
                                <p:cTn id="19" presetID="10" presetClass="entr" presetSubtype="0" fill="hold" nodeType="withEffect">
                                  <p:stCondLst>
                                    <p:cond delay="0"/>
                                  </p:stCondLst>
                                  <p:childTnLst>
                                    <p:set>
                                      <p:cBhvr>
                                        <p:cTn id="20" dur="1" fill="hold">
                                          <p:stCondLst>
                                            <p:cond delay="0"/>
                                          </p:stCondLst>
                                        </p:cTn>
                                        <p:tgtEl>
                                          <p:spTgt spid="68"/>
                                        </p:tgtEl>
                                        <p:attrNameLst>
                                          <p:attrName>style.visibility</p:attrName>
                                        </p:attrNameLst>
                                      </p:cBhvr>
                                      <p:to>
                                        <p:strVal val="visible"/>
                                      </p:to>
                                    </p:set>
                                    <p:animEffect transition="in" filter="fade">
                                      <p:cBhvr>
                                        <p:cTn id="21" dur="500"/>
                                        <p:tgtEl>
                                          <p:spTgt spid="68"/>
                                        </p:tgtEl>
                                      </p:cBhvr>
                                    </p:animEffect>
                                  </p:childTnLst>
                                </p:cTn>
                              </p:par>
                              <p:par>
                                <p:cTn id="22" presetID="10" presetClass="entr" presetSubtype="0" fill="hold" nodeType="withEffect">
                                  <p:stCondLst>
                                    <p:cond delay="0"/>
                                  </p:stCondLst>
                                  <p:childTnLst>
                                    <p:set>
                                      <p:cBhvr>
                                        <p:cTn id="23" dur="1" fill="hold">
                                          <p:stCondLst>
                                            <p:cond delay="0"/>
                                          </p:stCondLst>
                                        </p:cTn>
                                        <p:tgtEl>
                                          <p:spTgt spid="72"/>
                                        </p:tgtEl>
                                        <p:attrNameLst>
                                          <p:attrName>style.visibility</p:attrName>
                                        </p:attrNameLst>
                                      </p:cBhvr>
                                      <p:to>
                                        <p:strVal val="visible"/>
                                      </p:to>
                                    </p:set>
                                    <p:animEffect transition="in" filter="fade">
                                      <p:cBhvr>
                                        <p:cTn id="24" dur="500"/>
                                        <p:tgtEl>
                                          <p:spTgt spid="7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6027803" y="3902007"/>
            <a:ext cx="6015404" cy="2196502"/>
          </a:xfrm>
          <a:prstGeom prst="roundRect">
            <a:avLst/>
          </a:prstGeom>
          <a:solidFill>
            <a:schemeClr val="accent5">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0000"/>
              </a:solidFill>
              <a:effectLst/>
              <a:uLnTx/>
              <a:uFillTx/>
              <a:latin typeface="Calibri"/>
              <a:ea typeface="+mn-ea"/>
              <a:cs typeface="+mn-cs"/>
            </a:endParaRPr>
          </a:p>
        </p:txBody>
      </p:sp>
      <p:sp>
        <p:nvSpPr>
          <p:cNvPr id="2" name="Title 1"/>
          <p:cNvSpPr>
            <a:spLocks noGrp="1"/>
          </p:cNvSpPr>
          <p:nvPr>
            <p:ph type="title"/>
          </p:nvPr>
        </p:nvSpPr>
        <p:spPr/>
        <p:txBody>
          <a:bodyPr anchor="t"/>
          <a:lstStyle/>
          <a:p>
            <a:r>
              <a:rPr lang="en-US" sz="4000" dirty="0"/>
              <a:t>Theory-driven vs data-driven</a:t>
            </a:r>
          </a:p>
        </p:txBody>
      </p:sp>
      <p:sp>
        <p:nvSpPr>
          <p:cNvPr id="7" name="Rounded Rectangle 6"/>
          <p:cNvSpPr/>
          <p:nvPr/>
        </p:nvSpPr>
        <p:spPr>
          <a:xfrm>
            <a:off x="2118284" y="1556792"/>
            <a:ext cx="3545667" cy="5184576"/>
          </a:xfrm>
          <a:prstGeom prst="roundRect">
            <a:avLst/>
          </a:prstGeom>
          <a:solidFill>
            <a:schemeClr val="bg1">
              <a:lumMod val="8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TextBox 11"/>
          <p:cNvSpPr txBox="1"/>
          <p:nvPr/>
        </p:nvSpPr>
        <p:spPr>
          <a:xfrm>
            <a:off x="2118283" y="1556793"/>
            <a:ext cx="3517110" cy="9233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Theory-driven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3" name="TextBox 12"/>
          <p:cNvSpPr txBox="1"/>
          <p:nvPr/>
        </p:nvSpPr>
        <p:spPr>
          <a:xfrm>
            <a:off x="2120255" y="2217054"/>
            <a:ext cx="3515139" cy="424731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1" u="none" strike="noStrike" kern="1200" cap="none" spc="0" normalizeH="0" baseline="0" noProof="0" dirty="0">
                <a:ln>
                  <a:noFill/>
                </a:ln>
                <a:solidFill>
                  <a:prstClr val="black"/>
                </a:solidFill>
                <a:effectLst/>
                <a:uLnTx/>
                <a:uFillTx/>
                <a:latin typeface="Calibri"/>
                <a:ea typeface="+mn-ea"/>
                <a:cs typeface="+mn-cs"/>
              </a:rPr>
              <a:t>Guiding principle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Data generating process is a stochastic model</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Analyst imposes </a:t>
            </a:r>
            <a:r>
              <a:rPr kumimoji="0" lang="en-GB" sz="1800" b="0" i="0" u="none" strike="noStrike" kern="1200" cap="none" spc="0" normalizeH="0" baseline="0" noProof="0" dirty="0">
                <a:ln>
                  <a:noFill/>
                </a:ln>
                <a:solidFill>
                  <a:prstClr val="black"/>
                </a:solidFill>
                <a:effectLst/>
                <a:uLnTx/>
                <a:uFillTx/>
                <a:latin typeface="Calibri"/>
                <a:ea typeface="+mn-ea"/>
                <a:cs typeface="+mn-cs"/>
              </a:rPr>
              <a:t>structure based on theory</a:t>
            </a: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Times New Roman" panose="02020603050405020304" pitchFamily="18" charset="0"/>
              </a:rPr>
              <a:t>Set of parameters, sign. levels</a:t>
            </a:r>
          </a:p>
        </p:txBody>
      </p:sp>
      <p:grpSp>
        <p:nvGrpSpPr>
          <p:cNvPr id="14" name="Group 13"/>
          <p:cNvGrpSpPr/>
          <p:nvPr/>
        </p:nvGrpSpPr>
        <p:grpSpPr>
          <a:xfrm>
            <a:off x="2160609" y="4446474"/>
            <a:ext cx="3515138" cy="1934855"/>
            <a:chOff x="755576" y="4833156"/>
            <a:chExt cx="3407127" cy="1934855"/>
          </a:xfrm>
        </p:grpSpPr>
        <p:pic>
          <p:nvPicPr>
            <p:cNvPr id="15" name="Picture 14"/>
            <p:cNvPicPr>
              <a:picLocks noChangeAspect="1"/>
            </p:cNvPicPr>
            <p:nvPr/>
          </p:nvPicPr>
          <p:blipFill rotWithShape="1">
            <a:blip r:embed="rId3">
              <a:extLst>
                <a:ext uri="{28A0092B-C50C-407E-A947-70E740481C1C}">
                  <a14:useLocalDpi xmlns:a14="http://schemas.microsoft.com/office/drawing/2010/main" val="0"/>
                </a:ext>
              </a:extLst>
            </a:blip>
            <a:srcRect l="24285" r="22762"/>
            <a:stretch/>
          </p:blipFill>
          <p:spPr>
            <a:xfrm>
              <a:off x="755576" y="4833156"/>
              <a:ext cx="3407127" cy="1934855"/>
            </a:xfrm>
            <a:prstGeom prst="rect">
              <a:avLst/>
            </a:prstGeom>
          </p:spPr>
        </p:pic>
        <p:sp>
          <p:nvSpPr>
            <p:cNvPr id="16" name="Rectangle 15"/>
            <p:cNvSpPr/>
            <p:nvPr/>
          </p:nvSpPr>
          <p:spPr>
            <a:xfrm>
              <a:off x="1778227" y="5625244"/>
              <a:ext cx="1081828" cy="43204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000" b="1" i="1" u="none" strike="noStrike" kern="1200" cap="none" spc="0" normalizeH="0" baseline="0" noProof="0" dirty="0">
                  <a:ln>
                    <a:noFill/>
                  </a:ln>
                  <a:solidFill>
                    <a:prstClr val="white"/>
                  </a:solidFill>
                  <a:effectLst/>
                  <a:uLnTx/>
                  <a:uFillTx/>
                  <a:latin typeface="Calibri"/>
                  <a:ea typeface="+mn-ea"/>
                  <a:cs typeface="+mn-cs"/>
                </a:rPr>
                <a:t>f</a:t>
              </a:r>
              <a:r>
                <a:rPr kumimoji="0" lang="en-GB" sz="2000" b="1" i="0" u="none" strike="noStrike" kern="1200" cap="none" spc="0" normalizeH="0" baseline="0" noProof="0" dirty="0">
                  <a:ln>
                    <a:noFill/>
                  </a:ln>
                  <a:solidFill>
                    <a:prstClr val="white"/>
                  </a:solidFill>
                  <a:effectLst/>
                  <a:uLnTx/>
                  <a:uFillTx/>
                  <a:latin typeface="Calibri"/>
                  <a:ea typeface="+mn-ea"/>
                  <a:cs typeface="+mn-cs"/>
                </a:rPr>
                <a:t> := </a:t>
              </a:r>
              <a:r>
                <a:rPr kumimoji="0" lang="en-GB" sz="2000" b="1" i="1" u="none" strike="noStrike" kern="1200" cap="none" spc="0" normalizeH="0" baseline="0" noProof="0" dirty="0">
                  <a:ln>
                    <a:noFill/>
                  </a:ln>
                  <a:solidFill>
                    <a:prstClr val="white"/>
                  </a:solidFill>
                  <a:effectLst/>
                  <a:uLnTx/>
                  <a:uFillTx/>
                  <a:latin typeface="Calibri"/>
                  <a:ea typeface="+mn-ea"/>
                  <a:cs typeface="+mn-cs"/>
                </a:rPr>
                <a:t>X</a:t>
              </a:r>
              <a:r>
                <a:rPr kumimoji="0" lang="en-GB" sz="1600" b="1" i="0" u="none" strike="noStrike" kern="1200" cap="none" spc="0" normalizeH="0" baseline="0" noProof="0" dirty="0">
                  <a:ln>
                    <a:noFill/>
                  </a:ln>
                  <a:solidFill>
                    <a:prstClr val="white"/>
                  </a:solidFill>
                  <a:effectLst/>
                  <a:uLnTx/>
                  <a:uFillTx/>
                  <a:latin typeface="Calibri"/>
                  <a:ea typeface="+mn-ea"/>
                  <a:cs typeface="+mn-cs"/>
                </a:rPr>
                <a:t>→</a:t>
              </a:r>
              <a:r>
                <a:rPr kumimoji="0" lang="en-GB" sz="2000" b="1" i="1" u="none" strike="noStrike" kern="1200" cap="none" spc="0" normalizeH="0" baseline="0" noProof="0" dirty="0">
                  <a:ln>
                    <a:noFill/>
                  </a:ln>
                  <a:solidFill>
                    <a:prstClr val="white"/>
                  </a:solidFill>
                  <a:effectLst/>
                  <a:uLnTx/>
                  <a:uFillTx/>
                  <a:latin typeface="Calibri"/>
                  <a:ea typeface="+mn-ea"/>
                  <a:cs typeface="+mn-cs"/>
                </a:rPr>
                <a:t>Y</a:t>
              </a:r>
              <a:endParaRPr kumimoji="0" lang="en-GB" sz="2000" b="1"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3" name="TextBox 2"/>
          <p:cNvSpPr txBox="1"/>
          <p:nvPr/>
        </p:nvSpPr>
        <p:spPr>
          <a:xfrm>
            <a:off x="6068156" y="1628800"/>
            <a:ext cx="6004508"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70C0"/>
                </a:solidFill>
                <a:effectLst/>
                <a:uLnTx/>
                <a:uFillTx/>
                <a:latin typeface="Calibri"/>
                <a:ea typeface="+mn-ea"/>
                <a:cs typeface="+mn-cs"/>
              </a:rPr>
              <a:t>How does this work out in choice modelling?</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70C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srgbClr val="0070C0"/>
                </a:solidFill>
                <a:effectLst/>
                <a:uLnTx/>
                <a:uFillTx/>
                <a:latin typeface="Calibri"/>
                <a:ea typeface="+mn-ea"/>
                <a:cs typeface="+mn-cs"/>
              </a:rPr>
              <a:t>Behavioural</a:t>
            </a:r>
            <a:r>
              <a:rPr kumimoji="0" lang="en-US" sz="1800" b="1" i="0" u="none" strike="noStrike" kern="1200" cap="none" spc="0" normalizeH="0" baseline="0" noProof="0" dirty="0">
                <a:ln>
                  <a:noFill/>
                </a:ln>
                <a:solidFill>
                  <a:srgbClr val="0070C0"/>
                </a:solidFill>
                <a:effectLst/>
                <a:uLnTx/>
                <a:uFillTx/>
                <a:latin typeface="Calibri"/>
                <a:ea typeface="+mn-ea"/>
                <a:cs typeface="+mn-cs"/>
              </a:rPr>
              <a:t> </a:t>
            </a:r>
            <a:r>
              <a:rPr kumimoji="0" lang="en-US" sz="1800" b="1" i="0" u="sng" strike="noStrike" kern="1200" cap="none" spc="0" normalizeH="0" baseline="0" noProof="0" dirty="0">
                <a:ln>
                  <a:noFill/>
                </a:ln>
                <a:solidFill>
                  <a:srgbClr val="0070C0"/>
                </a:solidFill>
                <a:effectLst/>
                <a:uLnTx/>
                <a:uFillTx/>
                <a:latin typeface="Calibri"/>
                <a:ea typeface="+mn-ea"/>
                <a:cs typeface="+mn-cs"/>
              </a:rPr>
              <a:t>THEORY</a:t>
            </a:r>
            <a:r>
              <a:rPr kumimoji="0" lang="en-US" sz="1800" b="1" i="0" u="none" strike="noStrike" kern="1200" cap="none" spc="0" normalizeH="0" baseline="0" noProof="0" dirty="0">
                <a:ln>
                  <a:noFill/>
                </a:ln>
                <a:solidFill>
                  <a:srgbClr val="0070C0"/>
                </a:solidFill>
                <a:effectLst/>
                <a:uLnTx/>
                <a:uFillTx/>
                <a:latin typeface="Calibri"/>
                <a:ea typeface="+mn-ea"/>
                <a:cs typeface="+mn-cs"/>
              </a:rPr>
              <a:t> provides:</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Meaning to model parameters: e.g. </a:t>
            </a:r>
            <a:r>
              <a:rPr kumimoji="0" lang="el-GR"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β</a:t>
            </a:r>
            <a:r>
              <a:rPr kumimoji="0" lang="en-US"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 = marginal utility </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Guidance in model specification</a:t>
            </a:r>
            <a:endParaRPr kumimoji="0" lang="en-US" sz="1800" b="1" i="0" u="none" strike="noStrike" kern="1200" cap="none" spc="0" normalizeH="0" baseline="0" noProof="0" dirty="0">
              <a:ln>
                <a:noFill/>
              </a:ln>
              <a:solidFill>
                <a:srgbClr val="0070C0"/>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Economic outputs: </a:t>
            </a:r>
            <a:r>
              <a:rPr kumimoji="0" lang="en-US" sz="1800" b="1" i="0" u="none" strike="noStrike" kern="1200" cap="none" spc="0" normalizeH="0" baseline="0" noProof="0" dirty="0" err="1">
                <a:ln>
                  <a:noFill/>
                </a:ln>
                <a:solidFill>
                  <a:srgbClr val="0070C0"/>
                </a:solidFill>
                <a:effectLst/>
                <a:uLnTx/>
                <a:uFillTx/>
                <a:latin typeface="Calibri"/>
                <a:ea typeface="+mn-ea"/>
                <a:cs typeface="+mn-cs"/>
                <a:sym typeface="Wingdings" panose="05000000000000000000" pitchFamily="2" charset="2"/>
              </a:rPr>
              <a:t>WtP</a:t>
            </a:r>
            <a:r>
              <a:rPr kumimoji="0" lang="en-US"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 Value-of-time  Appraisal, e.g. Cost-Benefit Analysis (CBA)</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Solid ground for extrapolation  long-term forecasting</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Elegant communication to policy-makers</a:t>
            </a:r>
            <a:endParaRPr kumimoji="0" lang="nl-NL" sz="1800" b="1" i="0" u="none" strike="noStrike" kern="1200" cap="none" spc="0" normalizeH="0" baseline="0" noProof="0" dirty="0">
              <a:ln>
                <a:noFill/>
              </a:ln>
              <a:solidFill>
                <a:srgbClr val="0070C0"/>
              </a:solidFill>
              <a:effectLst/>
              <a:uLnTx/>
              <a:uFillTx/>
              <a:latin typeface="Calibri"/>
              <a:ea typeface="+mn-ea"/>
              <a:cs typeface="+mn-cs"/>
            </a:endParaRPr>
          </a:p>
        </p:txBody>
      </p:sp>
      <p:grpSp>
        <p:nvGrpSpPr>
          <p:cNvPr id="68" name="Group 67"/>
          <p:cNvGrpSpPr/>
          <p:nvPr/>
        </p:nvGrpSpPr>
        <p:grpSpPr>
          <a:xfrm>
            <a:off x="6240016" y="2145975"/>
            <a:ext cx="4048700" cy="1572162"/>
            <a:chOff x="6311159" y="4809167"/>
            <a:chExt cx="4048700" cy="1572162"/>
          </a:xfrm>
        </p:grpSpPr>
        <p:cxnSp>
          <p:nvCxnSpPr>
            <p:cNvPr id="36" name="Straight Arrow Connector 35"/>
            <p:cNvCxnSpPr/>
            <p:nvPr/>
          </p:nvCxnSpPr>
          <p:spPr>
            <a:xfrm>
              <a:off x="7122910" y="5502661"/>
              <a:ext cx="456993" cy="0"/>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6311159" y="5177212"/>
              <a:ext cx="953765"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70C0"/>
                  </a:solidFill>
                  <a:effectLst/>
                  <a:uLnTx/>
                  <a:uFillTx/>
                  <a:latin typeface="Gadugi" panose="020B0502040204020203" pitchFamily="34" charset="0"/>
                  <a:ea typeface="Gadugi" panose="020B0502040204020203" pitchFamily="34" charset="0"/>
                  <a:cs typeface="+mn-cs"/>
                </a:rPr>
                <a:t>Choice task</a:t>
              </a:r>
            </a:p>
          </p:txBody>
        </p:sp>
        <p:sp>
          <p:nvSpPr>
            <p:cNvPr id="38" name="TextBox 37"/>
            <p:cNvSpPr txBox="1"/>
            <p:nvPr/>
          </p:nvSpPr>
          <p:spPr>
            <a:xfrm>
              <a:off x="9432399" y="5333384"/>
              <a:ext cx="927460"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70C0"/>
                  </a:solidFill>
                  <a:effectLst/>
                  <a:uLnTx/>
                  <a:uFillTx/>
                  <a:latin typeface="Gadugi" panose="020B0502040204020203" pitchFamily="34" charset="0"/>
                  <a:ea typeface="Gadugi" panose="020B0502040204020203" pitchFamily="34" charset="0"/>
                  <a:cs typeface="+mn-cs"/>
                </a:rPr>
                <a:t>Choice</a:t>
              </a:r>
            </a:p>
          </p:txBody>
        </p:sp>
        <p:pic>
          <p:nvPicPr>
            <p:cNvPr id="45" name="Picture 6" descr="Afbeeldingsresultaat voor psychological factors ico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669130" y="4809167"/>
              <a:ext cx="1127856" cy="1572162"/>
            </a:xfrm>
            <a:prstGeom prst="rect">
              <a:avLst/>
            </a:prstGeom>
            <a:noFill/>
            <a:extLst>
              <a:ext uri="{909E8E84-426E-40DD-AFC4-6F175D3DCCD1}">
                <a14:hiddenFill xmlns:a14="http://schemas.microsoft.com/office/drawing/2010/main">
                  <a:solidFill>
                    <a:srgbClr val="FFFFFF"/>
                  </a:solidFill>
                </a14:hiddenFill>
              </a:ext>
            </a:extLst>
          </p:spPr>
        </p:pic>
        <p:cxnSp>
          <p:nvCxnSpPr>
            <p:cNvPr id="67" name="Straight Arrow Connector 66"/>
            <p:cNvCxnSpPr/>
            <p:nvPr/>
          </p:nvCxnSpPr>
          <p:spPr>
            <a:xfrm>
              <a:off x="8796986" y="5502661"/>
              <a:ext cx="456993" cy="0"/>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grpSp>
      <p:sp>
        <p:nvSpPr>
          <p:cNvPr id="74" name="Rectangle 73"/>
          <p:cNvSpPr/>
          <p:nvPr/>
        </p:nvSpPr>
        <p:spPr>
          <a:xfrm>
            <a:off x="6240016" y="2217054"/>
            <a:ext cx="4176464" cy="1355962"/>
          </a:xfrm>
          <a:prstGeom prst="rect">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Calibri"/>
              <a:ea typeface="+mn-ea"/>
              <a:cs typeface="+mn-cs"/>
            </a:endParaRPr>
          </a:p>
        </p:txBody>
      </p:sp>
      <p:sp>
        <p:nvSpPr>
          <p:cNvPr id="17" name="Slide Number Placeholder 3"/>
          <p:cNvSpPr>
            <a:spLocks noGrp="1"/>
          </p:cNvSpPr>
          <p:nvPr>
            <p:ph type="sldNum" sz="quarter" idx="12"/>
          </p:nvPr>
        </p:nvSpPr>
        <p:spPr>
          <a:xfrm>
            <a:off x="8737600" y="6356351"/>
            <a:ext cx="28448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Line 2">
            <a:extLst>
              <a:ext uri="{FF2B5EF4-FFF2-40B4-BE49-F238E27FC236}">
                <a16:creationId xmlns:a16="http://schemas.microsoft.com/office/drawing/2014/main" id="{5EC9D587-9ED1-25FA-1082-77FA6D2C3BFE}"/>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6" name="Line 2">
            <a:extLst>
              <a:ext uri="{FF2B5EF4-FFF2-40B4-BE49-F238E27FC236}">
                <a16:creationId xmlns:a16="http://schemas.microsoft.com/office/drawing/2014/main" id="{F78343C9-D722-890E-76F9-9F3CC42C54EB}"/>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824700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EBEB1-1ACB-17B6-DF2F-548452465F5B}"/>
              </a:ext>
            </a:extLst>
          </p:cNvPr>
          <p:cNvSpPr>
            <a:spLocks noGrp="1"/>
          </p:cNvSpPr>
          <p:nvPr>
            <p:ph type="title"/>
          </p:nvPr>
        </p:nvSpPr>
        <p:spPr/>
        <p:txBody>
          <a:bodyPr/>
          <a:lstStyle/>
          <a:p>
            <a:r>
              <a:rPr lang="en-GB" dirty="0"/>
              <a:t>Limitations of RUM-MNL models</a:t>
            </a:r>
            <a:endParaRPr lang="nl-NL" dirty="0"/>
          </a:p>
        </p:txBody>
      </p:sp>
    </p:spTree>
    <p:extLst>
      <p:ext uri="{BB962C8B-B14F-4D97-AF65-F5344CB8AC3E}">
        <p14:creationId xmlns:p14="http://schemas.microsoft.com/office/powerpoint/2010/main" val="322887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GB" sz="4000" noProof="0" dirty="0"/>
              <a:t>Limitations of RUM-MNL models</a:t>
            </a:r>
          </a:p>
        </p:txBody>
      </p:sp>
      <p:sp>
        <p:nvSpPr>
          <p:cNvPr id="9" name="Slide Number Placeholder 3"/>
          <p:cNvSpPr txBox="1">
            <a:spLocks/>
          </p:cNvSpPr>
          <p:nvPr/>
        </p:nvSpPr>
        <p:spPr>
          <a:xfrm>
            <a:off x="8610600" y="6356351"/>
            <a:ext cx="2844800" cy="365125"/>
          </a:xfrm>
          <a:prstGeom prst="rect">
            <a:avLst/>
          </a:prstGeom>
        </p:spPr>
        <p:txBody>
          <a:bodyPr vert="horz" lIns="91440" tIns="45720" rIns="91440" bIns="45720" rtlCol="0" anchor="ctr"/>
          <a:lstStyle>
            <a:defPPr>
              <a:defRPr lang="nl-NL"/>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4" name="Content Placeholder 3">
            <a:extLst>
              <a:ext uri="{FF2B5EF4-FFF2-40B4-BE49-F238E27FC236}">
                <a16:creationId xmlns:a16="http://schemas.microsoft.com/office/drawing/2014/main" id="{02F465D5-0B6F-F1C8-6FFD-E0D34F90CC9C}"/>
              </a:ext>
            </a:extLst>
          </p:cNvPr>
          <p:cNvSpPr>
            <a:spLocks noGrp="1"/>
          </p:cNvSpPr>
          <p:nvPr>
            <p:ph idx="1"/>
          </p:nvPr>
        </p:nvSpPr>
        <p:spPr>
          <a:xfrm>
            <a:off x="715992" y="1216325"/>
            <a:ext cx="9519690" cy="476674"/>
          </a:xfrm>
        </p:spPr>
        <p:txBody>
          <a:bodyPr/>
          <a:lstStyle/>
          <a:p>
            <a:pPr marL="0" indent="0">
              <a:buNone/>
            </a:pPr>
            <a:r>
              <a:rPr lang="en-GB" b="1" dirty="0"/>
              <a:t>The RUM-MNL model is not a perfect model of choice behaviour: it has four key limitations</a:t>
            </a:r>
          </a:p>
          <a:p>
            <a:pPr marL="0" indent="0">
              <a:buNone/>
            </a:pPr>
            <a:endParaRPr lang="en-GB" dirty="0"/>
          </a:p>
          <a:p>
            <a:endParaRPr lang="en-GB" dirty="0"/>
          </a:p>
          <a:p>
            <a:endParaRPr lang="en-GB" dirty="0"/>
          </a:p>
        </p:txBody>
      </p:sp>
      <p:sp>
        <p:nvSpPr>
          <p:cNvPr id="2" name="TextBox 1">
            <a:extLst>
              <a:ext uri="{FF2B5EF4-FFF2-40B4-BE49-F238E27FC236}">
                <a16:creationId xmlns:a16="http://schemas.microsoft.com/office/drawing/2014/main" id="{6C5A882F-8CEA-A8C3-31CE-45ACEF738EBA}"/>
              </a:ext>
            </a:extLst>
          </p:cNvPr>
          <p:cNvSpPr txBox="1"/>
          <p:nvPr/>
        </p:nvSpPr>
        <p:spPr>
          <a:xfrm>
            <a:off x="715992" y="1874154"/>
            <a:ext cx="5693861" cy="4273149"/>
          </a:xfrm>
          <a:prstGeom prst="rect">
            <a:avLst/>
          </a:prstGeom>
          <a:noFill/>
        </p:spPr>
        <p:txBody>
          <a:bodyPr wrap="square" rtlCol="0">
            <a:noAutofit/>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𝜀 is assumed to be </a:t>
            </a:r>
            <a:r>
              <a:rPr kumimoji="0" lang="en-GB" sz="1800" b="0" i="0" u="none" strike="noStrike" kern="1200" cap="none" spc="0" normalizeH="0" baseline="0" noProof="0" dirty="0" err="1">
                <a:ln>
                  <a:noFill/>
                </a:ln>
                <a:solidFill>
                  <a:prstClr val="black"/>
                </a:solidFill>
                <a:effectLst/>
                <a:uLnTx/>
                <a:uFillTx/>
                <a:latin typeface="Calibri" panose="020F0502020204030204"/>
                <a:ea typeface="+mn-ea"/>
                <a:cs typeface="+mn-cs"/>
              </a:rPr>
              <a:t>i.i.d.</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across </a:t>
            </a:r>
            <a:r>
              <a:rPr kumimoji="0" lang="en-GB" sz="1800" b="1" i="0" u="none" strike="noStrike" kern="1200" cap="none" spc="0" normalizeH="0" baseline="0" noProof="0" dirty="0">
                <a:ln>
                  <a:noFill/>
                </a:ln>
                <a:solidFill>
                  <a:srgbClr val="0070C0"/>
                </a:solidFill>
                <a:effectLst/>
                <a:uLnTx/>
                <a:uFillTx/>
                <a:latin typeface="Calibri" panose="020F0502020204030204"/>
                <a:ea typeface="+mn-ea"/>
                <a:cs typeface="+mn-cs"/>
              </a:rPr>
              <a:t>observations</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and </a:t>
            </a:r>
            <a:r>
              <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rPr>
              <a:t>alternatives</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 This is often unrealistic.</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lang="en-GB" b="1" dirty="0">
              <a:solidFill>
                <a:prstClr val="black"/>
              </a:solidFill>
              <a:latin typeface="Calibri" panose="020F0502020204030204"/>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lang="en-GB" b="1" dirty="0">
              <a:solidFill>
                <a:prstClr val="black"/>
              </a:solidFill>
              <a:latin typeface="Calibri" panose="020F0502020204030204"/>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lang="en-GB" b="1" dirty="0">
              <a:solidFill>
                <a:prstClr val="black"/>
              </a:solidFill>
              <a:latin typeface="Calibri" panose="020F0502020204030204"/>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lang="en-GB" b="1" dirty="0">
              <a:solidFill>
                <a:prstClr val="black"/>
              </a:solidFill>
              <a:latin typeface="Calibri" panose="020F0502020204030204"/>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solidFill>
                  <a:prstClr val="black"/>
                </a:solidFill>
              </a:rPr>
              <a:t>RUM-MNL assumes people </a:t>
            </a:r>
            <a:r>
              <a:rPr lang="en-GB" b="1" dirty="0">
                <a:solidFill>
                  <a:prstClr val="black"/>
                </a:solidFill>
              </a:rPr>
              <a:t>maximise utility</a:t>
            </a:r>
            <a:r>
              <a:rPr lang="en-GB" dirty="0">
                <a:solidFill>
                  <a:prstClr val="black"/>
                </a:solidFill>
              </a:rPr>
              <a:t>, whose utility of alternative </a:t>
            </a:r>
            <a:r>
              <a:rPr lang="en-GB" i="1" dirty="0" err="1">
                <a:solidFill>
                  <a:prstClr val="black"/>
                </a:solidFill>
              </a:rPr>
              <a:t>i</a:t>
            </a:r>
            <a:r>
              <a:rPr lang="en-GB" dirty="0">
                <a:solidFill>
                  <a:prstClr val="black"/>
                </a:solidFill>
              </a:rPr>
              <a:t> only depends on the attribute levels of alternative </a:t>
            </a:r>
            <a:r>
              <a:rPr lang="en-GB" i="1" dirty="0" err="1">
                <a:solidFill>
                  <a:prstClr val="black"/>
                </a:solidFill>
              </a:rPr>
              <a:t>i</a:t>
            </a:r>
            <a:r>
              <a:rPr lang="en-GB" dirty="0">
                <a:solidFill>
                  <a:prstClr val="black"/>
                </a:solidFill>
              </a:rPr>
              <a:t>:  V</a:t>
            </a:r>
            <a:r>
              <a:rPr lang="en-GB" baseline="-25000" dirty="0">
                <a:solidFill>
                  <a:prstClr val="black"/>
                </a:solidFill>
              </a:rPr>
              <a:t>i</a:t>
            </a:r>
            <a:r>
              <a:rPr lang="en-GB" dirty="0">
                <a:solidFill>
                  <a:prstClr val="black"/>
                </a:solidFill>
              </a:rPr>
              <a:t> = </a:t>
            </a:r>
            <a:r>
              <a:rPr lang="en-GB" i="1" dirty="0">
                <a:solidFill>
                  <a:prstClr val="black"/>
                </a:solidFill>
              </a:rPr>
              <a:t>f</a:t>
            </a:r>
            <a:r>
              <a:rPr lang="en-GB" dirty="0">
                <a:solidFill>
                  <a:prstClr val="black"/>
                </a:solidFill>
              </a:rPr>
              <a:t>(</a:t>
            </a:r>
            <a:r>
              <a:rPr lang="en-GB" i="1" dirty="0">
                <a:solidFill>
                  <a:prstClr val="black"/>
                </a:solidFill>
              </a:rPr>
              <a:t>x</a:t>
            </a:r>
            <a:r>
              <a:rPr lang="en-GB" i="1" baseline="-25000" dirty="0">
                <a:solidFill>
                  <a:prstClr val="black"/>
                </a:solidFill>
              </a:rPr>
              <a:t>i</a:t>
            </a:r>
            <a:r>
              <a:rPr lang="en-GB" dirty="0">
                <a:solidFill>
                  <a:prstClr val="black"/>
                </a:solidFill>
              </a:rPr>
              <a: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grpSp>
        <p:nvGrpSpPr>
          <p:cNvPr id="20" name="Group 19">
            <a:extLst>
              <a:ext uri="{FF2B5EF4-FFF2-40B4-BE49-F238E27FC236}">
                <a16:creationId xmlns:a16="http://schemas.microsoft.com/office/drawing/2014/main" id="{CD5BD837-44AF-31C0-038A-BD13E45A8C34}"/>
              </a:ext>
            </a:extLst>
          </p:cNvPr>
          <p:cNvGrpSpPr/>
          <p:nvPr/>
        </p:nvGrpSpPr>
        <p:grpSpPr>
          <a:xfrm>
            <a:off x="6537185" y="2145757"/>
            <a:ext cx="4746591" cy="2572763"/>
            <a:chOff x="6515920" y="3007696"/>
            <a:chExt cx="4746591" cy="2572763"/>
          </a:xfrm>
        </p:grpSpPr>
        <p:grpSp>
          <p:nvGrpSpPr>
            <p:cNvPr id="11" name="Group 10">
              <a:extLst>
                <a:ext uri="{FF2B5EF4-FFF2-40B4-BE49-F238E27FC236}">
                  <a16:creationId xmlns:a16="http://schemas.microsoft.com/office/drawing/2014/main" id="{C240A132-DB26-7BE0-12CF-99FE3BC2EFB0}"/>
                </a:ext>
              </a:extLst>
            </p:cNvPr>
            <p:cNvGrpSpPr/>
            <p:nvPr/>
          </p:nvGrpSpPr>
          <p:grpSpPr>
            <a:xfrm>
              <a:off x="6515920" y="3661125"/>
              <a:ext cx="1249378" cy="1919334"/>
              <a:chOff x="6515920" y="3661125"/>
              <a:chExt cx="1249378" cy="1919334"/>
            </a:xfrm>
          </p:grpSpPr>
          <p:sp>
            <p:nvSpPr>
              <p:cNvPr id="3" name="Right Arrow 2">
                <a:extLst>
                  <a:ext uri="{FF2B5EF4-FFF2-40B4-BE49-F238E27FC236}">
                    <a16:creationId xmlns:a16="http://schemas.microsoft.com/office/drawing/2014/main" id="{2D988BE4-8C89-99AC-FDA1-602BAA10914A}"/>
                  </a:ext>
                </a:extLst>
              </p:cNvPr>
              <p:cNvSpPr/>
              <p:nvPr/>
            </p:nvSpPr>
            <p:spPr>
              <a:xfrm>
                <a:off x="6515920" y="3661125"/>
                <a:ext cx="1249378" cy="1919334"/>
              </a:xfrm>
              <a:prstGeom prst="rightArrow">
                <a:avLst>
                  <a:gd name="adj1" fmla="val 51886"/>
                  <a:gd name="adj2" fmla="val 50000"/>
                </a:avLst>
              </a:prstGeom>
              <a:noFill/>
              <a:ln w="57150">
                <a:solidFill>
                  <a:srgbClr val="24B5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NL"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6" name="Picture 2" descr="Image result for understand icon">
                <a:extLst>
                  <a:ext uri="{FF2B5EF4-FFF2-40B4-BE49-F238E27FC236}">
                    <a16:creationId xmlns:a16="http://schemas.microsoft.com/office/drawing/2014/main" id="{5EF43A69-A091-92BF-2999-6C24F4A6F8A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7341" y="4201542"/>
                <a:ext cx="838501" cy="838501"/>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a:extLst>
                <a:ext uri="{FF2B5EF4-FFF2-40B4-BE49-F238E27FC236}">
                  <a16:creationId xmlns:a16="http://schemas.microsoft.com/office/drawing/2014/main" id="{5F38276E-D5A9-585E-5CB6-30D111FFD6AC}"/>
                </a:ext>
              </a:extLst>
            </p:cNvPr>
            <p:cNvPicPr>
              <a:picLocks noChangeAspect="1"/>
            </p:cNvPicPr>
            <p:nvPr/>
          </p:nvPicPr>
          <p:blipFill rotWithShape="1">
            <a:blip r:embed="rId4"/>
            <a:srcRect l="76200" b="52130"/>
            <a:stretch/>
          </p:blipFill>
          <p:spPr>
            <a:xfrm>
              <a:off x="8860253" y="4948076"/>
              <a:ext cx="522652" cy="537417"/>
            </a:xfrm>
            <a:prstGeom prst="rect">
              <a:avLst/>
            </a:prstGeom>
          </p:spPr>
        </p:pic>
        <p:sp>
          <p:nvSpPr>
            <p:cNvPr id="5" name="TextBox 4">
              <a:extLst>
                <a:ext uri="{FF2B5EF4-FFF2-40B4-BE49-F238E27FC236}">
                  <a16:creationId xmlns:a16="http://schemas.microsoft.com/office/drawing/2014/main" id="{52814C3A-0C3C-7844-48B4-20AE119698DB}"/>
                </a:ext>
              </a:extLst>
            </p:cNvPr>
            <p:cNvSpPr txBox="1"/>
            <p:nvPr/>
          </p:nvSpPr>
          <p:spPr>
            <a:xfrm>
              <a:off x="8111905" y="3007696"/>
              <a:ext cx="3150606" cy="1376127"/>
            </a:xfrm>
            <a:prstGeom prst="rect">
              <a:avLst/>
            </a:prstGeom>
            <a:noFill/>
          </p:spPr>
          <p:txBody>
            <a:bodyPr wrap="square" rtlCol="0">
              <a:noAutofit/>
            </a:bodyPr>
            <a:lstStyle/>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1"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Nesed Logit </a:t>
              </a:r>
              <a:r>
                <a:rPr kumimoji="0" lang="en-NL"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(NL) model (1980 – 1990)</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NL"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1"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Mixed Logit </a:t>
              </a:r>
              <a:r>
                <a:rPr kumimoji="0" lang="en-NL"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(ML) model (1990-2005)</a:t>
              </a:r>
            </a:p>
          </p:txBody>
        </p:sp>
      </p:grpSp>
      <p:sp>
        <p:nvSpPr>
          <p:cNvPr id="12" name="TextBox 11">
            <a:extLst>
              <a:ext uri="{FF2B5EF4-FFF2-40B4-BE49-F238E27FC236}">
                <a16:creationId xmlns:a16="http://schemas.microsoft.com/office/drawing/2014/main" id="{12FE4649-75FB-50DC-A040-434C3602D82D}"/>
              </a:ext>
            </a:extLst>
          </p:cNvPr>
          <p:cNvSpPr txBox="1"/>
          <p:nvPr/>
        </p:nvSpPr>
        <p:spPr>
          <a:xfrm>
            <a:off x="8188303" y="4086137"/>
            <a:ext cx="3689394" cy="1697652"/>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NL" sz="1800" b="1" i="0" u="none" strike="noStrike" kern="1200" cap="none" spc="0" normalizeH="0" baseline="0" noProof="0" dirty="0">
                <a:ln>
                  <a:noFill/>
                </a:ln>
                <a:solidFill>
                  <a:srgbClr val="3AB5B3"/>
                </a:solidFill>
                <a:effectLst/>
                <a:uLnTx/>
                <a:uFillTx/>
                <a:latin typeface="Calibri" panose="020F0502020204030204"/>
                <a:ea typeface="+mn-ea"/>
                <a:cs typeface="Calibri" panose="020F0502020204030204" pitchFamily="34" charset="0"/>
                <a:sym typeface="Wingdings" panose="05000000000000000000" pitchFamily="2" charset="2"/>
              </a:rPr>
              <a:t>Descriptive models of choice behaviour, e.g.</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0" i="0" u="none" strike="noStrike" kern="1200" cap="none" spc="0" normalizeH="0" baseline="0" noProof="0" dirty="0">
                <a:ln>
                  <a:noFill/>
                </a:ln>
                <a:solidFill>
                  <a:srgbClr val="3AB5B3"/>
                </a:solidFill>
                <a:effectLst/>
                <a:uLnTx/>
                <a:uFillTx/>
                <a:latin typeface="Calibri" panose="020F0502020204030204"/>
                <a:ea typeface="+mn-ea"/>
                <a:cs typeface="Calibri" panose="020F0502020204030204" pitchFamily="34" charset="0"/>
                <a:sym typeface="Wingdings" panose="05000000000000000000" pitchFamily="2" charset="2"/>
              </a:rPr>
              <a:t>Random Regret Minimisation</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0" i="0" u="none" strike="noStrike" kern="1200" cap="none" spc="0" normalizeH="0" baseline="0" noProof="0" dirty="0">
                <a:ln>
                  <a:noFill/>
                </a:ln>
                <a:solidFill>
                  <a:srgbClr val="3AB5B3"/>
                </a:solidFill>
                <a:effectLst/>
                <a:uLnTx/>
                <a:uFillTx/>
                <a:latin typeface="Calibri" panose="020F0502020204030204"/>
                <a:ea typeface="+mn-ea"/>
                <a:cs typeface="Calibri" panose="020F0502020204030204" pitchFamily="34" charset="0"/>
                <a:sym typeface="Wingdings" panose="05000000000000000000" pitchFamily="2" charset="2"/>
              </a:rPr>
              <a:t>Elimination-by-aspects</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0" i="0" u="none" strike="noStrike" kern="1200" cap="none" spc="0" normalizeH="0" baseline="0" noProof="0" dirty="0">
                <a:ln>
                  <a:noFill/>
                </a:ln>
                <a:solidFill>
                  <a:srgbClr val="3AB5B3"/>
                </a:solidFill>
                <a:effectLst/>
                <a:uLnTx/>
                <a:uFillTx/>
                <a:latin typeface="Calibri" panose="020F0502020204030204"/>
                <a:ea typeface="+mn-ea"/>
                <a:cs typeface="Calibri" panose="020F0502020204030204" pitchFamily="34" charset="0"/>
                <a:sym typeface="Wingdings" panose="05000000000000000000" pitchFamily="2" charset="2"/>
              </a:rPr>
              <a:t>Satisfycing</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0" i="0" u="none" strike="noStrike" kern="1200" cap="none" spc="0" normalizeH="0" baseline="0" noProof="0" dirty="0">
                <a:ln>
                  <a:noFill/>
                </a:ln>
                <a:solidFill>
                  <a:srgbClr val="3AB5B3"/>
                </a:solidFill>
                <a:effectLst/>
                <a:uLnTx/>
                <a:uFillTx/>
                <a:latin typeface="Calibri" panose="020F0502020204030204"/>
                <a:ea typeface="+mn-ea"/>
                <a:cs typeface="Calibri" panose="020F0502020204030204" pitchFamily="34" charset="0"/>
                <a:sym typeface="Wingdings" panose="05000000000000000000" pitchFamily="2" charset="2"/>
              </a:rPr>
              <a:t>Lexicographic </a:t>
            </a:r>
          </a:p>
          <a:p>
            <a:pPr marL="742950" marR="0" lvl="1"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742950" marR="0" lvl="1"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16" name="Line 2">
            <a:extLst>
              <a:ext uri="{FF2B5EF4-FFF2-40B4-BE49-F238E27FC236}">
                <a16:creationId xmlns:a16="http://schemas.microsoft.com/office/drawing/2014/main" id="{996B79B2-BBF5-37DB-AAD6-B4B95EE2FAED}"/>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7" name="Line 2">
            <a:extLst>
              <a:ext uri="{FF2B5EF4-FFF2-40B4-BE49-F238E27FC236}">
                <a16:creationId xmlns:a16="http://schemas.microsoft.com/office/drawing/2014/main" id="{1359EEA5-1352-8106-59B2-DD33983EAEA3}"/>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405483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GB" sz="4000" noProof="0" dirty="0"/>
              <a:t>Limitations of RUM-MNL models</a:t>
            </a:r>
          </a:p>
        </p:txBody>
      </p:sp>
      <p:sp>
        <p:nvSpPr>
          <p:cNvPr id="9" name="Slide Number Placeholder 3"/>
          <p:cNvSpPr txBox="1">
            <a:spLocks/>
          </p:cNvSpPr>
          <p:nvPr/>
        </p:nvSpPr>
        <p:spPr>
          <a:xfrm>
            <a:off x="8610600" y="6356351"/>
            <a:ext cx="2844800" cy="365125"/>
          </a:xfrm>
          <a:prstGeom prst="rect">
            <a:avLst/>
          </a:prstGeom>
        </p:spPr>
        <p:txBody>
          <a:bodyPr vert="horz" lIns="91440" tIns="45720" rIns="91440" bIns="45720" rtlCol="0" anchor="ctr"/>
          <a:lstStyle>
            <a:defPPr>
              <a:defRPr lang="nl-NL"/>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Content Placeholder 3">
            <a:extLst>
              <a:ext uri="{FF2B5EF4-FFF2-40B4-BE49-F238E27FC236}">
                <a16:creationId xmlns:a16="http://schemas.microsoft.com/office/drawing/2014/main" id="{28831CA0-1FF9-1B49-AFFF-FBA473515EA0}"/>
              </a:ext>
            </a:extLst>
          </p:cNvPr>
          <p:cNvSpPr txBox="1">
            <a:spLocks/>
          </p:cNvSpPr>
          <p:nvPr/>
        </p:nvSpPr>
        <p:spPr>
          <a:xfrm>
            <a:off x="715992" y="1216325"/>
            <a:ext cx="9519690" cy="47667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The RUM-MNL model is not a perfect model of choice behaviour: it has four key limitations</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A6D7835-2FCF-E320-3AAA-56F6A1DE41D9}"/>
              </a:ext>
            </a:extLst>
          </p:cNvPr>
          <p:cNvSpPr txBox="1"/>
          <p:nvPr/>
        </p:nvSpPr>
        <p:spPr>
          <a:xfrm>
            <a:off x="715992" y="1874153"/>
            <a:ext cx="5718912" cy="4482197"/>
          </a:xfrm>
          <a:prstGeom prst="rect">
            <a:avLst/>
          </a:prstGeom>
          <a:noFill/>
        </p:spPr>
        <p:txBody>
          <a:bodyPr wrap="square" rtlCol="0">
            <a:noAutofit/>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3"/>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RUM-MNL cannot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handle image/text/signals data </a:t>
            </a:r>
          </a:p>
          <a:p>
            <a:pPr marL="0" marR="0" lvl="0" indent="0" algn="l" defTabSz="914400" rtl="0" eaLnBrk="1" fontAlgn="auto" latinLnBrk="0" hangingPunct="1">
              <a:lnSpc>
                <a:spcPct val="100000"/>
              </a:lnSpc>
              <a:spcBef>
                <a:spcPts val="0"/>
              </a:spcBef>
              <a:spcAft>
                <a:spcPts val="0"/>
              </a:spcAft>
              <a:buClrTx/>
              <a:buSzTx/>
              <a:buFontTx/>
              <a:buNone/>
              <a:tabLst>
                <a:tab pos="35083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(it is blind to images)</a:t>
            </a:r>
            <a:endParaRPr kumimoji="0" lang="en-GB" sz="1800" b="0" i="1"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In real-life many choice situations involve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images </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to convey information about the product or service</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Images can much more effectively convey information about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Scales, Textures, and Shapes</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than text or numbers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200150" marR="0" lvl="2" indent="-285750" algn="l" defTabSz="914400" rtl="0" eaLnBrk="1" fontAlgn="auto" latinLnBrk="0" hangingPunct="1">
              <a:lnSpc>
                <a:spcPct val="100000"/>
              </a:lnSpc>
              <a:spcBef>
                <a:spcPts val="0"/>
              </a:spcBef>
              <a:spcAft>
                <a:spcPts val="0"/>
              </a:spcAft>
              <a:buClrTx/>
              <a:buSzTx/>
              <a:buFont typeface="Wingdings" pitchFamily="2" charset="2"/>
              <a:buChar char="à"/>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Incomplete understanding of choice behaviour</a:t>
            </a: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grpSp>
        <p:nvGrpSpPr>
          <p:cNvPr id="3" name="Group 2">
            <a:extLst>
              <a:ext uri="{FF2B5EF4-FFF2-40B4-BE49-F238E27FC236}">
                <a16:creationId xmlns:a16="http://schemas.microsoft.com/office/drawing/2014/main" id="{A25DA6B7-125A-3D59-9108-AE78E5005A3A}"/>
              </a:ext>
            </a:extLst>
          </p:cNvPr>
          <p:cNvGrpSpPr/>
          <p:nvPr/>
        </p:nvGrpSpPr>
        <p:grpSpPr>
          <a:xfrm>
            <a:off x="6762939" y="1991762"/>
            <a:ext cx="5332490" cy="4790641"/>
            <a:chOff x="6762939" y="1991762"/>
            <a:chExt cx="5332490" cy="4790641"/>
          </a:xfrm>
        </p:grpSpPr>
        <p:grpSp>
          <p:nvGrpSpPr>
            <p:cNvPr id="13" name="Group 12">
              <a:extLst>
                <a:ext uri="{FF2B5EF4-FFF2-40B4-BE49-F238E27FC236}">
                  <a16:creationId xmlns:a16="http://schemas.microsoft.com/office/drawing/2014/main" id="{4426F303-BFA6-2C02-A5A0-5C2252CD09B5}"/>
                </a:ext>
              </a:extLst>
            </p:cNvPr>
            <p:cNvGrpSpPr/>
            <p:nvPr/>
          </p:nvGrpSpPr>
          <p:grpSpPr>
            <a:xfrm>
              <a:off x="6762939" y="2736093"/>
              <a:ext cx="1249378" cy="1919334"/>
              <a:chOff x="6762939" y="2736093"/>
              <a:chExt cx="1249378" cy="1919334"/>
            </a:xfrm>
          </p:grpSpPr>
          <p:sp>
            <p:nvSpPr>
              <p:cNvPr id="14" name="Right Arrow 13">
                <a:extLst>
                  <a:ext uri="{FF2B5EF4-FFF2-40B4-BE49-F238E27FC236}">
                    <a16:creationId xmlns:a16="http://schemas.microsoft.com/office/drawing/2014/main" id="{EDBEA28B-7B2E-78FF-387B-AB238F9ADAAF}"/>
                  </a:ext>
                </a:extLst>
              </p:cNvPr>
              <p:cNvSpPr/>
              <p:nvPr/>
            </p:nvSpPr>
            <p:spPr>
              <a:xfrm>
                <a:off x="6762939" y="2736093"/>
                <a:ext cx="1249378" cy="1919334"/>
              </a:xfrm>
              <a:prstGeom prst="rightArrow">
                <a:avLst>
                  <a:gd name="adj1" fmla="val 51886"/>
                  <a:gd name="adj2" fmla="val 50000"/>
                </a:avLst>
              </a:prstGeom>
              <a:noFill/>
              <a:ln w="57150">
                <a:solidFill>
                  <a:srgbClr val="24B5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NL"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5" name="Picture 2" descr="Image result for understand icon">
                <a:extLst>
                  <a:ext uri="{FF2B5EF4-FFF2-40B4-BE49-F238E27FC236}">
                    <a16:creationId xmlns:a16="http://schemas.microsoft.com/office/drawing/2014/main" id="{3AC88BED-69FF-1823-74FF-6D638B8F50A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04360" y="3276510"/>
                <a:ext cx="838501" cy="838501"/>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TextBox 16">
              <a:extLst>
                <a:ext uri="{FF2B5EF4-FFF2-40B4-BE49-F238E27FC236}">
                  <a16:creationId xmlns:a16="http://schemas.microsoft.com/office/drawing/2014/main" id="{1AA262C5-D9E9-8CAC-ACE5-AF7FEBBF2DD3}"/>
                </a:ext>
              </a:extLst>
            </p:cNvPr>
            <p:cNvSpPr txBox="1"/>
            <p:nvPr/>
          </p:nvSpPr>
          <p:spPr>
            <a:xfrm>
              <a:off x="8111904" y="1991762"/>
              <a:ext cx="3983525" cy="4364588"/>
            </a:xfrm>
            <a:prstGeom prst="rect">
              <a:avLst/>
            </a:prstGeom>
            <a:noFill/>
          </p:spPr>
          <p:txBody>
            <a:bodyPr wrap="square" rtlCol="0">
              <a:noAutofit/>
            </a:bodyPr>
            <a:lstStyle/>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1" i="0" u="sng" strike="noStrike" kern="1200" cap="none" spc="0" normalizeH="0" baseline="0" noProof="0" dirty="0">
                  <a:ln>
                    <a:noFill/>
                  </a:ln>
                  <a:solidFill>
                    <a:srgbClr val="3AB5B3"/>
                  </a:solidFill>
                  <a:effectLst/>
                  <a:uLnTx/>
                  <a:uFillTx/>
                  <a:latin typeface="Calibri" panose="020F0502020204030204"/>
                  <a:ea typeface="+mn-ea"/>
                  <a:cs typeface="Calibri" panose="020F0502020204030204" pitchFamily="34" charset="0"/>
                  <a:sym typeface="Wingdings" panose="05000000000000000000" pitchFamily="2" charset="2"/>
                </a:rPr>
                <a:t>Data-driven models</a:t>
              </a:r>
              <a:r>
                <a:rPr kumimoji="0" lang="en-NL" sz="1800" b="1" i="0" u="none" strike="noStrike" kern="1200" cap="none" spc="0" normalizeH="0" baseline="0" noProof="0" dirty="0">
                  <a:ln>
                    <a:noFill/>
                  </a:ln>
                  <a:solidFill>
                    <a:srgbClr val="3AB5B3"/>
                  </a:solidFill>
                  <a:effectLst/>
                  <a:uLnTx/>
                  <a:uFillTx/>
                  <a:latin typeface="Calibri" panose="020F0502020204030204"/>
                  <a:ea typeface="+mn-ea"/>
                  <a:cs typeface="Calibri" panose="020F0502020204030204" pitchFamily="34" charset="0"/>
                  <a:sym typeface="Wingdings" panose="05000000000000000000" pitchFamily="2" charset="2"/>
                </a:rPr>
                <a:t> (aka Machine learning)</a:t>
              </a:r>
            </a:p>
            <a:p>
              <a:pPr marL="742950" marR="0" lvl="1"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0" i="0" u="none" strike="noStrike" kern="1200" cap="none" spc="0" normalizeH="0" baseline="0" noProof="0" dirty="0">
                  <a:ln>
                    <a:noFill/>
                  </a:ln>
                  <a:solidFill>
                    <a:srgbClr val="3AB5B3"/>
                  </a:solidFill>
                  <a:effectLst/>
                  <a:uLnTx/>
                  <a:uFillTx/>
                  <a:latin typeface="Calibri" panose="020F0502020204030204"/>
                  <a:ea typeface="+mn-ea"/>
                  <a:cs typeface="Calibri" panose="020F0502020204030204" pitchFamily="34" charset="0"/>
                  <a:sym typeface="Wingdings" panose="05000000000000000000" pitchFamily="2" charset="2"/>
                </a:rPr>
                <a:t>Computer-vision enriched choice model</a:t>
              </a:r>
            </a:p>
            <a:p>
              <a:pPr marL="457200" marR="0" lvl="1"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742950" marR="0" lvl="1"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pic>
          <p:nvPicPr>
            <p:cNvPr id="2" name="Picture 1" descr="Screen Clipping">
              <a:extLst>
                <a:ext uri="{FF2B5EF4-FFF2-40B4-BE49-F238E27FC236}">
                  <a16:creationId xmlns:a16="http://schemas.microsoft.com/office/drawing/2014/main" id="{5E240039-2F89-2EB9-3B6B-E21E830E0CAE}"/>
                </a:ext>
              </a:extLst>
            </p:cNvPr>
            <p:cNvPicPr>
              <a:picLocks noChangeAspect="1"/>
            </p:cNvPicPr>
            <p:nvPr/>
          </p:nvPicPr>
          <p:blipFill rotWithShape="1">
            <a:blip r:embed="rId4">
              <a:extLst>
                <a:ext uri="{28A0092B-C50C-407E-A947-70E740481C1C}">
                  <a14:useLocalDpi xmlns:a14="http://schemas.microsoft.com/office/drawing/2010/main" val="0"/>
                </a:ext>
              </a:extLst>
            </a:blip>
            <a:srcRect l="74198"/>
            <a:stretch/>
          </p:blipFill>
          <p:spPr>
            <a:xfrm>
              <a:off x="8461882" y="3276510"/>
              <a:ext cx="3142235" cy="3505893"/>
            </a:xfrm>
            <a:prstGeom prst="rect">
              <a:avLst/>
            </a:prstGeom>
          </p:spPr>
        </p:pic>
      </p:grpSp>
      <p:sp>
        <p:nvSpPr>
          <p:cNvPr id="4" name="Line 2">
            <a:extLst>
              <a:ext uri="{FF2B5EF4-FFF2-40B4-BE49-F238E27FC236}">
                <a16:creationId xmlns:a16="http://schemas.microsoft.com/office/drawing/2014/main" id="{9CCEC77C-939E-FF0F-7953-E0C46686ED79}"/>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6" name="Line 2">
            <a:extLst>
              <a:ext uri="{FF2B5EF4-FFF2-40B4-BE49-F238E27FC236}">
                <a16:creationId xmlns:a16="http://schemas.microsoft.com/office/drawing/2014/main" id="{7AB79A80-2004-7504-D727-3D6DB3530005}"/>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628902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GB" sz="4000" noProof="0" dirty="0"/>
              <a:t>Limitations of RUM-MNL models</a:t>
            </a:r>
          </a:p>
        </p:txBody>
      </p:sp>
      <p:sp>
        <p:nvSpPr>
          <p:cNvPr id="9" name="Slide Number Placeholder 3"/>
          <p:cNvSpPr txBox="1">
            <a:spLocks/>
          </p:cNvSpPr>
          <p:nvPr/>
        </p:nvSpPr>
        <p:spPr>
          <a:xfrm>
            <a:off x="8610600" y="6356351"/>
            <a:ext cx="2844800" cy="365125"/>
          </a:xfrm>
          <a:prstGeom prst="rect">
            <a:avLst/>
          </a:prstGeom>
        </p:spPr>
        <p:txBody>
          <a:bodyPr vert="horz" lIns="91440" tIns="45720" rIns="91440" bIns="45720" rtlCol="0" anchor="ctr"/>
          <a:lstStyle>
            <a:defPPr>
              <a:defRPr lang="nl-NL"/>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Content Placeholder 3">
            <a:extLst>
              <a:ext uri="{FF2B5EF4-FFF2-40B4-BE49-F238E27FC236}">
                <a16:creationId xmlns:a16="http://schemas.microsoft.com/office/drawing/2014/main" id="{28831CA0-1FF9-1B49-AFFF-FBA473515EA0}"/>
              </a:ext>
            </a:extLst>
          </p:cNvPr>
          <p:cNvSpPr txBox="1">
            <a:spLocks/>
          </p:cNvSpPr>
          <p:nvPr/>
        </p:nvSpPr>
        <p:spPr>
          <a:xfrm>
            <a:off x="715992" y="1216325"/>
            <a:ext cx="9519690" cy="47667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The RUM-MNL model is not a perfect model of choice behaviour: it has four key limitations</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A6D7835-2FCF-E320-3AAA-56F6A1DE41D9}"/>
              </a:ext>
            </a:extLst>
          </p:cNvPr>
          <p:cNvSpPr txBox="1"/>
          <p:nvPr/>
        </p:nvSpPr>
        <p:spPr>
          <a:xfrm>
            <a:off x="715992" y="1874153"/>
            <a:ext cx="5693861" cy="4482197"/>
          </a:xfrm>
          <a:prstGeom prst="rect">
            <a:avLst/>
          </a:prstGeom>
          <a:noFill/>
        </p:spPr>
        <p:txBody>
          <a:bodyPr wrap="square" rtlCol="0">
            <a:noAutofit/>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4"/>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The researcher needs to </a:t>
            </a:r>
            <a:r>
              <a:rPr kumimoji="0" lang="en-GB" sz="1800" b="1" i="0" u="sng" strike="noStrike" kern="1200" cap="none" spc="0" normalizeH="0" baseline="0" noProof="0" dirty="0">
                <a:ln>
                  <a:noFill/>
                </a:ln>
                <a:solidFill>
                  <a:prstClr val="black"/>
                </a:solidFill>
                <a:effectLst/>
                <a:uLnTx/>
                <a:uFillTx/>
                <a:latin typeface="Calibri" panose="020F0502020204030204"/>
                <a:ea typeface="+mn-ea"/>
                <a:cs typeface="+mn-cs"/>
              </a:rPr>
              <a:t>a priori</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 specify</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the functional form of the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utility function: V</a:t>
            </a:r>
            <a:r>
              <a:rPr kumimoji="0" lang="en-GB" sz="1800" b="1" i="0" u="none" strike="noStrike" kern="1200" cap="none" spc="0" normalizeH="0" baseline="-25000" noProof="0" dirty="0">
                <a:ln>
                  <a:noFill/>
                </a:ln>
                <a:solidFill>
                  <a:prstClr val="black"/>
                </a:solidFill>
                <a:effectLst/>
                <a:uLnTx/>
                <a:uFillTx/>
                <a:latin typeface="Calibri" panose="020F0502020204030204"/>
                <a:ea typeface="+mn-ea"/>
                <a:cs typeface="+mn-cs"/>
              </a:rPr>
              <a:t>i</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GB" sz="1800" b="1" i="1" u="none" strike="noStrike" kern="1200" cap="none" spc="0" normalizeH="0" baseline="0" noProof="0" dirty="0">
                <a:ln>
                  <a:noFill/>
                </a:ln>
                <a:solidFill>
                  <a:prstClr val="black"/>
                </a:solidFill>
                <a:effectLst/>
                <a:uLnTx/>
                <a:uFillTx/>
                <a:latin typeface="Calibri" panose="020F0502020204030204"/>
                <a:ea typeface="+mn-ea"/>
                <a:cs typeface="+mn-cs"/>
              </a:rPr>
              <a:t>f(x</a:t>
            </a:r>
            <a:r>
              <a:rPr kumimoji="0" lang="en-GB" sz="1800" b="1" i="1" u="none" strike="noStrike" kern="1200" cap="none" spc="0" normalizeH="0" baseline="-25000" noProof="0" dirty="0">
                <a:ln>
                  <a:noFill/>
                </a:ln>
                <a:solidFill>
                  <a:prstClr val="black"/>
                </a:solidFill>
                <a:effectLst/>
                <a:uLnTx/>
                <a:uFillTx/>
                <a:latin typeface="Calibri" panose="020F0502020204030204"/>
                <a:ea typeface="+mn-ea"/>
                <a:cs typeface="+mn-cs"/>
              </a:rPr>
              <a:t>i</a:t>
            </a:r>
            <a:r>
              <a:rPr kumimoji="0" lang="en-GB" sz="1800" b="1" i="1" u="none" strike="noStrike" kern="1200" cap="none" spc="0" normalizeH="0" baseline="0" noProof="0" dirty="0">
                <a:ln>
                  <a:noFill/>
                </a:ln>
                <a:solidFill>
                  <a:prstClr val="black"/>
                </a:solidFill>
                <a:effectLst/>
                <a:uLnTx/>
                <a:uFillTx/>
                <a:latin typeface="Calibri" panose="020F0502020204030204"/>
                <a:ea typeface="+mn-ea"/>
                <a:cs typeface="+mn-cs"/>
              </a:rPr>
              <a: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The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true DGP is unlikely to be found</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considering the large number of potential specifications with interactions, nonlinearities, asymmetries, etc. </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But estimates, std errors are only reliable when the utility function equals the true Data Generating Process (DGP). </a:t>
            </a: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endParaRPr>
          </a:p>
          <a:p>
            <a:pPr marL="914400" marR="0" lvl="2"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endParaRPr>
          </a:p>
          <a:p>
            <a:pPr marL="914400" marR="0" lvl="2"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 Biased estimates and predictions</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grpSp>
        <p:nvGrpSpPr>
          <p:cNvPr id="2" name="Group 1">
            <a:extLst>
              <a:ext uri="{FF2B5EF4-FFF2-40B4-BE49-F238E27FC236}">
                <a16:creationId xmlns:a16="http://schemas.microsoft.com/office/drawing/2014/main" id="{FBF7D121-7943-35ED-6415-308888EB76E1}"/>
              </a:ext>
            </a:extLst>
          </p:cNvPr>
          <p:cNvGrpSpPr/>
          <p:nvPr/>
        </p:nvGrpSpPr>
        <p:grpSpPr>
          <a:xfrm>
            <a:off x="6762939" y="2736093"/>
            <a:ext cx="5332490" cy="2145702"/>
            <a:chOff x="6762939" y="2736093"/>
            <a:chExt cx="5332490" cy="2145702"/>
          </a:xfrm>
        </p:grpSpPr>
        <p:grpSp>
          <p:nvGrpSpPr>
            <p:cNvPr id="13" name="Group 12">
              <a:extLst>
                <a:ext uri="{FF2B5EF4-FFF2-40B4-BE49-F238E27FC236}">
                  <a16:creationId xmlns:a16="http://schemas.microsoft.com/office/drawing/2014/main" id="{4426F303-BFA6-2C02-A5A0-5C2252CD09B5}"/>
                </a:ext>
              </a:extLst>
            </p:cNvPr>
            <p:cNvGrpSpPr/>
            <p:nvPr/>
          </p:nvGrpSpPr>
          <p:grpSpPr>
            <a:xfrm>
              <a:off x="6762939" y="2736093"/>
              <a:ext cx="1249378" cy="1919334"/>
              <a:chOff x="6762939" y="2736093"/>
              <a:chExt cx="1249378" cy="1919334"/>
            </a:xfrm>
          </p:grpSpPr>
          <p:sp>
            <p:nvSpPr>
              <p:cNvPr id="14" name="Right Arrow 13">
                <a:extLst>
                  <a:ext uri="{FF2B5EF4-FFF2-40B4-BE49-F238E27FC236}">
                    <a16:creationId xmlns:a16="http://schemas.microsoft.com/office/drawing/2014/main" id="{EDBEA28B-7B2E-78FF-387B-AB238F9ADAAF}"/>
                  </a:ext>
                </a:extLst>
              </p:cNvPr>
              <p:cNvSpPr/>
              <p:nvPr/>
            </p:nvSpPr>
            <p:spPr>
              <a:xfrm>
                <a:off x="6762939" y="2736093"/>
                <a:ext cx="1249378" cy="1919334"/>
              </a:xfrm>
              <a:prstGeom prst="rightArrow">
                <a:avLst>
                  <a:gd name="adj1" fmla="val 51886"/>
                  <a:gd name="adj2" fmla="val 50000"/>
                </a:avLst>
              </a:prstGeom>
              <a:noFill/>
              <a:ln w="57150">
                <a:solidFill>
                  <a:srgbClr val="24B5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NL"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5" name="Picture 2" descr="Image result for understand icon">
                <a:extLst>
                  <a:ext uri="{FF2B5EF4-FFF2-40B4-BE49-F238E27FC236}">
                    <a16:creationId xmlns:a16="http://schemas.microsoft.com/office/drawing/2014/main" id="{3AC88BED-69FF-1823-74FF-6D638B8F50A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04360" y="3276510"/>
                <a:ext cx="838501" cy="838501"/>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TextBox 16">
              <a:extLst>
                <a:ext uri="{FF2B5EF4-FFF2-40B4-BE49-F238E27FC236}">
                  <a16:creationId xmlns:a16="http://schemas.microsoft.com/office/drawing/2014/main" id="{1AA262C5-D9E9-8CAC-ACE5-AF7FEBBF2DD3}"/>
                </a:ext>
              </a:extLst>
            </p:cNvPr>
            <p:cNvSpPr txBox="1"/>
            <p:nvPr/>
          </p:nvSpPr>
          <p:spPr>
            <a:xfrm>
              <a:off x="8111904" y="2850292"/>
              <a:ext cx="3983525" cy="2031503"/>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NL" sz="1800" b="1" i="0" u="sng"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Data-driven models</a:t>
              </a:r>
              <a:r>
                <a:rPr kumimoji="0" lang="en-NL" sz="1800" b="1" i="0"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 </a:t>
              </a:r>
              <a:r>
                <a:rPr kumimoji="0" lang="en-NL" sz="1800" b="1"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(aka Machine Learning)</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NL"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Hybrid choice models</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NL"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NL"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Machine Learning + eXplainable AI techniques</a:t>
              </a:r>
            </a:p>
            <a:p>
              <a:pPr marL="457200" marR="0" lvl="1"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742950" marR="0" lvl="1"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grpSp>
      <p:sp>
        <p:nvSpPr>
          <p:cNvPr id="3" name="Line 2">
            <a:extLst>
              <a:ext uri="{FF2B5EF4-FFF2-40B4-BE49-F238E27FC236}">
                <a16:creationId xmlns:a16="http://schemas.microsoft.com/office/drawing/2014/main" id="{2EEC00BD-7F21-FBF8-38B7-392C36436D75}"/>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4" name="Line 2">
            <a:extLst>
              <a:ext uri="{FF2B5EF4-FFF2-40B4-BE49-F238E27FC236}">
                <a16:creationId xmlns:a16="http://schemas.microsoft.com/office/drawing/2014/main" id="{BE00E59B-434C-4710-1198-DD654374E66C}"/>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688476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F2D17-C86F-4C93-7F09-1DBD3F5E4F72}"/>
            </a:ext>
          </a:extLst>
        </p:cNvPr>
        <p:cNvGrpSpPr/>
        <p:nvPr/>
      </p:nvGrpSpPr>
      <p:grpSpPr>
        <a:xfrm>
          <a:off x="0" y="0"/>
          <a:ext cx="0" cy="0"/>
          <a:chOff x="0" y="0"/>
          <a:chExt cx="0" cy="0"/>
        </a:xfrm>
      </p:grpSpPr>
      <p:sp>
        <p:nvSpPr>
          <p:cNvPr id="111" name="CustomShape 1">
            <a:extLst>
              <a:ext uri="{FF2B5EF4-FFF2-40B4-BE49-F238E27FC236}">
                <a16:creationId xmlns:a16="http://schemas.microsoft.com/office/drawing/2014/main" id="{F387CBA4-A25B-F81E-9639-8CA98D07A3C3}"/>
              </a:ext>
            </a:extLst>
          </p:cNvPr>
          <p:cNvSpPr/>
          <p:nvPr/>
        </p:nvSpPr>
        <p:spPr>
          <a:xfrm>
            <a:off x="838080" y="365040"/>
            <a:ext cx="10514880" cy="1324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endParaRPr lang="en-US" sz="3800" b="0" strike="noStrike" spc="-1" dirty="0">
              <a:latin typeface="Calibri"/>
            </a:endParaRPr>
          </a:p>
        </p:txBody>
      </p:sp>
      <p:sp>
        <p:nvSpPr>
          <p:cNvPr id="112" name="Line 2">
            <a:extLst>
              <a:ext uri="{FF2B5EF4-FFF2-40B4-BE49-F238E27FC236}">
                <a16:creationId xmlns:a16="http://schemas.microsoft.com/office/drawing/2014/main" id="{9E16883F-DFFF-EC14-8D08-4F4E671C9284}"/>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8" name="Title 1">
            <a:extLst>
              <a:ext uri="{FF2B5EF4-FFF2-40B4-BE49-F238E27FC236}">
                <a16:creationId xmlns:a16="http://schemas.microsoft.com/office/drawing/2014/main" id="{6C0E179B-39A9-8629-4288-9D03A7072833}"/>
              </a:ext>
            </a:extLst>
          </p:cNvPr>
          <p:cNvSpPr txBox="1">
            <a:spLocks/>
          </p:cNvSpPr>
          <p:nvPr/>
        </p:nvSpPr>
        <p:spPr>
          <a:xfrm>
            <a:off x="513273" y="350635"/>
            <a:ext cx="10515600" cy="66357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dirty="0">
                <a:latin typeface="Times New Roman" panose="02020603050405020304" pitchFamily="18" charset="0"/>
                <a:cs typeface="Times New Roman" panose="02020603050405020304" pitchFamily="18" charset="0"/>
              </a:rPr>
              <a:t>Model Specification Problem (PhD dissertation)</a:t>
            </a:r>
          </a:p>
        </p:txBody>
      </p:sp>
      <p:sp>
        <p:nvSpPr>
          <p:cNvPr id="4" name="Line 2">
            <a:extLst>
              <a:ext uri="{FF2B5EF4-FFF2-40B4-BE49-F238E27FC236}">
                <a16:creationId xmlns:a16="http://schemas.microsoft.com/office/drawing/2014/main" id="{E95C8614-976E-6FE9-4713-C1A592DF6EA0}"/>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pic>
        <p:nvPicPr>
          <p:cNvPr id="60" name="Picture 59">
            <a:extLst>
              <a:ext uri="{FF2B5EF4-FFF2-40B4-BE49-F238E27FC236}">
                <a16:creationId xmlns:a16="http://schemas.microsoft.com/office/drawing/2014/main" id="{4F080155-244C-1E7B-1177-BAB7B0B269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11259" y="1559220"/>
            <a:ext cx="5347467" cy="4446958"/>
          </a:xfrm>
          <a:prstGeom prst="rect">
            <a:avLst/>
          </a:prstGeom>
        </p:spPr>
      </p:pic>
      <p:sp>
        <p:nvSpPr>
          <p:cNvPr id="5" name="TextBox 4">
            <a:extLst>
              <a:ext uri="{FF2B5EF4-FFF2-40B4-BE49-F238E27FC236}">
                <a16:creationId xmlns:a16="http://schemas.microsoft.com/office/drawing/2014/main" id="{E8416D1F-982A-2D0A-DB99-5E8DC9A3090E}"/>
              </a:ext>
            </a:extLst>
          </p:cNvPr>
          <p:cNvSpPr txBox="1"/>
          <p:nvPr/>
        </p:nvSpPr>
        <p:spPr>
          <a:xfrm>
            <a:off x="513273" y="1258437"/>
            <a:ext cx="5720379" cy="4247317"/>
          </a:xfrm>
          <a:prstGeom prst="rect">
            <a:avLst/>
          </a:prstGeom>
          <a:noFill/>
        </p:spPr>
        <p:txBody>
          <a:bodyPr wrap="square">
            <a:spAutoFit/>
          </a:bodyPr>
          <a:lstStyle/>
          <a:p>
            <a:r>
              <a:rPr lang="en-GB" dirty="0">
                <a:latin typeface="Times New Roman" panose="02020603050405020304" pitchFamily="18" charset="0"/>
                <a:ea typeface="Calibri" panose="020F0502020204030204" pitchFamily="34" charset="0"/>
                <a:cs typeface="Times New Roman" panose="02020603050405020304" pitchFamily="18" charset="0"/>
              </a:rPr>
              <a:t>Specification is an iterative, trial-and-error process</a:t>
            </a:r>
          </a:p>
          <a:p>
            <a:endParaRPr lang="en-GB" dirty="0">
              <a:latin typeface="Times New Roman" panose="02020603050405020304" pitchFamily="18" charset="0"/>
              <a:ea typeface="Calibri" panose="020F0502020204030204" pitchFamily="34" charset="0"/>
              <a:cs typeface="Times New Roman" panose="02020603050405020304" pitchFamily="18" charset="0"/>
            </a:endParaRPr>
          </a:p>
          <a:p>
            <a:endParaRPr lang="en-GB" dirty="0">
              <a:latin typeface="Times New Roman" panose="02020603050405020304" pitchFamily="18" charset="0"/>
              <a:ea typeface="Calibri" panose="020F0502020204030204" pitchFamily="34" charset="0"/>
              <a:cs typeface="Times New Roman" panose="02020603050405020304" pitchFamily="18" charset="0"/>
            </a:endParaRPr>
          </a:p>
          <a:p>
            <a:r>
              <a:rPr lang="en-GB" dirty="0">
                <a:latin typeface="Times New Roman" panose="02020603050405020304" pitchFamily="18" charset="0"/>
                <a:ea typeface="Calibri" panose="020F0502020204030204" pitchFamily="34" charset="0"/>
                <a:cs typeface="Times New Roman" panose="02020603050405020304" pitchFamily="18" charset="0"/>
              </a:rPr>
              <a:t>Multi-objective criteria</a:t>
            </a:r>
          </a:p>
          <a:p>
            <a:pPr marL="285750" indent="-285750">
              <a:buFont typeface="Arial" panose="020B0604020202020204" pitchFamily="34" charset="0"/>
              <a:buChar char="•"/>
            </a:pPr>
            <a:r>
              <a:rPr lang="en-GB" dirty="0">
                <a:latin typeface="Times New Roman" panose="02020603050405020304" pitchFamily="18" charset="0"/>
                <a:ea typeface="Calibri" panose="020F0502020204030204" pitchFamily="34" charset="0"/>
                <a:cs typeface="Times New Roman" panose="02020603050405020304" pitchFamily="18" charset="0"/>
              </a:rPr>
              <a:t>Model performance</a:t>
            </a:r>
          </a:p>
          <a:p>
            <a:pPr marL="285750" indent="-285750">
              <a:buFont typeface="Arial" panose="020B0604020202020204" pitchFamily="34" charset="0"/>
              <a:buChar char="•"/>
            </a:pPr>
            <a:r>
              <a:rPr lang="en-GB" dirty="0">
                <a:latin typeface="Times New Roman" panose="02020603050405020304" pitchFamily="18" charset="0"/>
                <a:ea typeface="Calibri" panose="020F0502020204030204" pitchFamily="34" charset="0"/>
                <a:cs typeface="Times New Roman" panose="02020603050405020304" pitchFamily="18" charset="0"/>
              </a:rPr>
              <a:t>Parsimony  </a:t>
            </a:r>
          </a:p>
          <a:p>
            <a:pPr marL="285750" indent="-285750">
              <a:buFont typeface="Arial" panose="020B0604020202020204" pitchFamily="34" charset="0"/>
              <a:buChar char="•"/>
            </a:pPr>
            <a:r>
              <a:rPr lang="en-GB" dirty="0">
                <a:latin typeface="Times New Roman" panose="02020603050405020304" pitchFamily="18" charset="0"/>
                <a:ea typeface="Calibri" panose="020F0502020204030204" pitchFamily="34" charset="0"/>
                <a:cs typeface="Times New Roman" panose="02020603050405020304" pitchFamily="18" charset="0"/>
              </a:rPr>
              <a:t>Behavioural plausibility</a:t>
            </a:r>
          </a:p>
          <a:p>
            <a:pPr marL="285750" indent="-285750">
              <a:buFont typeface="Arial" panose="020B0604020202020204" pitchFamily="34" charset="0"/>
              <a:buChar char="•"/>
            </a:pPr>
            <a:endParaRPr lang="en-GB" dirty="0">
              <a:latin typeface="Times New Roman" panose="02020603050405020304" pitchFamily="18" charset="0"/>
              <a:ea typeface="Calibri" panose="020F0502020204030204" pitchFamily="34" charset="0"/>
              <a:cs typeface="Times New Roman" panose="02020603050405020304" pitchFamily="18" charset="0"/>
            </a:endParaRPr>
          </a:p>
          <a:p>
            <a:endParaRPr lang="en-GB" dirty="0">
              <a:latin typeface="Times New Roman" panose="02020603050405020304" pitchFamily="18" charset="0"/>
              <a:ea typeface="Calibri" panose="020F0502020204030204" pitchFamily="34" charset="0"/>
              <a:cs typeface="Times New Roman" panose="02020603050405020304" pitchFamily="18" charset="0"/>
            </a:endParaRPr>
          </a:p>
          <a:p>
            <a:r>
              <a:rPr lang="en-GB" dirty="0">
                <a:latin typeface="Times New Roman" panose="02020603050405020304" pitchFamily="18" charset="0"/>
                <a:ea typeface="Calibri" panose="020F0502020204030204" pitchFamily="34" charset="0"/>
                <a:cs typeface="Times New Roman" panose="02020603050405020304" pitchFamily="18" charset="0"/>
              </a:rPr>
              <a:t>Modelling decisions</a:t>
            </a:r>
          </a:p>
          <a:p>
            <a:pPr marL="285750" indent="-285750">
              <a:buFont typeface="Arial" panose="020B0604020202020204" pitchFamily="34" charset="0"/>
              <a:buChar char="•"/>
            </a:pPr>
            <a:r>
              <a:rPr lang="en-GB" dirty="0">
                <a:latin typeface="Times New Roman" panose="02020603050405020304" pitchFamily="18" charset="0"/>
                <a:ea typeface="Calibri" panose="020F0502020204030204" pitchFamily="34" charset="0"/>
                <a:cs typeface="Times New Roman" panose="02020603050405020304" pitchFamily="18" charset="0"/>
              </a:rPr>
              <a:t>Which attributes enter the utility functions</a:t>
            </a:r>
          </a:p>
          <a:p>
            <a:pPr marL="285750" indent="-285750">
              <a:buFont typeface="Arial" panose="020B0604020202020204" pitchFamily="34" charset="0"/>
              <a:buChar char="•"/>
            </a:pPr>
            <a:r>
              <a:rPr lang="en-GB" dirty="0">
                <a:latin typeface="Times New Roman" panose="02020603050405020304" pitchFamily="18" charset="0"/>
                <a:ea typeface="Calibri" panose="020F0502020204030204" pitchFamily="34" charset="0"/>
                <a:cs typeface="Times New Roman" panose="02020603050405020304" pitchFamily="18" charset="0"/>
              </a:rPr>
              <a:t>Whether to allow non-linear effects </a:t>
            </a:r>
          </a:p>
          <a:p>
            <a:pPr marL="285750" indent="-285750">
              <a:buFont typeface="Arial" panose="020B0604020202020204" pitchFamily="34" charset="0"/>
              <a:buChar char="•"/>
            </a:pPr>
            <a:r>
              <a:rPr lang="en-GB" dirty="0">
                <a:latin typeface="Times New Roman" panose="02020603050405020304" pitchFamily="18" charset="0"/>
                <a:ea typeface="Calibri" panose="020F0502020204030204" pitchFamily="34" charset="0"/>
                <a:cs typeface="Times New Roman" panose="02020603050405020304" pitchFamily="18" charset="0"/>
              </a:rPr>
              <a:t>Whether tastes are generic or alternative-specific</a:t>
            </a:r>
          </a:p>
          <a:p>
            <a:pPr marL="285750" indent="-285750">
              <a:buFont typeface="Arial" panose="020B0604020202020204" pitchFamily="34" charset="0"/>
              <a:buChar char="•"/>
            </a:pPr>
            <a:r>
              <a:rPr lang="en-GB" dirty="0">
                <a:latin typeface="Times New Roman" panose="02020603050405020304" pitchFamily="18" charset="0"/>
                <a:ea typeface="Calibri" panose="020F0502020204030204" pitchFamily="34" charset="0"/>
                <a:cs typeface="Times New Roman" panose="02020603050405020304" pitchFamily="18" charset="0"/>
              </a:rPr>
              <a:t>How to capture observed heterogeneity</a:t>
            </a:r>
          </a:p>
          <a:p>
            <a:pPr marL="342900" indent="-342900">
              <a:buFont typeface="+mj-lt"/>
              <a:buAutoNum type="arabicPeriod"/>
              <a:defRPr sz="1800"/>
            </a:pPr>
            <a:endParaRPr lang="en-US"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C2C8C1B2-3FCE-A256-BB42-C110CFC0FAA0}"/>
              </a:ext>
            </a:extLst>
          </p:cNvPr>
          <p:cNvSpPr txBox="1"/>
          <p:nvPr/>
        </p:nvSpPr>
        <p:spPr>
          <a:xfrm>
            <a:off x="8576846" y="1412866"/>
            <a:ext cx="920846" cy="283380"/>
          </a:xfrm>
          <a:prstGeom prst="rect">
            <a:avLst/>
          </a:prstGeom>
          <a:noFill/>
        </p:spPr>
        <p:txBody>
          <a:bodyPr wrap="square" rtlCol="0">
            <a:spAutoFit/>
          </a:bodyPr>
          <a:lstStyle/>
          <a:p>
            <a:r>
              <a:rPr lang="en-GB" sz="1200" dirty="0"/>
              <a:t>Hypothesis</a:t>
            </a:r>
          </a:p>
        </p:txBody>
      </p:sp>
      <p:sp>
        <p:nvSpPr>
          <p:cNvPr id="9" name="TextBox 8">
            <a:extLst>
              <a:ext uri="{FF2B5EF4-FFF2-40B4-BE49-F238E27FC236}">
                <a16:creationId xmlns:a16="http://schemas.microsoft.com/office/drawing/2014/main" id="{5823AD30-EC74-492E-3382-A6DA54708429}"/>
              </a:ext>
            </a:extLst>
          </p:cNvPr>
          <p:cNvSpPr txBox="1"/>
          <p:nvPr/>
        </p:nvSpPr>
        <p:spPr>
          <a:xfrm>
            <a:off x="10514441" y="4073942"/>
            <a:ext cx="1060104" cy="283380"/>
          </a:xfrm>
          <a:prstGeom prst="rect">
            <a:avLst/>
          </a:prstGeom>
          <a:noFill/>
        </p:spPr>
        <p:txBody>
          <a:bodyPr wrap="square" rtlCol="0">
            <a:spAutoFit/>
          </a:bodyPr>
          <a:lstStyle/>
          <a:p>
            <a:r>
              <a:rPr lang="en-GB" sz="1200" dirty="0"/>
              <a:t>Specification</a:t>
            </a:r>
          </a:p>
        </p:txBody>
      </p:sp>
      <p:sp>
        <p:nvSpPr>
          <p:cNvPr id="10" name="TextBox 9">
            <a:extLst>
              <a:ext uri="{FF2B5EF4-FFF2-40B4-BE49-F238E27FC236}">
                <a16:creationId xmlns:a16="http://schemas.microsoft.com/office/drawing/2014/main" id="{29BCBAA8-9065-C929-A539-2940DBCB9DD7}"/>
              </a:ext>
            </a:extLst>
          </p:cNvPr>
          <p:cNvSpPr txBox="1"/>
          <p:nvPr/>
        </p:nvSpPr>
        <p:spPr>
          <a:xfrm>
            <a:off x="8576846" y="5864488"/>
            <a:ext cx="1060104" cy="283380"/>
          </a:xfrm>
          <a:prstGeom prst="rect">
            <a:avLst/>
          </a:prstGeom>
          <a:noFill/>
        </p:spPr>
        <p:txBody>
          <a:bodyPr wrap="square" rtlCol="0">
            <a:spAutoFit/>
          </a:bodyPr>
          <a:lstStyle/>
          <a:p>
            <a:r>
              <a:rPr lang="en-GB" sz="1200" dirty="0"/>
              <a:t>Estimation</a:t>
            </a:r>
          </a:p>
        </p:txBody>
      </p:sp>
      <p:sp>
        <p:nvSpPr>
          <p:cNvPr id="11" name="TextBox 10">
            <a:extLst>
              <a:ext uri="{FF2B5EF4-FFF2-40B4-BE49-F238E27FC236}">
                <a16:creationId xmlns:a16="http://schemas.microsoft.com/office/drawing/2014/main" id="{9C9CDA12-0E67-7750-0726-CD8F625B09CB}"/>
              </a:ext>
            </a:extLst>
          </p:cNvPr>
          <p:cNvSpPr txBox="1"/>
          <p:nvPr/>
        </p:nvSpPr>
        <p:spPr>
          <a:xfrm>
            <a:off x="6012068" y="4194027"/>
            <a:ext cx="1336743" cy="472301"/>
          </a:xfrm>
          <a:prstGeom prst="rect">
            <a:avLst/>
          </a:prstGeom>
          <a:noFill/>
        </p:spPr>
        <p:txBody>
          <a:bodyPr wrap="square" rtlCol="0">
            <a:spAutoFit/>
          </a:bodyPr>
          <a:lstStyle/>
          <a:p>
            <a:pPr algn="ctr"/>
            <a:r>
              <a:rPr lang="en-GB" sz="1200" dirty="0"/>
              <a:t>Outcome interpretation </a:t>
            </a:r>
          </a:p>
        </p:txBody>
      </p:sp>
      <p:sp>
        <p:nvSpPr>
          <p:cNvPr id="7" name="Rectangle 6">
            <a:extLst>
              <a:ext uri="{FF2B5EF4-FFF2-40B4-BE49-F238E27FC236}">
                <a16:creationId xmlns:a16="http://schemas.microsoft.com/office/drawing/2014/main" id="{2E9E44EB-5F82-7A76-A6EE-515D0BE003E3}"/>
              </a:ext>
            </a:extLst>
          </p:cNvPr>
          <p:cNvSpPr/>
          <p:nvPr/>
        </p:nvSpPr>
        <p:spPr>
          <a:xfrm>
            <a:off x="7010401" y="3844414"/>
            <a:ext cx="776749" cy="8849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Slide Number Placeholder 3">
            <a:extLst>
              <a:ext uri="{FF2B5EF4-FFF2-40B4-BE49-F238E27FC236}">
                <a16:creationId xmlns:a16="http://schemas.microsoft.com/office/drawing/2014/main" id="{773CA552-3731-1B62-87E5-3E56F8502108}"/>
              </a:ext>
            </a:extLst>
          </p:cNvPr>
          <p:cNvSpPr txBox="1">
            <a:spLocks/>
          </p:cNvSpPr>
          <p:nvPr/>
        </p:nvSpPr>
        <p:spPr>
          <a:xfrm>
            <a:off x="9241988" y="6364267"/>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D45CBC7-BB0C-1B4C-8910-D00AF3F288B4}" type="slidenum">
              <a:rPr lang="en-US" smtClean="0"/>
              <a:pPr/>
              <a:t>10</a:t>
            </a:fld>
            <a:endParaRPr lang="en-US" dirty="0"/>
          </a:p>
        </p:txBody>
      </p:sp>
    </p:spTree>
    <p:extLst>
      <p:ext uri="{BB962C8B-B14F-4D97-AF65-F5344CB8AC3E}">
        <p14:creationId xmlns:p14="http://schemas.microsoft.com/office/powerpoint/2010/main" val="1850562788"/>
      </p:ext>
    </p:extLst>
  </p:cSld>
  <p:clrMapOvr>
    <a:masterClrMapping/>
  </p:clrMapOvr>
  <mc:AlternateContent xmlns:mc="http://schemas.openxmlformats.org/markup-compatibility/2006" xmlns:p14="http://schemas.microsoft.com/office/powerpoint/2010/main">
    <mc:Choice Requires="p14">
      <p:transition spd="slow" p14:dur="2000" advTm="405"/>
    </mc:Choice>
    <mc:Fallback xmlns="">
      <p:transition spd="slow" advTm="405"/>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47BC1-45F7-CA79-6066-EFC578FE51D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7" name="TextBox 136">
                <a:extLst>
                  <a:ext uri="{FF2B5EF4-FFF2-40B4-BE49-F238E27FC236}">
                    <a16:creationId xmlns:a16="http://schemas.microsoft.com/office/drawing/2014/main" id="{53E9DE10-1326-1BC4-6F2B-977817D58F75}"/>
                  </a:ext>
                </a:extLst>
              </p:cNvPr>
              <p:cNvSpPr txBox="1"/>
              <p:nvPr/>
            </p:nvSpPr>
            <p:spPr>
              <a:xfrm>
                <a:off x="513272" y="1364600"/>
                <a:ext cx="11324501" cy="4062651"/>
              </a:xfrm>
              <a:prstGeom prst="rect">
                <a:avLst/>
              </a:prstGeom>
              <a:noFill/>
            </p:spPr>
            <p:txBody>
              <a:bodyPr wrap="square">
                <a:spAutoFit/>
              </a:bodyPr>
              <a:lstStyle/>
              <a:p>
                <a:pPr marL="457200" indent="-457200" algn="just">
                  <a:buAutoNum type="alphaLcPeriod"/>
                </a:pPr>
                <a:r>
                  <a:rPr lang="en-GB" sz="2000" dirty="0" err="1">
                    <a:latin typeface="Times New Roman" panose="02020603050405020304" pitchFamily="18" charset="0"/>
                    <a:ea typeface="Times New Roman" panose="02020603050405020304" pitchFamily="18" charset="0"/>
                  </a:rPr>
                  <a:t>Swissmetro</a:t>
                </a:r>
                <a:r>
                  <a:rPr lang="en-GB" sz="2000" dirty="0">
                    <a:latin typeface="Times New Roman" panose="02020603050405020304" pitchFamily="18" charset="0"/>
                    <a:ea typeface="Times New Roman" panose="02020603050405020304" pitchFamily="18" charset="0"/>
                  </a:rPr>
                  <a:t> (Bierlaire et al., 2001)</a:t>
                </a:r>
              </a:p>
              <a:p>
                <a:pPr marL="457200" indent="-457200" algn="just">
                  <a:buAutoNum type="alphaLcPeriod"/>
                </a:pPr>
                <a:endParaRPr lang="en-GB" sz="2000" dirty="0">
                  <a:latin typeface="Times New Roman" panose="02020603050405020304" pitchFamily="18" charset="0"/>
                  <a:ea typeface="Times New Roman" panose="02020603050405020304" pitchFamily="18" charset="0"/>
                </a:endParaRPr>
              </a:p>
              <a:p>
                <a:pPr algn="just"/>
                <a:r>
                  <a:rPr lang="en-GB" sz="2000" dirty="0">
                    <a:latin typeface="Times New Roman" panose="02020603050405020304" pitchFamily="18" charset="0"/>
                    <a:ea typeface="Times New Roman" panose="02020603050405020304" pitchFamily="18" charset="0"/>
                  </a:rPr>
                  <a:t>Modelling space</a:t>
                </a:r>
              </a:p>
              <a:p>
                <a:pPr marL="342900" indent="-342900" algn="just">
                  <a:buFont typeface="Arial" panose="020B0604020202020204" pitchFamily="34" charset="0"/>
                  <a:buChar char="•"/>
                </a:pPr>
                <a:r>
                  <a:rPr lang="en-GB" sz="2000" dirty="0">
                    <a:latin typeface="Times New Roman" panose="02020603050405020304" pitchFamily="18" charset="0"/>
                    <a:ea typeface="Times New Roman" panose="02020603050405020304" pitchFamily="18" charset="0"/>
                  </a:rPr>
                  <a:t>Variables: ASC, TT,TC,HE,SE</a:t>
                </a:r>
              </a:p>
              <a:p>
                <a:pPr marL="342900" indent="-342900" algn="just">
                  <a:buFont typeface="Arial" panose="020B0604020202020204" pitchFamily="34" charset="0"/>
                  <a:buChar char="•"/>
                </a:pPr>
                <a14:m>
                  <m:oMath xmlns:m="http://schemas.openxmlformats.org/officeDocument/2006/math">
                    <m:r>
                      <m:rPr>
                        <m:sty m:val="p"/>
                      </m:rPr>
                      <a:rPr lang="nl-NL" sz="2000" i="1" smtClean="0">
                        <a:latin typeface="Cambria Math" panose="02040503050406030204" pitchFamily="18" charset="0"/>
                      </a:rPr>
                      <m:t>T</m:t>
                    </m:r>
                    <m:r>
                      <m:rPr>
                        <m:sty m:val="p"/>
                      </m:rPr>
                      <a:rPr lang="nl-NL" sz="2000">
                        <a:latin typeface="Cambria Math" panose="02040503050406030204" pitchFamily="18" charset="0"/>
                      </a:rPr>
                      <m:t>ransformations</m:t>
                    </m:r>
                    <m:r>
                      <a:rPr lang="nl-NL" sz="2000" b="0" i="0" smtClean="0">
                        <a:latin typeface="Cambria Math" panose="02040503050406030204" pitchFamily="18" charset="0"/>
                      </a:rPr>
                      <m:t>:</m:t>
                    </m:r>
                    <m:r>
                      <m:rPr>
                        <m:sty m:val="p"/>
                      </m:rPr>
                      <a:rPr lang="nl-NL" sz="2000" b="0" i="0" smtClean="0">
                        <a:latin typeface="Cambria Math" panose="02040503050406030204" pitchFamily="18" charset="0"/>
                      </a:rPr>
                      <m:t>L</m:t>
                    </m:r>
                    <m:r>
                      <a:rPr lang="nl-NL" sz="2000">
                        <a:latin typeface="Cambria Math" panose="02040503050406030204" pitchFamily="18" charset="0"/>
                      </a:rPr>
                      <m:t>, </m:t>
                    </m:r>
                    <m:r>
                      <m:rPr>
                        <m:sty m:val="p"/>
                      </m:rPr>
                      <a:rPr lang="nl-NL" sz="2000" b="0" i="0" smtClean="0">
                        <a:latin typeface="Cambria Math" panose="02040503050406030204" pitchFamily="18" charset="0"/>
                      </a:rPr>
                      <m:t>Log</m:t>
                    </m:r>
                    <m:r>
                      <a:rPr lang="nl-NL" sz="2000">
                        <a:latin typeface="Cambria Math" panose="02040503050406030204" pitchFamily="18" charset="0"/>
                      </a:rPr>
                      <m:t>, </m:t>
                    </m:r>
                    <m:r>
                      <m:rPr>
                        <m:sty m:val="p"/>
                      </m:rPr>
                      <a:rPr lang="nl-NL" sz="2000">
                        <a:latin typeface="Cambria Math" panose="02040503050406030204" pitchFamily="18" charset="0"/>
                      </a:rPr>
                      <m:t>box</m:t>
                    </m:r>
                    <m:r>
                      <a:rPr lang="nl-NL" sz="2000">
                        <a:latin typeface="Cambria Math" panose="02040503050406030204" pitchFamily="18" charset="0"/>
                      </a:rPr>
                      <m:t>−</m:t>
                    </m:r>
                    <m:r>
                      <m:rPr>
                        <m:sty m:val="p"/>
                      </m:rPr>
                      <a:rPr lang="nl-NL" sz="2000">
                        <a:latin typeface="Cambria Math" panose="02040503050406030204" pitchFamily="18" charset="0"/>
                      </a:rPr>
                      <m:t>cox</m:t>
                    </m:r>
                  </m:oMath>
                </a14:m>
                <a:endParaRPr lang="en-GB" sz="2000" dirty="0">
                  <a:latin typeface="Times New Roman" panose="02020603050405020304" pitchFamily="18" charset="0"/>
                  <a:ea typeface="Times New Roman" panose="02020603050405020304" pitchFamily="18" charset="0"/>
                </a:endParaRPr>
              </a:p>
              <a:p>
                <a:pPr marL="342900" indent="-342900" algn="just">
                  <a:buFont typeface="Arial" panose="020B0604020202020204" pitchFamily="34" charset="0"/>
                  <a:buChar char="•"/>
                </a:pPr>
                <a14:m>
                  <m:oMath xmlns:m="http://schemas.openxmlformats.org/officeDocument/2006/math">
                    <m:r>
                      <m:rPr>
                        <m:sty m:val="p"/>
                      </m:rPr>
                      <a:rPr lang="nl-NL" sz="2000" i="1" smtClean="0">
                        <a:latin typeface="Cambria Math" panose="02040503050406030204" pitchFamily="18" charset="0"/>
                      </a:rPr>
                      <m:t>T</m:t>
                    </m:r>
                    <m:r>
                      <m:rPr>
                        <m:sty m:val="p"/>
                      </m:rPr>
                      <a:rPr lang="nl-NL" sz="2000">
                        <a:latin typeface="Cambria Math" panose="02040503050406030204" pitchFamily="18" charset="0"/>
                      </a:rPr>
                      <m:t>aste</m:t>
                    </m:r>
                    <m:r>
                      <a:rPr lang="nl-NL" sz="2000" b="0" i="0" smtClean="0">
                        <a:latin typeface="Cambria Math" panose="02040503050406030204" pitchFamily="18" charset="0"/>
                      </a:rPr>
                      <m:t>:</m:t>
                    </m:r>
                    <m:r>
                      <m:rPr>
                        <m:sty m:val="p"/>
                      </m:rPr>
                      <a:rPr lang="nl-NL" sz="2000" b="0" i="0" smtClean="0">
                        <a:latin typeface="Cambria Math" panose="02040503050406030204" pitchFamily="18" charset="0"/>
                      </a:rPr>
                      <m:t>G</m:t>
                    </m:r>
                    <m:r>
                      <a:rPr lang="nl-NL" sz="2000">
                        <a:latin typeface="Cambria Math" panose="02040503050406030204" pitchFamily="18" charset="0"/>
                      </a:rPr>
                      <m:t>, </m:t>
                    </m:r>
                    <m:r>
                      <m:rPr>
                        <m:sty m:val="p"/>
                      </m:rPr>
                      <a:rPr lang="nl-NL" sz="2000" b="0" i="0" smtClean="0">
                        <a:latin typeface="Cambria Math" panose="02040503050406030204" pitchFamily="18" charset="0"/>
                      </a:rPr>
                      <m:t>S</m:t>
                    </m:r>
                  </m:oMath>
                </a14:m>
                <a:endParaRPr lang="en-GB" sz="2000" dirty="0">
                  <a:latin typeface="Times New Roman" panose="02020603050405020304" pitchFamily="18" charset="0"/>
                  <a:ea typeface="Times New Roman" panose="02020603050405020304" pitchFamily="18" charset="0"/>
                </a:endParaRPr>
              </a:p>
              <a:p>
                <a:pPr marL="342900" indent="-342900" algn="just">
                  <a:buFont typeface="Arial" panose="020B0604020202020204" pitchFamily="34" charset="0"/>
                  <a:buChar char="•"/>
                </a:pPr>
                <a14:m>
                  <m:oMath xmlns:m="http://schemas.openxmlformats.org/officeDocument/2006/math">
                    <m:r>
                      <m:rPr>
                        <m:sty m:val="p"/>
                      </m:rPr>
                      <a:rPr lang="nl-NL" sz="2000" i="1" smtClean="0">
                        <a:latin typeface="Cambria Math" panose="02040503050406030204" pitchFamily="18" charset="0"/>
                      </a:rPr>
                      <m:t>C</m:t>
                    </m:r>
                    <m:r>
                      <m:rPr>
                        <m:sty m:val="p"/>
                      </m:rPr>
                      <a:rPr lang="nl-NL" sz="2000">
                        <a:latin typeface="Cambria Math" panose="02040503050406030204" pitchFamily="18" charset="0"/>
                      </a:rPr>
                      <m:t>ovariate</m:t>
                    </m:r>
                    <m:r>
                      <a:rPr lang="nl-NL" sz="2000" b="0" i="0" smtClean="0">
                        <a:latin typeface="Cambria Math" panose="02040503050406030204" pitchFamily="18" charset="0"/>
                      </a:rPr>
                      <m:t>:</m:t>
                    </m:r>
                  </m:oMath>
                </a14:m>
                <a:r>
                  <a:rPr lang="en-US" sz="2000" dirty="0">
                    <a:ea typeface="Cambria Math" panose="02040503050406030204" pitchFamily="18" charset="0"/>
                    <a:cs typeface="Times New Roman" panose="02020603050405020304" pitchFamily="18" charset="0"/>
                  </a:rPr>
                  <a:t> </a:t>
                </a:r>
                <a14:m>
                  <m:oMath xmlns:m="http://schemas.openxmlformats.org/officeDocument/2006/math">
                    <m:r>
                      <m:rPr>
                        <m:sty m:val="p"/>
                      </m:rPr>
                      <a:rPr lang="nl-NL" sz="2000" b="0" i="0" smtClean="0">
                        <a:latin typeface="Cambria Math" panose="02040503050406030204" pitchFamily="18" charset="0"/>
                        <a:ea typeface="Cambria Math" panose="02040503050406030204" pitchFamily="18" charset="0"/>
                        <a:cs typeface="Times New Roman" panose="02020603050405020304" pitchFamily="18" charset="0"/>
                      </a:rPr>
                      <m:t>A</m:t>
                    </m:r>
                    <m:r>
                      <m:rPr>
                        <m:nor/>
                      </m:rPr>
                      <a:rPr lang="en-US" sz="2000">
                        <a:latin typeface="Cambria Math" panose="02040503050406030204" pitchFamily="18" charset="0"/>
                        <a:ea typeface="Cambria Math" panose="02040503050406030204" pitchFamily="18" charset="0"/>
                        <a:cs typeface="Times New Roman" panose="02020603050405020304" pitchFamily="18" charset="0"/>
                      </a:rPr>
                      <m:t>ge</m:t>
                    </m:r>
                    <m:r>
                      <m:rPr>
                        <m:nor/>
                      </m:rPr>
                      <a:rPr lang="en-US" sz="2000">
                        <a:latin typeface="Cambria Math" panose="02040503050406030204" pitchFamily="18" charset="0"/>
                        <a:ea typeface="Cambria Math" panose="02040503050406030204" pitchFamily="18" charset="0"/>
                        <a:cs typeface="Times New Roman" panose="02020603050405020304" pitchFamily="18" charset="0"/>
                      </a:rPr>
                      <m:t>, </m:t>
                    </m:r>
                    <m:r>
                      <m:rPr>
                        <m:nor/>
                      </m:rPr>
                      <a:rPr lang="nl-NL" sz="2000" b="0" i="0" smtClean="0">
                        <a:latin typeface="Cambria Math" panose="02040503050406030204" pitchFamily="18" charset="0"/>
                        <a:ea typeface="Cambria Math" panose="02040503050406030204" pitchFamily="18" charset="0"/>
                        <a:cs typeface="Times New Roman" panose="02020603050405020304" pitchFamily="18" charset="0"/>
                      </a:rPr>
                      <m:t>Inc</m:t>
                    </m:r>
                    <m:r>
                      <m:rPr>
                        <m:nor/>
                      </m:rPr>
                      <a:rPr lang="en-US" sz="2000">
                        <a:latin typeface="Cambria Math" panose="02040503050406030204" pitchFamily="18" charset="0"/>
                        <a:ea typeface="Cambria Math" panose="02040503050406030204" pitchFamily="18" charset="0"/>
                        <a:cs typeface="Times New Roman" panose="02020603050405020304" pitchFamily="18" charset="0"/>
                      </a:rPr>
                      <m:t>, </m:t>
                    </m:r>
                    <m:r>
                      <m:rPr>
                        <m:nor/>
                      </m:rPr>
                      <a:rPr lang="nl-NL" sz="2000" b="0" i="0" smtClean="0">
                        <a:latin typeface="Cambria Math" panose="02040503050406030204" pitchFamily="18" charset="0"/>
                        <a:ea typeface="Cambria Math" panose="02040503050406030204" pitchFamily="18" charset="0"/>
                        <a:cs typeface="Times New Roman" panose="02020603050405020304" pitchFamily="18" charset="0"/>
                      </a:rPr>
                      <m:t>C</m:t>
                    </m:r>
                    <m:r>
                      <m:rPr>
                        <m:nor/>
                      </m:rPr>
                      <a:rPr lang="en-US" sz="2000">
                        <a:latin typeface="Cambria Math" panose="02040503050406030204" pitchFamily="18" charset="0"/>
                        <a:ea typeface="Cambria Math" panose="02040503050406030204" pitchFamily="18" charset="0"/>
                        <a:cs typeface="Times New Roman" panose="02020603050405020304" pitchFamily="18" charset="0"/>
                      </a:rPr>
                      <m:t>las</m:t>
                    </m:r>
                    <m:r>
                      <m:rPr>
                        <m:nor/>
                      </m:rPr>
                      <a:rPr lang="nl-NL" sz="2000">
                        <a:latin typeface="Cambria Math" panose="02040503050406030204" pitchFamily="18" charset="0"/>
                        <a:ea typeface="Cambria Math" panose="02040503050406030204" pitchFamily="18" charset="0"/>
                        <a:cs typeface="Times New Roman" panose="02020603050405020304" pitchFamily="18" charset="0"/>
                      </a:rPr>
                      <m:t>s</m:t>
                    </m:r>
                    <m:r>
                      <m:rPr>
                        <m:nor/>
                      </m:rPr>
                      <a:rPr lang="en-US" sz="2000">
                        <a:latin typeface="Cambria Math" panose="02040503050406030204" pitchFamily="18" charset="0"/>
                        <a:ea typeface="Cambria Math" panose="02040503050406030204" pitchFamily="18" charset="0"/>
                        <a:cs typeface="Times New Roman" panose="02020603050405020304" pitchFamily="18" charset="0"/>
                      </a:rPr>
                      <m:t>, </m:t>
                    </m:r>
                    <m:r>
                      <m:rPr>
                        <m:nor/>
                      </m:rPr>
                      <a:rPr lang="nl-NL" sz="2000" b="0" i="0" smtClean="0">
                        <a:latin typeface="Cambria Math" panose="02040503050406030204" pitchFamily="18" charset="0"/>
                        <a:ea typeface="Cambria Math" panose="02040503050406030204" pitchFamily="18" charset="0"/>
                        <a:cs typeface="Times New Roman" panose="02020603050405020304" pitchFamily="18" charset="0"/>
                      </a:rPr>
                      <m:t>G</m:t>
                    </m:r>
                    <m:r>
                      <m:rPr>
                        <m:nor/>
                      </m:rPr>
                      <a:rPr lang="en-US" sz="2000">
                        <a:latin typeface="Cambria Math" panose="02040503050406030204" pitchFamily="18" charset="0"/>
                        <a:ea typeface="Cambria Math" panose="02040503050406030204" pitchFamily="18" charset="0"/>
                        <a:cs typeface="Times New Roman" panose="02020603050405020304" pitchFamily="18" charset="0"/>
                      </a:rPr>
                      <m:t>a</m:t>
                    </m:r>
                    <m:r>
                      <m:rPr>
                        <m:nor/>
                      </m:rPr>
                      <a:rPr lang="en-US" sz="2000">
                        <a:latin typeface="Cambria Math" panose="02040503050406030204" pitchFamily="18" charset="0"/>
                        <a:ea typeface="Cambria Math" panose="02040503050406030204" pitchFamily="18" charset="0"/>
                        <a:cs typeface="Times New Roman" panose="02020603050405020304" pitchFamily="18" charset="0"/>
                      </a:rPr>
                      <m:t>, </m:t>
                    </m:r>
                    <m:r>
                      <m:rPr>
                        <m:nor/>
                      </m:rPr>
                      <a:rPr lang="nl-NL" sz="2000" b="0" i="0" smtClean="0">
                        <a:latin typeface="Cambria Math" panose="02040503050406030204" pitchFamily="18" charset="0"/>
                        <a:ea typeface="Cambria Math" panose="02040503050406030204" pitchFamily="18" charset="0"/>
                        <a:cs typeface="Times New Roman" panose="02020603050405020304" pitchFamily="18" charset="0"/>
                      </a:rPr>
                      <m:t>G</m:t>
                    </m:r>
                    <m:r>
                      <m:rPr>
                        <m:nor/>
                      </m:rPr>
                      <a:rPr lang="en-US" sz="2000">
                        <a:latin typeface="Cambria Math" panose="02040503050406030204" pitchFamily="18" charset="0"/>
                        <a:ea typeface="Cambria Math" panose="02040503050406030204" pitchFamily="18" charset="0"/>
                        <a:cs typeface="Times New Roman" panose="02020603050405020304" pitchFamily="18" charset="0"/>
                      </a:rPr>
                      <m:t>ender</m:t>
                    </m:r>
                  </m:oMath>
                </a14:m>
                <a:endParaRPr lang="en-GB" sz="2000" dirty="0">
                  <a:latin typeface="Times New Roman" panose="02020603050405020304" pitchFamily="18" charset="0"/>
                  <a:ea typeface="Times New Roman" panose="02020603050405020304" pitchFamily="18" charset="0"/>
                </a:endParaRPr>
              </a:p>
              <a:p>
                <a:pPr lvl="2" algn="just"/>
                <a:endParaRPr lang="nl-NL" sz="2000" b="0" i="0" dirty="0">
                  <a:latin typeface="Cambria Math" panose="02040503050406030204" pitchFamily="18" charset="0"/>
                  <a:ea typeface="Times New Roman" panose="02020603050405020304" pitchFamily="18" charset="0"/>
                </a:endParaRPr>
              </a:p>
              <a:p>
                <a:pPr lvl="2" algn="just"/>
                <a:endParaRPr lang="nl-NL" sz="2000" b="0" i="0" dirty="0">
                  <a:latin typeface="Cambria Math" panose="02040503050406030204" pitchFamily="18" charset="0"/>
                  <a:ea typeface="Times New Roman" panose="02020603050405020304" pitchFamily="18" charset="0"/>
                </a:endParaRPr>
              </a:p>
              <a:p>
                <a:pPr algn="just"/>
                <a:endParaRPr lang="en-GB" sz="2000" dirty="0">
                  <a:latin typeface="Times New Roman" panose="02020603050405020304" pitchFamily="18" charset="0"/>
                  <a:ea typeface="Times New Roman" panose="02020603050405020304" pitchFamily="18" charset="0"/>
                </a:endParaRPr>
              </a:p>
              <a:p>
                <a:pPr algn="just"/>
                <a:endParaRPr lang="en-GB" sz="2000" dirty="0">
                  <a:latin typeface="Times New Roman" panose="02020603050405020304" pitchFamily="18" charset="0"/>
                </a:endParaRPr>
              </a:p>
              <a:p>
                <a:pPr marL="342900" indent="-342900" algn="just">
                  <a:buFont typeface="+mj-lt"/>
                  <a:buAutoNum type="arabicPeriod"/>
                </a:pPr>
                <a:endParaRPr lang="en-GB" sz="2000" dirty="0">
                  <a:latin typeface="Times New Roman" panose="02020603050405020304" pitchFamily="18" charset="0"/>
                  <a:ea typeface="Times New Roman" panose="02020603050405020304" pitchFamily="18" charset="0"/>
                </a:endParaRPr>
              </a:p>
              <a:p>
                <a:pPr algn="just"/>
                <a:endParaRPr lang="en-GB" dirty="0">
                  <a:latin typeface="Cambria Math" panose="02040503050406030204" pitchFamily="18" charset="0"/>
                  <a:ea typeface="Cambria Math" panose="02040503050406030204" pitchFamily="18" charset="0"/>
                </a:endParaRPr>
              </a:p>
            </p:txBody>
          </p:sp>
        </mc:Choice>
        <mc:Fallback xmlns="">
          <p:sp>
            <p:nvSpPr>
              <p:cNvPr id="137" name="TextBox 136">
                <a:extLst>
                  <a:ext uri="{FF2B5EF4-FFF2-40B4-BE49-F238E27FC236}">
                    <a16:creationId xmlns:a16="http://schemas.microsoft.com/office/drawing/2014/main" id="{53E9DE10-1326-1BC4-6F2B-977817D58F75}"/>
                  </a:ext>
                </a:extLst>
              </p:cNvPr>
              <p:cNvSpPr txBox="1">
                <a:spLocks noRot="1" noChangeAspect="1" noMove="1" noResize="1" noEditPoints="1" noAdjustHandles="1" noChangeArrowheads="1" noChangeShapeType="1" noTextEdit="1"/>
              </p:cNvSpPr>
              <p:nvPr/>
            </p:nvSpPr>
            <p:spPr>
              <a:xfrm>
                <a:off x="513272" y="1364600"/>
                <a:ext cx="11324501" cy="4062651"/>
              </a:xfrm>
              <a:prstGeom prst="rect">
                <a:avLst/>
              </a:prstGeom>
              <a:blipFill>
                <a:blip r:embed="rId3"/>
                <a:stretch>
                  <a:fillRect l="-560" t="-935"/>
                </a:stretch>
              </a:blipFill>
            </p:spPr>
            <p:txBody>
              <a:bodyPr/>
              <a:lstStyle/>
              <a:p>
                <a:r>
                  <a:rPr lang="en-GB">
                    <a:noFill/>
                  </a:rPr>
                  <a:t> </a:t>
                </a:r>
              </a:p>
            </p:txBody>
          </p:sp>
        </mc:Fallback>
      </mc:AlternateContent>
      <p:sp>
        <p:nvSpPr>
          <p:cNvPr id="111" name="CustomShape 1">
            <a:extLst>
              <a:ext uri="{FF2B5EF4-FFF2-40B4-BE49-F238E27FC236}">
                <a16:creationId xmlns:a16="http://schemas.microsoft.com/office/drawing/2014/main" id="{98EC81A2-266C-6662-7B59-9B19D0287A6B}"/>
              </a:ext>
            </a:extLst>
          </p:cNvPr>
          <p:cNvSpPr/>
          <p:nvPr/>
        </p:nvSpPr>
        <p:spPr>
          <a:xfrm>
            <a:off x="838080" y="365040"/>
            <a:ext cx="10514880" cy="1324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endParaRPr lang="en-US" sz="3800" b="0" strike="noStrike" spc="-1" dirty="0">
              <a:latin typeface="Calibri"/>
            </a:endParaRPr>
          </a:p>
        </p:txBody>
      </p:sp>
      <p:sp>
        <p:nvSpPr>
          <p:cNvPr id="112" name="Line 2">
            <a:extLst>
              <a:ext uri="{FF2B5EF4-FFF2-40B4-BE49-F238E27FC236}">
                <a16:creationId xmlns:a16="http://schemas.microsoft.com/office/drawing/2014/main" id="{1E5D077E-9B7C-30D3-2D41-B77BB7F5E270}"/>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3" name="Slide Number Placeholder 3">
            <a:extLst>
              <a:ext uri="{FF2B5EF4-FFF2-40B4-BE49-F238E27FC236}">
                <a16:creationId xmlns:a16="http://schemas.microsoft.com/office/drawing/2014/main" id="{8F395300-FECF-66C2-6235-BFE60C313D63}"/>
              </a:ext>
            </a:extLst>
          </p:cNvPr>
          <p:cNvSpPr txBox="1">
            <a:spLocks/>
          </p:cNvSpPr>
          <p:nvPr/>
        </p:nvSpPr>
        <p:spPr>
          <a:xfrm>
            <a:off x="8610600" y="6340865"/>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D45CBC7-BB0C-1B4C-8910-D00AF3F288B4}" type="slidenum">
              <a:rPr lang="en-US" smtClean="0"/>
              <a:pPr/>
              <a:t>11</a:t>
            </a:fld>
            <a:endParaRPr lang="en-US" dirty="0"/>
          </a:p>
        </p:txBody>
      </p:sp>
      <p:sp>
        <p:nvSpPr>
          <p:cNvPr id="8" name="Title 1">
            <a:extLst>
              <a:ext uri="{FF2B5EF4-FFF2-40B4-BE49-F238E27FC236}">
                <a16:creationId xmlns:a16="http://schemas.microsoft.com/office/drawing/2014/main" id="{5CCA9AC6-17A9-E24C-2ACB-923A77DADDD3}"/>
              </a:ext>
            </a:extLst>
          </p:cNvPr>
          <p:cNvSpPr txBox="1">
            <a:spLocks/>
          </p:cNvSpPr>
          <p:nvPr/>
        </p:nvSpPr>
        <p:spPr>
          <a:xfrm>
            <a:off x="513272" y="350635"/>
            <a:ext cx="11005627" cy="66357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2800" noProof="0" dirty="0">
                <a:latin typeface="Times New Roman" panose="02020603050405020304" pitchFamily="18" charset="0"/>
                <a:cs typeface="Times New Roman" panose="02020603050405020304" pitchFamily="18" charset="0"/>
              </a:rPr>
              <a:t>Delphos </a:t>
            </a:r>
            <a:r>
              <a:rPr lang="en-US" sz="2800" dirty="0">
                <a:latin typeface="Times New Roman" panose="02020603050405020304" pitchFamily="18" charset="0"/>
                <a:cs typeface="Times New Roman" panose="02020603050405020304" pitchFamily="18" charset="0"/>
              </a:rPr>
              <a:t>(PhD dissertation)</a:t>
            </a:r>
          </a:p>
          <a:p>
            <a:endParaRPr lang="en-GB" sz="2800" noProof="0" dirty="0">
              <a:latin typeface="Times New Roman" panose="02020603050405020304" pitchFamily="18" charset="0"/>
              <a:cs typeface="Times New Roman" panose="02020603050405020304" pitchFamily="18" charset="0"/>
            </a:endParaRPr>
          </a:p>
        </p:txBody>
      </p:sp>
      <p:sp>
        <p:nvSpPr>
          <p:cNvPr id="4" name="Line 2">
            <a:extLst>
              <a:ext uri="{FF2B5EF4-FFF2-40B4-BE49-F238E27FC236}">
                <a16:creationId xmlns:a16="http://schemas.microsoft.com/office/drawing/2014/main" id="{F46CD504-7192-BCDF-9AF6-A5455EA8731F}"/>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pic>
        <p:nvPicPr>
          <p:cNvPr id="10" name="Picture 9">
            <a:extLst>
              <a:ext uri="{FF2B5EF4-FFF2-40B4-BE49-F238E27FC236}">
                <a16:creationId xmlns:a16="http://schemas.microsoft.com/office/drawing/2014/main" id="{81850CBA-22AE-EFC9-51D3-A98CCD9D74A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19564" y="1536058"/>
            <a:ext cx="6962155" cy="4612428"/>
          </a:xfrm>
          <a:prstGeom prst="rect">
            <a:avLst/>
          </a:prstGeom>
        </p:spPr>
      </p:pic>
      <p:sp>
        <p:nvSpPr>
          <p:cNvPr id="11" name="TextBox 10">
            <a:extLst>
              <a:ext uri="{FF2B5EF4-FFF2-40B4-BE49-F238E27FC236}">
                <a16:creationId xmlns:a16="http://schemas.microsoft.com/office/drawing/2014/main" id="{8D85B28B-7C9B-B017-EE9B-1C21BCFE848D}"/>
              </a:ext>
            </a:extLst>
          </p:cNvPr>
          <p:cNvSpPr txBox="1"/>
          <p:nvPr/>
        </p:nvSpPr>
        <p:spPr>
          <a:xfrm>
            <a:off x="3690397" y="6567490"/>
            <a:ext cx="4810245" cy="276999"/>
          </a:xfrm>
          <a:prstGeom prst="rect">
            <a:avLst/>
          </a:prstGeom>
          <a:noFill/>
        </p:spPr>
        <p:txBody>
          <a:bodyPr wrap="square" rtlCol="0">
            <a:spAutoFit/>
          </a:bodyPr>
          <a:lstStyle/>
          <a:p>
            <a:pPr>
              <a:spcAft>
                <a:spcPts val="800"/>
              </a:spcAft>
            </a:pPr>
            <a:r>
              <a:rPr lang="en-GB" sz="1200" noProof="0" dirty="0"/>
              <a:t>Ortelli et al., (2021). VNS - Assisted specification of discrete choice models</a:t>
            </a:r>
          </a:p>
        </p:txBody>
      </p:sp>
    </p:spTree>
    <p:extLst>
      <p:ext uri="{BB962C8B-B14F-4D97-AF65-F5344CB8AC3E}">
        <p14:creationId xmlns:p14="http://schemas.microsoft.com/office/powerpoint/2010/main" val="29604553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A8D3-1D9D-09C7-FD80-4F6197AB17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81B981-2D22-5C71-C0A9-D0F635BDD533}"/>
              </a:ext>
            </a:extLst>
          </p:cNvPr>
          <p:cNvSpPr>
            <a:spLocks noGrp="1"/>
          </p:cNvSpPr>
          <p:nvPr>
            <p:ph type="title"/>
          </p:nvPr>
        </p:nvSpPr>
        <p:spPr>
          <a:xfrm>
            <a:off x="1981200" y="274638"/>
            <a:ext cx="8229600" cy="6466730"/>
          </a:xfrm>
        </p:spPr>
        <p:txBody>
          <a:bodyPr/>
          <a:lstStyle/>
          <a:p>
            <a:r>
              <a:rPr lang="en-GB" sz="4000" dirty="0"/>
              <a:t>Data-driven Models </a:t>
            </a:r>
            <a:br>
              <a:rPr lang="en-GB" sz="4000" dirty="0"/>
            </a:br>
            <a:endParaRPr lang="en-GB" sz="4000" dirty="0"/>
          </a:p>
        </p:txBody>
      </p:sp>
      <p:sp>
        <p:nvSpPr>
          <p:cNvPr id="4" name="Slide Number Placeholder 3">
            <a:extLst>
              <a:ext uri="{FF2B5EF4-FFF2-40B4-BE49-F238E27FC236}">
                <a16:creationId xmlns:a16="http://schemas.microsoft.com/office/drawing/2014/main" id="{272BA593-04A2-9765-D153-921B432BDB8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nl-NL"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956850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chor="t"/>
          <a:lstStyle/>
          <a:p>
            <a:r>
              <a:rPr lang="en-US" sz="4000" dirty="0"/>
              <a:t>Theory-driven vs data-driven</a:t>
            </a:r>
          </a:p>
        </p:txBody>
      </p:sp>
      <p:sp>
        <p:nvSpPr>
          <p:cNvPr id="7" name="Rounded Rectangle 6"/>
          <p:cNvSpPr/>
          <p:nvPr/>
        </p:nvSpPr>
        <p:spPr>
          <a:xfrm>
            <a:off x="2118284" y="1556792"/>
            <a:ext cx="3545667" cy="5184576"/>
          </a:xfrm>
          <a:prstGeom prst="roundRect">
            <a:avLst/>
          </a:prstGeom>
          <a:solidFill>
            <a:schemeClr val="bg1">
              <a:lumMod val="8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TextBox 11"/>
          <p:cNvSpPr txBox="1"/>
          <p:nvPr/>
        </p:nvSpPr>
        <p:spPr>
          <a:xfrm>
            <a:off x="2118283" y="1556793"/>
            <a:ext cx="3517110"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Theory-driven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(discrete choice models) </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3" name="TextBox 12"/>
          <p:cNvSpPr txBox="1"/>
          <p:nvPr/>
        </p:nvSpPr>
        <p:spPr>
          <a:xfrm>
            <a:off x="2120255" y="2289061"/>
            <a:ext cx="3515139" cy="424731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1" u="none" strike="noStrike" kern="1200" cap="none" spc="0" normalizeH="0" baseline="0" noProof="0" dirty="0">
                <a:ln>
                  <a:noFill/>
                </a:ln>
                <a:solidFill>
                  <a:prstClr val="black"/>
                </a:solidFill>
                <a:effectLst/>
                <a:uLnTx/>
                <a:uFillTx/>
                <a:latin typeface="Calibri"/>
                <a:ea typeface="+mn-ea"/>
                <a:cs typeface="+mn-cs"/>
              </a:rPr>
              <a:t>Guiding principle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Data generating process is a stochastic model</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Analyst imposes </a:t>
            </a:r>
            <a:r>
              <a:rPr kumimoji="0" lang="en-GB" sz="1800" b="0" i="0" u="none" strike="noStrike" kern="1200" cap="none" spc="0" normalizeH="0" baseline="0" noProof="0" dirty="0">
                <a:ln>
                  <a:noFill/>
                </a:ln>
                <a:solidFill>
                  <a:prstClr val="black"/>
                </a:solidFill>
                <a:effectLst/>
                <a:uLnTx/>
                <a:uFillTx/>
                <a:latin typeface="Calibri"/>
                <a:ea typeface="+mn-ea"/>
                <a:cs typeface="+mn-cs"/>
              </a:rPr>
              <a:t>structure based on theory</a:t>
            </a: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Times New Roman" panose="02020603050405020304" pitchFamily="18" charset="0"/>
              </a:rPr>
              <a:t>Set of parameters, sign. levels</a:t>
            </a:r>
          </a:p>
        </p:txBody>
      </p:sp>
      <p:grpSp>
        <p:nvGrpSpPr>
          <p:cNvPr id="14" name="Group 13"/>
          <p:cNvGrpSpPr/>
          <p:nvPr/>
        </p:nvGrpSpPr>
        <p:grpSpPr>
          <a:xfrm>
            <a:off x="2160609" y="4446474"/>
            <a:ext cx="3515138" cy="1934855"/>
            <a:chOff x="755576" y="4833156"/>
            <a:chExt cx="3407127" cy="1934855"/>
          </a:xfrm>
        </p:grpSpPr>
        <p:pic>
          <p:nvPicPr>
            <p:cNvPr id="15" name="Picture 14"/>
            <p:cNvPicPr>
              <a:picLocks noChangeAspect="1"/>
            </p:cNvPicPr>
            <p:nvPr/>
          </p:nvPicPr>
          <p:blipFill rotWithShape="1">
            <a:blip r:embed="rId3">
              <a:extLst>
                <a:ext uri="{28A0092B-C50C-407E-A947-70E740481C1C}">
                  <a14:useLocalDpi xmlns:a14="http://schemas.microsoft.com/office/drawing/2010/main" val="0"/>
                </a:ext>
              </a:extLst>
            </a:blip>
            <a:srcRect l="24285" r="22762"/>
            <a:stretch/>
          </p:blipFill>
          <p:spPr>
            <a:xfrm>
              <a:off x="755576" y="4833156"/>
              <a:ext cx="3407127" cy="1934855"/>
            </a:xfrm>
            <a:prstGeom prst="rect">
              <a:avLst/>
            </a:prstGeom>
          </p:spPr>
        </p:pic>
        <p:sp>
          <p:nvSpPr>
            <p:cNvPr id="16" name="Rectangle 15"/>
            <p:cNvSpPr/>
            <p:nvPr/>
          </p:nvSpPr>
          <p:spPr>
            <a:xfrm>
              <a:off x="1778227" y="5625244"/>
              <a:ext cx="1081828" cy="43204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000" b="1" i="1" u="none" strike="noStrike" kern="1200" cap="none" spc="0" normalizeH="0" baseline="0" noProof="0" dirty="0">
                  <a:ln>
                    <a:noFill/>
                  </a:ln>
                  <a:solidFill>
                    <a:prstClr val="white"/>
                  </a:solidFill>
                  <a:effectLst/>
                  <a:uLnTx/>
                  <a:uFillTx/>
                  <a:latin typeface="Calibri"/>
                  <a:ea typeface="+mn-ea"/>
                  <a:cs typeface="+mn-cs"/>
                </a:rPr>
                <a:t>f</a:t>
              </a:r>
              <a:r>
                <a:rPr kumimoji="0" lang="en-GB" sz="2000" b="1" i="0" u="none" strike="noStrike" kern="1200" cap="none" spc="0" normalizeH="0" baseline="0" noProof="0" dirty="0">
                  <a:ln>
                    <a:noFill/>
                  </a:ln>
                  <a:solidFill>
                    <a:prstClr val="white"/>
                  </a:solidFill>
                  <a:effectLst/>
                  <a:uLnTx/>
                  <a:uFillTx/>
                  <a:latin typeface="Calibri"/>
                  <a:ea typeface="+mn-ea"/>
                  <a:cs typeface="+mn-cs"/>
                </a:rPr>
                <a:t> := </a:t>
              </a:r>
              <a:r>
                <a:rPr kumimoji="0" lang="en-GB" sz="2000" b="1" i="1" u="none" strike="noStrike" kern="1200" cap="none" spc="0" normalizeH="0" baseline="0" noProof="0" dirty="0">
                  <a:ln>
                    <a:noFill/>
                  </a:ln>
                  <a:solidFill>
                    <a:prstClr val="white"/>
                  </a:solidFill>
                  <a:effectLst/>
                  <a:uLnTx/>
                  <a:uFillTx/>
                  <a:latin typeface="Calibri"/>
                  <a:ea typeface="+mn-ea"/>
                  <a:cs typeface="+mn-cs"/>
                </a:rPr>
                <a:t>X</a:t>
              </a:r>
              <a:r>
                <a:rPr kumimoji="0" lang="en-GB" sz="1600" b="1" i="0" u="none" strike="noStrike" kern="1200" cap="none" spc="0" normalizeH="0" baseline="0" noProof="0" dirty="0">
                  <a:ln>
                    <a:noFill/>
                  </a:ln>
                  <a:solidFill>
                    <a:prstClr val="white"/>
                  </a:solidFill>
                  <a:effectLst/>
                  <a:uLnTx/>
                  <a:uFillTx/>
                  <a:latin typeface="Calibri"/>
                  <a:ea typeface="+mn-ea"/>
                  <a:cs typeface="+mn-cs"/>
                </a:rPr>
                <a:t>→</a:t>
              </a:r>
              <a:r>
                <a:rPr kumimoji="0" lang="en-GB" sz="2000" b="1" i="1" u="none" strike="noStrike" kern="1200" cap="none" spc="0" normalizeH="0" baseline="0" noProof="0" dirty="0">
                  <a:ln>
                    <a:noFill/>
                  </a:ln>
                  <a:solidFill>
                    <a:prstClr val="white"/>
                  </a:solidFill>
                  <a:effectLst/>
                  <a:uLnTx/>
                  <a:uFillTx/>
                  <a:latin typeface="Calibri"/>
                  <a:ea typeface="+mn-ea"/>
                  <a:cs typeface="+mn-cs"/>
                </a:rPr>
                <a:t>Y</a:t>
              </a:r>
              <a:endParaRPr kumimoji="0" lang="en-GB" sz="2000" b="1"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17" name="Rounded Rectangle 16"/>
          <p:cNvSpPr/>
          <p:nvPr/>
        </p:nvSpPr>
        <p:spPr>
          <a:xfrm>
            <a:off x="6780076" y="1556792"/>
            <a:ext cx="3533134" cy="5184576"/>
          </a:xfrm>
          <a:prstGeom prst="roundRect">
            <a:avLst/>
          </a:prstGeom>
          <a:solidFill>
            <a:schemeClr val="bg1">
              <a:lumMod val="8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6816067" y="2289061"/>
            <a:ext cx="3515139" cy="424731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1" u="none" strike="noStrike" kern="1200" cap="none" spc="0" normalizeH="0" baseline="0" noProof="0" dirty="0">
                <a:ln>
                  <a:noFill/>
                </a:ln>
                <a:solidFill>
                  <a:prstClr val="black"/>
                </a:solidFill>
                <a:effectLst/>
                <a:uLnTx/>
                <a:uFillTx/>
                <a:latin typeface="Calibri"/>
                <a:ea typeface="+mn-ea"/>
                <a:cs typeface="+mn-cs"/>
              </a:rPr>
              <a:t>Guiding principle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Data generating process is complex and cannot be known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Times New Roman" panose="02020603050405020304" pitchFamily="18" charset="0"/>
              </a:rPr>
              <a:t>Analyst does not impose structure: </a:t>
            </a:r>
            <a:r>
              <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sym typeface="Wingdings" panose="05000000000000000000" pitchFamily="2" charset="2"/>
              </a:rPr>
              <a:t>g</a:t>
            </a: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 needs to be learned from the data</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285750" marR="0" lvl="0" indent="-285750" algn="l" defTabSz="914400" rtl="0" eaLnBrk="1" fontAlgn="auto" latinLnBrk="0" hangingPunct="1">
              <a:lnSpc>
                <a:spcPct val="100000"/>
              </a:lnSpc>
              <a:spcBef>
                <a:spcPts val="0"/>
              </a:spcBef>
              <a:spcAft>
                <a:spcPts val="0"/>
              </a:spcAft>
              <a:buClrTx/>
              <a:buSzTx/>
              <a:buFont typeface="Wingdings"/>
              <a:buChar char="à"/>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a:ea typeface="+mn-ea"/>
                <a:cs typeface="Times New Roman" panose="02020603050405020304" pitchFamily="18" charset="0"/>
                <a:sym typeface="Wingdings" panose="05000000000000000000" pitchFamily="2" charset="2"/>
              </a:rPr>
              <a:t>G</a:t>
            </a:r>
            <a:r>
              <a:rPr kumimoji="0" lang="en-GB" sz="1800" b="0" i="0" u="none" strike="noStrike" kern="1200" cap="none" spc="0" normalizeH="0" baseline="0" noProof="0" dirty="0" err="1">
                <a:ln>
                  <a:noFill/>
                </a:ln>
                <a:solidFill>
                  <a:prstClr val="black"/>
                </a:solidFill>
                <a:effectLst/>
                <a:uLnTx/>
                <a:uFillTx/>
                <a:latin typeface="Calibri"/>
                <a:ea typeface="+mn-ea"/>
                <a:cs typeface="Times New Roman" panose="02020603050405020304" pitchFamily="18" charset="0"/>
                <a:sym typeface="Wingdings" panose="05000000000000000000" pitchFamily="2" charset="2"/>
              </a:rPr>
              <a:t>ood</a:t>
            </a:r>
            <a:r>
              <a:rPr kumimoji="0" lang="en-GB" sz="1800" b="0" i="0" u="none" strike="noStrike" kern="1200" cap="none" spc="0" normalizeH="0" baseline="0" noProof="0" dirty="0">
                <a:ln>
                  <a:noFill/>
                </a:ln>
                <a:solidFill>
                  <a:prstClr val="black"/>
                </a:solidFill>
                <a:effectLst/>
                <a:uLnTx/>
                <a:uFillTx/>
                <a:latin typeface="Calibri"/>
                <a:ea typeface="+mn-ea"/>
                <a:cs typeface="Times New Roman" panose="02020603050405020304" pitchFamily="18" charset="0"/>
                <a:sym typeface="Wingdings" panose="05000000000000000000" pitchFamily="2" charset="2"/>
              </a:rPr>
              <a:t> (in-distribution) </a:t>
            </a:r>
            <a:r>
              <a:rPr kumimoji="0" lang="en-GB" sz="1800" b="0" i="0" u="none" strike="noStrike" kern="1200" cap="none" spc="0" normalizeH="0" baseline="0" noProof="0" dirty="0">
                <a:ln>
                  <a:noFill/>
                </a:ln>
                <a:solidFill>
                  <a:prstClr val="black"/>
                </a:solidFill>
                <a:effectLst/>
                <a:uLnTx/>
                <a:uFillTx/>
                <a:latin typeface="Calibri"/>
                <a:ea typeface="+mn-ea"/>
                <a:cs typeface="+mn-cs"/>
              </a:rPr>
              <a:t>prediction</a:t>
            </a:r>
          </a:p>
        </p:txBody>
      </p:sp>
      <p:sp>
        <p:nvSpPr>
          <p:cNvPr id="19" name="TextBox 18"/>
          <p:cNvSpPr txBox="1"/>
          <p:nvPr/>
        </p:nvSpPr>
        <p:spPr>
          <a:xfrm>
            <a:off x="6798073" y="1556794"/>
            <a:ext cx="3497143" cy="9233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Data-driven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(supervised </a:t>
            </a:r>
            <a:r>
              <a:rPr kumimoji="0" lang="en-GB" sz="1800" b="0" i="0" u="sng" strike="noStrike" kern="1200" cap="none" spc="0" normalizeH="0" baseline="0" noProof="0" dirty="0">
                <a:ln>
                  <a:noFill/>
                </a:ln>
                <a:solidFill>
                  <a:prstClr val="black"/>
                </a:solidFill>
                <a:effectLst/>
                <a:uLnTx/>
                <a:uFillTx/>
                <a:latin typeface="Calibri"/>
                <a:ea typeface="+mn-ea"/>
                <a:cs typeface="+mn-cs"/>
              </a:rPr>
              <a:t>machine learning</a:t>
            </a:r>
            <a:r>
              <a:rPr kumimoji="0" lang="en-GB" sz="1800" b="0" i="0" u="none" strike="noStrike" kern="1200" cap="none" spc="0" normalizeH="0" baseline="0" noProof="0" dirty="0">
                <a:ln>
                  <a:noFill/>
                </a:ln>
                <a:solidFill>
                  <a:prstClr val="black"/>
                </a:solidFill>
                <a:effectLst/>
                <a:uLnTx/>
                <a:uFillTx/>
                <a:latin typeface="Calibri"/>
                <a:ea typeface="+mn-ea"/>
                <a:cs typeface="+mn-cs"/>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 </a:t>
            </a:r>
          </a:p>
        </p:txBody>
      </p:sp>
      <p:grpSp>
        <p:nvGrpSpPr>
          <p:cNvPr id="20" name="Group 19"/>
          <p:cNvGrpSpPr/>
          <p:nvPr/>
        </p:nvGrpSpPr>
        <p:grpSpPr>
          <a:xfrm>
            <a:off x="6798072" y="4437113"/>
            <a:ext cx="3515138" cy="1934855"/>
            <a:chOff x="5274072" y="4443572"/>
            <a:chExt cx="3515138" cy="1934855"/>
          </a:xfrm>
        </p:grpSpPr>
        <p:grpSp>
          <p:nvGrpSpPr>
            <p:cNvPr id="21" name="Group 20"/>
            <p:cNvGrpSpPr/>
            <p:nvPr/>
          </p:nvGrpSpPr>
          <p:grpSpPr>
            <a:xfrm>
              <a:off x="5274072" y="4443572"/>
              <a:ext cx="3515138" cy="1934855"/>
              <a:chOff x="755576" y="4833156"/>
              <a:chExt cx="3407127" cy="1934855"/>
            </a:xfrm>
          </p:grpSpPr>
          <p:pic>
            <p:nvPicPr>
              <p:cNvPr id="25" name="Picture 24"/>
              <p:cNvPicPr>
                <a:picLocks noChangeAspect="1"/>
              </p:cNvPicPr>
              <p:nvPr/>
            </p:nvPicPr>
            <p:blipFill rotWithShape="1">
              <a:blip r:embed="rId3">
                <a:extLst>
                  <a:ext uri="{28A0092B-C50C-407E-A947-70E740481C1C}">
                    <a14:useLocalDpi xmlns:a14="http://schemas.microsoft.com/office/drawing/2010/main" val="0"/>
                  </a:ext>
                </a:extLst>
              </a:blip>
              <a:srcRect l="24285" r="22762"/>
              <a:stretch/>
            </p:blipFill>
            <p:spPr>
              <a:xfrm>
                <a:off x="755576" y="4833156"/>
                <a:ext cx="3407127" cy="1934855"/>
              </a:xfrm>
              <a:prstGeom prst="rect">
                <a:avLst/>
              </a:prstGeom>
            </p:spPr>
          </p:pic>
          <p:sp>
            <p:nvSpPr>
              <p:cNvPr id="26" name="Rectangle 25"/>
              <p:cNvSpPr/>
              <p:nvPr/>
            </p:nvSpPr>
            <p:spPr>
              <a:xfrm>
                <a:off x="1826695" y="5625244"/>
                <a:ext cx="1005300" cy="43204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noFill/>
                    </a:ln>
                    <a:solidFill>
                      <a:prstClr val="white"/>
                    </a:solidFill>
                    <a:effectLst/>
                    <a:uLnTx/>
                    <a:uFillTx/>
                    <a:latin typeface="Calibri"/>
                    <a:ea typeface="+mn-ea"/>
                    <a:cs typeface="+mn-cs"/>
                  </a:rPr>
                  <a:t>Inherently Unknown</a:t>
                </a:r>
              </a:p>
            </p:txBody>
          </p:sp>
        </p:grpSp>
        <p:sp>
          <p:nvSpPr>
            <p:cNvPr id="22" name="Arc 21"/>
            <p:cNvSpPr/>
            <p:nvPr/>
          </p:nvSpPr>
          <p:spPr>
            <a:xfrm flipH="1" flipV="1">
              <a:off x="5886481" y="5586339"/>
              <a:ext cx="1529835" cy="396044"/>
            </a:xfrm>
            <a:prstGeom prst="arc">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3" name="Arc 22"/>
            <p:cNvSpPr/>
            <p:nvPr/>
          </p:nvSpPr>
          <p:spPr>
            <a:xfrm flipV="1">
              <a:off x="6386609" y="5586339"/>
              <a:ext cx="1569767" cy="396044"/>
            </a:xfrm>
            <a:prstGeom prst="arc">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4" name="TextBox 23"/>
            <p:cNvSpPr txBox="1"/>
            <p:nvPr/>
          </p:nvSpPr>
          <p:spPr>
            <a:xfrm>
              <a:off x="6651398" y="5797717"/>
              <a:ext cx="520094"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g</a:t>
              </a:r>
            </a:p>
          </p:txBody>
        </p:sp>
      </p:grpSp>
      <p:sp>
        <p:nvSpPr>
          <p:cNvPr id="27" name="Slide Number Placeholder 3"/>
          <p:cNvSpPr>
            <a:spLocks noGrp="1"/>
          </p:cNvSpPr>
          <p:nvPr>
            <p:ph type="sldNum" sz="quarter" idx="12"/>
          </p:nvPr>
        </p:nvSpPr>
        <p:spPr>
          <a:xfrm>
            <a:off x="8737600" y="6356351"/>
            <a:ext cx="28448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p:nvPr/>
        </p:nvSpPr>
        <p:spPr>
          <a:xfrm>
            <a:off x="1218707" y="1340768"/>
            <a:ext cx="4824536" cy="5517232"/>
          </a:xfrm>
          <a:prstGeom prst="rect">
            <a:avLst/>
          </a:prstGeom>
          <a:solidFill>
            <a:schemeClr val="bg1">
              <a:alpha val="7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Line 2">
            <a:extLst>
              <a:ext uri="{FF2B5EF4-FFF2-40B4-BE49-F238E27FC236}">
                <a16:creationId xmlns:a16="http://schemas.microsoft.com/office/drawing/2014/main" id="{FEEC986F-7ADC-3F66-5618-DC70AC92C3DF}"/>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5" name="Line 2">
            <a:extLst>
              <a:ext uri="{FF2B5EF4-FFF2-40B4-BE49-F238E27FC236}">
                <a16:creationId xmlns:a16="http://schemas.microsoft.com/office/drawing/2014/main" id="{9429F4D5-84C2-65BF-0F3E-7E8188F189C1}"/>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569005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xEl>
                                              <p:pRg st="4" end="4"/>
                                            </p:txEl>
                                          </p:spTgt>
                                        </p:tgtEl>
                                        <p:attrNameLst>
                                          <p:attrName>style.visibility</p:attrName>
                                        </p:attrNameLst>
                                      </p:cBhvr>
                                      <p:to>
                                        <p:strVal val="visible"/>
                                      </p:to>
                                    </p:set>
                                    <p:animEffect transition="in" filter="fade">
                                      <p:cBhvr>
                                        <p:cTn id="7" dur="500"/>
                                        <p:tgtEl>
                                          <p:spTgt spid="18">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xEl>
                                              <p:pRg st="11" end="11"/>
                                            </p:txEl>
                                          </p:spTgt>
                                        </p:tgtEl>
                                        <p:attrNameLst>
                                          <p:attrName>style.visibility</p:attrName>
                                        </p:attrNameLst>
                                      </p:cBhvr>
                                      <p:to>
                                        <p:strVal val="visible"/>
                                      </p:to>
                                    </p:set>
                                    <p:animEffect transition="in" filter="fade">
                                      <p:cBhvr>
                                        <p:cTn id="15" dur="500"/>
                                        <p:tgtEl>
                                          <p:spTgt spid="18">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E15FB-C5A7-0957-29DE-ED143C280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8D99FC-FBF6-CFB4-73CF-05642C61F59A}"/>
              </a:ext>
            </a:extLst>
          </p:cNvPr>
          <p:cNvSpPr>
            <a:spLocks noGrp="1"/>
          </p:cNvSpPr>
          <p:nvPr>
            <p:ph type="title"/>
          </p:nvPr>
        </p:nvSpPr>
        <p:spPr>
          <a:xfrm>
            <a:off x="1981200" y="274638"/>
            <a:ext cx="8229600" cy="6466730"/>
          </a:xfrm>
        </p:spPr>
        <p:txBody>
          <a:bodyPr/>
          <a:lstStyle/>
          <a:p>
            <a:r>
              <a:rPr lang="en-GB" sz="4000" dirty="0"/>
              <a:t>Machine Learning paradigms</a:t>
            </a:r>
          </a:p>
        </p:txBody>
      </p:sp>
      <p:sp>
        <p:nvSpPr>
          <p:cNvPr id="4" name="Slide Number Placeholder 3">
            <a:extLst>
              <a:ext uri="{FF2B5EF4-FFF2-40B4-BE49-F238E27FC236}">
                <a16:creationId xmlns:a16="http://schemas.microsoft.com/office/drawing/2014/main" id="{B25E7428-2499-EF2D-A735-95AFAF282B0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nl-NL"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990336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032FA-E155-1009-2377-E05549DE0C6D}"/>
            </a:ext>
          </a:extLst>
        </p:cNvPr>
        <p:cNvGrpSpPr/>
        <p:nvPr/>
      </p:nvGrpSpPr>
      <p:grpSpPr>
        <a:xfrm>
          <a:off x="0" y="0"/>
          <a:ext cx="0" cy="0"/>
          <a:chOff x="0" y="0"/>
          <a:chExt cx="0" cy="0"/>
        </a:xfrm>
      </p:grpSpPr>
      <p:sp>
        <p:nvSpPr>
          <p:cNvPr id="111" name="CustomShape 1">
            <a:extLst>
              <a:ext uri="{FF2B5EF4-FFF2-40B4-BE49-F238E27FC236}">
                <a16:creationId xmlns:a16="http://schemas.microsoft.com/office/drawing/2014/main" id="{F43B8B73-3786-6F3C-37A5-589414C291B0}"/>
              </a:ext>
            </a:extLst>
          </p:cNvPr>
          <p:cNvSpPr/>
          <p:nvPr/>
        </p:nvSpPr>
        <p:spPr>
          <a:xfrm>
            <a:off x="838080" y="365040"/>
            <a:ext cx="10514880" cy="1324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endParaRPr lang="en-US" sz="3800" b="0" strike="noStrike" spc="-1" dirty="0">
              <a:latin typeface="Calibri"/>
            </a:endParaRPr>
          </a:p>
        </p:txBody>
      </p:sp>
      <p:sp>
        <p:nvSpPr>
          <p:cNvPr id="112" name="Line 2">
            <a:extLst>
              <a:ext uri="{FF2B5EF4-FFF2-40B4-BE49-F238E27FC236}">
                <a16:creationId xmlns:a16="http://schemas.microsoft.com/office/drawing/2014/main" id="{FF7CD1F9-755B-4EB6-0C39-D6DA830409E6}"/>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3" name="Slide Number Placeholder 3">
            <a:extLst>
              <a:ext uri="{FF2B5EF4-FFF2-40B4-BE49-F238E27FC236}">
                <a16:creationId xmlns:a16="http://schemas.microsoft.com/office/drawing/2014/main" id="{ED3ED37B-0D0E-4C52-9E2B-F8767ECB6FF4}"/>
              </a:ext>
            </a:extLst>
          </p:cNvPr>
          <p:cNvSpPr txBox="1">
            <a:spLocks/>
          </p:cNvSpPr>
          <p:nvPr/>
        </p:nvSpPr>
        <p:spPr>
          <a:xfrm>
            <a:off x="8610600" y="6340865"/>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D45CBC7-BB0C-1B4C-8910-D00AF3F288B4}" type="slidenum">
              <a:rPr lang="en-US" smtClean="0"/>
              <a:pPr/>
              <a:t>15</a:t>
            </a:fld>
            <a:endParaRPr lang="en-US" dirty="0"/>
          </a:p>
        </p:txBody>
      </p:sp>
      <p:sp>
        <p:nvSpPr>
          <p:cNvPr id="8" name="Title 1">
            <a:extLst>
              <a:ext uri="{FF2B5EF4-FFF2-40B4-BE49-F238E27FC236}">
                <a16:creationId xmlns:a16="http://schemas.microsoft.com/office/drawing/2014/main" id="{28DEEA61-8ECF-2A1B-0F40-25A304460D51}"/>
              </a:ext>
            </a:extLst>
          </p:cNvPr>
          <p:cNvSpPr txBox="1">
            <a:spLocks/>
          </p:cNvSpPr>
          <p:nvPr/>
        </p:nvSpPr>
        <p:spPr>
          <a:xfrm>
            <a:off x="513273" y="350635"/>
            <a:ext cx="10515600" cy="66357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100" dirty="0">
                <a:latin typeface="Times New Roman" panose="02020603050405020304" pitchFamily="18" charset="0"/>
                <a:cs typeface="Times New Roman" panose="02020603050405020304" pitchFamily="18" charset="0"/>
              </a:rPr>
              <a:t>Machine Learning paradigms</a:t>
            </a:r>
            <a:endParaRPr lang="en-NL" sz="3100" dirty="0">
              <a:latin typeface="Times New Roman" panose="02020603050405020304" pitchFamily="18" charset="0"/>
              <a:cs typeface="Times New Roman" panose="02020603050405020304" pitchFamily="18" charset="0"/>
            </a:endParaRPr>
          </a:p>
        </p:txBody>
      </p:sp>
      <p:sp>
        <p:nvSpPr>
          <p:cNvPr id="4" name="Line 2">
            <a:extLst>
              <a:ext uri="{FF2B5EF4-FFF2-40B4-BE49-F238E27FC236}">
                <a16:creationId xmlns:a16="http://schemas.microsoft.com/office/drawing/2014/main" id="{7E5B86A6-D0CC-1119-E641-B5BADD236A56}"/>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F0D0E1C-9264-96A0-88A1-CA9D51FB9B00}"/>
                  </a:ext>
                </a:extLst>
              </p:cNvPr>
              <p:cNvSpPr txBox="1"/>
              <p:nvPr/>
            </p:nvSpPr>
            <p:spPr>
              <a:xfrm>
                <a:off x="513272" y="1030185"/>
                <a:ext cx="11324501" cy="5016758"/>
              </a:xfrm>
              <a:prstGeom prst="rect">
                <a:avLst/>
              </a:prstGeom>
              <a:noFill/>
            </p:spPr>
            <p:txBody>
              <a:bodyPr wrap="square">
                <a:spAutoFit/>
              </a:bodyPr>
              <a:lstStyle/>
              <a:p>
                <a:pPr algn="just"/>
                <a:endParaRPr lang="en-GB" sz="2000" noProof="0" dirty="0">
                  <a:latin typeface="Times New Roman" panose="02020603050405020304" pitchFamily="18" charset="0"/>
                  <a:ea typeface="Times New Roman" panose="02020603050405020304" pitchFamily="18" charset="0"/>
                </a:endParaRPr>
              </a:p>
              <a:p>
                <a:pPr algn="just"/>
                <a:r>
                  <a:rPr lang="en-GB" sz="2000" b="1" noProof="0" dirty="0">
                    <a:latin typeface="Times New Roman" panose="02020603050405020304" pitchFamily="18" charset="0"/>
                    <a:ea typeface="Times New Roman" panose="02020603050405020304" pitchFamily="18" charset="0"/>
                  </a:rPr>
                  <a:t>Supervised Learning</a:t>
                </a:r>
                <a:endParaRPr lang="en-GB" sz="2000" b="1" dirty="0">
                  <a:latin typeface="Times New Roman" panose="02020603050405020304" pitchFamily="18" charset="0"/>
                  <a:ea typeface="Times New Roman" panose="02020603050405020304" pitchFamily="18" charset="0"/>
                </a:endParaRPr>
              </a:p>
              <a:p>
                <a:pPr marL="342900" indent="-342900" algn="just">
                  <a:buFont typeface="Arial" panose="020B0604020202020204" pitchFamily="34" charset="0"/>
                  <a:buChar char="•"/>
                </a:pPr>
                <a:r>
                  <a:rPr lang="en-GB" sz="2000" dirty="0">
                    <a:latin typeface="Times New Roman" panose="02020603050405020304" pitchFamily="18" charset="0"/>
                    <a:ea typeface="Times New Roman" panose="02020603050405020304" pitchFamily="18" charset="0"/>
                  </a:rPr>
                  <a:t>Data: </a:t>
                </a:r>
                <a14:m>
                  <m:oMath xmlns:m="http://schemas.openxmlformats.org/officeDocument/2006/math">
                    <m:d>
                      <m:dPr>
                        <m:ctrlPr>
                          <a:rPr lang="nl-NL" sz="2000" b="0" i="1" noProof="0" dirty="0" smtClean="0">
                            <a:latin typeface="Cambria Math" panose="02040503050406030204" pitchFamily="18" charset="0"/>
                            <a:ea typeface="Times New Roman" panose="02020603050405020304" pitchFamily="18" charset="0"/>
                          </a:rPr>
                        </m:ctrlPr>
                      </m:dPr>
                      <m:e>
                        <m:r>
                          <a:rPr lang="en-GB" sz="2000" i="1" noProof="0" dirty="0" smtClean="0">
                            <a:latin typeface="Cambria Math" panose="02040503050406030204" pitchFamily="18" charset="0"/>
                            <a:ea typeface="Times New Roman" panose="02020603050405020304" pitchFamily="18" charset="0"/>
                          </a:rPr>
                          <m:t>𝑋</m:t>
                        </m:r>
                        <m:r>
                          <a:rPr lang="nl-NL" sz="2000" b="0" i="1" noProof="0" dirty="0" smtClean="0">
                            <a:latin typeface="Cambria Math" panose="02040503050406030204" pitchFamily="18" charset="0"/>
                            <a:ea typeface="Times New Roman" panose="02020603050405020304" pitchFamily="18" charset="0"/>
                          </a:rPr>
                          <m:t>,</m:t>
                        </m:r>
                        <m:r>
                          <a:rPr lang="nl-NL" sz="2000" b="0" i="1" noProof="0" dirty="0" smtClean="0">
                            <a:latin typeface="Cambria Math" panose="02040503050406030204" pitchFamily="18" charset="0"/>
                            <a:ea typeface="Times New Roman" panose="02020603050405020304" pitchFamily="18" charset="0"/>
                          </a:rPr>
                          <m:t>𝑌</m:t>
                        </m:r>
                      </m:e>
                    </m:d>
                  </m:oMath>
                </a14:m>
                <a:endParaRPr lang="en-GB" sz="2000" noProof="0" dirty="0">
                  <a:latin typeface="Times New Roman" panose="02020603050405020304" pitchFamily="18" charset="0"/>
                  <a:ea typeface="Times New Roman" panose="02020603050405020304" pitchFamily="18" charset="0"/>
                </a:endParaRPr>
              </a:p>
              <a:p>
                <a:pPr marL="342900" indent="-342900" algn="just">
                  <a:buFont typeface="Arial" panose="020B0604020202020204" pitchFamily="34" charset="0"/>
                  <a:buChar char="•"/>
                </a:pPr>
                <a:r>
                  <a:rPr lang="en-GB" sz="2000" noProof="0" dirty="0">
                    <a:latin typeface="Times New Roman" panose="02020603050405020304" pitchFamily="18" charset="0"/>
                    <a:ea typeface="Times New Roman" panose="02020603050405020304" pitchFamily="18" charset="0"/>
                  </a:rPr>
                  <a:t>Goal: Learn a function </a:t>
                </a:r>
                <a14:m>
                  <m:oMath xmlns:m="http://schemas.openxmlformats.org/officeDocument/2006/math">
                    <m:d>
                      <m:dPr>
                        <m:ctrlPr>
                          <a:rPr lang="nl-NL" sz="2000" b="0" i="1" dirty="0" smtClean="0">
                            <a:latin typeface="Cambria Math" panose="02040503050406030204" pitchFamily="18" charset="0"/>
                            <a:ea typeface="Times New Roman" panose="02020603050405020304" pitchFamily="18" charset="0"/>
                          </a:rPr>
                        </m:ctrlPr>
                      </m:dPr>
                      <m:e>
                        <m:r>
                          <a:rPr lang="nl-NL" sz="2000" b="0" i="1" dirty="0" smtClean="0">
                            <a:latin typeface="Cambria Math" panose="02040503050406030204" pitchFamily="18" charset="0"/>
                            <a:ea typeface="Times New Roman" panose="02020603050405020304" pitchFamily="18" charset="0"/>
                          </a:rPr>
                          <m:t>𝑓</m:t>
                        </m:r>
                      </m:e>
                    </m:d>
                    <m:r>
                      <a:rPr lang="en-GB" sz="2000" i="1" dirty="0">
                        <a:latin typeface="Cambria Math" panose="02040503050406030204" pitchFamily="18" charset="0"/>
                        <a:ea typeface="Times New Roman" panose="02020603050405020304" pitchFamily="18" charset="0"/>
                      </a:rPr>
                      <m:t> </m:t>
                    </m:r>
                  </m:oMath>
                </a14:m>
                <a:r>
                  <a:rPr lang="en-GB" sz="2000" noProof="0" dirty="0">
                    <a:latin typeface="Times New Roman" panose="02020603050405020304" pitchFamily="18" charset="0"/>
                    <a:ea typeface="Times New Roman" panose="02020603050405020304" pitchFamily="18" charset="0"/>
                  </a:rPr>
                  <a:t>to map </a:t>
                </a:r>
                <a14:m>
                  <m:oMath xmlns:m="http://schemas.openxmlformats.org/officeDocument/2006/math">
                    <m:r>
                      <a:rPr lang="en-GB" sz="2000" i="1" noProof="0" dirty="0" smtClean="0">
                        <a:latin typeface="Cambria Math" panose="02040503050406030204" pitchFamily="18" charset="0"/>
                        <a:ea typeface="Times New Roman" panose="02020603050405020304" pitchFamily="18" charset="0"/>
                      </a:rPr>
                      <m:t>𝑋</m:t>
                    </m:r>
                    <m:r>
                      <a:rPr lang="nl-NL" sz="2000" b="0" i="1" noProof="0" dirty="0" smtClean="0">
                        <a:latin typeface="Cambria Math" panose="02040503050406030204" pitchFamily="18" charset="0"/>
                        <a:ea typeface="Times New Roman" panose="02020603050405020304" pitchFamily="18" charset="0"/>
                      </a:rPr>
                      <m:t>→</m:t>
                    </m:r>
                    <m:r>
                      <a:rPr lang="nl-NL" sz="2000" b="0" i="1" noProof="0" dirty="0" smtClean="0">
                        <a:latin typeface="Cambria Math" panose="02040503050406030204" pitchFamily="18" charset="0"/>
                        <a:ea typeface="Times New Roman" panose="02020603050405020304" pitchFamily="18" charset="0"/>
                      </a:rPr>
                      <m:t>𝑌</m:t>
                    </m:r>
                  </m:oMath>
                </a14:m>
                <a:endParaRPr lang="nl-NL" sz="2000" b="0" noProof="0" dirty="0">
                  <a:latin typeface="Times New Roman" panose="02020603050405020304" pitchFamily="18" charset="0"/>
                  <a:ea typeface="Times New Roman" panose="02020603050405020304" pitchFamily="18" charset="0"/>
                </a:endParaRPr>
              </a:p>
              <a:p>
                <a:pPr marL="342900" indent="-342900" algn="just">
                  <a:buFont typeface="Arial" panose="020B0604020202020204" pitchFamily="34" charset="0"/>
                  <a:buChar char="•"/>
                </a:pPr>
                <a:r>
                  <a:rPr lang="en-GB" sz="2000" noProof="0" dirty="0">
                    <a:latin typeface="Times New Roman" panose="02020603050405020304" pitchFamily="18" charset="0"/>
                    <a:ea typeface="Times New Roman" panose="02020603050405020304" pitchFamily="18" charset="0"/>
                  </a:rPr>
                  <a:t>Examples: Regression, Classification, Object detection, …</a:t>
                </a:r>
                <a:endParaRPr lang="en-GB" sz="2000" dirty="0">
                  <a:latin typeface="Times New Roman" panose="02020603050405020304" pitchFamily="18" charset="0"/>
                  <a:ea typeface="Times New Roman" panose="02020603050405020304" pitchFamily="18" charset="0"/>
                </a:endParaRPr>
              </a:p>
              <a:p>
                <a:pPr marL="342900" indent="-342900" algn="just">
                  <a:buFont typeface="Arial" panose="020B0604020202020204" pitchFamily="34" charset="0"/>
                  <a:buChar char="•"/>
                </a:pPr>
                <a:endParaRPr lang="en-GB" sz="2000" noProof="0" dirty="0">
                  <a:latin typeface="Times New Roman" panose="02020603050405020304" pitchFamily="18" charset="0"/>
                  <a:ea typeface="Times New Roman" panose="02020603050405020304" pitchFamily="18" charset="0"/>
                </a:endParaRPr>
              </a:p>
              <a:p>
                <a:pPr marL="342900" indent="-342900" algn="just">
                  <a:buFont typeface="Arial" panose="020B0604020202020204" pitchFamily="34" charset="0"/>
                  <a:buChar char="•"/>
                </a:pPr>
                <a:endParaRPr lang="en-GB" sz="2000" dirty="0">
                  <a:latin typeface="Times New Roman" panose="02020603050405020304" pitchFamily="18" charset="0"/>
                  <a:ea typeface="Times New Roman" panose="02020603050405020304" pitchFamily="18" charset="0"/>
                </a:endParaRPr>
              </a:p>
              <a:p>
                <a:pPr algn="just"/>
                <a:endParaRPr lang="en-GB" sz="2000" noProof="0" dirty="0">
                  <a:latin typeface="Times New Roman" panose="02020603050405020304" pitchFamily="18" charset="0"/>
                  <a:ea typeface="Times New Roman" panose="02020603050405020304" pitchFamily="18" charset="0"/>
                </a:endParaRPr>
              </a:p>
              <a:p>
                <a:pPr marL="342900" indent="-342900" algn="just">
                  <a:buFont typeface="Arial" panose="020B0604020202020204" pitchFamily="34" charset="0"/>
                  <a:buChar char="•"/>
                </a:pPr>
                <a:endParaRPr lang="en-GB" sz="2000" noProof="0" dirty="0">
                  <a:latin typeface="Times New Roman" panose="02020603050405020304" pitchFamily="18" charset="0"/>
                  <a:ea typeface="Times New Roman" panose="02020603050405020304" pitchFamily="18" charset="0"/>
                </a:endParaRPr>
              </a:p>
              <a:p>
                <a:pPr marL="342900" indent="-342900" algn="just">
                  <a:buFont typeface="Arial" panose="020B0604020202020204" pitchFamily="34" charset="0"/>
                  <a:buChar char="•"/>
                </a:pPr>
                <a:endParaRPr lang="en-GB" sz="2000" dirty="0">
                  <a:latin typeface="Times New Roman" panose="02020603050405020304" pitchFamily="18" charset="0"/>
                  <a:ea typeface="Times New Roman" panose="02020603050405020304" pitchFamily="18" charset="0"/>
                </a:endParaRPr>
              </a:p>
              <a:p>
                <a:pPr algn="just"/>
                <a:r>
                  <a:rPr lang="en-GB" sz="2000" b="1" dirty="0">
                    <a:latin typeface="Times New Roman" panose="02020603050405020304" pitchFamily="18" charset="0"/>
                    <a:ea typeface="Times New Roman" panose="02020603050405020304" pitchFamily="18" charset="0"/>
                  </a:rPr>
                  <a:t>Unsupervised Learning</a:t>
                </a:r>
              </a:p>
              <a:p>
                <a:pPr marL="342900" indent="-342900" algn="just">
                  <a:buFont typeface="Arial" panose="020B0604020202020204" pitchFamily="34" charset="0"/>
                  <a:buChar char="•"/>
                </a:pPr>
                <a:r>
                  <a:rPr lang="en-GB" sz="2000" dirty="0">
                    <a:latin typeface="Times New Roman" panose="02020603050405020304" pitchFamily="18" charset="0"/>
                    <a:ea typeface="Times New Roman" panose="02020603050405020304" pitchFamily="18" charset="0"/>
                  </a:rPr>
                  <a:t>Data: </a:t>
                </a:r>
                <a14:m>
                  <m:oMath xmlns:m="http://schemas.openxmlformats.org/officeDocument/2006/math">
                    <m:d>
                      <m:dPr>
                        <m:ctrlPr>
                          <a:rPr lang="nl-NL" sz="2000" i="1" dirty="0">
                            <a:latin typeface="Cambria Math" panose="02040503050406030204" pitchFamily="18" charset="0"/>
                            <a:ea typeface="Times New Roman" panose="02020603050405020304" pitchFamily="18" charset="0"/>
                          </a:rPr>
                        </m:ctrlPr>
                      </m:dPr>
                      <m:e>
                        <m:r>
                          <a:rPr lang="en-GB" sz="2000" i="1" dirty="0">
                            <a:latin typeface="Cambria Math" panose="02040503050406030204" pitchFamily="18" charset="0"/>
                            <a:ea typeface="Times New Roman" panose="02020603050405020304" pitchFamily="18" charset="0"/>
                          </a:rPr>
                          <m:t>𝑋</m:t>
                        </m:r>
                      </m:e>
                    </m:d>
                  </m:oMath>
                </a14:m>
                <a:r>
                  <a:rPr lang="en-GB" sz="2000" dirty="0">
                    <a:latin typeface="Times New Roman" panose="02020603050405020304" pitchFamily="18" charset="0"/>
                    <a:ea typeface="Times New Roman" panose="02020603050405020304" pitchFamily="18" charset="0"/>
                  </a:rPr>
                  <a:t>, no labels!</a:t>
                </a:r>
              </a:p>
              <a:p>
                <a:pPr marL="342900" indent="-342900" algn="just">
                  <a:buFont typeface="Arial" panose="020B0604020202020204" pitchFamily="34" charset="0"/>
                  <a:buChar char="•"/>
                </a:pPr>
                <a:r>
                  <a:rPr lang="en-GB" sz="2000" dirty="0">
                    <a:latin typeface="Times New Roman" panose="02020603050405020304" pitchFamily="18" charset="0"/>
                    <a:ea typeface="Times New Roman" panose="02020603050405020304" pitchFamily="18" charset="0"/>
                  </a:rPr>
                  <a:t>Goal: Learn some hidden structure/pattern of the data</a:t>
                </a:r>
              </a:p>
              <a:p>
                <a:pPr marL="342900" indent="-342900" algn="just">
                  <a:buFont typeface="Arial" panose="020B0604020202020204" pitchFamily="34" charset="0"/>
                  <a:buChar char="•"/>
                </a:pPr>
                <a:r>
                  <a:rPr lang="en-GB" sz="2000" dirty="0">
                    <a:latin typeface="Times New Roman" panose="02020603050405020304" pitchFamily="18" charset="0"/>
                    <a:ea typeface="Times New Roman" panose="02020603050405020304" pitchFamily="18" charset="0"/>
                  </a:rPr>
                  <a:t>Examples: Clustering, Dimensionality, Feature learning, …</a:t>
                </a:r>
                <a:endParaRPr lang="en-GB" sz="2000" noProof="0" dirty="0">
                  <a:latin typeface="Times New Roman" panose="02020603050405020304" pitchFamily="18" charset="0"/>
                  <a:ea typeface="Times New Roman" panose="02020603050405020304" pitchFamily="18" charset="0"/>
                </a:endParaRPr>
              </a:p>
              <a:p>
                <a:pPr algn="just"/>
                <a:endParaRPr lang="en-GB" sz="2000" dirty="0">
                  <a:latin typeface="Times New Roman" panose="02020603050405020304" pitchFamily="18" charset="0"/>
                  <a:ea typeface="Times New Roman" panose="02020603050405020304" pitchFamily="18" charset="0"/>
                </a:endParaRPr>
              </a:p>
              <a:p>
                <a:pPr algn="just"/>
                <a:endParaRPr lang="en-GB" sz="2000" noProof="0" dirty="0">
                  <a:latin typeface="Times New Roman" panose="02020603050405020304" pitchFamily="18" charset="0"/>
                  <a:ea typeface="Times New Roman" panose="02020603050405020304" pitchFamily="18" charset="0"/>
                </a:endParaRPr>
              </a:p>
            </p:txBody>
          </p:sp>
        </mc:Choice>
        <mc:Fallback xmlns="">
          <p:sp>
            <p:nvSpPr>
              <p:cNvPr id="5" name="TextBox 4">
                <a:extLst>
                  <a:ext uri="{FF2B5EF4-FFF2-40B4-BE49-F238E27FC236}">
                    <a16:creationId xmlns:a16="http://schemas.microsoft.com/office/drawing/2014/main" id="{1F0D0E1C-9264-96A0-88A1-CA9D51FB9B00}"/>
                  </a:ext>
                </a:extLst>
              </p:cNvPr>
              <p:cNvSpPr txBox="1">
                <a:spLocks noRot="1" noChangeAspect="1" noMove="1" noResize="1" noEditPoints="1" noAdjustHandles="1" noChangeArrowheads="1" noChangeShapeType="1" noTextEdit="1"/>
              </p:cNvSpPr>
              <p:nvPr/>
            </p:nvSpPr>
            <p:spPr>
              <a:xfrm>
                <a:off x="513272" y="1030185"/>
                <a:ext cx="11324501" cy="5016758"/>
              </a:xfrm>
              <a:prstGeom prst="rect">
                <a:avLst/>
              </a:prstGeom>
              <a:blipFill>
                <a:blip r:embed="rId3"/>
                <a:stretch>
                  <a:fillRect l="-560"/>
                </a:stretch>
              </a:blipFill>
            </p:spPr>
            <p:txBody>
              <a:bodyPr/>
              <a:lstStyle/>
              <a:p>
                <a:r>
                  <a:rPr lang="en-GB">
                    <a:noFill/>
                  </a:rPr>
                  <a:t> </a:t>
                </a:r>
              </a:p>
            </p:txBody>
          </p:sp>
        </mc:Fallback>
      </mc:AlternateContent>
      <p:pic>
        <p:nvPicPr>
          <p:cNvPr id="7" name="Picture 6" descr="A person standing in front of a river&#10;&#10;AI-generated content may be incorrect.">
            <a:extLst>
              <a:ext uri="{FF2B5EF4-FFF2-40B4-BE49-F238E27FC236}">
                <a16:creationId xmlns:a16="http://schemas.microsoft.com/office/drawing/2014/main" id="{F0605651-EB6F-B3BB-6F02-877AB1E0E085}"/>
              </a:ext>
            </a:extLst>
          </p:cNvPr>
          <p:cNvPicPr>
            <a:picLocks noChangeAspect="1"/>
          </p:cNvPicPr>
          <p:nvPr/>
        </p:nvPicPr>
        <p:blipFill>
          <a:blip r:embed="rId4"/>
          <a:stretch>
            <a:fillRect/>
          </a:stretch>
        </p:blipFill>
        <p:spPr>
          <a:xfrm>
            <a:off x="8020163" y="1183727"/>
            <a:ext cx="3657604" cy="2337025"/>
          </a:xfrm>
          <a:prstGeom prst="rect">
            <a:avLst/>
          </a:prstGeom>
        </p:spPr>
      </p:pic>
      <p:pic>
        <p:nvPicPr>
          <p:cNvPr id="9" name="Picture 2">
            <a:extLst>
              <a:ext uri="{FF2B5EF4-FFF2-40B4-BE49-F238E27FC236}">
                <a16:creationId xmlns:a16="http://schemas.microsoft.com/office/drawing/2014/main" id="{18ED8685-6190-0050-05CB-E946A1031B4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53757" y="3716551"/>
            <a:ext cx="3704013" cy="2763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2258448"/>
      </p:ext>
    </p:extLst>
  </p:cSld>
  <p:clrMapOvr>
    <a:masterClrMapping/>
  </p:clrMapOvr>
  <mc:AlternateContent xmlns:mc="http://schemas.openxmlformats.org/markup-compatibility/2006" xmlns:p14="http://schemas.microsoft.com/office/powerpoint/2010/main">
    <mc:Choice Requires="p14">
      <p:transition spd="slow" p14:dur="2000" advTm="405"/>
    </mc:Choice>
    <mc:Fallback xmlns="">
      <p:transition spd="slow" advTm="405"/>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DB5E0-0FD5-E07F-F640-692A1495F87E}"/>
            </a:ext>
          </a:extLst>
        </p:cNvPr>
        <p:cNvGrpSpPr/>
        <p:nvPr/>
      </p:nvGrpSpPr>
      <p:grpSpPr>
        <a:xfrm>
          <a:off x="0" y="0"/>
          <a:ext cx="0" cy="0"/>
          <a:chOff x="0" y="0"/>
          <a:chExt cx="0" cy="0"/>
        </a:xfrm>
      </p:grpSpPr>
      <p:sp>
        <p:nvSpPr>
          <p:cNvPr id="111" name="CustomShape 1">
            <a:extLst>
              <a:ext uri="{FF2B5EF4-FFF2-40B4-BE49-F238E27FC236}">
                <a16:creationId xmlns:a16="http://schemas.microsoft.com/office/drawing/2014/main" id="{3222F7A6-C695-56B0-2826-18F2AB0EB702}"/>
              </a:ext>
            </a:extLst>
          </p:cNvPr>
          <p:cNvSpPr/>
          <p:nvPr/>
        </p:nvSpPr>
        <p:spPr>
          <a:xfrm>
            <a:off x="838080" y="365040"/>
            <a:ext cx="10514880" cy="1324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endParaRPr lang="en-US" sz="3800" b="0" strike="noStrike" spc="-1" dirty="0">
              <a:latin typeface="Calibri"/>
            </a:endParaRPr>
          </a:p>
        </p:txBody>
      </p:sp>
      <p:sp>
        <p:nvSpPr>
          <p:cNvPr id="112" name="Line 2">
            <a:extLst>
              <a:ext uri="{FF2B5EF4-FFF2-40B4-BE49-F238E27FC236}">
                <a16:creationId xmlns:a16="http://schemas.microsoft.com/office/drawing/2014/main" id="{E8A4369B-3786-03DC-1610-402D8694FBE5}"/>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3" name="Slide Number Placeholder 3">
            <a:extLst>
              <a:ext uri="{FF2B5EF4-FFF2-40B4-BE49-F238E27FC236}">
                <a16:creationId xmlns:a16="http://schemas.microsoft.com/office/drawing/2014/main" id="{46ED4BDB-53C8-F009-957A-E58DB3F08072}"/>
              </a:ext>
            </a:extLst>
          </p:cNvPr>
          <p:cNvSpPr txBox="1">
            <a:spLocks/>
          </p:cNvSpPr>
          <p:nvPr/>
        </p:nvSpPr>
        <p:spPr>
          <a:xfrm>
            <a:off x="8610600" y="6340865"/>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D45CBC7-BB0C-1B4C-8910-D00AF3F288B4}" type="slidenum">
              <a:rPr lang="en-US" smtClean="0"/>
              <a:pPr/>
              <a:t>16</a:t>
            </a:fld>
            <a:endParaRPr lang="en-US" dirty="0"/>
          </a:p>
        </p:txBody>
      </p:sp>
      <p:sp>
        <p:nvSpPr>
          <p:cNvPr id="8" name="Title 1">
            <a:extLst>
              <a:ext uri="{FF2B5EF4-FFF2-40B4-BE49-F238E27FC236}">
                <a16:creationId xmlns:a16="http://schemas.microsoft.com/office/drawing/2014/main" id="{12F6066A-5696-F056-50E3-83D755D76E84}"/>
              </a:ext>
            </a:extLst>
          </p:cNvPr>
          <p:cNvSpPr txBox="1">
            <a:spLocks/>
          </p:cNvSpPr>
          <p:nvPr/>
        </p:nvSpPr>
        <p:spPr>
          <a:xfrm>
            <a:off x="513273" y="350635"/>
            <a:ext cx="10515600" cy="66357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100" dirty="0">
                <a:latin typeface="Times New Roman" panose="02020603050405020304" pitchFamily="18" charset="0"/>
                <a:cs typeface="Times New Roman" panose="02020603050405020304" pitchFamily="18" charset="0"/>
              </a:rPr>
              <a:t>Machine Learning paradigms</a:t>
            </a:r>
            <a:endParaRPr lang="en-NL" sz="3100" dirty="0">
              <a:latin typeface="Times New Roman" panose="02020603050405020304" pitchFamily="18" charset="0"/>
              <a:cs typeface="Times New Roman" panose="02020603050405020304" pitchFamily="18" charset="0"/>
            </a:endParaRPr>
          </a:p>
        </p:txBody>
      </p:sp>
      <p:sp>
        <p:nvSpPr>
          <p:cNvPr id="4" name="Line 2">
            <a:extLst>
              <a:ext uri="{FF2B5EF4-FFF2-40B4-BE49-F238E27FC236}">
                <a16:creationId xmlns:a16="http://schemas.microsoft.com/office/drawing/2014/main" id="{7F8233DD-7A24-3986-EE7C-809594937711}"/>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F06ADF5-DABD-B52C-5FD3-18E96F9CE2D2}"/>
                  </a:ext>
                </a:extLst>
              </p:cNvPr>
              <p:cNvSpPr txBox="1"/>
              <p:nvPr/>
            </p:nvSpPr>
            <p:spPr>
              <a:xfrm>
                <a:off x="513272" y="735225"/>
                <a:ext cx="11324501" cy="2862322"/>
              </a:xfrm>
              <a:prstGeom prst="rect">
                <a:avLst/>
              </a:prstGeom>
              <a:noFill/>
            </p:spPr>
            <p:txBody>
              <a:bodyPr wrap="square">
                <a:spAutoFit/>
              </a:bodyPr>
              <a:lstStyle/>
              <a:p>
                <a:pPr algn="just"/>
                <a:endParaRPr lang="en-GB" sz="2000" noProof="0" dirty="0">
                  <a:latin typeface="Times New Roman" panose="02020603050405020304" pitchFamily="18" charset="0"/>
                  <a:ea typeface="Times New Roman" panose="02020603050405020304" pitchFamily="18" charset="0"/>
                </a:endParaRPr>
              </a:p>
              <a:p>
                <a:pPr algn="just"/>
                <a:endParaRPr lang="en-GB" sz="2000" dirty="0">
                  <a:latin typeface="Times New Roman" panose="02020603050405020304" pitchFamily="18" charset="0"/>
                  <a:ea typeface="Times New Roman" panose="02020603050405020304" pitchFamily="18" charset="0"/>
                </a:endParaRPr>
              </a:p>
              <a:p>
                <a:pPr algn="just"/>
                <a:r>
                  <a:rPr lang="en-GB" sz="2000" b="1" dirty="0">
                    <a:latin typeface="Times New Roman" panose="02020603050405020304" pitchFamily="18" charset="0"/>
                    <a:ea typeface="Times New Roman" panose="02020603050405020304" pitchFamily="18" charset="0"/>
                  </a:rPr>
                  <a:t>Reinforcement Learning</a:t>
                </a:r>
              </a:p>
              <a:p>
                <a:pPr marL="342900" indent="-342900" algn="just">
                  <a:buFont typeface="Arial" panose="020B0604020202020204" pitchFamily="34" charset="0"/>
                  <a:buChar char="•"/>
                </a:pPr>
                <a:r>
                  <a:rPr lang="en-GB" sz="2000" dirty="0">
                    <a:latin typeface="Times New Roman" panose="02020603050405020304" pitchFamily="18" charset="0"/>
                    <a:ea typeface="Times New Roman" panose="02020603050405020304" pitchFamily="18" charset="0"/>
                  </a:rPr>
                  <a:t>Data: Obtained by interacting with an environment</a:t>
                </a:r>
              </a:p>
              <a:p>
                <a:pPr marL="342900" indent="-342900" algn="just">
                  <a:buFont typeface="Arial" panose="020B0604020202020204" pitchFamily="34" charset="0"/>
                  <a:buChar char="•"/>
                </a:pPr>
                <a:r>
                  <a:rPr lang="en-GB" sz="2000" dirty="0">
                    <a:latin typeface="Times New Roman" panose="02020603050405020304" pitchFamily="18" charset="0"/>
                    <a:ea typeface="Times New Roman" panose="02020603050405020304" pitchFamily="18" charset="0"/>
                  </a:rPr>
                  <a:t>Goal: Learn how to take actions to maximize rewards (</a:t>
                </a:r>
                <a14:m>
                  <m:oMath xmlns:m="http://schemas.openxmlformats.org/officeDocument/2006/math">
                    <m:r>
                      <a:rPr lang="nl-NL" sz="2000">
                        <a:latin typeface="Cambria Math" panose="02040503050406030204" pitchFamily="18" charset="0"/>
                        <a:ea typeface="Times New Roman" panose="02020603050405020304" pitchFamily="18" charset="0"/>
                      </a:rPr>
                      <m:t>𝑅</m:t>
                    </m:r>
                  </m:oMath>
                </a14:m>
                <a:r>
                  <a:rPr lang="en-GB" sz="2000" dirty="0">
                    <a:latin typeface="Times New Roman" panose="02020603050405020304" pitchFamily="18" charset="0"/>
                    <a:ea typeface="Times New Roman" panose="02020603050405020304" pitchFamily="18" charset="0"/>
                  </a:rPr>
                  <a:t>)</a:t>
                </a:r>
              </a:p>
              <a:p>
                <a:pPr marL="342900" indent="-342900" algn="just">
                  <a:buFont typeface="Arial" panose="020B0604020202020204" pitchFamily="34" charset="0"/>
                  <a:buChar char="•"/>
                </a:pPr>
                <a:r>
                  <a:rPr lang="en-GB" sz="2000" dirty="0">
                    <a:latin typeface="Times New Roman" panose="02020603050405020304" pitchFamily="18" charset="0"/>
                    <a:ea typeface="Times New Roman" panose="02020603050405020304" pitchFamily="18" charset="0"/>
                  </a:rPr>
                  <a:t>Defined by a Markov decision process</a:t>
                </a:r>
              </a:p>
              <a:p>
                <a:pPr marL="342900" indent="-342900" algn="just">
                  <a:buFont typeface="Arial" panose="020B0604020202020204" pitchFamily="34" charset="0"/>
                  <a:buChar char="•"/>
                </a:pPr>
                <a:endParaRPr lang="en-GB" sz="2000" noProof="0" dirty="0">
                  <a:latin typeface="Times New Roman" panose="02020603050405020304" pitchFamily="18" charset="0"/>
                  <a:ea typeface="Times New Roman" panose="02020603050405020304" pitchFamily="18" charset="0"/>
                </a:endParaRPr>
              </a:p>
              <a:p>
                <a:pPr algn="just"/>
                <a:endParaRPr lang="en-GB" sz="2000" dirty="0">
                  <a:latin typeface="Times New Roman" panose="02020603050405020304" pitchFamily="18" charset="0"/>
                  <a:ea typeface="Times New Roman" panose="02020603050405020304" pitchFamily="18" charset="0"/>
                </a:endParaRPr>
              </a:p>
              <a:p>
                <a:pPr algn="just"/>
                <a:endParaRPr lang="en-GB" sz="2000" noProof="0" dirty="0">
                  <a:latin typeface="Times New Roman" panose="02020603050405020304" pitchFamily="18" charset="0"/>
                  <a:ea typeface="Times New Roman" panose="02020603050405020304" pitchFamily="18" charset="0"/>
                </a:endParaRPr>
              </a:p>
            </p:txBody>
          </p:sp>
        </mc:Choice>
        <mc:Fallback xmlns="">
          <p:sp>
            <p:nvSpPr>
              <p:cNvPr id="5" name="TextBox 4">
                <a:extLst>
                  <a:ext uri="{FF2B5EF4-FFF2-40B4-BE49-F238E27FC236}">
                    <a16:creationId xmlns:a16="http://schemas.microsoft.com/office/drawing/2014/main" id="{DF06ADF5-DABD-B52C-5FD3-18E96F9CE2D2}"/>
                  </a:ext>
                </a:extLst>
              </p:cNvPr>
              <p:cNvSpPr txBox="1">
                <a:spLocks noRot="1" noChangeAspect="1" noMove="1" noResize="1" noEditPoints="1" noAdjustHandles="1" noChangeArrowheads="1" noChangeShapeType="1" noTextEdit="1"/>
              </p:cNvSpPr>
              <p:nvPr/>
            </p:nvSpPr>
            <p:spPr>
              <a:xfrm>
                <a:off x="513272" y="735225"/>
                <a:ext cx="11324501" cy="2862322"/>
              </a:xfrm>
              <a:prstGeom prst="rect">
                <a:avLst/>
              </a:prstGeom>
              <a:blipFill>
                <a:blip r:embed="rId3"/>
                <a:stretch>
                  <a:fillRect l="-560"/>
                </a:stretch>
              </a:blipFill>
            </p:spPr>
            <p:txBody>
              <a:bodyPr/>
              <a:lstStyle/>
              <a:p>
                <a:r>
                  <a:rPr lang="en-GB">
                    <a:noFill/>
                  </a:rPr>
                  <a:t> </a:t>
                </a:r>
              </a:p>
            </p:txBody>
          </p:sp>
        </mc:Fallback>
      </mc:AlternateContent>
      <p:grpSp>
        <p:nvGrpSpPr>
          <p:cNvPr id="9" name="Group 8">
            <a:extLst>
              <a:ext uri="{FF2B5EF4-FFF2-40B4-BE49-F238E27FC236}">
                <a16:creationId xmlns:a16="http://schemas.microsoft.com/office/drawing/2014/main" id="{2CF7169F-9262-C9DA-E178-5FC1618DCCEB}"/>
              </a:ext>
            </a:extLst>
          </p:cNvPr>
          <p:cNvGrpSpPr/>
          <p:nvPr/>
        </p:nvGrpSpPr>
        <p:grpSpPr>
          <a:xfrm>
            <a:off x="3025063" y="3854195"/>
            <a:ext cx="1285264" cy="1365539"/>
            <a:chOff x="2948283" y="2741467"/>
            <a:chExt cx="1285264" cy="1365539"/>
          </a:xfrm>
        </p:grpSpPr>
        <p:pic>
          <p:nvPicPr>
            <p:cNvPr id="10" name="Graphic 9" descr="User with solid fill">
              <a:extLst>
                <a:ext uri="{FF2B5EF4-FFF2-40B4-BE49-F238E27FC236}">
                  <a16:creationId xmlns:a16="http://schemas.microsoft.com/office/drawing/2014/main" id="{8BCE8373-6532-CAE3-29ED-47969E64D1F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948283" y="2741467"/>
              <a:ext cx="1285264" cy="1365539"/>
            </a:xfrm>
            <a:prstGeom prst="rect">
              <a:avLst/>
            </a:prstGeom>
          </p:spPr>
        </p:pic>
        <p:sp>
          <p:nvSpPr>
            <p:cNvPr id="11" name="CustomShape 1">
              <a:extLst>
                <a:ext uri="{FF2B5EF4-FFF2-40B4-BE49-F238E27FC236}">
                  <a16:creationId xmlns:a16="http://schemas.microsoft.com/office/drawing/2014/main" id="{338F0D99-EDCB-FF46-5453-96EEDD1EB552}"/>
                </a:ext>
              </a:extLst>
            </p:cNvPr>
            <p:cNvSpPr/>
            <p:nvPr/>
          </p:nvSpPr>
          <p:spPr>
            <a:xfrm>
              <a:off x="3196909" y="3472404"/>
              <a:ext cx="805860" cy="53970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r>
                <a:rPr lang="en-US" sz="2000" b="0" strike="noStrike" spc="-1" dirty="0">
                  <a:solidFill>
                    <a:schemeClr val="bg1"/>
                  </a:solidFill>
                  <a:latin typeface="Calibri"/>
                </a:rPr>
                <a:t>Agent</a:t>
              </a:r>
            </a:p>
          </p:txBody>
        </p:sp>
      </p:grpSp>
      <p:grpSp>
        <p:nvGrpSpPr>
          <p:cNvPr id="12" name="Group 11">
            <a:extLst>
              <a:ext uri="{FF2B5EF4-FFF2-40B4-BE49-F238E27FC236}">
                <a16:creationId xmlns:a16="http://schemas.microsoft.com/office/drawing/2014/main" id="{E341E16D-B108-0996-3D54-B48963C5015B}"/>
              </a:ext>
            </a:extLst>
          </p:cNvPr>
          <p:cNvGrpSpPr/>
          <p:nvPr/>
        </p:nvGrpSpPr>
        <p:grpSpPr>
          <a:xfrm>
            <a:off x="7623697" y="3854194"/>
            <a:ext cx="1549572" cy="1610997"/>
            <a:chOff x="7557550" y="2750953"/>
            <a:chExt cx="1549572" cy="1610997"/>
          </a:xfrm>
        </p:grpSpPr>
        <p:pic>
          <p:nvPicPr>
            <p:cNvPr id="13" name="Graphic 12" descr="Earth globe: Americas with solid fill">
              <a:extLst>
                <a:ext uri="{FF2B5EF4-FFF2-40B4-BE49-F238E27FC236}">
                  <a16:creationId xmlns:a16="http://schemas.microsoft.com/office/drawing/2014/main" id="{A816FD47-AE72-4E66-EB3C-169D443E2F3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27601" y="2750953"/>
              <a:ext cx="1285264" cy="1365539"/>
            </a:xfrm>
            <a:prstGeom prst="rect">
              <a:avLst/>
            </a:prstGeom>
          </p:spPr>
        </p:pic>
        <p:sp>
          <p:nvSpPr>
            <p:cNvPr id="14" name="CustomShape 1">
              <a:extLst>
                <a:ext uri="{FF2B5EF4-FFF2-40B4-BE49-F238E27FC236}">
                  <a16:creationId xmlns:a16="http://schemas.microsoft.com/office/drawing/2014/main" id="{E3911E59-D12E-5347-4350-5AFBD0713331}"/>
                </a:ext>
              </a:extLst>
            </p:cNvPr>
            <p:cNvSpPr/>
            <p:nvPr/>
          </p:nvSpPr>
          <p:spPr>
            <a:xfrm>
              <a:off x="7557550" y="3822243"/>
              <a:ext cx="1549572" cy="53970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r>
                <a:rPr lang="en-US" sz="2000" b="0" strike="noStrike" spc="-1" dirty="0">
                  <a:latin typeface="Calibri"/>
                </a:rPr>
                <a:t>Environment</a:t>
              </a:r>
            </a:p>
          </p:txBody>
        </p:sp>
      </p:grpSp>
      <p:cxnSp>
        <p:nvCxnSpPr>
          <p:cNvPr id="15" name="Elbow Connector 14">
            <a:extLst>
              <a:ext uri="{FF2B5EF4-FFF2-40B4-BE49-F238E27FC236}">
                <a16:creationId xmlns:a16="http://schemas.microsoft.com/office/drawing/2014/main" id="{5916F097-B522-25FB-93B0-2BDFB198E904}"/>
              </a:ext>
            </a:extLst>
          </p:cNvPr>
          <p:cNvCxnSpPr>
            <a:cxnSpLocks/>
            <a:endCxn id="18" idx="0"/>
          </p:cNvCxnSpPr>
          <p:nvPr/>
        </p:nvCxnSpPr>
        <p:spPr>
          <a:xfrm flipV="1">
            <a:off x="3657062" y="3434906"/>
            <a:ext cx="4722486" cy="663934"/>
          </a:xfrm>
          <a:prstGeom prst="bentConnector4">
            <a:avLst>
              <a:gd name="adj1" fmla="val 636"/>
              <a:gd name="adj2" fmla="val 13443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Elbow Connector 15">
            <a:extLst>
              <a:ext uri="{FF2B5EF4-FFF2-40B4-BE49-F238E27FC236}">
                <a16:creationId xmlns:a16="http://schemas.microsoft.com/office/drawing/2014/main" id="{844CB9CA-1156-CB70-F052-677D21E53F2B}"/>
              </a:ext>
            </a:extLst>
          </p:cNvPr>
          <p:cNvCxnSpPr>
            <a:cxnSpLocks/>
            <a:stCxn id="14" idx="2"/>
            <a:endCxn id="17" idx="2"/>
          </p:cNvCxnSpPr>
          <p:nvPr/>
        </p:nvCxnSpPr>
        <p:spPr>
          <a:xfrm rot="5400000">
            <a:off x="5939038" y="3150680"/>
            <a:ext cx="144934" cy="4773956"/>
          </a:xfrm>
          <a:prstGeom prst="bentConnector3">
            <a:avLst>
              <a:gd name="adj1" fmla="val 331088"/>
            </a:avLst>
          </a:prstGeom>
          <a:ln w="28575">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CustomShape 1">
                <a:extLst>
                  <a:ext uri="{FF2B5EF4-FFF2-40B4-BE49-F238E27FC236}">
                    <a16:creationId xmlns:a16="http://schemas.microsoft.com/office/drawing/2014/main" id="{CC440129-3836-D7A2-CF44-2053300E6328}"/>
                  </a:ext>
                </a:extLst>
              </p:cNvPr>
              <p:cNvSpPr/>
              <p:nvPr/>
            </p:nvSpPr>
            <p:spPr>
              <a:xfrm>
                <a:off x="2938727" y="5070418"/>
                <a:ext cx="1371600" cy="53970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90000"/>
                  </a:lnSpc>
                </a:pPr>
                <a:r>
                  <a:rPr lang="en-US" sz="2000" b="0" strike="noStrike" spc="-1" dirty="0">
                    <a:latin typeface="Calibri"/>
                  </a:rPr>
                  <a:t>State </a:t>
                </a:r>
                <a14:m>
                  <m:oMath xmlns:m="http://schemas.openxmlformats.org/officeDocument/2006/math">
                    <m:sSub>
                      <m:sSubPr>
                        <m:ctrlPr>
                          <a:rPr lang="nl-NL" sz="2000" b="0" i="1" smtClean="0">
                            <a:latin typeface="Cambria Math" panose="02040503050406030204" pitchFamily="18" charset="0"/>
                          </a:rPr>
                        </m:ctrlPr>
                      </m:sSubPr>
                      <m:e>
                        <m:r>
                          <a:rPr lang="nl-NL" sz="2000" b="0" i="1" smtClean="0">
                            <a:latin typeface="Cambria Math" panose="02040503050406030204" pitchFamily="18" charset="0"/>
                          </a:rPr>
                          <m:t>𝑠</m:t>
                        </m:r>
                      </m:e>
                      <m:sub>
                        <m:r>
                          <a:rPr lang="nl-NL" sz="2000" b="0" i="1" smtClean="0">
                            <a:latin typeface="Cambria Math" panose="02040503050406030204" pitchFamily="18" charset="0"/>
                          </a:rPr>
                          <m:t>𝑡</m:t>
                        </m:r>
                      </m:sub>
                    </m:sSub>
                  </m:oMath>
                </a14:m>
                <a:endParaRPr lang="en-US" sz="2000" b="0" strike="noStrike" spc="-1" dirty="0">
                  <a:latin typeface="Calibri"/>
                </a:endParaRPr>
              </a:p>
            </p:txBody>
          </p:sp>
        </mc:Choice>
        <mc:Fallback xmlns="">
          <p:sp>
            <p:nvSpPr>
              <p:cNvPr id="17" name="CustomShape 1">
                <a:extLst>
                  <a:ext uri="{FF2B5EF4-FFF2-40B4-BE49-F238E27FC236}">
                    <a16:creationId xmlns:a16="http://schemas.microsoft.com/office/drawing/2014/main" id="{CC440129-3836-D7A2-CF44-2053300E6328}"/>
                  </a:ext>
                </a:extLst>
              </p:cNvPr>
              <p:cNvSpPr>
                <a:spLocks noRot="1" noChangeAspect="1" noMove="1" noResize="1" noEditPoints="1" noAdjustHandles="1" noChangeArrowheads="1" noChangeShapeType="1" noTextEdit="1"/>
              </p:cNvSpPr>
              <p:nvPr/>
            </p:nvSpPr>
            <p:spPr>
              <a:xfrm>
                <a:off x="2938727" y="5070418"/>
                <a:ext cx="1371600" cy="539707"/>
              </a:xfrm>
              <a:prstGeom prst="rect">
                <a:avLst/>
              </a:prstGeom>
              <a:blipFill>
                <a:blip r:embed="rId8"/>
                <a:stretch>
                  <a:fillRect b="-4651"/>
                </a:stretch>
              </a:blipFill>
              <a:ln>
                <a:noFill/>
              </a:ln>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 name="CustomShape 1">
                <a:extLst>
                  <a:ext uri="{FF2B5EF4-FFF2-40B4-BE49-F238E27FC236}">
                    <a16:creationId xmlns:a16="http://schemas.microsoft.com/office/drawing/2014/main" id="{0A2F520A-EA24-723D-AC96-54D3D2DF7DDE}"/>
                  </a:ext>
                </a:extLst>
              </p:cNvPr>
              <p:cNvSpPr/>
              <p:nvPr/>
            </p:nvSpPr>
            <p:spPr>
              <a:xfrm>
                <a:off x="7693748" y="3434906"/>
                <a:ext cx="1371600" cy="53970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90000"/>
                  </a:lnSpc>
                </a:pPr>
                <a:r>
                  <a:rPr lang="en-US" sz="2000" b="0" strike="noStrike" spc="-1" dirty="0">
                    <a:latin typeface="Calibri"/>
                  </a:rPr>
                  <a:t>State </a:t>
                </a:r>
                <a14:m>
                  <m:oMath xmlns:m="http://schemas.openxmlformats.org/officeDocument/2006/math">
                    <m:sSub>
                      <m:sSubPr>
                        <m:ctrlPr>
                          <a:rPr lang="nl-NL" sz="2000" b="0" i="1" smtClean="0">
                            <a:latin typeface="Cambria Math" panose="02040503050406030204" pitchFamily="18" charset="0"/>
                          </a:rPr>
                        </m:ctrlPr>
                      </m:sSubPr>
                      <m:e>
                        <m:r>
                          <a:rPr lang="nl-NL" sz="2000" b="0" i="1" smtClean="0">
                            <a:latin typeface="Cambria Math" panose="02040503050406030204" pitchFamily="18" charset="0"/>
                          </a:rPr>
                          <m:t>𝑠</m:t>
                        </m:r>
                      </m:e>
                      <m:sub>
                        <m:r>
                          <a:rPr lang="nl-NL" sz="2000" b="0" i="1" smtClean="0">
                            <a:latin typeface="Cambria Math" panose="02040503050406030204" pitchFamily="18" charset="0"/>
                          </a:rPr>
                          <m:t>𝑡</m:t>
                        </m:r>
                        <m:r>
                          <a:rPr lang="nl-NL" sz="2000" b="0" i="1" smtClean="0">
                            <a:latin typeface="Cambria Math" panose="02040503050406030204" pitchFamily="18" charset="0"/>
                          </a:rPr>
                          <m:t>+1</m:t>
                        </m:r>
                      </m:sub>
                    </m:sSub>
                  </m:oMath>
                </a14:m>
                <a:endParaRPr lang="en-US" sz="2000" b="0" strike="noStrike" spc="-1" dirty="0">
                  <a:latin typeface="Calibri"/>
                </a:endParaRPr>
              </a:p>
            </p:txBody>
          </p:sp>
        </mc:Choice>
        <mc:Fallback xmlns="">
          <p:sp>
            <p:nvSpPr>
              <p:cNvPr id="18" name="CustomShape 1">
                <a:extLst>
                  <a:ext uri="{FF2B5EF4-FFF2-40B4-BE49-F238E27FC236}">
                    <a16:creationId xmlns:a16="http://schemas.microsoft.com/office/drawing/2014/main" id="{0A2F520A-EA24-723D-AC96-54D3D2DF7DDE}"/>
                  </a:ext>
                </a:extLst>
              </p:cNvPr>
              <p:cNvSpPr>
                <a:spLocks noRot="1" noChangeAspect="1" noMove="1" noResize="1" noEditPoints="1" noAdjustHandles="1" noChangeArrowheads="1" noChangeShapeType="1" noTextEdit="1"/>
              </p:cNvSpPr>
              <p:nvPr/>
            </p:nvSpPr>
            <p:spPr>
              <a:xfrm>
                <a:off x="7693748" y="3434906"/>
                <a:ext cx="1371600" cy="539707"/>
              </a:xfrm>
              <a:prstGeom prst="rect">
                <a:avLst/>
              </a:prstGeom>
              <a:blipFill>
                <a:blip r:embed="rId9"/>
                <a:stretch>
                  <a:fillRect b="-2326"/>
                </a:stretch>
              </a:blipFill>
              <a:ln>
                <a:noFill/>
              </a:ln>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2FEFE579-06E8-D8C6-0233-FDCECD32DA28}"/>
                  </a:ext>
                </a:extLst>
              </p:cNvPr>
              <p:cNvSpPr/>
              <p:nvPr/>
            </p:nvSpPr>
            <p:spPr>
              <a:xfrm>
                <a:off x="4912241" y="2824764"/>
                <a:ext cx="2700823" cy="6345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GB" dirty="0"/>
                  <a:t>Action </a:t>
                </a:r>
                <a:endParaRPr lang="nl-NL"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nl-NL" b="0" i="1" smtClean="0">
                          <a:latin typeface="Cambria Math" panose="02040503050406030204" pitchFamily="18" charset="0"/>
                        </a:rPr>
                        <m:t>𝜋</m:t>
                      </m:r>
                      <m:r>
                        <a:rPr lang="nl-NL" b="0" i="1" smtClean="0">
                          <a:latin typeface="Cambria Math" panose="02040503050406030204" pitchFamily="18" charset="0"/>
                        </a:rPr>
                        <m:t>=</m:t>
                      </m:r>
                      <m:r>
                        <a:rPr lang="nl-NL" b="0" i="1" smtClean="0">
                          <a:latin typeface="Cambria Math" panose="02040503050406030204" pitchFamily="18" charset="0"/>
                        </a:rPr>
                        <m:t>𝑃</m:t>
                      </m:r>
                      <m:d>
                        <m:dPr>
                          <m:ctrlPr>
                            <a:rPr lang="nl-NL" b="0" i="1" smtClean="0">
                              <a:latin typeface="Cambria Math" panose="02040503050406030204" pitchFamily="18" charset="0"/>
                            </a:rPr>
                          </m:ctrlPr>
                        </m:dPr>
                        <m:e>
                          <m:sSub>
                            <m:sSubPr>
                              <m:ctrlPr>
                                <a:rPr lang="nl-NL" b="0" i="1" smtClean="0">
                                  <a:latin typeface="Cambria Math" panose="02040503050406030204" pitchFamily="18" charset="0"/>
                                </a:rPr>
                              </m:ctrlPr>
                            </m:sSubPr>
                            <m:e>
                              <m:r>
                                <a:rPr lang="nl-NL" b="0" i="1" smtClean="0">
                                  <a:latin typeface="Cambria Math" panose="02040503050406030204" pitchFamily="18" charset="0"/>
                                </a:rPr>
                                <m:t>𝑠</m:t>
                              </m:r>
                            </m:e>
                            <m:sub>
                              <m:r>
                                <a:rPr lang="nl-NL" b="0" i="1" smtClean="0">
                                  <a:latin typeface="Cambria Math" panose="02040503050406030204" pitchFamily="18" charset="0"/>
                                </a:rPr>
                                <m:t>𝑡</m:t>
                              </m:r>
                              <m:r>
                                <a:rPr lang="nl-NL" b="0" i="1" smtClean="0">
                                  <a:latin typeface="Cambria Math" panose="02040503050406030204" pitchFamily="18" charset="0"/>
                                </a:rPr>
                                <m:t>+1</m:t>
                              </m:r>
                            </m:sub>
                          </m:sSub>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𝑠</m:t>
                              </m:r>
                            </m:e>
                            <m:sub>
                              <m:r>
                                <a:rPr lang="nl-NL" b="0" i="1" smtClean="0">
                                  <a:latin typeface="Cambria Math" panose="02040503050406030204" pitchFamily="18" charset="0"/>
                                </a:rPr>
                                <m:t>𝑡</m:t>
                              </m:r>
                            </m:sub>
                          </m:sSub>
                        </m:e>
                      </m:d>
                      <m:r>
                        <a:rPr lang="nl-NL" b="0" i="1" smtClean="0">
                          <a:latin typeface="Cambria Math" panose="02040503050406030204" pitchFamily="18" charset="0"/>
                        </a:rPr>
                        <m:t>→</m:t>
                      </m:r>
                      <m:sSub>
                        <m:sSubPr>
                          <m:ctrlPr>
                            <a:rPr lang="nl-NL" i="1">
                              <a:latin typeface="Cambria Math" panose="02040503050406030204" pitchFamily="18" charset="0"/>
                            </a:rPr>
                          </m:ctrlPr>
                        </m:sSubPr>
                        <m:e>
                          <m:r>
                            <a:rPr lang="nl-NL" i="1">
                              <a:latin typeface="Cambria Math" panose="02040503050406030204" pitchFamily="18" charset="0"/>
                            </a:rPr>
                            <m:t>𝑎</m:t>
                          </m:r>
                        </m:e>
                        <m:sub>
                          <m:r>
                            <a:rPr lang="nl-NL" i="1">
                              <a:latin typeface="Cambria Math" panose="02040503050406030204" pitchFamily="18" charset="0"/>
                            </a:rPr>
                            <m:t>𝑡</m:t>
                          </m:r>
                        </m:sub>
                      </m:sSub>
                    </m:oMath>
                  </m:oMathPara>
                </a14:m>
                <a:endParaRPr lang="en-GB" dirty="0"/>
              </a:p>
            </p:txBody>
          </p:sp>
        </mc:Choice>
        <mc:Fallback xmlns="">
          <p:sp>
            <p:nvSpPr>
              <p:cNvPr id="19" name="Rectangle 18">
                <a:extLst>
                  <a:ext uri="{FF2B5EF4-FFF2-40B4-BE49-F238E27FC236}">
                    <a16:creationId xmlns:a16="http://schemas.microsoft.com/office/drawing/2014/main" id="{2FEFE579-06E8-D8C6-0233-FDCECD32DA28}"/>
                  </a:ext>
                </a:extLst>
              </p:cNvPr>
              <p:cNvSpPr>
                <a:spLocks noRot="1" noChangeAspect="1" noMove="1" noResize="1" noEditPoints="1" noAdjustHandles="1" noChangeArrowheads="1" noChangeShapeType="1" noTextEdit="1"/>
              </p:cNvSpPr>
              <p:nvPr/>
            </p:nvSpPr>
            <p:spPr>
              <a:xfrm>
                <a:off x="4912241" y="2824764"/>
                <a:ext cx="2700823" cy="634537"/>
              </a:xfrm>
              <a:prstGeom prst="rect">
                <a:avLst/>
              </a:prstGeom>
              <a:blipFill>
                <a:blip r:embed="rId10"/>
                <a:stretch>
                  <a:fillRect t="-3846" b="-9615"/>
                </a:stretch>
              </a:blipFill>
            </p:spPr>
            <p:txBody>
              <a:bodyPr/>
              <a:lstStyle/>
              <a:p>
                <a:r>
                  <a:rPr lang="en-GB">
                    <a:noFill/>
                  </a:rPr>
                  <a:t> </a:t>
                </a:r>
              </a:p>
            </p:txBody>
          </p:sp>
        </mc:Fallback>
      </mc:AlternateContent>
      <p:grpSp>
        <p:nvGrpSpPr>
          <p:cNvPr id="20" name="Group 19">
            <a:extLst>
              <a:ext uri="{FF2B5EF4-FFF2-40B4-BE49-F238E27FC236}">
                <a16:creationId xmlns:a16="http://schemas.microsoft.com/office/drawing/2014/main" id="{7B6D069F-8EE4-418B-837C-8E855897B7FE}"/>
              </a:ext>
            </a:extLst>
          </p:cNvPr>
          <p:cNvGrpSpPr/>
          <p:nvPr/>
        </p:nvGrpSpPr>
        <p:grpSpPr>
          <a:xfrm>
            <a:off x="4311179" y="5610125"/>
            <a:ext cx="3680672" cy="993347"/>
            <a:chOff x="4311179" y="5610125"/>
            <a:chExt cx="3680672" cy="993347"/>
          </a:xfrm>
        </p:grpSpPr>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19AB8385-ABA1-19D6-F7C2-D5DF28049305}"/>
                    </a:ext>
                  </a:extLst>
                </p:cNvPr>
                <p:cNvSpPr/>
                <p:nvPr/>
              </p:nvSpPr>
              <p:spPr>
                <a:xfrm>
                  <a:off x="5435184" y="5610125"/>
                  <a:ext cx="1432663" cy="6345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GB" dirty="0"/>
                    <a:t>Reward  </a:t>
                  </a:r>
                  <a14:m>
                    <m:oMath xmlns:m="http://schemas.openxmlformats.org/officeDocument/2006/math">
                      <m:sSub>
                        <m:sSubPr>
                          <m:ctrlPr>
                            <a:rPr lang="nl-NL" b="0" i="1" smtClean="0">
                              <a:latin typeface="Cambria Math" panose="02040503050406030204" pitchFamily="18" charset="0"/>
                            </a:rPr>
                          </m:ctrlPr>
                        </m:sSubPr>
                        <m:e>
                          <m:r>
                            <a:rPr lang="nl-NL" b="0" i="1" smtClean="0">
                              <a:latin typeface="Cambria Math" panose="02040503050406030204" pitchFamily="18" charset="0"/>
                            </a:rPr>
                            <m:t>𝑟</m:t>
                          </m:r>
                        </m:e>
                        <m:sub>
                          <m:r>
                            <a:rPr lang="nl-NL" b="0" i="1" smtClean="0">
                              <a:latin typeface="Cambria Math" panose="02040503050406030204" pitchFamily="18" charset="0"/>
                            </a:rPr>
                            <m:t>𝑡</m:t>
                          </m:r>
                          <m:r>
                            <a:rPr lang="nl-NL" b="0" i="1" smtClean="0">
                              <a:latin typeface="Cambria Math" panose="02040503050406030204" pitchFamily="18" charset="0"/>
                            </a:rPr>
                            <m:t>+1</m:t>
                          </m:r>
                        </m:sub>
                      </m:sSub>
                    </m:oMath>
                  </a14:m>
                  <a:endParaRPr lang="en-GB" dirty="0"/>
                </a:p>
              </p:txBody>
            </p:sp>
          </mc:Choice>
          <mc:Fallback xmlns="">
            <p:sp>
              <p:nvSpPr>
                <p:cNvPr id="39" name="Rectangle 38">
                  <a:extLst>
                    <a:ext uri="{FF2B5EF4-FFF2-40B4-BE49-F238E27FC236}">
                      <a16:creationId xmlns:a16="http://schemas.microsoft.com/office/drawing/2014/main" id="{C1CF97D6-6855-94E9-FE5B-7B961425A49A}"/>
                    </a:ext>
                  </a:extLst>
                </p:cNvPr>
                <p:cNvSpPr>
                  <a:spLocks noRot="1" noChangeAspect="1" noMove="1" noResize="1" noEditPoints="1" noAdjustHandles="1" noChangeArrowheads="1" noChangeShapeType="1" noTextEdit="1"/>
                </p:cNvSpPr>
                <p:nvPr/>
              </p:nvSpPr>
              <p:spPr>
                <a:xfrm>
                  <a:off x="5435184" y="5610125"/>
                  <a:ext cx="1432663" cy="634537"/>
                </a:xfrm>
                <a:prstGeom prst="rect">
                  <a:avLst/>
                </a:prstGeom>
                <a:blipFill>
                  <a:blip r:embed="rId11"/>
                  <a:stretch>
                    <a:fillRect l="-870"/>
                  </a:stretch>
                </a:blipFill>
              </p:spPr>
              <p:txBody>
                <a:bodyPr/>
                <a:lstStyle/>
                <a:p>
                  <a:r>
                    <a:rPr lang="en-GB">
                      <a:noFill/>
                    </a:rPr>
                    <a:t> </a:t>
                  </a:r>
                </a:p>
              </p:txBody>
            </p:sp>
          </mc:Fallback>
        </mc:AlternateContent>
        <p:sp>
          <p:nvSpPr>
            <p:cNvPr id="22" name="TextBox 21">
              <a:extLst>
                <a:ext uri="{FF2B5EF4-FFF2-40B4-BE49-F238E27FC236}">
                  <a16:creationId xmlns:a16="http://schemas.microsoft.com/office/drawing/2014/main" id="{B2436D7B-7034-F47E-26BD-5B62A83484E3}"/>
                </a:ext>
              </a:extLst>
            </p:cNvPr>
            <p:cNvSpPr txBox="1"/>
            <p:nvPr/>
          </p:nvSpPr>
          <p:spPr>
            <a:xfrm>
              <a:off x="4311179" y="6295695"/>
              <a:ext cx="3680672" cy="307777"/>
            </a:xfrm>
            <a:prstGeom prst="rect">
              <a:avLst/>
            </a:prstGeom>
            <a:noFill/>
          </p:spPr>
          <p:txBody>
            <a:bodyPr wrap="square" rtlCol="0">
              <a:spAutoFit/>
            </a:bodyPr>
            <a:lstStyle/>
            <a:p>
              <a:pPr algn="ctr"/>
              <a:r>
                <a:rPr lang="en-GB" sz="1400" dirty="0"/>
                <a:t>Feedback that measures the agent’s action</a:t>
              </a:r>
            </a:p>
          </p:txBody>
        </p:sp>
      </p:grpSp>
    </p:spTree>
    <p:extLst>
      <p:ext uri="{BB962C8B-B14F-4D97-AF65-F5344CB8AC3E}">
        <p14:creationId xmlns:p14="http://schemas.microsoft.com/office/powerpoint/2010/main" val="3665841795"/>
      </p:ext>
    </p:extLst>
  </p:cSld>
  <p:clrMapOvr>
    <a:masterClrMapping/>
  </p:clrMapOvr>
  <mc:AlternateContent xmlns:mc="http://schemas.openxmlformats.org/markup-compatibility/2006" xmlns:p14="http://schemas.microsoft.com/office/powerpoint/2010/main">
    <mc:Choice Requires="p14">
      <p:transition spd="slow" p14:dur="2000" advTm="405"/>
    </mc:Choice>
    <mc:Fallback xmlns="">
      <p:transition spd="slow" advTm="405"/>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6466730"/>
          </a:xfrm>
        </p:spPr>
        <p:txBody>
          <a:bodyPr/>
          <a:lstStyle/>
          <a:p>
            <a:r>
              <a:rPr lang="en-GB" sz="4000" dirty="0"/>
              <a:t>Artificial Neural Networks</a:t>
            </a:r>
            <a:br>
              <a:rPr lang="en-GB" sz="4000" dirty="0"/>
            </a:br>
            <a:endParaRPr lang="en-GB" sz="40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nl-NL"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249761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Artificial neural networks</a:t>
            </a:r>
          </a:p>
          <a:p>
            <a:endParaRPr lang="en-GB" sz="1800" dirty="0"/>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8"/>
          <p:cNvSpPr txBox="1"/>
          <p:nvPr/>
        </p:nvSpPr>
        <p:spPr>
          <a:xfrm>
            <a:off x="720000" y="1196752"/>
            <a:ext cx="9505057"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sng" strike="noStrike" kern="1200" cap="none" spc="0" normalizeH="0" baseline="0" noProof="0" dirty="0">
                <a:ln>
                  <a:noFill/>
                </a:ln>
                <a:solidFill>
                  <a:prstClr val="black"/>
                </a:solidFill>
                <a:effectLst/>
                <a:uLnTx/>
                <a:uFillTx/>
                <a:latin typeface="Calibri"/>
                <a:ea typeface="+mn-ea"/>
                <a:cs typeface="+mn-cs"/>
              </a:rPr>
              <a:t>Layers</a:t>
            </a:r>
            <a:endParaRPr kumimoji="0" lang="en-GB" sz="1800" b="0" i="0" u="sng" strike="noStrike" kern="1200" cap="none" spc="0" normalizeH="0" baseline="0" noProof="0" dirty="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graphicFrame>
        <p:nvGraphicFramePr>
          <p:cNvPr id="7" name="Object 6"/>
          <p:cNvGraphicFramePr>
            <a:graphicFrameLocks noChangeAspect="1"/>
          </p:cNvGraphicFramePr>
          <p:nvPr/>
        </p:nvGraphicFramePr>
        <p:xfrm>
          <a:off x="4079776" y="1710632"/>
          <a:ext cx="3744416" cy="2427415"/>
        </p:xfrm>
        <a:graphic>
          <a:graphicData uri="http://schemas.openxmlformats.org/presentationml/2006/ole">
            <mc:AlternateContent xmlns:mc="http://schemas.openxmlformats.org/markup-compatibility/2006">
              <mc:Choice xmlns:v="urn:schemas-microsoft-com:vml" Requires="v">
                <p:oleObj name="Visio" r:id="rId3" imgW="2581141" imgH="1676155" progId="Visio.Drawing.11">
                  <p:embed/>
                </p:oleObj>
              </mc:Choice>
              <mc:Fallback>
                <p:oleObj name="Visio" r:id="rId3" imgW="2581141" imgH="1676155" progId="Visio.Drawing.11">
                  <p:embed/>
                  <p:pic>
                    <p:nvPicPr>
                      <p:cNvPr id="7" name="Object 6"/>
                      <p:cNvPicPr>
                        <a:picLocks noChangeAspect="1" noChangeArrowheads="1"/>
                      </p:cNvPicPr>
                      <p:nvPr/>
                    </p:nvPicPr>
                    <p:blipFill>
                      <a:blip r:embed="rId4"/>
                      <a:srcRect/>
                      <a:stretch>
                        <a:fillRect/>
                      </a:stretch>
                    </p:blipFill>
                    <p:spPr bwMode="auto">
                      <a:xfrm>
                        <a:off x="4079776" y="1710632"/>
                        <a:ext cx="3744416" cy="2427415"/>
                      </a:xfrm>
                      <a:prstGeom prst="rect">
                        <a:avLst/>
                      </a:prstGeom>
                      <a:noFill/>
                    </p:spPr>
                  </p:pic>
                </p:oleObj>
              </mc:Fallback>
            </mc:AlternateContent>
          </a:graphicData>
        </a:graphic>
      </p:graphicFrame>
      <p:sp>
        <p:nvSpPr>
          <p:cNvPr id="10" name="TextBox 9"/>
          <p:cNvSpPr txBox="1"/>
          <p:nvPr/>
        </p:nvSpPr>
        <p:spPr>
          <a:xfrm>
            <a:off x="720000" y="4581129"/>
            <a:ext cx="10298360" cy="2031325"/>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1" i="0" u="none" strike="noStrike" kern="1200" cap="none" spc="0" normalizeH="0" baseline="0" noProof="0" dirty="0">
                <a:ln>
                  <a:noFill/>
                </a:ln>
                <a:solidFill>
                  <a:srgbClr val="FF0000"/>
                </a:solidFill>
                <a:effectLst/>
                <a:uLnTx/>
                <a:uFillTx/>
                <a:latin typeface="Calibri"/>
                <a:ea typeface="+mn-ea"/>
                <a:cs typeface="+mn-cs"/>
              </a:rPr>
              <a:t>Input layer </a:t>
            </a:r>
            <a:r>
              <a:rPr kumimoji="0" lang="en-GB" sz="1800" b="0" i="0" u="none" strike="noStrike" kern="1200" cap="none" spc="0" normalizeH="0" baseline="0" noProof="0" dirty="0">
                <a:ln>
                  <a:noFill/>
                </a:ln>
                <a:solidFill>
                  <a:prstClr val="black"/>
                </a:solidFill>
                <a:effectLst/>
                <a:uLnTx/>
                <a:uFillTx/>
                <a:latin typeface="Calibri"/>
                <a:ea typeface="+mn-ea"/>
                <a:cs typeface="+mn-cs"/>
              </a:rPr>
              <a:t>consists of the features (explanatory variables)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1" i="0" u="none" strike="noStrike" kern="1200" cap="none" spc="0" normalizeH="0" baseline="0" noProof="0" dirty="0">
                <a:ln>
                  <a:noFill/>
                </a:ln>
                <a:solidFill>
                  <a:srgbClr val="7030A0"/>
                </a:solidFill>
                <a:effectLst/>
                <a:uLnTx/>
                <a:uFillTx/>
                <a:latin typeface="Calibri"/>
                <a:ea typeface="+mn-ea"/>
                <a:cs typeface="+mn-cs"/>
              </a:rPr>
              <a:t>The output </a:t>
            </a:r>
            <a:r>
              <a:rPr kumimoji="0" lang="en-GB" sz="1800" b="0" i="0" u="none" strike="noStrike" kern="1200" cap="none" spc="0" normalizeH="0" baseline="0" noProof="0" dirty="0">
                <a:ln>
                  <a:noFill/>
                </a:ln>
                <a:solidFill>
                  <a:prstClr val="black"/>
                </a:solidFill>
                <a:effectLst/>
                <a:uLnTx/>
                <a:uFillTx/>
                <a:latin typeface="Calibri"/>
                <a:ea typeface="+mn-ea"/>
                <a:cs typeface="+mn-cs"/>
              </a:rPr>
              <a:t>layer consists of the target variable (dependent variable, e.g. the </a:t>
            </a:r>
            <a:r>
              <a:rPr kumimoji="0" lang="en-GB" sz="1800" b="1" i="0" u="none" strike="noStrike" kern="1200" cap="none" spc="0" normalizeH="0" baseline="0" noProof="0" dirty="0">
                <a:ln>
                  <a:noFill/>
                </a:ln>
                <a:solidFill>
                  <a:prstClr val="black"/>
                </a:solidFill>
                <a:effectLst/>
                <a:uLnTx/>
                <a:uFillTx/>
                <a:latin typeface="Calibri"/>
                <a:ea typeface="+mn-ea"/>
                <a:cs typeface="+mn-cs"/>
              </a:rPr>
              <a:t>class</a:t>
            </a:r>
            <a:r>
              <a:rPr kumimoji="0" lang="en-GB" sz="1800" b="0" i="0" u="none" strike="noStrike" kern="1200" cap="none" spc="0" normalizeH="0" baseline="0" noProof="0" dirty="0">
                <a:ln>
                  <a:noFill/>
                </a:ln>
                <a:solidFill>
                  <a:prstClr val="black"/>
                </a:solidFill>
                <a:effectLst/>
                <a:uLnTx/>
                <a:uFillTx/>
                <a:latin typeface="Calibri"/>
                <a:ea typeface="+mn-ea"/>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1" i="0" u="none" strike="noStrike" kern="1200" cap="none" spc="0" normalizeH="0" baseline="0" noProof="0" dirty="0">
                <a:ln>
                  <a:noFill/>
                </a:ln>
                <a:solidFill>
                  <a:srgbClr val="00CC00"/>
                </a:solidFill>
                <a:effectLst/>
                <a:uLnTx/>
                <a:uFillTx/>
                <a:latin typeface="Calibri"/>
                <a:ea typeface="+mn-ea"/>
                <a:cs typeface="+mn-cs"/>
              </a:rPr>
              <a:t>Hidden layer(s)</a:t>
            </a:r>
            <a:r>
              <a:rPr kumimoji="0" lang="en-GB" sz="1800" b="0" i="0" u="none" strike="noStrike" kern="1200" cap="none" spc="0" normalizeH="0" baseline="0" noProof="0" dirty="0">
                <a:ln>
                  <a:noFill/>
                </a:ln>
                <a:solidFill>
                  <a:prstClr val="black"/>
                </a:solidFill>
                <a:effectLst/>
                <a:uLnTx/>
                <a:uFillTx/>
                <a:latin typeface="Calibri"/>
                <a:ea typeface="+mn-ea"/>
                <a:cs typeface="+mn-cs"/>
              </a:rPr>
              <a:t> consists of a finite number hidden nodes (set by the analyst)</a:t>
            </a: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1 hidden layer </a:t>
            </a: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 Shallow neural network</a:t>
            </a: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2 or more hidden layers  Deep neural network</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Box 7"/>
          <p:cNvSpPr txBox="1"/>
          <p:nvPr/>
        </p:nvSpPr>
        <p:spPr>
          <a:xfrm>
            <a:off x="4139240" y="4057328"/>
            <a:ext cx="3396921" cy="30777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0" i="0" u="none" strike="noStrike" kern="1200" cap="none" spc="0" normalizeH="0" baseline="0" noProof="0" dirty="0">
                <a:ln>
                  <a:noFill/>
                </a:ln>
                <a:solidFill>
                  <a:prstClr val="white">
                    <a:lumMod val="50000"/>
                  </a:prstClr>
                </a:solidFill>
                <a:effectLst/>
                <a:uLnTx/>
                <a:uFillTx/>
                <a:latin typeface="Calibri"/>
                <a:ea typeface="+mn-ea"/>
                <a:cs typeface="+mn-cs"/>
              </a:rPr>
              <a:t>Feed forward </a:t>
            </a:r>
            <a:r>
              <a:rPr kumimoji="0" lang="en-GB" sz="1400" b="0" i="0" u="none" strike="noStrike" kern="1200" cap="none" spc="0" normalizeH="0" baseline="0" noProof="0" dirty="0" err="1">
                <a:ln>
                  <a:noFill/>
                </a:ln>
                <a:solidFill>
                  <a:prstClr val="white">
                    <a:lumMod val="50000"/>
                  </a:prstClr>
                </a:solidFill>
                <a:effectLst/>
                <a:uLnTx/>
                <a:uFillTx/>
                <a:latin typeface="Calibri"/>
                <a:ea typeface="+mn-ea"/>
                <a:cs typeface="+mn-cs"/>
              </a:rPr>
              <a:t>MultiLayer</a:t>
            </a:r>
            <a:r>
              <a:rPr kumimoji="0" lang="en-GB" sz="1400" b="0" i="0" u="none" strike="noStrike" kern="1200" cap="none" spc="0" normalizeH="0" baseline="0" noProof="0" dirty="0">
                <a:ln>
                  <a:noFill/>
                </a:ln>
                <a:solidFill>
                  <a:prstClr val="white">
                    <a:lumMod val="50000"/>
                  </a:prstClr>
                </a:solidFill>
                <a:effectLst/>
                <a:uLnTx/>
                <a:uFillTx/>
                <a:latin typeface="Calibri"/>
                <a:ea typeface="+mn-ea"/>
                <a:cs typeface="+mn-cs"/>
              </a:rPr>
              <a:t> Perceptron (</a:t>
            </a:r>
            <a:r>
              <a:rPr kumimoji="0" lang="en-GB" sz="1400" b="1" i="0" u="none" strike="noStrike" kern="1200" cap="none" spc="0" normalizeH="0" baseline="0" noProof="0" dirty="0">
                <a:ln>
                  <a:noFill/>
                </a:ln>
                <a:solidFill>
                  <a:prstClr val="white">
                    <a:lumMod val="50000"/>
                  </a:prstClr>
                </a:solidFill>
                <a:effectLst/>
                <a:uLnTx/>
                <a:uFillTx/>
                <a:latin typeface="Calibri"/>
                <a:ea typeface="+mn-ea"/>
                <a:cs typeface="+mn-cs"/>
              </a:rPr>
              <a:t>MLP</a:t>
            </a:r>
            <a:r>
              <a:rPr kumimoji="0" lang="en-GB" sz="1400" b="0" i="0" u="none" strike="noStrike" kern="1200" cap="none" spc="0" normalizeH="0" baseline="0" noProof="0" dirty="0">
                <a:ln>
                  <a:noFill/>
                </a:ln>
                <a:solidFill>
                  <a:prstClr val="white">
                    <a:lumMod val="50000"/>
                  </a:prstClr>
                </a:solidFill>
                <a:effectLst/>
                <a:uLnTx/>
                <a:uFillTx/>
                <a:latin typeface="Calibri"/>
                <a:ea typeface="+mn-ea"/>
                <a:cs typeface="+mn-cs"/>
              </a:rPr>
              <a:t>)</a:t>
            </a:r>
            <a:endParaRPr kumimoji="0" lang="nl-NL"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15" name="Group 14"/>
          <p:cNvGrpSpPr/>
          <p:nvPr/>
        </p:nvGrpSpPr>
        <p:grpSpPr>
          <a:xfrm>
            <a:off x="5866830" y="1471355"/>
            <a:ext cx="1477515" cy="440476"/>
            <a:chOff x="5866830" y="1471355"/>
            <a:chExt cx="1477515" cy="440476"/>
          </a:xfrm>
        </p:grpSpPr>
        <p:cxnSp>
          <p:nvCxnSpPr>
            <p:cNvPr id="12" name="Straight Arrow Connector 11"/>
            <p:cNvCxnSpPr/>
            <p:nvPr/>
          </p:nvCxnSpPr>
          <p:spPr>
            <a:xfrm flipH="1">
              <a:off x="5866830" y="1663419"/>
              <a:ext cx="458340" cy="248412"/>
            </a:xfrm>
            <a:prstGeom prst="straightConnector1">
              <a:avLst/>
            </a:prstGeom>
            <a:ln w="19050">
              <a:solidFill>
                <a:srgbClr val="33CC33"/>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4" name="TextBox 13"/>
            <p:cNvSpPr txBox="1"/>
            <p:nvPr/>
          </p:nvSpPr>
          <p:spPr>
            <a:xfrm>
              <a:off x="6325170" y="1471355"/>
              <a:ext cx="101917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33CC33"/>
                  </a:solidFill>
                  <a:effectLst/>
                  <a:uLnTx/>
                  <a:uFillTx/>
                  <a:latin typeface="Calibri" panose="020F0502020204030204"/>
                  <a:ea typeface="+mn-ea"/>
                  <a:cs typeface="+mn-cs"/>
                </a:rPr>
                <a:t>Nodes</a:t>
              </a:r>
            </a:p>
          </p:txBody>
        </p:sp>
      </p:grpSp>
      <p:sp>
        <p:nvSpPr>
          <p:cNvPr id="21" name="Line 2">
            <a:extLst>
              <a:ext uri="{FF2B5EF4-FFF2-40B4-BE49-F238E27FC236}">
                <a16:creationId xmlns:a16="http://schemas.microsoft.com/office/drawing/2014/main" id="{540E5605-5513-2AA8-B9B0-83E98F790362}"/>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22" name="Line 2">
            <a:extLst>
              <a:ext uri="{FF2B5EF4-FFF2-40B4-BE49-F238E27FC236}">
                <a16:creationId xmlns:a16="http://schemas.microsoft.com/office/drawing/2014/main" id="{58AF7E54-24EA-37F4-7D3A-50C1BC039471}"/>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406895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fad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fade">
                                      <p:cBhvr>
                                        <p:cTn id="17" dur="500"/>
                                        <p:tgtEl>
                                          <p:spTgt spid="10">
                                            <p:txEl>
                                              <p:pRg st="4" end="4"/>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
                                            <p:txEl>
                                              <p:pRg st="5" end="5"/>
                                            </p:txEl>
                                          </p:spTgt>
                                        </p:tgtEl>
                                        <p:attrNameLst>
                                          <p:attrName>style.visibility</p:attrName>
                                        </p:attrNameLst>
                                      </p:cBhvr>
                                      <p:to>
                                        <p:strVal val="visible"/>
                                      </p:to>
                                    </p:set>
                                    <p:animEffect transition="in" filter="fade">
                                      <p:cBhvr>
                                        <p:cTn id="25" dur="500"/>
                                        <p:tgtEl>
                                          <p:spTgt spid="10">
                                            <p:txEl>
                                              <p:pRg st="5" end="5"/>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0">
                                            <p:txEl>
                                              <p:pRg st="6" end="6"/>
                                            </p:txEl>
                                          </p:spTgt>
                                        </p:tgtEl>
                                        <p:attrNameLst>
                                          <p:attrName>style.visibility</p:attrName>
                                        </p:attrNameLst>
                                      </p:cBhvr>
                                      <p:to>
                                        <p:strVal val="visible"/>
                                      </p:to>
                                    </p:set>
                                    <p:animEffect transition="in" filter="fade">
                                      <p:cBhvr>
                                        <p:cTn id="28" dur="500"/>
                                        <p:tgtEl>
                                          <p:spTgt spid="1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Artificial neural networks</a:t>
            </a:r>
          </a:p>
          <a:p>
            <a:endParaRPr lang="en-GB" sz="1800" dirty="0"/>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8"/>
          <p:cNvSpPr txBox="1"/>
          <p:nvPr/>
        </p:nvSpPr>
        <p:spPr>
          <a:xfrm>
            <a:off x="720000" y="1196752"/>
            <a:ext cx="9505057"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sng" strike="noStrike" kern="1200" cap="none" spc="0" normalizeH="0" baseline="0" noProof="0" dirty="0">
                <a:ln>
                  <a:noFill/>
                </a:ln>
                <a:solidFill>
                  <a:prstClr val="black"/>
                </a:solidFill>
                <a:effectLst/>
                <a:uLnTx/>
                <a:uFillTx/>
                <a:latin typeface="Calibri"/>
                <a:ea typeface="+mn-ea"/>
                <a:cs typeface="+mn-cs"/>
              </a:rPr>
              <a:t>Connections</a:t>
            </a:r>
            <a:endParaRPr kumimoji="0" lang="en-GB" sz="1800" b="0" i="0" u="sng" strike="noStrike" kern="1200" cap="none" spc="0" normalizeH="0" baseline="0" noProof="0" dirty="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720000" y="4615968"/>
            <a:ext cx="9505057" cy="1477328"/>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The links (black arrows) contain the weights </a:t>
            </a:r>
            <a:r>
              <a:rPr kumimoji="0" lang="en-GB" sz="1800" b="0" i="1" u="none" strike="noStrike" kern="1200" cap="none" spc="0" normalizeH="0" baseline="0" noProof="0" dirty="0">
                <a:ln>
                  <a:noFill/>
                </a:ln>
                <a:solidFill>
                  <a:prstClr val="black"/>
                </a:solidFill>
                <a:effectLst/>
                <a:uLnTx/>
                <a:uFillTx/>
                <a:latin typeface="Calibri"/>
                <a:ea typeface="+mn-ea"/>
                <a:cs typeface="+mn-cs"/>
              </a:rPr>
              <a:t>w</a:t>
            </a:r>
            <a:r>
              <a:rPr kumimoji="0" lang="en-GB" sz="1800" b="0" i="0" u="none" strike="noStrike" kern="1200" cap="none" spc="0" normalizeH="0" baseline="0" noProof="0" dirty="0">
                <a:ln>
                  <a:noFill/>
                </a:ln>
                <a:solidFill>
                  <a:prstClr val="black"/>
                </a:solidFill>
                <a:effectLst/>
                <a:uLnTx/>
                <a:uFillTx/>
                <a:latin typeface="Calibri"/>
                <a:ea typeface="+mn-ea"/>
                <a:cs typeface="+mn-cs"/>
              </a:rPr>
              <a:t> that need to be trained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Fully connected network (common, but not strictly necessary)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Even for this </a:t>
            </a:r>
            <a:r>
              <a:rPr kumimoji="0" lang="en-GB" sz="1800" b="1" i="0" u="none" strike="noStrike" kern="1200" cap="none" spc="0" normalizeH="0" baseline="0" noProof="0" dirty="0">
                <a:ln>
                  <a:noFill/>
                </a:ln>
                <a:solidFill>
                  <a:prstClr val="black"/>
                </a:solidFill>
                <a:effectLst/>
                <a:uLnTx/>
                <a:uFillTx/>
                <a:latin typeface="Calibri"/>
                <a:ea typeface="+mn-ea"/>
                <a:cs typeface="+mn-cs"/>
              </a:rPr>
              <a:t>very simple</a:t>
            </a:r>
            <a:r>
              <a:rPr kumimoji="0" lang="en-GB" sz="1800" b="0" i="0" u="none" strike="noStrike" kern="1200" cap="none" spc="0" normalizeH="0" baseline="0" noProof="0" dirty="0">
                <a:ln>
                  <a:noFill/>
                </a:ln>
                <a:solidFill>
                  <a:prstClr val="black"/>
                </a:solidFill>
                <a:effectLst/>
                <a:uLnTx/>
                <a:uFillTx/>
                <a:latin typeface="Calibri"/>
                <a:ea typeface="+mn-ea"/>
                <a:cs typeface="+mn-cs"/>
              </a:rPr>
              <a:t> network already 3 x 3 + 3 x 2 = 15 weights</a:t>
            </a:r>
            <a:r>
              <a:rPr kumimoji="0" lang="en-GB" sz="1800" b="0" i="0" u="none" strike="noStrike" kern="1200" cap="none" spc="0" normalizeH="0" baseline="30000" noProof="0" dirty="0">
                <a:ln>
                  <a:noFill/>
                </a:ln>
                <a:solidFill>
                  <a:prstClr val="black"/>
                </a:solidFill>
                <a:effectLst/>
                <a:uLnTx/>
                <a:uFillTx/>
                <a:latin typeface="Calibri"/>
                <a:ea typeface="+mn-ea"/>
                <a:cs typeface="+mn-cs"/>
              </a:rPr>
              <a:t>*</a:t>
            </a:r>
          </a:p>
        </p:txBody>
      </p:sp>
      <p:graphicFrame>
        <p:nvGraphicFramePr>
          <p:cNvPr id="14" name="Object 13"/>
          <p:cNvGraphicFramePr>
            <a:graphicFrameLocks noChangeAspect="1"/>
          </p:cNvGraphicFramePr>
          <p:nvPr/>
        </p:nvGraphicFramePr>
        <p:xfrm>
          <a:off x="4079776" y="1710632"/>
          <a:ext cx="3744416" cy="2427415"/>
        </p:xfrm>
        <a:graphic>
          <a:graphicData uri="http://schemas.openxmlformats.org/presentationml/2006/ole">
            <mc:AlternateContent xmlns:mc="http://schemas.openxmlformats.org/markup-compatibility/2006">
              <mc:Choice xmlns:v="urn:schemas-microsoft-com:vml" Requires="v">
                <p:oleObj name="Visio" r:id="rId3" imgW="2587035" imgH="1682913" progId="Visio.Drawing.11">
                  <p:embed/>
                </p:oleObj>
              </mc:Choice>
              <mc:Fallback>
                <p:oleObj name="Visio" r:id="rId3" imgW="2587035" imgH="1682913" progId="Visio.Drawing.11">
                  <p:embed/>
                  <p:pic>
                    <p:nvPicPr>
                      <p:cNvPr id="14" name="Object 1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9776" y="1710632"/>
                        <a:ext cx="3744416" cy="2427415"/>
                      </a:xfrm>
                      <a:prstGeom prst="rect">
                        <a:avLst/>
                      </a:prstGeom>
                      <a:noFill/>
                    </p:spPr>
                  </p:pic>
                </p:oleObj>
              </mc:Fallback>
            </mc:AlternateContent>
          </a:graphicData>
        </a:graphic>
      </p:graphicFrame>
      <p:sp>
        <p:nvSpPr>
          <p:cNvPr id="15" name="TextBox 14"/>
          <p:cNvSpPr txBox="1"/>
          <p:nvPr/>
        </p:nvSpPr>
        <p:spPr>
          <a:xfrm>
            <a:off x="4139240" y="4057328"/>
            <a:ext cx="3396921" cy="30777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0" i="0" u="none" strike="noStrike" kern="1200" cap="none" spc="0" normalizeH="0" baseline="0" noProof="0" dirty="0">
                <a:ln>
                  <a:noFill/>
                </a:ln>
                <a:solidFill>
                  <a:prstClr val="white">
                    <a:lumMod val="50000"/>
                  </a:prstClr>
                </a:solidFill>
                <a:effectLst/>
                <a:uLnTx/>
                <a:uFillTx/>
                <a:latin typeface="Calibri"/>
                <a:ea typeface="+mn-ea"/>
                <a:cs typeface="+mn-cs"/>
              </a:rPr>
              <a:t>Feed forward </a:t>
            </a:r>
            <a:r>
              <a:rPr kumimoji="0" lang="en-GB" sz="1400" b="0" i="0" u="none" strike="noStrike" kern="1200" cap="none" spc="0" normalizeH="0" baseline="0" noProof="0" dirty="0" err="1">
                <a:ln>
                  <a:noFill/>
                </a:ln>
                <a:solidFill>
                  <a:prstClr val="white">
                    <a:lumMod val="50000"/>
                  </a:prstClr>
                </a:solidFill>
                <a:effectLst/>
                <a:uLnTx/>
                <a:uFillTx/>
                <a:latin typeface="Calibri"/>
                <a:ea typeface="+mn-ea"/>
                <a:cs typeface="+mn-cs"/>
              </a:rPr>
              <a:t>MultiLayer</a:t>
            </a:r>
            <a:r>
              <a:rPr kumimoji="0" lang="en-GB" sz="1400" b="0" i="0" u="none" strike="noStrike" kern="1200" cap="none" spc="0" normalizeH="0" baseline="0" noProof="0" dirty="0">
                <a:ln>
                  <a:noFill/>
                </a:ln>
                <a:solidFill>
                  <a:prstClr val="white">
                    <a:lumMod val="50000"/>
                  </a:prstClr>
                </a:solidFill>
                <a:effectLst/>
                <a:uLnTx/>
                <a:uFillTx/>
                <a:latin typeface="Calibri"/>
                <a:ea typeface="+mn-ea"/>
                <a:cs typeface="+mn-cs"/>
              </a:rPr>
              <a:t> Perceptron (MLP)</a:t>
            </a:r>
            <a:endParaRPr kumimoji="0" lang="nl-NL"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18" name="Group 17"/>
          <p:cNvGrpSpPr/>
          <p:nvPr/>
        </p:nvGrpSpPr>
        <p:grpSpPr>
          <a:xfrm>
            <a:off x="4079776" y="1664039"/>
            <a:ext cx="3240186" cy="2166230"/>
            <a:chOff x="4079776" y="1664039"/>
            <a:chExt cx="3257608" cy="2166230"/>
          </a:xfrm>
        </p:grpSpPr>
        <p:grpSp>
          <p:nvGrpSpPr>
            <p:cNvPr id="13" name="Group 12"/>
            <p:cNvGrpSpPr/>
            <p:nvPr/>
          </p:nvGrpSpPr>
          <p:grpSpPr>
            <a:xfrm>
              <a:off x="4079776" y="1668500"/>
              <a:ext cx="1892400" cy="2161769"/>
              <a:chOff x="4079776" y="1668500"/>
              <a:chExt cx="1892400" cy="2161769"/>
            </a:xfrm>
          </p:grpSpPr>
          <p:sp>
            <p:nvSpPr>
              <p:cNvPr id="12" name="Rectangle 11"/>
              <p:cNvSpPr/>
              <p:nvPr/>
            </p:nvSpPr>
            <p:spPr>
              <a:xfrm>
                <a:off x="4079776" y="1668500"/>
                <a:ext cx="644624" cy="2161769"/>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p:cNvSpPr/>
              <p:nvPr/>
            </p:nvSpPr>
            <p:spPr>
              <a:xfrm>
                <a:off x="5486400" y="1668500"/>
                <a:ext cx="485776" cy="2161769"/>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p:cNvSpPr/>
            <p:nvPr/>
          </p:nvSpPr>
          <p:spPr>
            <a:xfrm>
              <a:off x="6655295" y="1664039"/>
              <a:ext cx="682089" cy="2161769"/>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 name="Oval 7"/>
          <p:cNvSpPr/>
          <p:nvPr/>
        </p:nvSpPr>
        <p:spPr>
          <a:xfrm>
            <a:off x="4583832" y="1700808"/>
            <a:ext cx="1008112" cy="2088232"/>
          </a:xfrm>
          <a:prstGeom prst="ellipse">
            <a:avLst/>
          </a:prstGeom>
          <a:noFill/>
          <a:ln>
            <a:solidFill>
              <a:srgbClr val="0000FF"/>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Calibri"/>
              <a:ea typeface="+mn-ea"/>
              <a:cs typeface="+mn-cs"/>
            </a:endParaRPr>
          </a:p>
        </p:txBody>
      </p:sp>
      <p:sp>
        <p:nvSpPr>
          <p:cNvPr id="7" name="TextBox 6"/>
          <p:cNvSpPr txBox="1"/>
          <p:nvPr/>
        </p:nvSpPr>
        <p:spPr>
          <a:xfrm>
            <a:off x="720000" y="6289056"/>
            <a:ext cx="2952328" cy="432048"/>
          </a:xfrm>
          <a:prstGeom prst="rect">
            <a:avLst/>
          </a:prstGeom>
          <a:noFill/>
          <a:ln>
            <a:no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30000" noProof="0" dirty="0">
                <a:ln>
                  <a:noFill/>
                </a:ln>
                <a:solidFill>
                  <a:prstClr val="white">
                    <a:lumMod val="50000"/>
                  </a:prstClr>
                </a:solidFill>
                <a:effectLst/>
                <a:uLnTx/>
                <a:uFillTx/>
                <a:latin typeface="Calibri" panose="020F0502020204030204"/>
                <a:ea typeface="+mn-ea"/>
                <a:cs typeface="+mn-cs"/>
              </a:rPr>
              <a:t>* </a:t>
            </a:r>
            <a:r>
              <a:rPr kumimoji="0" lang="en-GB" sz="16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Excluding bias weights</a:t>
            </a:r>
          </a:p>
        </p:txBody>
      </p:sp>
      <p:sp>
        <p:nvSpPr>
          <p:cNvPr id="20" name="Line 2">
            <a:extLst>
              <a:ext uri="{FF2B5EF4-FFF2-40B4-BE49-F238E27FC236}">
                <a16:creationId xmlns:a16="http://schemas.microsoft.com/office/drawing/2014/main" id="{F4139566-2853-B818-C3C4-06CAEC443E96}"/>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21" name="Line 2">
            <a:extLst>
              <a:ext uri="{FF2B5EF4-FFF2-40B4-BE49-F238E27FC236}">
                <a16:creationId xmlns:a16="http://schemas.microsoft.com/office/drawing/2014/main" id="{8132EB8A-4360-3B90-071D-447916A8FC70}"/>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271702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animEffect transition="in" filter="fade">
                                      <p:cBhvr>
                                        <p:cTn id="7" dur="500"/>
                                        <p:tgtEl>
                                          <p:spTgt spid="10">
                                            <p:txEl>
                                              <p:pRg st="2" end="2"/>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xEl>
                                              <p:pRg st="4" end="4"/>
                                            </p:txEl>
                                          </p:spTgt>
                                        </p:tgtEl>
                                        <p:attrNameLst>
                                          <p:attrName>style.visibility</p:attrName>
                                        </p:attrNameLst>
                                      </p:cBhvr>
                                      <p:to>
                                        <p:strVal val="visible"/>
                                      </p:to>
                                    </p:set>
                                    <p:animEffect transition="in" filter="fade">
                                      <p:cBhvr>
                                        <p:cTn id="15" dur="500"/>
                                        <p:tgtEl>
                                          <p:spTgt spid="10">
                                            <p:txEl>
                                              <p:pRg st="4" end="4"/>
                                            </p:txEl>
                                          </p:spTgt>
                                        </p:tgtEl>
                                      </p:cBhvr>
                                    </p:animEffect>
                                  </p:childTnLst>
                                </p:cTn>
                              </p:par>
                              <p:par>
                                <p:cTn id="16" presetID="10" presetClass="exit" presetSubtype="0" fill="hold" grpId="1" nodeType="withEffect">
                                  <p:stCondLst>
                                    <p:cond delay="0"/>
                                  </p:stCondLst>
                                  <p:childTnLst>
                                    <p:animEffect transition="out" filter="fade">
                                      <p:cBhvr>
                                        <p:cTn id="17" dur="500"/>
                                        <p:tgtEl>
                                          <p:spTgt spid="8"/>
                                        </p:tgtEl>
                                      </p:cBhvr>
                                    </p:animEffect>
                                    <p:set>
                                      <p:cBhvr>
                                        <p:cTn id="18" dur="1" fill="hold">
                                          <p:stCondLst>
                                            <p:cond delay="499"/>
                                          </p:stCondLst>
                                        </p:cTn>
                                        <p:tgtEl>
                                          <p:spTgt spid="8"/>
                                        </p:tgtEl>
                                        <p:attrNameLst>
                                          <p:attrName>style.visibility</p:attrName>
                                        </p:attrNameLst>
                                      </p:cBhvr>
                                      <p:to>
                                        <p:strVal val="hidden"/>
                                      </p:to>
                                    </p:se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Artificial neural networks</a:t>
            </a:r>
          </a:p>
          <a:p>
            <a:endParaRPr lang="en-GB" sz="1800" dirty="0"/>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8"/>
          <p:cNvSpPr txBox="1"/>
          <p:nvPr/>
        </p:nvSpPr>
        <p:spPr>
          <a:xfrm>
            <a:off x="720000" y="1196752"/>
            <a:ext cx="9505057"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sng" strike="noStrike" kern="1200" cap="none" spc="0" normalizeH="0" baseline="0" noProof="0" dirty="0">
                <a:ln>
                  <a:noFill/>
                </a:ln>
                <a:solidFill>
                  <a:prstClr val="black"/>
                </a:solidFill>
                <a:effectLst/>
                <a:uLnTx/>
                <a:uFillTx/>
                <a:latin typeface="Calibri"/>
                <a:ea typeface="+mn-ea"/>
                <a:cs typeface="+mn-cs"/>
              </a:rPr>
              <a:t>Nodes</a:t>
            </a:r>
            <a:endParaRPr kumimoji="0" lang="en-GB" sz="1800" b="0" i="0" u="sng" strike="noStrike" kern="1200" cap="none" spc="0" normalizeH="0" baseline="0" noProof="0" dirty="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graphicFrame>
        <p:nvGraphicFramePr>
          <p:cNvPr id="7" name="Object 6"/>
          <p:cNvGraphicFramePr>
            <a:graphicFrameLocks noChangeAspect="1"/>
          </p:cNvGraphicFramePr>
          <p:nvPr/>
        </p:nvGraphicFramePr>
        <p:xfrm>
          <a:off x="2120203" y="1664805"/>
          <a:ext cx="3744416" cy="2427415"/>
        </p:xfrm>
        <a:graphic>
          <a:graphicData uri="http://schemas.openxmlformats.org/presentationml/2006/ole">
            <mc:AlternateContent xmlns:mc="http://schemas.openxmlformats.org/markup-compatibility/2006">
              <mc:Choice xmlns:v="urn:schemas-microsoft-com:vml" Requires="v">
                <p:oleObj name="Visio" r:id="rId3" imgW="2587035" imgH="1682913" progId="Visio.Drawing.11">
                  <p:embed/>
                </p:oleObj>
              </mc:Choice>
              <mc:Fallback>
                <p:oleObj name="Visio" r:id="rId3" imgW="2587035" imgH="1682913" progId="Visio.Drawing.11">
                  <p:embed/>
                  <p:pic>
                    <p:nvPicPr>
                      <p:cNvPr id="7" name="Object 6"/>
                      <p:cNvPicPr>
                        <a:picLocks noChangeAspect="1" noChangeArrowheads="1"/>
                      </p:cNvPicPr>
                      <p:nvPr/>
                    </p:nvPicPr>
                    <p:blipFill>
                      <a:blip r:embed="rId4"/>
                      <a:srcRect/>
                      <a:stretch>
                        <a:fillRect/>
                      </a:stretch>
                    </p:blipFill>
                    <p:spPr bwMode="auto">
                      <a:xfrm>
                        <a:off x="2120203" y="1664805"/>
                        <a:ext cx="3744416" cy="2427415"/>
                      </a:xfrm>
                      <a:prstGeom prst="rect">
                        <a:avLst/>
                      </a:prstGeom>
                      <a:noFill/>
                    </p:spPr>
                  </p:pic>
                </p:oleObj>
              </mc:Fallback>
            </mc:AlternateContent>
          </a:graphicData>
        </a:graphic>
      </p:graphicFrame>
      <p:pic>
        <p:nvPicPr>
          <p:cNvPr id="5133" name="Picture 1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07968" y="1844825"/>
            <a:ext cx="4289863" cy="190270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0" name="TextBox 9"/>
          <p:cNvSpPr txBox="1"/>
          <p:nvPr/>
        </p:nvSpPr>
        <p:spPr>
          <a:xfrm>
            <a:off x="720000" y="4097975"/>
            <a:ext cx="9505057" cy="2308324"/>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At each </a:t>
            </a:r>
            <a:r>
              <a:rPr kumimoji="0" lang="en-GB" sz="1800" b="0" i="0" u="none" strike="noStrike" kern="1200" cap="none" spc="0" normalizeH="0" baseline="0" noProof="0" dirty="0">
                <a:ln>
                  <a:noFill/>
                </a:ln>
                <a:solidFill>
                  <a:srgbClr val="33CC33"/>
                </a:solidFill>
                <a:effectLst/>
                <a:uLnTx/>
                <a:uFillTx/>
                <a:latin typeface="Calibri"/>
                <a:ea typeface="+mn-ea"/>
                <a:cs typeface="+mn-cs"/>
              </a:rPr>
              <a:t>hidden node</a:t>
            </a:r>
            <a:r>
              <a:rPr kumimoji="0" lang="en-GB" sz="1800" b="0" i="0" u="none" strike="noStrike" kern="1200" cap="none" spc="0" normalizeH="0" baseline="0" noProof="0" dirty="0">
                <a:ln>
                  <a:noFill/>
                </a:ln>
                <a:solidFill>
                  <a:prstClr val="black"/>
                </a:solidFill>
                <a:effectLst/>
                <a:uLnTx/>
                <a:uFillTx/>
                <a:latin typeface="Calibri"/>
                <a:ea typeface="+mn-ea"/>
                <a:cs typeface="+mn-cs"/>
              </a:rPr>
              <a:t>: </a:t>
            </a: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The sum of the inputs is computed </a:t>
            </a: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A transfer (a.k.a. activation) function </a:t>
            </a:r>
            <a:r>
              <a:rPr kumimoji="0" lang="en-GB" sz="1800" b="0" i="1" u="none" strike="noStrike" kern="1200" cap="none" spc="0" normalizeH="0" baseline="0" noProof="0" dirty="0">
                <a:ln>
                  <a:noFill/>
                </a:ln>
                <a:solidFill>
                  <a:prstClr val="black"/>
                </a:solidFill>
                <a:effectLst/>
                <a:uLnTx/>
                <a:uFillTx/>
                <a:latin typeface="Calibri"/>
                <a:ea typeface="+mn-ea"/>
                <a:cs typeface="+mn-cs"/>
              </a:rPr>
              <a:t>g</a:t>
            </a:r>
            <a:r>
              <a:rPr kumimoji="0" lang="en-GB" sz="1800" b="0" i="0" u="none" strike="noStrike" kern="1200" cap="none" spc="0" normalizeH="0" baseline="0" noProof="0" dirty="0">
                <a:ln>
                  <a:noFill/>
                </a:ln>
                <a:solidFill>
                  <a:prstClr val="black"/>
                </a:solidFill>
                <a:effectLst/>
                <a:uLnTx/>
                <a:uFillTx/>
                <a:latin typeface="Calibri"/>
                <a:ea typeface="+mn-ea"/>
                <a:cs typeface="+mn-cs"/>
              </a:rPr>
              <a:t> is applied (set by the analyst)</a:t>
            </a: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Output is forwarded to the nodes in the next layer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Box 7"/>
          <p:cNvSpPr txBox="1"/>
          <p:nvPr/>
        </p:nvSpPr>
        <p:spPr>
          <a:xfrm>
            <a:off x="4151784" y="3708322"/>
            <a:ext cx="4896544"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b="0" i="0" u="none" strike="noStrike" kern="1200" cap="none" spc="0" normalizeH="0" baseline="0" noProof="0" dirty="0">
                <a:ln>
                  <a:noFill/>
                </a:ln>
                <a:solidFill>
                  <a:prstClr val="white">
                    <a:lumMod val="50000"/>
                  </a:prstClr>
                </a:solidFill>
                <a:effectLst/>
                <a:uLnTx/>
                <a:uFillTx/>
                <a:latin typeface="Calibri"/>
                <a:ea typeface="+mn-ea"/>
                <a:cs typeface="+mn-cs"/>
              </a:rPr>
              <a:t>Feed forward </a:t>
            </a:r>
            <a:r>
              <a:rPr kumimoji="0" lang="en-GB" sz="1400" b="0" i="0" u="none" strike="noStrike" kern="1200" cap="none" spc="0" normalizeH="0" baseline="0" noProof="0" dirty="0" err="1">
                <a:ln>
                  <a:noFill/>
                </a:ln>
                <a:solidFill>
                  <a:prstClr val="white">
                    <a:lumMod val="50000"/>
                  </a:prstClr>
                </a:solidFill>
                <a:effectLst/>
                <a:uLnTx/>
                <a:uFillTx/>
                <a:latin typeface="Calibri"/>
                <a:ea typeface="+mn-ea"/>
                <a:cs typeface="+mn-cs"/>
              </a:rPr>
              <a:t>MultiLayer</a:t>
            </a:r>
            <a:r>
              <a:rPr kumimoji="0" lang="en-GB" sz="1400" b="0" i="0" u="none" strike="noStrike" kern="1200" cap="none" spc="0" normalizeH="0" baseline="0" noProof="0" dirty="0">
                <a:ln>
                  <a:noFill/>
                </a:ln>
                <a:solidFill>
                  <a:prstClr val="white">
                    <a:lumMod val="50000"/>
                  </a:prstClr>
                </a:solidFill>
                <a:effectLst/>
                <a:uLnTx/>
                <a:uFillTx/>
                <a:latin typeface="Calibri"/>
                <a:ea typeface="+mn-ea"/>
                <a:cs typeface="+mn-cs"/>
              </a:rPr>
              <a:t> Perceptron (MLP)</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11" name="Object 10"/>
          <p:cNvGraphicFramePr>
            <a:graphicFrameLocks noChangeAspect="1"/>
          </p:cNvGraphicFramePr>
          <p:nvPr/>
        </p:nvGraphicFramePr>
        <p:xfrm>
          <a:off x="5173667" y="4646613"/>
          <a:ext cx="1169987" cy="582612"/>
        </p:xfrm>
        <a:graphic>
          <a:graphicData uri="http://schemas.openxmlformats.org/presentationml/2006/ole">
            <mc:AlternateContent xmlns:mc="http://schemas.openxmlformats.org/markup-compatibility/2006">
              <mc:Choice xmlns:v="urn:schemas-microsoft-com:vml" Requires="v">
                <p:oleObj name="Equation" r:id="rId6" imgW="812520" imgH="342720" progId="Equation.DSMT4">
                  <p:embed/>
                </p:oleObj>
              </mc:Choice>
              <mc:Fallback>
                <p:oleObj name="Equation" r:id="rId6" imgW="812520" imgH="342720" progId="Equation.DSMT4">
                  <p:embed/>
                  <p:pic>
                    <p:nvPicPr>
                      <p:cNvPr id="11" name="Object 10"/>
                      <p:cNvPicPr/>
                      <p:nvPr/>
                    </p:nvPicPr>
                    <p:blipFill>
                      <a:blip r:embed="rId7"/>
                      <a:stretch>
                        <a:fillRect/>
                      </a:stretch>
                    </p:blipFill>
                    <p:spPr>
                      <a:xfrm>
                        <a:off x="5173667" y="4646613"/>
                        <a:ext cx="1169987" cy="582612"/>
                      </a:xfrm>
                      <a:prstGeom prst="rect">
                        <a:avLst/>
                      </a:prstGeom>
                    </p:spPr>
                  </p:pic>
                </p:oleObj>
              </mc:Fallback>
            </mc:AlternateContent>
          </a:graphicData>
        </a:graphic>
      </p:graphicFrame>
      <p:graphicFrame>
        <p:nvGraphicFramePr>
          <p:cNvPr id="12" name="Object 11"/>
          <p:cNvGraphicFramePr>
            <a:graphicFrameLocks noChangeAspect="1"/>
          </p:cNvGraphicFramePr>
          <p:nvPr/>
        </p:nvGraphicFramePr>
        <p:xfrm>
          <a:off x="8291516" y="5157788"/>
          <a:ext cx="1003300" cy="474662"/>
        </p:xfrm>
        <a:graphic>
          <a:graphicData uri="http://schemas.openxmlformats.org/presentationml/2006/ole">
            <mc:AlternateContent xmlns:mc="http://schemas.openxmlformats.org/markup-compatibility/2006">
              <mc:Choice xmlns:v="urn:schemas-microsoft-com:vml" Requires="v">
                <p:oleObj name="Equation" r:id="rId8" imgW="698400" imgH="279360" progId="Equation.DSMT4">
                  <p:embed/>
                </p:oleObj>
              </mc:Choice>
              <mc:Fallback>
                <p:oleObj name="Equation" r:id="rId8" imgW="698400" imgH="279360" progId="Equation.DSMT4">
                  <p:embed/>
                  <p:pic>
                    <p:nvPicPr>
                      <p:cNvPr id="12" name="Object 11"/>
                      <p:cNvPicPr>
                        <a:picLocks noChangeAspect="1" noChangeArrowheads="1"/>
                      </p:cNvPicPr>
                      <p:nvPr/>
                    </p:nvPicPr>
                    <p:blipFill>
                      <a:blip r:embed="rId9"/>
                      <a:srcRect/>
                      <a:stretch>
                        <a:fillRect/>
                      </a:stretch>
                    </p:blipFill>
                    <p:spPr bwMode="auto">
                      <a:xfrm>
                        <a:off x="8291516" y="5157788"/>
                        <a:ext cx="1003300" cy="474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14" name="Group 13"/>
          <p:cNvGrpSpPr/>
          <p:nvPr/>
        </p:nvGrpSpPr>
        <p:grpSpPr>
          <a:xfrm>
            <a:off x="3912300" y="1424830"/>
            <a:ext cx="3345751" cy="440476"/>
            <a:chOff x="5866830" y="1471355"/>
            <a:chExt cx="3345751" cy="440476"/>
          </a:xfrm>
        </p:grpSpPr>
        <p:cxnSp>
          <p:nvCxnSpPr>
            <p:cNvPr id="15" name="Straight Arrow Connector 14"/>
            <p:cNvCxnSpPr/>
            <p:nvPr/>
          </p:nvCxnSpPr>
          <p:spPr>
            <a:xfrm flipH="1">
              <a:off x="5866830" y="1663419"/>
              <a:ext cx="458340" cy="248412"/>
            </a:xfrm>
            <a:prstGeom prst="straightConnector1">
              <a:avLst/>
            </a:prstGeom>
            <a:ln w="19050">
              <a:solidFill>
                <a:srgbClr val="33CC33"/>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6" name="TextBox 15"/>
            <p:cNvSpPr txBox="1"/>
            <p:nvPr/>
          </p:nvSpPr>
          <p:spPr>
            <a:xfrm>
              <a:off x="6325170" y="1471355"/>
              <a:ext cx="288741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33CC33"/>
                  </a:solidFill>
                  <a:effectLst/>
                  <a:uLnTx/>
                  <a:uFillTx/>
                  <a:latin typeface="Calibri" panose="020F0502020204030204"/>
                  <a:ea typeface="+mn-ea"/>
                  <a:cs typeface="+mn-cs"/>
                </a:rPr>
                <a:t>Hidden node (a.k.a. neuron)</a:t>
              </a:r>
            </a:p>
          </p:txBody>
        </p:sp>
      </p:grpSp>
      <p:sp>
        <p:nvSpPr>
          <p:cNvPr id="13" name="Rectangle 12"/>
          <p:cNvSpPr/>
          <p:nvPr/>
        </p:nvSpPr>
        <p:spPr>
          <a:xfrm>
            <a:off x="7589520" y="1865306"/>
            <a:ext cx="667789" cy="2043754"/>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p:cNvSpPr/>
          <p:nvPr/>
        </p:nvSpPr>
        <p:spPr>
          <a:xfrm>
            <a:off x="8267494" y="1843240"/>
            <a:ext cx="1724901" cy="2043754"/>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p:cNvSpPr/>
          <p:nvPr/>
        </p:nvSpPr>
        <p:spPr>
          <a:xfrm>
            <a:off x="5864619" y="1863887"/>
            <a:ext cx="1724901" cy="1773291"/>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 name="Group 20"/>
          <p:cNvGrpSpPr/>
          <p:nvPr/>
        </p:nvGrpSpPr>
        <p:grpSpPr>
          <a:xfrm>
            <a:off x="5173667" y="4482703"/>
            <a:ext cx="1162844" cy="746522"/>
            <a:chOff x="6088064" y="4482703"/>
            <a:chExt cx="1162844" cy="746522"/>
          </a:xfrm>
        </p:grpSpPr>
        <p:sp>
          <p:nvSpPr>
            <p:cNvPr id="22" name="Rectangle 21"/>
            <p:cNvSpPr/>
            <p:nvPr/>
          </p:nvSpPr>
          <p:spPr>
            <a:xfrm>
              <a:off x="6088064" y="4482703"/>
              <a:ext cx="731836" cy="707232"/>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22"/>
            <p:cNvSpPr/>
            <p:nvPr/>
          </p:nvSpPr>
          <p:spPr>
            <a:xfrm>
              <a:off x="7050882" y="4586287"/>
              <a:ext cx="200026" cy="642938"/>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4" name="Rectangular Callout 23"/>
          <p:cNvSpPr/>
          <p:nvPr/>
        </p:nvSpPr>
        <p:spPr>
          <a:xfrm>
            <a:off x="7228884" y="4481874"/>
            <a:ext cx="3348039" cy="481088"/>
          </a:xfrm>
          <a:prstGeom prst="wedgeRectCallout">
            <a:avLst>
              <a:gd name="adj1" fmla="val -75160"/>
              <a:gd name="adj2" fmla="val 36092"/>
            </a:avLst>
          </a:prstGeom>
          <a:noFill/>
          <a:ln>
            <a:solidFill>
              <a:srgbClr val="4886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1" i="1" u="none" strike="noStrike" kern="1200" cap="none" spc="0" normalizeH="0" baseline="0" noProof="0" dirty="0" err="1">
                <a:ln>
                  <a:noFill/>
                </a:ln>
                <a:solidFill>
                  <a:srgbClr val="4886B3"/>
                </a:solidFill>
                <a:effectLst/>
                <a:uLnTx/>
                <a:uFillTx/>
                <a:latin typeface="Calibri" panose="020F0502020204030204"/>
                <a:ea typeface="+mn-ea"/>
                <a:cs typeface="+mn-cs"/>
              </a:rPr>
              <a:t>w</a:t>
            </a:r>
            <a:r>
              <a:rPr kumimoji="0" lang="en-GB" sz="1800" b="1" i="1" u="none" strike="noStrike" kern="1200" cap="none" spc="0" normalizeH="0" baseline="-25000" noProof="0" dirty="0" err="1">
                <a:ln>
                  <a:noFill/>
                </a:ln>
                <a:solidFill>
                  <a:srgbClr val="4886B3"/>
                </a:solidFill>
                <a:effectLst/>
                <a:uLnTx/>
                <a:uFillTx/>
                <a:latin typeface="Calibri" panose="020F0502020204030204"/>
                <a:ea typeface="+mn-ea"/>
                <a:cs typeface="+mn-cs"/>
              </a:rPr>
              <a:t>ji</a:t>
            </a:r>
            <a:r>
              <a:rPr kumimoji="0" lang="en-GB" sz="1800" b="1" i="1" u="none" strike="noStrike" kern="1200" cap="none" spc="0" normalizeH="0" baseline="0" noProof="0" dirty="0">
                <a:ln>
                  <a:noFill/>
                </a:ln>
                <a:solidFill>
                  <a:srgbClr val="4886B3"/>
                </a:solidFill>
                <a:effectLst/>
                <a:uLnTx/>
                <a:uFillTx/>
                <a:latin typeface="Calibri" panose="020F0502020204030204"/>
                <a:ea typeface="+mn-ea"/>
                <a:cs typeface="+mn-cs"/>
              </a:rPr>
              <a:t> </a:t>
            </a:r>
            <a:r>
              <a:rPr kumimoji="0" lang="en-GB" sz="1800" b="1" i="0" u="none" strike="noStrike" kern="1200" cap="none" spc="0" normalizeH="0" baseline="0" noProof="0" dirty="0">
                <a:ln>
                  <a:noFill/>
                </a:ln>
                <a:solidFill>
                  <a:srgbClr val="4886B3"/>
                </a:solidFill>
                <a:effectLst/>
                <a:uLnTx/>
                <a:uFillTx/>
                <a:latin typeface="Calibri" panose="020F0502020204030204"/>
                <a:ea typeface="+mn-ea"/>
                <a:cs typeface="+mn-cs"/>
              </a:rPr>
              <a:t>are the trainable weights</a:t>
            </a:r>
          </a:p>
        </p:txBody>
      </p:sp>
      <p:sp>
        <p:nvSpPr>
          <p:cNvPr id="17" name="Line 2">
            <a:extLst>
              <a:ext uri="{FF2B5EF4-FFF2-40B4-BE49-F238E27FC236}">
                <a16:creationId xmlns:a16="http://schemas.microsoft.com/office/drawing/2014/main" id="{D22BD585-FBE0-6E8F-4080-E2C9FECB3F84}"/>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9" name="Line 2">
            <a:extLst>
              <a:ext uri="{FF2B5EF4-FFF2-40B4-BE49-F238E27FC236}">
                <a16:creationId xmlns:a16="http://schemas.microsoft.com/office/drawing/2014/main" id="{90BAA8B8-BE86-96DF-BB03-A0CA8473EC90}"/>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076340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fade">
                                      <p:cBhvr>
                                        <p:cTn id="12" dur="500"/>
                                        <p:tgtEl>
                                          <p:spTgt spid="10">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fade">
                                      <p:cBhvr>
                                        <p:cTn id="15" dur="500"/>
                                        <p:tgtEl>
                                          <p:spTgt spid="10">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nodeType="withEffect">
                                  <p:stCondLst>
                                    <p:cond delay="0"/>
                                  </p:stCondLst>
                                  <p:childTnLst>
                                    <p:set>
                                      <p:cBhvr>
                                        <p:cTn id="20" dur="1" fill="hold">
                                          <p:stCondLst>
                                            <p:cond delay="0"/>
                                          </p:stCondLst>
                                        </p:cTn>
                                        <p:tgtEl>
                                          <p:spTgt spid="5133"/>
                                        </p:tgtEl>
                                        <p:attrNameLst>
                                          <p:attrName>style.visibility</p:attrName>
                                        </p:attrNameLst>
                                      </p:cBhvr>
                                      <p:to>
                                        <p:strVal val="visible"/>
                                      </p:to>
                                    </p:set>
                                    <p:animEffect transition="in" filter="fade">
                                      <p:cBhvr>
                                        <p:cTn id="21" dur="500"/>
                                        <p:tgtEl>
                                          <p:spTgt spid="513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0">
                                            <p:txEl>
                                              <p:pRg st="4" end="4"/>
                                            </p:txEl>
                                          </p:spTgt>
                                        </p:tgtEl>
                                        <p:attrNameLst>
                                          <p:attrName>style.visibility</p:attrName>
                                        </p:attrNameLst>
                                      </p:cBhvr>
                                      <p:to>
                                        <p:strVal val="visible"/>
                                      </p:to>
                                    </p:set>
                                    <p:animEffect transition="in" filter="fade">
                                      <p:cBhvr>
                                        <p:cTn id="34" dur="500"/>
                                        <p:tgtEl>
                                          <p:spTgt spid="10">
                                            <p:txEl>
                                              <p:pRg st="4" end="4"/>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xit" presetSubtype="0" fill="hold" grpId="0" nodeType="withEffect">
                                  <p:stCondLst>
                                    <p:cond delay="0"/>
                                  </p:stCondLst>
                                  <p:childTnLst>
                                    <p:animEffect transition="out" filter="fade">
                                      <p:cBhvr>
                                        <p:cTn id="39" dur="500"/>
                                        <p:tgtEl>
                                          <p:spTgt spid="13"/>
                                        </p:tgtEl>
                                      </p:cBhvr>
                                    </p:animEffect>
                                    <p:set>
                                      <p:cBhvr>
                                        <p:cTn id="40" dur="1" fill="hold">
                                          <p:stCondLst>
                                            <p:cond delay="499"/>
                                          </p:stCondLst>
                                        </p:cTn>
                                        <p:tgtEl>
                                          <p:spTgt spid="13"/>
                                        </p:tgtEl>
                                        <p:attrNameLst>
                                          <p:attrName>style.visibility</p:attrName>
                                        </p:attrNameLst>
                                      </p:cBhvr>
                                      <p:to>
                                        <p:strVal val="hidden"/>
                                      </p:to>
                                    </p:se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500"/>
                                        <p:tgtEl>
                                          <p:spTgt spid="20"/>
                                        </p:tgtEl>
                                      </p:cBhvr>
                                    </p:animEffect>
                                  </p:childTnLst>
                                </p:cTn>
                              </p:par>
                              <p:par>
                                <p:cTn id="44" presetID="10" presetClass="exit" presetSubtype="0" fill="hold" nodeType="withEffect">
                                  <p:stCondLst>
                                    <p:cond delay="0"/>
                                  </p:stCondLst>
                                  <p:childTnLst>
                                    <p:animEffect transition="out" filter="fade">
                                      <p:cBhvr>
                                        <p:cTn id="45" dur="500"/>
                                        <p:tgtEl>
                                          <p:spTgt spid="21"/>
                                        </p:tgtEl>
                                      </p:cBhvr>
                                    </p:animEffect>
                                    <p:set>
                                      <p:cBhvr>
                                        <p:cTn id="46" dur="1" fill="hold">
                                          <p:stCondLst>
                                            <p:cond delay="499"/>
                                          </p:stCondLst>
                                        </p:cTn>
                                        <p:tgtEl>
                                          <p:spTgt spid="21"/>
                                        </p:tgtEl>
                                        <p:attrNameLst>
                                          <p:attrName>style.visibility</p:attrName>
                                        </p:attrNameLst>
                                      </p:cBhvr>
                                      <p:to>
                                        <p:strVal val="hidden"/>
                                      </p:to>
                                    </p:set>
                                  </p:childTnLst>
                                </p:cTn>
                              </p:par>
                              <p:par>
                                <p:cTn id="47" presetID="10" presetClass="exit" presetSubtype="0" fill="hold" grpId="1" nodeType="withEffect">
                                  <p:stCondLst>
                                    <p:cond delay="0"/>
                                  </p:stCondLst>
                                  <p:childTnLst>
                                    <p:animEffect transition="out" filter="fade">
                                      <p:cBhvr>
                                        <p:cTn id="48" dur="500"/>
                                        <p:tgtEl>
                                          <p:spTgt spid="24"/>
                                        </p:tgtEl>
                                      </p:cBhvr>
                                    </p:animEffect>
                                    <p:set>
                                      <p:cBhvr>
                                        <p:cTn id="49" dur="1" fill="hold">
                                          <p:stCondLst>
                                            <p:cond delay="499"/>
                                          </p:stCondLst>
                                        </p:cTn>
                                        <p:tgtEl>
                                          <p:spTgt spid="24"/>
                                        </p:tgtEl>
                                        <p:attrNameLst>
                                          <p:attrName>style.visibility</p:attrName>
                                        </p:attrNameLst>
                                      </p:cBhvr>
                                      <p:to>
                                        <p:strVal val="hidden"/>
                                      </p:to>
                                    </p:se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
                                            <p:txEl>
                                              <p:pRg st="6" end="6"/>
                                            </p:txEl>
                                          </p:spTgt>
                                        </p:tgtEl>
                                        <p:attrNameLst>
                                          <p:attrName>style.visibility</p:attrName>
                                        </p:attrNameLst>
                                      </p:cBhvr>
                                      <p:to>
                                        <p:strVal val="visible"/>
                                      </p:to>
                                    </p:set>
                                    <p:animEffect transition="in" filter="fade">
                                      <p:cBhvr>
                                        <p:cTn id="54" dur="500"/>
                                        <p:tgtEl>
                                          <p:spTgt spid="10">
                                            <p:txEl>
                                              <p:pRg st="6" end="6"/>
                                            </p:txEl>
                                          </p:spTgt>
                                        </p:tgtEl>
                                      </p:cBhvr>
                                    </p:animEffect>
                                  </p:childTnLst>
                                </p:cTn>
                              </p:par>
                              <p:par>
                                <p:cTn id="55" presetID="10" presetClass="exit" presetSubtype="0" fill="hold" grpId="0" nodeType="withEffect">
                                  <p:stCondLst>
                                    <p:cond delay="0"/>
                                  </p:stCondLst>
                                  <p:childTnLst>
                                    <p:animEffect transition="out" filter="fade">
                                      <p:cBhvr>
                                        <p:cTn id="56" dur="500"/>
                                        <p:tgtEl>
                                          <p:spTgt spid="18"/>
                                        </p:tgtEl>
                                      </p:cBhvr>
                                    </p:animEffect>
                                    <p:set>
                                      <p:cBhvr>
                                        <p:cTn id="57" dur="1" fill="hold">
                                          <p:stCondLst>
                                            <p:cond delay="499"/>
                                          </p:stCondLst>
                                        </p:cTn>
                                        <p:tgtEl>
                                          <p:spTgt spid="18"/>
                                        </p:tgtEl>
                                        <p:attrNameLst>
                                          <p:attrName>style.visibility</p:attrName>
                                        </p:attrNameLst>
                                      </p:cBhvr>
                                      <p:to>
                                        <p:strVal val="hidden"/>
                                      </p:to>
                                    </p:set>
                                  </p:childTnLst>
                                </p:cTn>
                              </p:par>
                              <p:par>
                                <p:cTn id="58" presetID="10" presetClass="entr" presetSubtype="0" fill="hold" grpId="1"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8" grpId="0" animBg="1"/>
      <p:bldP spid="20" grpId="0" animBg="1"/>
      <p:bldP spid="24" grpId="0" animBg="1"/>
      <p:bldP spid="24"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Artificial neural networks</a:t>
            </a:r>
          </a:p>
          <a:p>
            <a:endParaRPr lang="en-GB" sz="1800" dirty="0"/>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8"/>
          <p:cNvSpPr txBox="1"/>
          <p:nvPr/>
        </p:nvSpPr>
        <p:spPr>
          <a:xfrm>
            <a:off x="720000" y="1196752"/>
            <a:ext cx="9505057"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sng" strike="noStrike" kern="1200" cap="none" spc="0" normalizeH="0" baseline="0" noProof="0" dirty="0">
                <a:ln>
                  <a:noFill/>
                </a:ln>
                <a:solidFill>
                  <a:prstClr val="black"/>
                </a:solidFill>
                <a:effectLst/>
                <a:uLnTx/>
                <a:uFillTx/>
                <a:latin typeface="Calibri"/>
                <a:ea typeface="+mn-ea"/>
                <a:cs typeface="+mn-cs"/>
              </a:rPr>
              <a:t>Transfer functions</a:t>
            </a:r>
            <a:endParaRPr kumimoji="0" lang="en-GB" sz="1800" b="0" i="0" u="sng" strike="noStrike" kern="1200" cap="none" spc="0" normalizeH="0" baseline="0" noProof="0" dirty="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pic>
        <p:nvPicPr>
          <p:cNvPr id="11" name="Picture 10" descr="Screen Clippi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07639" y="1800200"/>
            <a:ext cx="5176722" cy="4941168"/>
          </a:xfrm>
          <a:prstGeom prst="rect">
            <a:avLst/>
          </a:prstGeom>
        </p:spPr>
      </p:pic>
      <p:sp>
        <p:nvSpPr>
          <p:cNvPr id="12" name="TextBox 11"/>
          <p:cNvSpPr txBox="1"/>
          <p:nvPr/>
        </p:nvSpPr>
        <p:spPr>
          <a:xfrm>
            <a:off x="8684362" y="6211670"/>
            <a:ext cx="1660110"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1" u="none" strike="noStrike" kern="1200" cap="none" spc="0" normalizeH="0" baseline="0" noProof="0" dirty="0">
                <a:ln>
                  <a:noFill/>
                </a:ln>
                <a:solidFill>
                  <a:prstClr val="black"/>
                </a:solidFill>
                <a:effectLst/>
                <a:uLnTx/>
                <a:uFillTx/>
                <a:latin typeface="Calibri"/>
                <a:ea typeface="+mn-ea"/>
                <a:cs typeface="+mn-cs"/>
              </a:rPr>
              <a:t>…and many more…</a:t>
            </a:r>
            <a:endParaRPr kumimoji="0" lang="nl-NL" sz="1800" b="0" i="1" u="none" strike="noStrike" kern="1200" cap="none" spc="0" normalizeH="0" baseline="0" noProof="0" dirty="0">
              <a:ln>
                <a:noFill/>
              </a:ln>
              <a:solidFill>
                <a:prstClr val="black"/>
              </a:solidFill>
              <a:effectLst/>
              <a:uLnTx/>
              <a:uFillTx/>
              <a:latin typeface="Calibri"/>
              <a:ea typeface="+mn-ea"/>
              <a:cs typeface="+mn-cs"/>
            </a:endParaRPr>
          </a:p>
        </p:txBody>
      </p:sp>
      <p:sp>
        <p:nvSpPr>
          <p:cNvPr id="14" name="TextBox 13"/>
          <p:cNvSpPr txBox="1"/>
          <p:nvPr/>
        </p:nvSpPr>
        <p:spPr>
          <a:xfrm>
            <a:off x="1546129" y="6433592"/>
            <a:ext cx="1907704"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b="0" i="0" u="none" strike="noStrike" kern="1200" cap="none" spc="0" normalizeH="0" baseline="0" noProof="0" dirty="0">
                <a:ln>
                  <a:noFill/>
                </a:ln>
                <a:solidFill>
                  <a:prstClr val="black"/>
                </a:solidFill>
                <a:effectLst/>
                <a:uLnTx/>
                <a:uFillTx/>
                <a:latin typeface="Calibri"/>
                <a:ea typeface="+mn-ea"/>
                <a:cs typeface="+mn-cs"/>
              </a:rPr>
              <a:t>Source: Wikipedia</a:t>
            </a:r>
            <a:endParaRPr kumimoji="0" lang="nl-NL" sz="14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Rectangular Callout 7"/>
          <p:cNvSpPr/>
          <p:nvPr/>
        </p:nvSpPr>
        <p:spPr>
          <a:xfrm>
            <a:off x="9124950" y="1800200"/>
            <a:ext cx="2362200" cy="2266950"/>
          </a:xfrm>
          <a:prstGeom prst="wedgeRectCallout">
            <a:avLst/>
          </a:prstGeom>
          <a:noFill/>
          <a:ln>
            <a:solidFill>
              <a:srgbClr val="4886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0C0"/>
                </a:solidFill>
                <a:effectLst/>
                <a:uLnTx/>
                <a:uFillTx/>
                <a:latin typeface="Calibri" panose="020F0502020204030204"/>
                <a:ea typeface="+mn-ea"/>
                <a:cs typeface="+mn-cs"/>
              </a:rPr>
              <a:t>The most suitable transfer function depends problem, e.g. depth of network, and amount of data one works with</a:t>
            </a:r>
          </a:p>
        </p:txBody>
      </p:sp>
      <p:sp>
        <p:nvSpPr>
          <p:cNvPr id="7" name="Line 2">
            <a:extLst>
              <a:ext uri="{FF2B5EF4-FFF2-40B4-BE49-F238E27FC236}">
                <a16:creationId xmlns:a16="http://schemas.microsoft.com/office/drawing/2014/main" id="{D9BC22D8-1F22-6B2D-D40B-8CB88B238786}"/>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6766078E-61B1-2624-2065-24FE5A39B00D}"/>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239746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Artificial neural networks</a:t>
            </a:r>
          </a:p>
          <a:p>
            <a:endParaRPr lang="en-GB" sz="1800" dirty="0"/>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8"/>
          <p:cNvSpPr txBox="1"/>
          <p:nvPr/>
        </p:nvSpPr>
        <p:spPr>
          <a:xfrm>
            <a:off x="720000" y="1196752"/>
            <a:ext cx="9505057"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sng" strike="noStrike" kern="1200" cap="none" spc="0" normalizeH="0" baseline="0" noProof="0" dirty="0">
                <a:ln>
                  <a:noFill/>
                </a:ln>
                <a:solidFill>
                  <a:prstClr val="black"/>
                </a:solidFill>
                <a:effectLst/>
                <a:uLnTx/>
                <a:uFillTx/>
                <a:latin typeface="Calibri"/>
                <a:ea typeface="+mn-ea"/>
                <a:cs typeface="+mn-cs"/>
              </a:rPr>
              <a:t>Bias nodes</a:t>
            </a:r>
            <a:endParaRPr kumimoji="0" lang="en-GB" sz="1800" b="0" i="0" u="sng" strike="noStrike" kern="1200" cap="none" spc="0" normalizeH="0" baseline="0" noProof="0" dirty="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graphicFrame>
        <p:nvGraphicFramePr>
          <p:cNvPr id="7" name="Object 6"/>
          <p:cNvGraphicFramePr>
            <a:graphicFrameLocks noChangeAspect="1"/>
          </p:cNvGraphicFramePr>
          <p:nvPr/>
        </p:nvGraphicFramePr>
        <p:xfrm>
          <a:off x="2124075" y="1662114"/>
          <a:ext cx="3735388" cy="3451225"/>
        </p:xfrm>
        <a:graphic>
          <a:graphicData uri="http://schemas.openxmlformats.org/presentationml/2006/ole">
            <mc:AlternateContent xmlns:mc="http://schemas.openxmlformats.org/markup-compatibility/2006">
              <mc:Choice xmlns:v="urn:schemas-microsoft-com:vml" Requires="v">
                <p:oleObj name="Visio" r:id="rId3" imgW="2581141" imgH="2390685" progId="Visio.Drawing.11">
                  <p:embed/>
                </p:oleObj>
              </mc:Choice>
              <mc:Fallback>
                <p:oleObj name="Visio" r:id="rId3" imgW="2581141" imgH="2390685" progId="Visio.Drawing.11">
                  <p:embed/>
                  <p:pic>
                    <p:nvPicPr>
                      <p:cNvPr id="7" name="Object 6"/>
                      <p:cNvPicPr>
                        <a:picLocks noChangeAspect="1" noChangeArrowheads="1"/>
                      </p:cNvPicPr>
                      <p:nvPr/>
                    </p:nvPicPr>
                    <p:blipFill>
                      <a:blip r:embed="rId4"/>
                      <a:srcRect/>
                      <a:stretch>
                        <a:fillRect/>
                      </a:stretch>
                    </p:blipFill>
                    <p:spPr bwMode="auto">
                      <a:xfrm>
                        <a:off x="2124075" y="1662114"/>
                        <a:ext cx="3735388" cy="3451225"/>
                      </a:xfrm>
                      <a:prstGeom prst="rect">
                        <a:avLst/>
                      </a:prstGeom>
                      <a:noFill/>
                    </p:spPr>
                  </p:pic>
                </p:oleObj>
              </mc:Fallback>
            </mc:AlternateContent>
          </a:graphicData>
        </a:graphic>
      </p:graphicFrame>
      <p:sp>
        <p:nvSpPr>
          <p:cNvPr id="10" name="TextBox 9"/>
          <p:cNvSpPr txBox="1"/>
          <p:nvPr/>
        </p:nvSpPr>
        <p:spPr>
          <a:xfrm>
            <a:off x="720000" y="4962410"/>
            <a:ext cx="10726985" cy="1477328"/>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The bias nodes ensure input, even if input space is 0</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The weights associated with the bias nodes on the output layer can be conceived as </a:t>
            </a:r>
            <a:r>
              <a:rPr kumimoji="0" lang="en-GB" sz="1800" b="1" i="0" u="none" strike="noStrike" kern="1200" cap="none" spc="0" normalizeH="0" baseline="0" noProof="0" dirty="0">
                <a:ln>
                  <a:noFill/>
                </a:ln>
                <a:solidFill>
                  <a:prstClr val="black"/>
                </a:solidFill>
                <a:effectLst/>
                <a:uLnTx/>
                <a:uFillTx/>
                <a:latin typeface="Calibri"/>
                <a:ea typeface="+mn-ea"/>
                <a:cs typeface="+mn-cs"/>
              </a:rPr>
              <a:t>intercept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Bias nodes have nothing to do with “bias”; in fact, they can be conceived as ASCs</a:t>
            </a:r>
          </a:p>
        </p:txBody>
      </p:sp>
      <p:sp>
        <p:nvSpPr>
          <p:cNvPr id="8" name="TextBox 7"/>
          <p:cNvSpPr txBox="1"/>
          <p:nvPr/>
        </p:nvSpPr>
        <p:spPr>
          <a:xfrm>
            <a:off x="5859463" y="4248624"/>
            <a:ext cx="4989065" cy="432048"/>
          </a:xfrm>
          <a:prstGeom prst="rect">
            <a:avLst/>
          </a:prstGeom>
          <a:noFill/>
          <a:ln>
            <a:no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Bias nodes are often not depicted in graphical representations of neural networks </a:t>
            </a:r>
          </a:p>
        </p:txBody>
      </p:sp>
      <p:cxnSp>
        <p:nvCxnSpPr>
          <p:cNvPr id="12" name="Straight Arrow Connector 11"/>
          <p:cNvCxnSpPr/>
          <p:nvPr/>
        </p:nvCxnSpPr>
        <p:spPr>
          <a:xfrm flipH="1">
            <a:off x="4223792" y="4437112"/>
            <a:ext cx="1635671" cy="0"/>
          </a:xfrm>
          <a:prstGeom prst="straightConnector1">
            <a:avLst/>
          </a:prstGeom>
          <a:ln w="19050">
            <a:solidFill>
              <a:schemeClr val="bg1">
                <a:lumMod val="50000"/>
              </a:schemeClr>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1" name="Line 2">
            <a:extLst>
              <a:ext uri="{FF2B5EF4-FFF2-40B4-BE49-F238E27FC236}">
                <a16:creationId xmlns:a16="http://schemas.microsoft.com/office/drawing/2014/main" id="{A1778655-5934-D60F-5A86-606FF08864D9}"/>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3" name="Line 2">
            <a:extLst>
              <a:ext uri="{FF2B5EF4-FFF2-40B4-BE49-F238E27FC236}">
                <a16:creationId xmlns:a16="http://schemas.microsoft.com/office/drawing/2014/main" id="{F019F06D-89F4-018B-9C6E-29E11A98C6D2}"/>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626751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4" end="4"/>
                                            </p:txEl>
                                          </p:spTgt>
                                        </p:tgtEl>
                                        <p:attrNameLst>
                                          <p:attrName>style.visibility</p:attrName>
                                        </p:attrNameLst>
                                      </p:cBhvr>
                                      <p:to>
                                        <p:strVal val="visible"/>
                                      </p:to>
                                    </p:set>
                                    <p:animEffect transition="in" filter="fade">
                                      <p:cBhvr>
                                        <p:cTn id="7" dur="500"/>
                                        <p:tgtEl>
                                          <p:spTgt spid="1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Artificial neural networks</a:t>
            </a:r>
          </a:p>
          <a:p>
            <a:endParaRPr lang="en-GB" sz="1800" dirty="0"/>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8"/>
          <p:cNvSpPr txBox="1"/>
          <p:nvPr/>
        </p:nvSpPr>
        <p:spPr>
          <a:xfrm>
            <a:off x="720000" y="1209700"/>
            <a:ext cx="9505057" cy="175432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Output layer function</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Binary class classification: 	Logistic</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Multiclass classification: 	</a:t>
            </a:r>
            <a:r>
              <a:rPr kumimoji="0" lang="en-US" sz="1800" b="0" i="0" u="none" strike="noStrike" kern="1200" cap="none" spc="0" normalizeH="0" baseline="0" noProof="0" dirty="0" err="1">
                <a:ln>
                  <a:noFill/>
                </a:ln>
                <a:solidFill>
                  <a:prstClr val="black"/>
                </a:solidFill>
                <a:effectLst/>
                <a:uLnTx/>
                <a:uFillTx/>
                <a:latin typeface="Calibri"/>
                <a:ea typeface="+mn-ea"/>
                <a:cs typeface="+mn-cs"/>
              </a:rPr>
              <a:t>Softmax</a:t>
            </a:r>
            <a:r>
              <a:rPr kumimoji="0" lang="en-US" sz="1800" b="0" i="0" u="none" strike="noStrike" kern="1200" cap="none" spc="0" normalizeH="0" baseline="0" noProof="0" dirty="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grpSp>
        <p:nvGrpSpPr>
          <p:cNvPr id="13" name="Group 12"/>
          <p:cNvGrpSpPr/>
          <p:nvPr/>
        </p:nvGrpSpPr>
        <p:grpSpPr>
          <a:xfrm>
            <a:off x="3467514" y="2237721"/>
            <a:ext cx="6604942" cy="504056"/>
            <a:chOff x="3203848" y="2780928"/>
            <a:chExt cx="6604942" cy="504056"/>
          </a:xfrm>
        </p:grpSpPr>
        <p:sp>
          <p:nvSpPr>
            <p:cNvPr id="7" name="Oval 6"/>
            <p:cNvSpPr/>
            <p:nvPr/>
          </p:nvSpPr>
          <p:spPr>
            <a:xfrm>
              <a:off x="3203848" y="2780928"/>
              <a:ext cx="936104" cy="504056"/>
            </a:xfrm>
            <a:prstGeom prst="ellipse">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p:cNvSpPr txBox="1"/>
            <p:nvPr/>
          </p:nvSpPr>
          <p:spPr>
            <a:xfrm>
              <a:off x="4231754" y="2846089"/>
              <a:ext cx="557703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24B5B3"/>
                  </a:solidFill>
                  <a:effectLst/>
                  <a:uLnTx/>
                  <a:uFillTx/>
                  <a:latin typeface="Calibri"/>
                  <a:ea typeface="+mn-ea"/>
                  <a:cs typeface="+mn-cs"/>
                </a:rPr>
                <a:t>a.k.a. </a:t>
              </a:r>
              <a:r>
                <a:rPr kumimoji="0" lang="en-GB" sz="1800" b="1" i="0" u="none" strike="noStrike" kern="1200" cap="none" spc="0" normalizeH="0" baseline="0" noProof="0" dirty="0">
                  <a:ln>
                    <a:noFill/>
                  </a:ln>
                  <a:solidFill>
                    <a:srgbClr val="24B5B3"/>
                  </a:solidFill>
                  <a:effectLst/>
                  <a:uLnTx/>
                  <a:uFillTx/>
                  <a:latin typeface="Calibri"/>
                  <a:ea typeface="+mn-ea"/>
                  <a:cs typeface="+mn-cs"/>
                </a:rPr>
                <a:t>Multinomial Logit </a:t>
              </a:r>
              <a:r>
                <a:rPr kumimoji="0" lang="en-GB" sz="1800" b="0" i="0" u="none" strike="noStrike" kern="1200" cap="none" spc="0" normalizeH="0" baseline="0" noProof="0" dirty="0">
                  <a:ln>
                    <a:noFill/>
                  </a:ln>
                  <a:solidFill>
                    <a:srgbClr val="24B5B3"/>
                  </a:solidFill>
                  <a:effectLst/>
                  <a:uLnTx/>
                  <a:uFillTx/>
                  <a:latin typeface="Calibri"/>
                  <a:ea typeface="+mn-ea"/>
                  <a:cs typeface="+mn-cs"/>
                </a:rPr>
                <a:t>function choice modelling</a:t>
              </a:r>
              <a:endParaRPr kumimoji="0" lang="nl-NL" sz="1800" b="0" i="0" u="none" strike="noStrike" kern="1200" cap="none" spc="0" normalizeH="0" baseline="0" noProof="0" dirty="0">
                <a:ln>
                  <a:noFill/>
                </a:ln>
                <a:solidFill>
                  <a:srgbClr val="24B5B3"/>
                </a:solidFill>
                <a:effectLst/>
                <a:uLnTx/>
                <a:uFillTx/>
                <a:latin typeface="Calibri"/>
                <a:ea typeface="+mn-ea"/>
                <a:cs typeface="+mn-cs"/>
              </a:endParaRPr>
            </a:p>
          </p:txBody>
        </p:sp>
      </p:grpSp>
      <p:grpSp>
        <p:nvGrpSpPr>
          <p:cNvPr id="14" name="Group 13"/>
          <p:cNvGrpSpPr/>
          <p:nvPr/>
        </p:nvGrpSpPr>
        <p:grpSpPr>
          <a:xfrm>
            <a:off x="3467514" y="1661658"/>
            <a:ext cx="5834782" cy="504056"/>
            <a:chOff x="3203848" y="2780928"/>
            <a:chExt cx="5834782" cy="504056"/>
          </a:xfrm>
        </p:grpSpPr>
        <p:sp>
          <p:nvSpPr>
            <p:cNvPr id="15" name="Oval 14"/>
            <p:cNvSpPr/>
            <p:nvPr/>
          </p:nvSpPr>
          <p:spPr>
            <a:xfrm>
              <a:off x="3203848" y="2780928"/>
              <a:ext cx="936104" cy="504056"/>
            </a:xfrm>
            <a:prstGeom prst="ellipse">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Calibri"/>
                <a:ea typeface="+mn-ea"/>
                <a:cs typeface="+mn-cs"/>
              </a:endParaRPr>
            </a:p>
          </p:txBody>
        </p:sp>
        <p:sp>
          <p:nvSpPr>
            <p:cNvPr id="16" name="TextBox 15"/>
            <p:cNvSpPr txBox="1"/>
            <p:nvPr/>
          </p:nvSpPr>
          <p:spPr>
            <a:xfrm>
              <a:off x="4228727" y="2848290"/>
              <a:ext cx="480990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24B5B3"/>
                  </a:solidFill>
                  <a:effectLst/>
                  <a:uLnTx/>
                  <a:uFillTx/>
                  <a:latin typeface="Calibri"/>
                  <a:ea typeface="+mn-ea"/>
                  <a:cs typeface="+mn-cs"/>
                </a:rPr>
                <a:t>a.k.a. </a:t>
              </a:r>
              <a:r>
                <a:rPr kumimoji="0" lang="en-GB" sz="1800" b="1" i="0" u="none" strike="noStrike" kern="1200" cap="none" spc="0" normalizeH="0" baseline="0" noProof="0" dirty="0">
                  <a:ln>
                    <a:noFill/>
                  </a:ln>
                  <a:solidFill>
                    <a:srgbClr val="24B5B3"/>
                  </a:solidFill>
                  <a:effectLst/>
                  <a:uLnTx/>
                  <a:uFillTx/>
                  <a:latin typeface="Calibri"/>
                  <a:ea typeface="+mn-ea"/>
                  <a:cs typeface="+mn-cs"/>
                </a:rPr>
                <a:t>Binary Logit </a:t>
              </a:r>
              <a:r>
                <a:rPr kumimoji="0" lang="en-GB" sz="1800" b="0" i="0" u="none" strike="noStrike" kern="1200" cap="none" spc="0" normalizeH="0" baseline="0" noProof="0" dirty="0">
                  <a:ln>
                    <a:noFill/>
                  </a:ln>
                  <a:solidFill>
                    <a:srgbClr val="24B5B3"/>
                  </a:solidFill>
                  <a:effectLst/>
                  <a:uLnTx/>
                  <a:uFillTx/>
                  <a:latin typeface="Calibri"/>
                  <a:ea typeface="+mn-ea"/>
                  <a:cs typeface="+mn-cs"/>
                </a:rPr>
                <a:t>function in choice modelling</a:t>
              </a:r>
              <a:endParaRPr kumimoji="0" lang="nl-NL" sz="1800" b="0" i="0" u="none" strike="noStrike" kern="1200" cap="none" spc="0" normalizeH="0" baseline="0" noProof="0" dirty="0">
                <a:ln>
                  <a:noFill/>
                </a:ln>
                <a:solidFill>
                  <a:srgbClr val="24B5B3"/>
                </a:solidFill>
                <a:effectLst/>
                <a:uLnTx/>
                <a:uFillTx/>
                <a:latin typeface="Calibri"/>
                <a:ea typeface="+mn-ea"/>
                <a:cs typeface="+mn-cs"/>
              </a:endParaRPr>
            </a:p>
          </p:txBody>
        </p:sp>
      </p:grpSp>
      <p:pic>
        <p:nvPicPr>
          <p:cNvPr id="10" name="Picture 9">
            <a:extLst>
              <a:ext uri="{FF2B5EF4-FFF2-40B4-BE49-F238E27FC236}">
                <a16:creationId xmlns:a16="http://schemas.microsoft.com/office/drawing/2014/main" id="{2701595C-EF95-BEC3-0067-FC133A2E6D53}"/>
              </a:ext>
            </a:extLst>
          </p:cNvPr>
          <p:cNvPicPr>
            <a:picLocks noChangeAspect="1"/>
          </p:cNvPicPr>
          <p:nvPr/>
        </p:nvPicPr>
        <p:blipFill>
          <a:blip r:embed="rId3"/>
          <a:stretch>
            <a:fillRect/>
          </a:stretch>
        </p:blipFill>
        <p:spPr>
          <a:xfrm>
            <a:off x="3209966" y="2748580"/>
            <a:ext cx="4485479" cy="3887414"/>
          </a:xfrm>
          <a:prstGeom prst="rect">
            <a:avLst/>
          </a:prstGeom>
        </p:spPr>
      </p:pic>
      <p:sp>
        <p:nvSpPr>
          <p:cNvPr id="20" name="TextBox 19"/>
          <p:cNvSpPr txBox="1"/>
          <p:nvPr/>
        </p:nvSpPr>
        <p:spPr>
          <a:xfrm>
            <a:off x="3122627" y="6490466"/>
            <a:ext cx="4896544" cy="30777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0" i="0" u="none" strike="noStrike" kern="1200" cap="none" spc="0" normalizeH="0" baseline="0" noProof="0" dirty="0" err="1">
                <a:ln>
                  <a:noFill/>
                </a:ln>
                <a:solidFill>
                  <a:prstClr val="white">
                    <a:lumMod val="50000"/>
                  </a:prstClr>
                </a:solidFill>
                <a:effectLst/>
                <a:uLnTx/>
                <a:uFillTx/>
                <a:latin typeface="Calibri"/>
                <a:ea typeface="+mn-ea"/>
                <a:cs typeface="+mn-cs"/>
              </a:rPr>
              <a:t>Softmax</a:t>
            </a:r>
            <a:r>
              <a:rPr kumimoji="0" lang="en-GB" sz="1400" b="0" i="0" u="none" strike="noStrike" kern="1200" cap="none" spc="0" normalizeH="0" baseline="0" noProof="0" dirty="0">
                <a:ln>
                  <a:noFill/>
                </a:ln>
                <a:solidFill>
                  <a:prstClr val="white">
                    <a:lumMod val="50000"/>
                  </a:prstClr>
                </a:solidFill>
                <a:effectLst/>
                <a:uLnTx/>
                <a:uFillTx/>
                <a:latin typeface="Calibri"/>
                <a:ea typeface="+mn-ea"/>
                <a:cs typeface="+mn-cs"/>
              </a:rPr>
              <a:t> function</a:t>
            </a:r>
            <a:endParaRPr kumimoji="0" lang="nl-NL" sz="1800" b="0" i="0" u="none" strike="noStrike" kern="1200" cap="none" spc="0" normalizeH="0" baseline="0" noProof="0" dirty="0">
              <a:ln>
                <a:noFill/>
              </a:ln>
              <a:solidFill>
                <a:prstClr val="black"/>
              </a:solidFill>
              <a:effectLst/>
              <a:uLnTx/>
              <a:uFillTx/>
              <a:latin typeface="Calibri"/>
              <a:ea typeface="+mn-ea"/>
              <a:cs typeface="+mn-cs"/>
            </a:endParaRPr>
          </a:p>
        </p:txBody>
      </p:sp>
      <p:pic>
        <p:nvPicPr>
          <p:cNvPr id="11" name="Picture 2" descr="Image result for understand icon">
            <a:extLst>
              <a:ext uri="{FF2B5EF4-FFF2-40B4-BE49-F238E27FC236}">
                <a16:creationId xmlns:a16="http://schemas.microsoft.com/office/drawing/2014/main" id="{29CB5343-F46E-893D-19FE-76AF84EF8FF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790338" y="1447770"/>
            <a:ext cx="1435887" cy="1435887"/>
          </a:xfrm>
          <a:prstGeom prst="rect">
            <a:avLst/>
          </a:prstGeom>
          <a:noFill/>
          <a:extLst>
            <a:ext uri="{909E8E84-426E-40DD-AFC4-6F175D3DCCD1}">
              <a14:hiddenFill xmlns:a14="http://schemas.microsoft.com/office/drawing/2010/main">
                <a:solidFill>
                  <a:srgbClr val="FFFFFF"/>
                </a:solidFill>
              </a14:hiddenFill>
            </a:ext>
          </a:extLst>
        </p:spPr>
      </p:pic>
      <p:sp>
        <p:nvSpPr>
          <p:cNvPr id="12" name="Line 2">
            <a:extLst>
              <a:ext uri="{FF2B5EF4-FFF2-40B4-BE49-F238E27FC236}">
                <a16:creationId xmlns:a16="http://schemas.microsoft.com/office/drawing/2014/main" id="{008A17CC-AFDE-50A8-7273-9235EE775851}"/>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7" name="Line 2">
            <a:extLst>
              <a:ext uri="{FF2B5EF4-FFF2-40B4-BE49-F238E27FC236}">
                <a16:creationId xmlns:a16="http://schemas.microsoft.com/office/drawing/2014/main" id="{D2B29243-8D77-3145-5322-F27A860295A7}"/>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4194090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Artificial neural networks</a:t>
            </a:r>
          </a:p>
          <a:p>
            <a:endParaRPr lang="en-GB" sz="1800" dirty="0"/>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8"/>
          <p:cNvSpPr txBox="1"/>
          <p:nvPr/>
        </p:nvSpPr>
        <p:spPr>
          <a:xfrm>
            <a:off x="720000" y="1163756"/>
            <a:ext cx="10604154" cy="175432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sng" strike="noStrike" kern="1200" cap="none" spc="0" normalizeH="0" baseline="0" noProof="0" dirty="0">
                <a:ln>
                  <a:noFill/>
                </a:ln>
                <a:solidFill>
                  <a:prstClr val="black"/>
                </a:solidFill>
                <a:effectLst/>
                <a:uLnTx/>
                <a:uFillTx/>
                <a:latin typeface="Calibri"/>
                <a:ea typeface="+mn-ea"/>
                <a:cs typeface="+mn-cs"/>
              </a:rPr>
              <a:t>Loss function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The loss function measures the (global) performance of the model given the data. It quantifies the error between predicted values and expected values in a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single</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real number.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When working with choice data, we (almost always) use the </a:t>
            </a:r>
            <a:r>
              <a:rPr kumimoji="0" lang="en-GB" sz="1800" b="1" i="0" u="none" strike="noStrike" kern="1200" cap="none" spc="0" normalizeH="0" baseline="0" noProof="0" dirty="0">
                <a:ln>
                  <a:noFill/>
                </a:ln>
                <a:solidFill>
                  <a:prstClr val="black"/>
                </a:solidFill>
                <a:effectLst/>
                <a:uLnTx/>
                <a:uFillTx/>
                <a:latin typeface="Calibri"/>
                <a:ea typeface="+mn-ea"/>
                <a:cs typeface="+mn-cs"/>
              </a:rPr>
              <a:t>cross-entropy</a:t>
            </a:r>
            <a:r>
              <a:rPr kumimoji="0" lang="en-GB" sz="1800" b="0" i="0" u="none" strike="noStrike" kern="1200" cap="none" spc="0" normalizeH="0" baseline="0" noProof="0" dirty="0">
                <a:ln>
                  <a:noFill/>
                </a:ln>
                <a:solidFill>
                  <a:prstClr val="black"/>
                </a:solidFill>
                <a:effectLst/>
                <a:uLnTx/>
                <a:uFillTx/>
                <a:latin typeface="Calibri"/>
                <a:ea typeface="+mn-ea"/>
                <a:cs typeface="+mn-cs"/>
              </a:rPr>
              <a:t> (CE) </a:t>
            </a:r>
            <a:r>
              <a:rPr kumimoji="0" lang="en-GB" sz="1800" b="1" i="0" u="none" strike="noStrike" kern="1200" cap="none" spc="0" normalizeH="0" baseline="0" noProof="0" dirty="0">
                <a:ln>
                  <a:noFill/>
                </a:ln>
                <a:solidFill>
                  <a:prstClr val="black"/>
                </a:solidFill>
                <a:effectLst/>
                <a:uLnTx/>
                <a:uFillTx/>
                <a:latin typeface="Calibri"/>
                <a:ea typeface="+mn-ea"/>
                <a:cs typeface="+mn-cs"/>
              </a:rPr>
              <a:t>loss</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grpSp>
        <p:nvGrpSpPr>
          <p:cNvPr id="11" name="Group 10">
            <a:extLst>
              <a:ext uri="{FF2B5EF4-FFF2-40B4-BE49-F238E27FC236}">
                <a16:creationId xmlns:a16="http://schemas.microsoft.com/office/drawing/2014/main" id="{B0036BFF-E934-6D03-62EB-EB5211290C6B}"/>
              </a:ext>
            </a:extLst>
          </p:cNvPr>
          <p:cNvGrpSpPr/>
          <p:nvPr/>
        </p:nvGrpSpPr>
        <p:grpSpPr>
          <a:xfrm>
            <a:off x="396088" y="5103025"/>
            <a:ext cx="11418683" cy="1435887"/>
            <a:chOff x="396088" y="5103025"/>
            <a:chExt cx="11418683" cy="1435887"/>
          </a:xfrm>
        </p:grpSpPr>
        <p:sp>
          <p:nvSpPr>
            <p:cNvPr id="18" name="TextBox 17">
              <a:extLst>
                <a:ext uri="{FF2B5EF4-FFF2-40B4-BE49-F238E27FC236}">
                  <a16:creationId xmlns:a16="http://schemas.microsoft.com/office/drawing/2014/main" id="{E4BA625A-F9F2-7333-C070-139B7C3100AB}"/>
                </a:ext>
              </a:extLst>
            </p:cNvPr>
            <p:cNvSpPr txBox="1"/>
            <p:nvPr/>
          </p:nvSpPr>
          <p:spPr>
            <a:xfrm>
              <a:off x="1831974" y="5343855"/>
              <a:ext cx="9982797" cy="1195057"/>
            </a:xfrm>
            <a:prstGeom prst="rect">
              <a:avLst/>
            </a:prstGeom>
            <a:noFill/>
          </p:spPr>
          <p:txBody>
            <a:bodyPr wrap="square" rtlCol="0">
              <a:noAutofit/>
            </a:bodyPr>
            <a:lstStyle/>
            <a:p>
              <a:pPr marL="285750" marR="0" lvl="0" indent="-285750" algn="l" defTabSz="914400" rtl="0" eaLnBrk="1" fontAlgn="base" latinLnBrk="0" hangingPunct="1">
                <a:lnSpc>
                  <a:spcPct val="100000"/>
                </a:lnSpc>
                <a:spcBef>
                  <a:spcPts val="0"/>
                </a:spcBef>
                <a:spcAft>
                  <a:spcPts val="0"/>
                </a:spcAft>
                <a:buClrTx/>
                <a:buSzTx/>
                <a:buFont typeface="Wingdings" pitchFamily="2" charset="2"/>
                <a:buChar char="Ø"/>
                <a:tabLst/>
                <a:defRPr/>
              </a:pPr>
              <a:r>
                <a:rPr kumimoji="0" lang="en-GB" sz="1800" b="0" i="0" u="none" strike="noStrike" kern="1200" cap="none" spc="0" normalizeH="0" baseline="0" noProof="0" dirty="0">
                  <a:ln>
                    <a:noFill/>
                  </a:ln>
                  <a:solidFill>
                    <a:srgbClr val="24B5B3"/>
                  </a:solidFill>
                  <a:effectLst/>
                  <a:uLnTx/>
                  <a:uFillTx/>
                  <a:latin typeface="Calibri"/>
                  <a:ea typeface="+mn-ea"/>
                  <a:cs typeface="+mn-cs"/>
                </a:rPr>
                <a:t>Minimisation of the cross-entropy is </a:t>
              </a:r>
              <a:r>
                <a:rPr kumimoji="0" lang="en-GB" sz="1800" b="1" i="0" u="none" strike="noStrike" kern="1200" cap="none" spc="0" normalizeH="0" baseline="0" noProof="0" dirty="0">
                  <a:ln>
                    <a:noFill/>
                  </a:ln>
                  <a:solidFill>
                    <a:srgbClr val="24B5B3"/>
                  </a:solidFill>
                  <a:effectLst/>
                  <a:uLnTx/>
                  <a:uFillTx/>
                  <a:latin typeface="Calibri"/>
                  <a:ea typeface="+mn-ea"/>
                  <a:cs typeface="+mn-cs"/>
                </a:rPr>
                <a:t>equivalent</a:t>
              </a:r>
              <a:r>
                <a:rPr kumimoji="0" lang="en-GB" sz="1800" b="0" i="0" u="none" strike="noStrike" kern="1200" cap="none" spc="0" normalizeH="0" baseline="0" noProof="0" dirty="0">
                  <a:ln>
                    <a:noFill/>
                  </a:ln>
                  <a:solidFill>
                    <a:srgbClr val="24B5B3"/>
                  </a:solidFill>
                  <a:effectLst/>
                  <a:uLnTx/>
                  <a:uFillTx/>
                  <a:latin typeface="Calibri"/>
                  <a:ea typeface="+mn-ea"/>
                  <a:cs typeface="+mn-cs"/>
                </a:rPr>
                <a:t> to </a:t>
              </a:r>
              <a:r>
                <a:rPr kumimoji="0" lang="en-GB" sz="1800" b="1" i="0" u="none" strike="noStrike" kern="1200" cap="none" spc="0" normalizeH="0" baseline="0" noProof="0" dirty="0">
                  <a:ln>
                    <a:noFill/>
                  </a:ln>
                  <a:solidFill>
                    <a:srgbClr val="24B5B3"/>
                  </a:solidFill>
                  <a:effectLst/>
                  <a:uLnTx/>
                  <a:uFillTx/>
                  <a:latin typeface="Calibri"/>
                  <a:ea typeface="+mn-ea"/>
                  <a:cs typeface="+mn-cs"/>
                </a:rPr>
                <a:t>maximisation of the (log-)likelihood</a:t>
              </a:r>
            </a:p>
            <a:p>
              <a:pPr marL="285750" marR="0" lvl="0" indent="-285750" algn="l" defTabSz="914400" rtl="0" eaLnBrk="1" fontAlgn="base" latinLnBrk="0" hangingPunct="1">
                <a:lnSpc>
                  <a:spcPct val="100000"/>
                </a:lnSpc>
                <a:spcBef>
                  <a:spcPts val="0"/>
                </a:spcBef>
                <a:spcAft>
                  <a:spcPts val="0"/>
                </a:spcAft>
                <a:buClrTx/>
                <a:buSzTx/>
                <a:buFont typeface="Wingdings" pitchFamily="2" charset="2"/>
                <a:buChar char="Ø"/>
                <a:tabLst/>
                <a:defRPr/>
              </a:pPr>
              <a:endParaRPr kumimoji="0" lang="en-GB" sz="1800" b="1" i="0" u="none" strike="noStrike" kern="1200" cap="none" spc="0" normalizeH="0" baseline="0" noProof="0" dirty="0">
                <a:ln>
                  <a:noFill/>
                </a:ln>
                <a:solidFill>
                  <a:srgbClr val="24B5B3"/>
                </a:solidFill>
                <a:effectLst/>
                <a:uLnTx/>
                <a:uFillTx/>
                <a:latin typeface="Calibri"/>
                <a:ea typeface="+mn-ea"/>
                <a:cs typeface="+mn-cs"/>
                <a:sym typeface="Wingdings" panose="05000000000000000000" pitchFamily="2" charset="2"/>
              </a:endParaRPr>
            </a:p>
            <a:p>
              <a:pPr marL="285750" marR="0" lvl="0" indent="-285750" algn="l" defTabSz="914400" rtl="0" eaLnBrk="1" fontAlgn="base" latinLnBrk="0" hangingPunct="1">
                <a:lnSpc>
                  <a:spcPct val="100000"/>
                </a:lnSpc>
                <a:spcBef>
                  <a:spcPts val="0"/>
                </a:spcBef>
                <a:spcAft>
                  <a:spcPts val="0"/>
                </a:spcAft>
                <a:buClrTx/>
                <a:buSzTx/>
                <a:buFont typeface="Wingdings" pitchFamily="2" charset="2"/>
                <a:buChar char="Ø"/>
                <a:tabLst/>
                <a:defRPr/>
              </a:pPr>
              <a:r>
                <a:rPr kumimoji="0" lang="en-GB" sz="1800" b="1" i="0" u="none" strike="noStrike" kern="1200" cap="none" spc="0" normalizeH="0" baseline="0" noProof="0" dirty="0">
                  <a:ln>
                    <a:noFill/>
                  </a:ln>
                  <a:solidFill>
                    <a:srgbClr val="24B5B3"/>
                  </a:solidFill>
                  <a:effectLst/>
                  <a:uLnTx/>
                  <a:uFillTx/>
                  <a:latin typeface="Calibri"/>
                  <a:ea typeface="+mn-ea"/>
                  <a:cs typeface="+mn-cs"/>
                  <a:sym typeface="Wingdings" panose="05000000000000000000" pitchFamily="2" charset="2"/>
                </a:rPr>
                <a:t>Minimising</a:t>
              </a:r>
              <a:r>
                <a:rPr kumimoji="0" lang="en-GB" sz="1800" b="0" i="0" u="none" strike="noStrike" kern="1200" cap="none" spc="0" normalizeH="0" baseline="0" noProof="0" dirty="0">
                  <a:ln>
                    <a:noFill/>
                  </a:ln>
                  <a:solidFill>
                    <a:srgbClr val="24B5B3"/>
                  </a:solidFill>
                  <a:effectLst/>
                  <a:uLnTx/>
                  <a:uFillTx/>
                  <a:latin typeface="Calibri"/>
                  <a:ea typeface="+mn-ea"/>
                  <a:cs typeface="+mn-cs"/>
                  <a:sym typeface="Wingdings" panose="05000000000000000000" pitchFamily="2" charset="2"/>
                </a:rPr>
                <a:t> the </a:t>
              </a:r>
              <a:r>
                <a:rPr kumimoji="0" lang="en-GB" sz="1800" b="1" i="0" u="none" strike="noStrike" kern="1200" cap="none" spc="0" normalizeH="0" baseline="0" noProof="0" dirty="0">
                  <a:ln>
                    <a:noFill/>
                  </a:ln>
                  <a:solidFill>
                    <a:srgbClr val="24B5B3"/>
                  </a:solidFill>
                  <a:effectLst/>
                  <a:uLnTx/>
                  <a:uFillTx/>
                  <a:latin typeface="Calibri"/>
                  <a:ea typeface="+mn-ea"/>
                  <a:cs typeface="+mn-cs"/>
                  <a:sym typeface="Wingdings" panose="05000000000000000000" pitchFamily="2" charset="2"/>
                </a:rPr>
                <a:t>cross-entropy</a:t>
              </a:r>
              <a:r>
                <a:rPr kumimoji="0" lang="en-GB" sz="1800" b="0" i="0" u="none" strike="noStrike" kern="1200" cap="none" spc="0" normalizeH="0" baseline="0" noProof="0" dirty="0">
                  <a:ln>
                    <a:noFill/>
                  </a:ln>
                  <a:solidFill>
                    <a:srgbClr val="24B5B3"/>
                  </a:solidFill>
                  <a:effectLst/>
                  <a:uLnTx/>
                  <a:uFillTx/>
                  <a:latin typeface="Calibri"/>
                  <a:ea typeface="+mn-ea"/>
                  <a:cs typeface="+mn-cs"/>
                  <a:sym typeface="Wingdings" panose="05000000000000000000" pitchFamily="2" charset="2"/>
                </a:rPr>
                <a:t> implies </a:t>
              </a:r>
              <a:r>
                <a:rPr kumimoji="0" lang="en-GB" sz="1800" b="1" i="0" u="none" strike="noStrike" kern="1200" cap="none" spc="0" normalizeH="0" baseline="0" noProof="0" dirty="0">
                  <a:ln>
                    <a:noFill/>
                  </a:ln>
                  <a:solidFill>
                    <a:srgbClr val="24B5B3"/>
                  </a:solidFill>
                  <a:effectLst/>
                  <a:uLnTx/>
                  <a:uFillTx/>
                  <a:latin typeface="Calibri"/>
                  <a:ea typeface="+mn-ea"/>
                  <a:cs typeface="+mn-cs"/>
                  <a:sym typeface="Wingdings" panose="05000000000000000000" pitchFamily="2" charset="2"/>
                </a:rPr>
                <a:t>maximising</a:t>
              </a:r>
              <a:r>
                <a:rPr kumimoji="0" lang="en-GB" sz="1800" b="0" i="0" u="none" strike="noStrike" kern="1200" cap="none" spc="0" normalizeH="0" baseline="0" noProof="0" dirty="0">
                  <a:ln>
                    <a:noFill/>
                  </a:ln>
                  <a:solidFill>
                    <a:srgbClr val="24B5B3"/>
                  </a:solidFill>
                  <a:effectLst/>
                  <a:uLnTx/>
                  <a:uFillTx/>
                  <a:latin typeface="Calibri"/>
                  <a:ea typeface="+mn-ea"/>
                  <a:cs typeface="+mn-cs"/>
                  <a:sym typeface="Wingdings" panose="05000000000000000000" pitchFamily="2" charset="2"/>
                </a:rPr>
                <a:t> the (log-)</a:t>
              </a:r>
              <a:r>
                <a:rPr kumimoji="0" lang="en-GB" sz="1800" b="1" i="0" u="none" strike="noStrike" kern="1200" cap="none" spc="0" normalizeH="0" baseline="0" noProof="0" dirty="0">
                  <a:ln>
                    <a:noFill/>
                  </a:ln>
                  <a:solidFill>
                    <a:srgbClr val="24B5B3"/>
                  </a:solidFill>
                  <a:effectLst/>
                  <a:uLnTx/>
                  <a:uFillTx/>
                  <a:latin typeface="Calibri"/>
                  <a:ea typeface="+mn-ea"/>
                  <a:cs typeface="+mn-cs"/>
                  <a:sym typeface="Wingdings" panose="05000000000000000000" pitchFamily="2" charset="2"/>
                </a:rPr>
                <a:t>likelihood</a:t>
              </a:r>
              <a:r>
                <a:rPr kumimoji="0" lang="en-GB" sz="1800" b="0" i="0" u="none" strike="noStrike" kern="1200" cap="none" spc="0" normalizeH="0" baseline="0" noProof="0" dirty="0">
                  <a:ln>
                    <a:noFill/>
                  </a:ln>
                  <a:solidFill>
                    <a:srgbClr val="24B5B3"/>
                  </a:solidFill>
                  <a:effectLst/>
                  <a:uLnTx/>
                  <a:uFillTx/>
                  <a:latin typeface="Calibri"/>
                  <a:ea typeface="+mn-ea"/>
                  <a:cs typeface="+mn-cs"/>
                  <a:sym typeface="Wingdings" panose="05000000000000000000" pitchFamily="2" charset="2"/>
                </a:rPr>
                <a:t> of the data, given the model</a:t>
              </a:r>
              <a:endParaRPr kumimoji="0" lang="en-GB" sz="1800" b="0" i="0" u="none" strike="noStrike" kern="1200" cap="none" spc="0" normalizeH="0" baseline="0" noProof="0" dirty="0">
                <a:ln>
                  <a:noFill/>
                </a:ln>
                <a:solidFill>
                  <a:srgbClr val="24B5B3"/>
                </a:solidFill>
                <a:effectLst/>
                <a:uLnTx/>
                <a:uFillTx/>
                <a:latin typeface="Calibri"/>
                <a:ea typeface="+mn-ea"/>
                <a:cs typeface="+mn-cs"/>
              </a:endParaRP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pic>
          <p:nvPicPr>
            <p:cNvPr id="19" name="Picture 2" descr="Image result for understand icon">
              <a:extLst>
                <a:ext uri="{FF2B5EF4-FFF2-40B4-BE49-F238E27FC236}">
                  <a16:creationId xmlns:a16="http://schemas.microsoft.com/office/drawing/2014/main" id="{903C0427-EAD7-A36E-4439-F6C1D69A2B6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088" y="5103025"/>
              <a:ext cx="1435887" cy="14358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8" name="Group 7">
            <a:extLst>
              <a:ext uri="{FF2B5EF4-FFF2-40B4-BE49-F238E27FC236}">
                <a16:creationId xmlns:a16="http://schemas.microsoft.com/office/drawing/2014/main" id="{8D02F940-EB69-CB44-2B6E-EC9CCAAC4FEF}"/>
              </a:ext>
            </a:extLst>
          </p:cNvPr>
          <p:cNvGrpSpPr/>
          <p:nvPr/>
        </p:nvGrpSpPr>
        <p:grpSpPr>
          <a:xfrm>
            <a:off x="1831974" y="2164827"/>
            <a:ext cx="10039146" cy="2506761"/>
            <a:chOff x="1831974" y="2164827"/>
            <a:chExt cx="10039146" cy="2506761"/>
          </a:xfrm>
        </p:grpSpPr>
        <mc:AlternateContent xmlns:mc="http://schemas.openxmlformats.org/markup-compatibility/2006" xmlns:a14="http://schemas.microsoft.com/office/drawing/2010/main">
          <mc:Choice Requires="a14">
            <p:graphicFrame>
              <p:nvGraphicFramePr>
                <p:cNvPr id="16" name="Object 15">
                  <a:extLst>
                    <a:ext uri="{FF2B5EF4-FFF2-40B4-BE49-F238E27FC236}">
                      <a16:creationId xmlns:a16="http://schemas.microsoft.com/office/drawing/2014/main" id="{132A6B56-D32F-E3FB-2B38-446FBD0E1A61}"/>
                    </a:ext>
                  </a:extLst>
                </p:cNvPr>
                <p:cNvGraphicFramePr>
                  <a:graphicFrameLocks noChangeAspect="1"/>
                </p:cNvGraphicFramePr>
                <p:nvPr/>
              </p:nvGraphicFramePr>
              <p:xfrm>
                <a:off x="5589162" y="3273748"/>
                <a:ext cx="6281958" cy="1397840"/>
              </p:xfrm>
              <a:graphic>
                <a:graphicData uri="http://schemas.openxmlformats.org/presentationml/2006/ole">
                  <mc:AlternateContent>
                    <mc:Choice xmlns:v="urn:schemas-microsoft-com:vml" Requires="v">
                      <p:oleObj name="Equation" r:id="rId4" imgW="3797280" imgH="825480" progId="Equation.DSMT4">
                        <p:embed/>
                      </p:oleObj>
                    </mc:Choice>
                    <mc:Fallback>
                      <p:oleObj name="Equation" r:id="rId4" imgW="3797280" imgH="825480" progId="Equation.DSMT4">
                        <p:embed/>
                        <p:pic>
                          <p:nvPicPr>
                            <p:cNvPr id="16" name="Object 15">
                              <a:extLst>
                                <a:ext uri="{FF2B5EF4-FFF2-40B4-BE49-F238E27FC236}">
                                  <a16:creationId xmlns:a16="http://schemas.microsoft.com/office/drawing/2014/main" id="{132A6B56-D32F-E3FB-2B38-446FBD0E1A61}"/>
                                </a:ext>
                              </a:extLst>
                            </p:cNvPr>
                            <p:cNvPicPr/>
                            <p:nvPr/>
                          </p:nvPicPr>
                          <p:blipFill>
                            <a:blip r:embed="rId5"/>
                            <a:stretch>
                              <a:fillRect/>
                            </a:stretch>
                          </p:blipFill>
                          <p:spPr>
                            <a:xfrm>
                              <a:off x="5589162" y="3273748"/>
                              <a:ext cx="6281958" cy="1397840"/>
                            </a:xfrm>
                            <a:prstGeom prst="rect">
                              <a:avLst/>
                            </a:prstGeom>
                          </p:spPr>
                        </p:pic>
                      </p:oleObj>
                    </mc:Fallback>
                  </mc:AlternateContent>
                </a:graphicData>
              </a:graphic>
            </p:graphicFrame>
          </mc:Choice>
          <mc:Fallback xmlns="">
            <p:graphicFrame>
              <p:nvGraphicFramePr>
                <p:cNvPr id="16" name="Object 15">
                  <a:extLst>
                    <a:ext uri="{FF2B5EF4-FFF2-40B4-BE49-F238E27FC236}">
                      <a16:creationId xmlns:a16="http://schemas.microsoft.com/office/drawing/2014/main" id="{132A6B56-D32F-E3FB-2B38-446FBD0E1A61}"/>
                    </a:ext>
                  </a:extLst>
                </p:cNvPr>
                <p:cNvGraphicFramePr>
                  <a:graphicFrameLocks noChangeAspect="1"/>
                </p:cNvGraphicFramePr>
                <p:nvPr/>
              </p:nvGraphicFramePr>
              <p:xfrm>
                <a:off x="5589162" y="3273748"/>
                <a:ext cx="6281958" cy="1397840"/>
              </p:xfrm>
              <a:graphic>
                <a:graphicData uri="http://schemas.openxmlformats.org/presentationml/2006/ole">
                  <mc:AlternateContent>
                    <mc:Choice xmlns:v="urn:schemas-microsoft-com:vml" Requires="v">
                      <p:oleObj name="Equation" r:id="rId6" imgW="3797280" imgH="825480" progId="Equation.DSMT4">
                        <p:embed/>
                      </p:oleObj>
                    </mc:Choice>
                    <mc:Fallback>
                      <p:oleObj name="Equation" r:id="rId6" imgW="3797280" imgH="825480" progId="Equation.DSMT4">
                        <p:embed/>
                        <p:pic>
                          <p:nvPicPr>
                            <p:cNvPr id="16" name="Object 15">
                              <a:extLst>
                                <a:ext uri="{FF2B5EF4-FFF2-40B4-BE49-F238E27FC236}">
                                  <a16:creationId xmlns:a16="http://schemas.microsoft.com/office/drawing/2014/main" id="{132A6B56-D32F-E3FB-2B38-446FBD0E1A61}"/>
                                </a:ext>
                              </a:extLst>
                            </p:cNvPr>
                            <p:cNvPicPr/>
                            <p:nvPr/>
                          </p:nvPicPr>
                          <p:blipFill>
                            <a:blip r:embed="rId7"/>
                            <a:stretch>
                              <a:fillRect/>
                            </a:stretch>
                          </p:blipFill>
                          <p:spPr>
                            <a:xfrm>
                              <a:off x="5589162" y="3273748"/>
                              <a:ext cx="6281958" cy="1397840"/>
                            </a:xfrm>
                            <a:prstGeom prst="rect">
                              <a:avLst/>
                            </a:prstGeom>
                          </p:spPr>
                        </p:pic>
                      </p:oleObj>
                    </mc:Fallback>
                  </mc:AlternateContent>
                </a:graphicData>
              </a:graphic>
            </p:graphicFrame>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0B7476F-9835-5D1F-46E2-E2C500C26B02}"/>
                    </a:ext>
                  </a:extLst>
                </p:cNvPr>
                <p:cNvSpPr txBox="1"/>
                <p:nvPr/>
              </p:nvSpPr>
              <p:spPr>
                <a:xfrm>
                  <a:off x="1831974" y="3378700"/>
                  <a:ext cx="3757188" cy="1104415"/>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14:m>
                    <m:oMathPara xmlns:m="http://schemas.openxmlformats.org/officeDocument/2006/math">
                      <m:oMathParaPr>
                        <m:jc m:val="left"/>
                      </m:oMathParaPr>
                      <m:oMath xmlns:m="http://schemas.openxmlformats.org/officeDocument/2006/math">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𝐶𝐸</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num>
                          <m:den>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𝑁</m:t>
                            </m:r>
                          </m:den>
                        </m:f>
                        <m:nary>
                          <m:naryPr>
                            <m:chr m:val="∑"/>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up/>
                          <m:e>
                            <m:nary>
                              <m:naryPr>
                                <m:chr m:val="∑"/>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up/>
                              <m:e>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𝑛𝑗</m:t>
                                    </m:r>
                                  </m:sub>
                                </m:sSub>
                                <m:func>
                                  <m:func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uncPr>
                                  <m:fName>
                                    <m:r>
                                      <m:rPr>
                                        <m:sty m:val="p"/>
                                      </m:rPr>
                                      <a:rPr kumimoji="0" lang="en-US" sz="2000" b="0" i="0"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log</m:t>
                                    </m:r>
                                  </m:fName>
                                  <m:e>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𝑝</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𝑛𝑗</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ub>
                                    </m:sSub>
                                  </m:e>
                                </m:func>
                              </m:e>
                            </m:nary>
                          </m:e>
                        </m:nary>
                      </m:oMath>
                    </m:oMathPara>
                  </a14:m>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mc:Choice>
          <mc:Fallback xmlns="">
            <p:sp>
              <p:nvSpPr>
                <p:cNvPr id="17" name="TextBox 16">
                  <a:extLst>
                    <a:ext uri="{FF2B5EF4-FFF2-40B4-BE49-F238E27FC236}">
                      <a16:creationId xmlns:a16="http://schemas.microsoft.com/office/drawing/2014/main" id="{60B7476F-9835-5D1F-46E2-E2C500C26B02}"/>
                    </a:ext>
                  </a:extLst>
                </p:cNvPr>
                <p:cNvSpPr txBox="1">
                  <a:spLocks noRot="1" noChangeAspect="1" noMove="1" noResize="1" noEditPoints="1" noAdjustHandles="1" noChangeArrowheads="1" noChangeShapeType="1" noTextEdit="1"/>
                </p:cNvSpPr>
                <p:nvPr/>
              </p:nvSpPr>
              <p:spPr>
                <a:xfrm>
                  <a:off x="1831974" y="3378700"/>
                  <a:ext cx="3757188" cy="1104415"/>
                </a:xfrm>
                <a:prstGeom prst="rect">
                  <a:avLst/>
                </a:prstGeom>
                <a:blipFill>
                  <a:blip r:embed="rId8"/>
                  <a:stretch>
                    <a:fillRect t="-81818" b="-121591"/>
                  </a:stretch>
                </a:blipFill>
              </p:spPr>
              <p:txBody>
                <a:bodyPr/>
                <a:lstStyle/>
                <a:p>
                  <a:r>
                    <a:rPr lang="en-GB">
                      <a:noFill/>
                    </a:rPr>
                    <a:t> </a:t>
                  </a:r>
                </a:p>
              </p:txBody>
            </p:sp>
          </mc:Fallback>
        </mc:AlternateContent>
        <p:sp>
          <p:nvSpPr>
            <p:cNvPr id="7" name="TextBox 6">
              <a:extLst>
                <a:ext uri="{FF2B5EF4-FFF2-40B4-BE49-F238E27FC236}">
                  <a16:creationId xmlns:a16="http://schemas.microsoft.com/office/drawing/2014/main" id="{20FFF708-1621-78C0-990F-ADB43E540371}"/>
                </a:ext>
              </a:extLst>
            </p:cNvPr>
            <p:cNvSpPr txBox="1"/>
            <p:nvPr/>
          </p:nvSpPr>
          <p:spPr>
            <a:xfrm>
              <a:off x="8669699" y="2164827"/>
              <a:ext cx="1448554" cy="411254"/>
            </a:xfrm>
            <a:prstGeom prst="rect">
              <a:avLst/>
            </a:prstGeom>
            <a:solidFill>
              <a:schemeClr val="accent4">
                <a:lumMod val="20000"/>
                <a:lumOff val="80000"/>
              </a:schemeClr>
            </a:solidFill>
            <a:ln w="12700">
              <a:solidFill>
                <a:schemeClr val="accent1"/>
              </a:solidFill>
            </a:ln>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1"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a.k.a. log loss</a:t>
              </a:r>
            </a:p>
          </p:txBody>
        </p:sp>
        <p:cxnSp>
          <p:nvCxnSpPr>
            <p:cNvPr id="10" name="Straight Arrow Connector 9">
              <a:extLst>
                <a:ext uri="{FF2B5EF4-FFF2-40B4-BE49-F238E27FC236}">
                  <a16:creationId xmlns:a16="http://schemas.microsoft.com/office/drawing/2014/main" id="{1CFAC0DD-100B-9770-EDFB-7A4AB8B9280A}"/>
                </a:ext>
              </a:extLst>
            </p:cNvPr>
            <p:cNvCxnSpPr>
              <a:cxnSpLocks/>
              <a:stCxn id="7" idx="1"/>
            </p:cNvCxnSpPr>
            <p:nvPr/>
          </p:nvCxnSpPr>
          <p:spPr>
            <a:xfrm flipH="1">
              <a:off x="8298507" y="2370454"/>
              <a:ext cx="371192" cy="2056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2" name="Line 2">
            <a:extLst>
              <a:ext uri="{FF2B5EF4-FFF2-40B4-BE49-F238E27FC236}">
                <a16:creationId xmlns:a16="http://schemas.microsoft.com/office/drawing/2014/main" id="{6DCEAF19-A17A-CE84-B332-43D7DEFA5B4E}"/>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3" name="Line 2">
            <a:extLst>
              <a:ext uri="{FF2B5EF4-FFF2-40B4-BE49-F238E27FC236}">
                <a16:creationId xmlns:a16="http://schemas.microsoft.com/office/drawing/2014/main" id="{22EBDEE1-2B6D-4B13-FD56-B7EDF168F0E8}"/>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720961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xEl>
                                              <p:pRg st="4" end="4"/>
                                            </p:txEl>
                                          </p:spTgt>
                                        </p:tgtEl>
                                        <p:attrNameLst>
                                          <p:attrName>style.visibility</p:attrName>
                                        </p:attrNameLst>
                                      </p:cBhvr>
                                      <p:to>
                                        <p:strVal val="visible"/>
                                      </p:to>
                                    </p:set>
                                    <p:animEffect transition="in" filter="fade">
                                      <p:cBhvr>
                                        <p:cTn id="7" dur="500"/>
                                        <p:tgtEl>
                                          <p:spTgt spid="9">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Artificial neural networks</a:t>
            </a:r>
          </a:p>
          <a:p>
            <a:endParaRPr lang="en-GB" sz="1800" dirty="0"/>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8"/>
          <p:cNvSpPr txBox="1"/>
          <p:nvPr/>
        </p:nvSpPr>
        <p:spPr>
          <a:xfrm>
            <a:off x="1055440" y="1196752"/>
            <a:ext cx="9505057"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sng" strike="noStrike" kern="1200" cap="none" spc="0" normalizeH="0" baseline="0" noProof="0" dirty="0">
                <a:ln>
                  <a:noFill/>
                </a:ln>
                <a:solidFill>
                  <a:prstClr val="black"/>
                </a:solidFill>
                <a:effectLst/>
                <a:uLnTx/>
                <a:uFillTx/>
                <a:latin typeface="Calibri"/>
                <a:ea typeface="+mn-ea"/>
                <a:cs typeface="+mn-cs"/>
              </a:rPr>
              <a:t>Types</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1055440" y="1566085"/>
            <a:ext cx="9505057" cy="4247317"/>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ANNs come in many different types: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Shallow and deep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MultiLayer</a:t>
            </a:r>
            <a:r>
              <a:rPr kumimoji="0" lang="en-GB" sz="1800" b="0" i="0" u="none" strike="noStrike" kern="1200" cap="none" spc="0" normalizeH="0" baseline="0" noProof="0" dirty="0">
                <a:ln>
                  <a:noFill/>
                </a:ln>
                <a:solidFill>
                  <a:prstClr val="black"/>
                </a:solidFill>
                <a:effectLst/>
                <a:uLnTx/>
                <a:uFillTx/>
                <a:latin typeface="Calibri"/>
                <a:ea typeface="+mn-ea"/>
                <a:cs typeface="+mn-cs"/>
              </a:rPr>
              <a:t>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Perceptrons</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Convolution neural nets (e.g. computer vision)</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Recurrent Neural networks (e.g. text, speech)</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pic>
        <p:nvPicPr>
          <p:cNvPr id="17" name="Picture 16" descr="Screen Clippi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00925" y="1632907"/>
            <a:ext cx="4371975" cy="1491922"/>
          </a:xfrm>
          <a:prstGeom prst="rect">
            <a:avLst/>
          </a:prstGeom>
        </p:spPr>
      </p:pic>
      <p:pic>
        <p:nvPicPr>
          <p:cNvPr id="7" name="Picture 6">
            <a:extLst>
              <a:ext uri="{FF2B5EF4-FFF2-40B4-BE49-F238E27FC236}">
                <a16:creationId xmlns:a16="http://schemas.microsoft.com/office/drawing/2014/main" id="{5F9DA8C8-5E55-3E5D-5B6A-1A159F6CB415}"/>
              </a:ext>
            </a:extLst>
          </p:cNvPr>
          <p:cNvPicPr>
            <a:picLocks noChangeAspect="1"/>
          </p:cNvPicPr>
          <p:nvPr/>
        </p:nvPicPr>
        <p:blipFill>
          <a:blip r:embed="rId4"/>
          <a:stretch>
            <a:fillRect/>
          </a:stretch>
        </p:blipFill>
        <p:spPr>
          <a:xfrm>
            <a:off x="7591425" y="4969662"/>
            <a:ext cx="3867150" cy="1678411"/>
          </a:xfrm>
          <a:prstGeom prst="rect">
            <a:avLst/>
          </a:prstGeom>
        </p:spPr>
      </p:pic>
      <p:pic>
        <p:nvPicPr>
          <p:cNvPr id="8" name="Picture 7">
            <a:extLst>
              <a:ext uri="{FF2B5EF4-FFF2-40B4-BE49-F238E27FC236}">
                <a16:creationId xmlns:a16="http://schemas.microsoft.com/office/drawing/2014/main" id="{380D2102-BF54-CA9B-CAE0-01AA59C0B947}"/>
              </a:ext>
            </a:extLst>
          </p:cNvPr>
          <p:cNvPicPr>
            <a:picLocks noChangeAspect="1"/>
          </p:cNvPicPr>
          <p:nvPr/>
        </p:nvPicPr>
        <p:blipFill rotWithShape="1">
          <a:blip r:embed="rId5"/>
          <a:srcRect l="3118" t="11121" r="2913" b="12395"/>
          <a:stretch/>
        </p:blipFill>
        <p:spPr>
          <a:xfrm>
            <a:off x="7467601" y="3425824"/>
            <a:ext cx="4399894" cy="1372961"/>
          </a:xfrm>
          <a:prstGeom prst="rect">
            <a:avLst/>
          </a:prstGeom>
        </p:spPr>
      </p:pic>
      <p:sp>
        <p:nvSpPr>
          <p:cNvPr id="11" name="Line 2">
            <a:extLst>
              <a:ext uri="{FF2B5EF4-FFF2-40B4-BE49-F238E27FC236}">
                <a16:creationId xmlns:a16="http://schemas.microsoft.com/office/drawing/2014/main" id="{C32601B2-613F-F4FC-1301-3C48B73C9EC5}"/>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2" name="Line 2">
            <a:extLst>
              <a:ext uri="{FF2B5EF4-FFF2-40B4-BE49-F238E27FC236}">
                <a16:creationId xmlns:a16="http://schemas.microsoft.com/office/drawing/2014/main" id="{0FD332EA-0ABA-8C33-7664-70A9811592CE}"/>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227302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659FD-F613-2EB7-C3EA-06025CD4D3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A20381-E1C0-9F56-35CF-BE0909AC17BB}"/>
              </a:ext>
            </a:extLst>
          </p:cNvPr>
          <p:cNvSpPr>
            <a:spLocks noGrp="1"/>
          </p:cNvSpPr>
          <p:nvPr>
            <p:ph type="title"/>
          </p:nvPr>
        </p:nvSpPr>
        <p:spPr/>
        <p:txBody>
          <a:bodyPr/>
          <a:lstStyle/>
          <a:p>
            <a:r>
              <a:rPr lang="en-GB" dirty="0"/>
              <a:t>Artificial neural networks</a:t>
            </a:r>
          </a:p>
          <a:p>
            <a:endParaRPr lang="en-GB" sz="1800" dirty="0"/>
          </a:p>
        </p:txBody>
      </p:sp>
      <p:sp>
        <p:nvSpPr>
          <p:cNvPr id="5" name="AutoShape 2" descr="Image result for zip file icon">
            <a:extLst>
              <a:ext uri="{FF2B5EF4-FFF2-40B4-BE49-F238E27FC236}">
                <a16:creationId xmlns:a16="http://schemas.microsoft.com/office/drawing/2014/main" id="{E85C5260-A329-F73B-331E-D0960EF41F39}"/>
              </a:ext>
            </a:extLst>
          </p:cNvPr>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a:extLst>
              <a:ext uri="{FF2B5EF4-FFF2-40B4-BE49-F238E27FC236}">
                <a16:creationId xmlns:a16="http://schemas.microsoft.com/office/drawing/2014/main" id="{4F8800E5-6B2A-AAB8-804B-91A552D0CA5B}"/>
              </a:ext>
            </a:extLst>
          </p:cNvPr>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TextBox 8">
            <a:extLst>
              <a:ext uri="{FF2B5EF4-FFF2-40B4-BE49-F238E27FC236}">
                <a16:creationId xmlns:a16="http://schemas.microsoft.com/office/drawing/2014/main" id="{C1F87139-8508-8CF5-32B4-D3F2A1D76D08}"/>
              </a:ext>
            </a:extLst>
          </p:cNvPr>
          <p:cNvSpPr txBox="1"/>
          <p:nvPr/>
        </p:nvSpPr>
        <p:spPr>
          <a:xfrm>
            <a:off x="1055440" y="1196752"/>
            <a:ext cx="9505057"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sng" strike="noStrike" kern="1200" cap="none" spc="0" normalizeH="0" baseline="0" noProof="0" dirty="0">
                <a:ln>
                  <a:noFill/>
                </a:ln>
                <a:solidFill>
                  <a:prstClr val="black"/>
                </a:solidFill>
                <a:effectLst/>
                <a:uLnTx/>
                <a:uFillTx/>
                <a:latin typeface="Calibri"/>
                <a:ea typeface="+mn-ea"/>
                <a:cs typeface="+mn-cs"/>
              </a:rPr>
              <a:t>Types</a:t>
            </a:r>
          </a:p>
        </p:txBody>
      </p:sp>
      <p:sp>
        <p:nvSpPr>
          <p:cNvPr id="4" name="Slide Number Placeholder 3">
            <a:extLst>
              <a:ext uri="{FF2B5EF4-FFF2-40B4-BE49-F238E27FC236}">
                <a16:creationId xmlns:a16="http://schemas.microsoft.com/office/drawing/2014/main" id="{8216CBFF-0A36-32CD-99D9-7AE9511F6E6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a:extLst>
              <a:ext uri="{FF2B5EF4-FFF2-40B4-BE49-F238E27FC236}">
                <a16:creationId xmlns:a16="http://schemas.microsoft.com/office/drawing/2014/main" id="{DC4654DC-DDC6-2854-D1F2-BF94052CE0C8}"/>
              </a:ext>
            </a:extLst>
          </p:cNvPr>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a:extLst>
              <a:ext uri="{FF2B5EF4-FFF2-40B4-BE49-F238E27FC236}">
                <a16:creationId xmlns:a16="http://schemas.microsoft.com/office/drawing/2014/main" id="{7AADF525-5780-2C93-D35F-AED244B34157}"/>
              </a:ext>
            </a:extLst>
          </p:cNvPr>
          <p:cNvSpPr txBox="1"/>
          <p:nvPr/>
        </p:nvSpPr>
        <p:spPr>
          <a:xfrm>
            <a:off x="1055440" y="1566085"/>
            <a:ext cx="9505057" cy="3693319"/>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ANNs come in many different types: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Transformers and attention layers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1" name="Line 2">
            <a:extLst>
              <a:ext uri="{FF2B5EF4-FFF2-40B4-BE49-F238E27FC236}">
                <a16:creationId xmlns:a16="http://schemas.microsoft.com/office/drawing/2014/main" id="{58FDE910-6991-C466-2AD5-58DD37C64A72}"/>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2" name="Line 2">
            <a:extLst>
              <a:ext uri="{FF2B5EF4-FFF2-40B4-BE49-F238E27FC236}">
                <a16:creationId xmlns:a16="http://schemas.microsoft.com/office/drawing/2014/main" id="{1EAB550B-ED74-99A1-8711-3403EC0021A5}"/>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pic>
        <p:nvPicPr>
          <p:cNvPr id="14" name="Picture 13">
            <a:extLst>
              <a:ext uri="{FF2B5EF4-FFF2-40B4-BE49-F238E27FC236}">
                <a16:creationId xmlns:a16="http://schemas.microsoft.com/office/drawing/2014/main" id="{CC69EBB0-E416-9B28-6CBA-E174F008E336}"/>
              </a:ext>
            </a:extLst>
          </p:cNvPr>
          <p:cNvPicPr>
            <a:picLocks noChangeAspect="1"/>
          </p:cNvPicPr>
          <p:nvPr/>
        </p:nvPicPr>
        <p:blipFill>
          <a:blip r:embed="rId3"/>
          <a:stretch>
            <a:fillRect/>
          </a:stretch>
        </p:blipFill>
        <p:spPr>
          <a:xfrm>
            <a:off x="4851457" y="2437819"/>
            <a:ext cx="5823631" cy="3783206"/>
          </a:xfrm>
          <a:prstGeom prst="rect">
            <a:avLst/>
          </a:prstGeom>
        </p:spPr>
      </p:pic>
      <p:pic>
        <p:nvPicPr>
          <p:cNvPr id="16" name="Picture 15">
            <a:extLst>
              <a:ext uri="{FF2B5EF4-FFF2-40B4-BE49-F238E27FC236}">
                <a16:creationId xmlns:a16="http://schemas.microsoft.com/office/drawing/2014/main" id="{09EFD335-156A-F3E7-79F8-75D08040AC3E}"/>
              </a:ext>
            </a:extLst>
          </p:cNvPr>
          <p:cNvPicPr>
            <a:picLocks noChangeAspect="1"/>
          </p:cNvPicPr>
          <p:nvPr/>
        </p:nvPicPr>
        <p:blipFill>
          <a:blip r:embed="rId4"/>
          <a:stretch>
            <a:fillRect/>
          </a:stretch>
        </p:blipFill>
        <p:spPr>
          <a:xfrm>
            <a:off x="1200622" y="2437819"/>
            <a:ext cx="3324495" cy="3799423"/>
          </a:xfrm>
          <a:prstGeom prst="rect">
            <a:avLst/>
          </a:prstGeom>
        </p:spPr>
      </p:pic>
    </p:spTree>
    <p:extLst>
      <p:ext uri="{BB962C8B-B14F-4D97-AF65-F5344CB8AC3E}">
        <p14:creationId xmlns:p14="http://schemas.microsoft.com/office/powerpoint/2010/main" val="29300830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6466730"/>
          </a:xfrm>
        </p:spPr>
        <p:txBody>
          <a:bodyPr/>
          <a:lstStyle/>
          <a:p>
            <a:r>
              <a:rPr lang="en-GB" sz="4000" dirty="0"/>
              <a:t>Training ANNs</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nl-NL"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500665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Content Placeholder 2"/>
          <p:cNvSpPr>
            <a:spLocks noGrp="1"/>
          </p:cNvSpPr>
          <p:nvPr>
            <p:ph idx="1"/>
          </p:nvPr>
        </p:nvSpPr>
        <p:spPr>
          <a:xfrm>
            <a:off x="720000" y="1268760"/>
            <a:ext cx="11017224" cy="5400600"/>
          </a:xfrm>
        </p:spPr>
        <p:txBody>
          <a:bodyPr>
            <a:normAutofit/>
          </a:bodyPr>
          <a:lstStyle/>
          <a:p>
            <a:pPr marL="360363" lvl="1" indent="-360363">
              <a:buFont typeface="Arial" panose="020B0604020202020204" pitchFamily="34" charset="0"/>
              <a:buChar char="•"/>
              <a:tabLst>
                <a:tab pos="3138488" algn="l"/>
              </a:tabLst>
            </a:pPr>
            <a:r>
              <a:rPr lang="en-GB" sz="1800" b="1" dirty="0"/>
              <a:t>Training ANNs is nontrivial</a:t>
            </a:r>
          </a:p>
          <a:p>
            <a:pPr marL="360363" lvl="1" indent="-360363">
              <a:buFont typeface="Arial" panose="020B0604020202020204" pitchFamily="34" charset="0"/>
              <a:buChar char="•"/>
              <a:tabLst>
                <a:tab pos="3138488" algn="l"/>
              </a:tabLst>
            </a:pPr>
            <a:endParaRPr lang="en-GB" sz="1800" dirty="0"/>
          </a:p>
          <a:p>
            <a:pPr marL="360363" lvl="1" indent="-360363">
              <a:buFont typeface="Arial" panose="020B0604020202020204" pitchFamily="34" charset="0"/>
              <a:buChar char="•"/>
              <a:tabLst>
                <a:tab pos="3138488" algn="l"/>
              </a:tabLst>
            </a:pPr>
            <a:r>
              <a:rPr lang="en-GB" sz="1800" dirty="0"/>
              <a:t>Before we can train an ANN, we must </a:t>
            </a:r>
            <a:r>
              <a:rPr lang="en-GB" sz="1800" b="1" dirty="0"/>
              <a:t>pre-process</a:t>
            </a:r>
            <a:r>
              <a:rPr lang="en-GB" sz="1800" dirty="0"/>
              <a:t> our data</a:t>
            </a:r>
          </a:p>
          <a:p>
            <a:pPr marL="360363" lvl="1" indent="-360363">
              <a:buFont typeface="Arial" panose="020B0604020202020204" pitchFamily="34" charset="0"/>
              <a:buChar char="•"/>
              <a:tabLst>
                <a:tab pos="3138488" algn="l"/>
              </a:tabLst>
            </a:pPr>
            <a:endParaRPr lang="en-GB" dirty="0"/>
          </a:p>
          <a:p>
            <a:pPr marL="360363" lvl="1" indent="-360363">
              <a:buFont typeface="Arial" panose="020B0604020202020204" pitchFamily="34" charset="0"/>
              <a:buChar char="•"/>
              <a:tabLst>
                <a:tab pos="3138488" algn="l"/>
              </a:tabLst>
            </a:pPr>
            <a:r>
              <a:rPr lang="en-GB" b="1" dirty="0"/>
              <a:t>Pre-processing </a:t>
            </a:r>
            <a:r>
              <a:rPr lang="en-GB" dirty="0"/>
              <a:t>makes </a:t>
            </a:r>
            <a:r>
              <a:rPr lang="en-GB" sz="1800" dirty="0"/>
              <a:t>training ANNs more </a:t>
            </a:r>
            <a:r>
              <a:rPr lang="en-GB" sz="1800" b="1" dirty="0"/>
              <a:t>efficiently</a:t>
            </a:r>
          </a:p>
          <a:p>
            <a:pPr marL="760413" lvl="2" indent="-360363">
              <a:buFont typeface="Wingdings" panose="05000000000000000000" pitchFamily="2" charset="2"/>
              <a:buChar char="Ø"/>
              <a:tabLst>
                <a:tab pos="3138488" algn="l"/>
              </a:tabLst>
            </a:pPr>
            <a:r>
              <a:rPr lang="en-GB" dirty="0"/>
              <a:t>Efficiently here refers to finding a better solution with the same amount of data</a:t>
            </a:r>
          </a:p>
          <a:p>
            <a:pPr marL="760413" lvl="2" indent="-360363">
              <a:buFont typeface="+mj-lt"/>
              <a:buAutoNum type="arabicPeriod"/>
              <a:tabLst>
                <a:tab pos="3138488" algn="l"/>
              </a:tabLst>
            </a:pPr>
            <a:endParaRPr lang="en-GB" b="1" dirty="0"/>
          </a:p>
          <a:p>
            <a:pPr marL="1217613" lvl="3" indent="-360363">
              <a:buFont typeface="+mj-lt"/>
              <a:buAutoNum type="arabicPeriod"/>
              <a:tabLst>
                <a:tab pos="3138488" algn="l"/>
              </a:tabLst>
            </a:pPr>
            <a:r>
              <a:rPr lang="en-GB" b="1" dirty="0"/>
              <a:t>Features must be scaled</a:t>
            </a:r>
            <a:endParaRPr lang="en-GB" dirty="0"/>
          </a:p>
          <a:p>
            <a:pPr marL="1217613" lvl="3" indent="-360363">
              <a:buFont typeface="+mj-lt"/>
              <a:buAutoNum type="arabicPeriod"/>
              <a:tabLst>
                <a:tab pos="3138488" algn="l"/>
              </a:tabLst>
            </a:pPr>
            <a:endParaRPr lang="en-GB" b="1" dirty="0"/>
          </a:p>
          <a:p>
            <a:pPr marL="1217613" lvl="3" indent="-360363">
              <a:buFont typeface="+mj-lt"/>
              <a:buAutoNum type="arabicPeriod"/>
              <a:tabLst>
                <a:tab pos="3138488" algn="l"/>
              </a:tabLst>
            </a:pPr>
            <a:r>
              <a:rPr lang="en-GB" b="1" dirty="0"/>
              <a:t>Categorical features must be dummy encoded</a:t>
            </a:r>
          </a:p>
          <a:p>
            <a:pPr marL="1217613" lvl="3" indent="-360363">
              <a:buFont typeface="+mj-lt"/>
              <a:buAutoNum type="arabicPeriod"/>
              <a:tabLst>
                <a:tab pos="3138488" algn="l"/>
              </a:tabLst>
            </a:pPr>
            <a:endParaRPr lang="en-GB" b="1" dirty="0"/>
          </a:p>
          <a:p>
            <a:pPr marL="1217613" lvl="3" indent="-360363">
              <a:buFont typeface="+mj-lt"/>
              <a:buAutoNum type="arabicPeriod"/>
              <a:tabLst>
                <a:tab pos="3138488" algn="l"/>
              </a:tabLst>
            </a:pPr>
            <a:r>
              <a:rPr lang="en-GB" b="1" dirty="0"/>
              <a:t>Missing values must be handled</a:t>
            </a:r>
            <a:endParaRPr lang="en-GB" dirty="0"/>
          </a:p>
        </p:txBody>
      </p:sp>
      <p:sp>
        <p:nvSpPr>
          <p:cNvPr id="6" name="Title 1"/>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2" name="Right Brace 1">
            <a:extLst>
              <a:ext uri="{FF2B5EF4-FFF2-40B4-BE49-F238E27FC236}">
                <a16:creationId xmlns:a16="http://schemas.microsoft.com/office/drawing/2014/main" id="{F86190AF-2C65-CF34-82F7-49687212CF7F}"/>
              </a:ext>
            </a:extLst>
          </p:cNvPr>
          <p:cNvSpPr/>
          <p:nvPr/>
        </p:nvSpPr>
        <p:spPr>
          <a:xfrm>
            <a:off x="6456891" y="3979327"/>
            <a:ext cx="346509" cy="104915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NL"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3FD8C99E-03E2-F5D4-3DF6-8144846B8DA9}"/>
              </a:ext>
            </a:extLst>
          </p:cNvPr>
          <p:cNvSpPr txBox="1"/>
          <p:nvPr/>
        </p:nvSpPr>
        <p:spPr>
          <a:xfrm>
            <a:off x="7255788" y="4181457"/>
            <a:ext cx="2675823" cy="940870"/>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US"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Just like in case of traditional choice models</a:t>
            </a: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US"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NL"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7" name="Line 2">
            <a:extLst>
              <a:ext uri="{FF2B5EF4-FFF2-40B4-BE49-F238E27FC236}">
                <a16:creationId xmlns:a16="http://schemas.microsoft.com/office/drawing/2014/main" id="{F7B2907E-061E-DA22-E4D7-9B55C691573D}"/>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8" name="Line 2">
            <a:extLst>
              <a:ext uri="{FF2B5EF4-FFF2-40B4-BE49-F238E27FC236}">
                <a16:creationId xmlns:a16="http://schemas.microsoft.com/office/drawing/2014/main" id="{DA6E75BF-B99D-96FE-8E20-92985257BC26}"/>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2912631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descr="Screen Clipping">
            <a:extLst>
              <a:ext uri="{FF2B5EF4-FFF2-40B4-BE49-F238E27FC236}">
                <a16:creationId xmlns:a16="http://schemas.microsoft.com/office/drawing/2014/main" id="{7D519E19-022E-F8ED-0573-CFA95DCF3B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17451" y="2992767"/>
            <a:ext cx="5805687" cy="1799591"/>
          </a:xfrm>
          <a:prstGeom prst="rect">
            <a:avLst/>
          </a:prstGeom>
          <a:ln>
            <a:noFill/>
          </a:ln>
          <a:effectLst>
            <a:outerShdw blurRad="292100" dist="139700" dir="2700000" algn="tl" rotWithShape="0">
              <a:srgbClr val="333333">
                <a:alpha val="65000"/>
              </a:srgbClr>
            </a:outerShdw>
          </a:effectLst>
        </p:spPr>
      </p:pic>
      <p:pic>
        <p:nvPicPr>
          <p:cNvPr id="18" name="Picture 17" descr="Screen Clipping">
            <a:extLst>
              <a:ext uri="{FF2B5EF4-FFF2-40B4-BE49-F238E27FC236}">
                <a16:creationId xmlns:a16="http://schemas.microsoft.com/office/drawing/2014/main" id="{F6D57E0D-0123-2A36-0835-1BA12FC199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517451" y="5056437"/>
            <a:ext cx="5804325" cy="1695267"/>
          </a:xfrm>
          <a:prstGeom prst="rect">
            <a:avLst/>
          </a:prstGeom>
          <a:ln>
            <a:noFill/>
          </a:ln>
          <a:effectLst>
            <a:outerShdw blurRad="292100" dist="139700" dir="2700000" algn="tl" rotWithShape="0">
              <a:srgbClr val="333333">
                <a:alpha val="65000"/>
              </a:srgbClr>
            </a:outerShdw>
          </a:effectLst>
        </p:spPr>
      </p:pic>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16" name="Picture 15"/>
          <p:cNvPicPr>
            <a:picLocks noChangeAspect="1"/>
          </p:cNvPicPr>
          <p:nvPr/>
        </p:nvPicPr>
        <p:blipFill rotWithShape="1">
          <a:blip r:embed="rId5">
            <a:extLst>
              <a:ext uri="{28A0092B-C50C-407E-A947-70E740481C1C}">
                <a14:useLocalDpi xmlns:a14="http://schemas.microsoft.com/office/drawing/2010/main" val="0"/>
              </a:ext>
            </a:extLst>
          </a:blip>
          <a:srcRect b="51237"/>
          <a:stretch/>
        </p:blipFill>
        <p:spPr>
          <a:xfrm>
            <a:off x="7644007" y="2992914"/>
            <a:ext cx="1762413" cy="1743472"/>
          </a:xfrm>
          <a:prstGeom prst="rect">
            <a:avLst/>
          </a:prstGeom>
          <a:ln>
            <a:noFill/>
          </a:ln>
          <a:effectLst>
            <a:outerShdw blurRad="190500" dist="63500" dir="2700000" sx="95000" sy="95000" algn="tl" rotWithShape="0">
              <a:srgbClr val="333333">
                <a:alpha val="20000"/>
              </a:srgbClr>
            </a:outerShdw>
          </a:effectLst>
        </p:spPr>
      </p:pic>
      <p:sp>
        <p:nvSpPr>
          <p:cNvPr id="11" name="Content Placeholder 2"/>
          <p:cNvSpPr txBox="1">
            <a:spLocks/>
          </p:cNvSpPr>
          <p:nvPr/>
        </p:nvSpPr>
        <p:spPr>
          <a:xfrm>
            <a:off x="720000" y="1268760"/>
            <a:ext cx="11017224" cy="174347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Scaling</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greatly reduces the likelihood of getting stuck in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poor local solutions</a:t>
            </a: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err="1">
                <a:ln>
                  <a:noFill/>
                </a:ln>
                <a:solidFill>
                  <a:prstClr val="black"/>
                </a:solidFill>
                <a:effectLst/>
                <a:uLnTx/>
                <a:uFillTx/>
                <a:latin typeface="Calibri" panose="020F0502020204030204"/>
                <a:ea typeface="+mn-ea"/>
                <a:cs typeface="+mn-cs"/>
              </a:rPr>
              <a:t>SciKit-learn’s</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GB" sz="1800" b="1" i="0" u="none" strike="noStrike" kern="1200" cap="none" spc="0" normalizeH="0" baseline="0" noProof="0" dirty="0" err="1">
                <a:ln>
                  <a:noFill/>
                </a:ln>
                <a:solidFill>
                  <a:prstClr val="black"/>
                </a:solidFill>
                <a:effectLst/>
                <a:uLnTx/>
                <a:uFillTx/>
                <a:latin typeface="Calibri" panose="020F0502020204030204"/>
                <a:ea typeface="+mn-ea"/>
                <a:cs typeface="+mn-cs"/>
              </a:rPr>
              <a:t>StandardScaler</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is a commonly used scaler, which shifts the mean of each feature to zero and its standard deviation to 1</a:t>
            </a:r>
          </a:p>
        </p:txBody>
      </p:sp>
      <p:sp>
        <p:nvSpPr>
          <p:cNvPr id="3" name="Rectangle 2"/>
          <p:cNvSpPr/>
          <p:nvPr/>
        </p:nvSpPr>
        <p:spPr>
          <a:xfrm>
            <a:off x="1559496" y="5657285"/>
            <a:ext cx="5762280" cy="18017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sp>
        <p:nvSpPr>
          <p:cNvPr id="12" name="TextBox 11"/>
          <p:cNvSpPr txBox="1"/>
          <p:nvPr/>
        </p:nvSpPr>
        <p:spPr>
          <a:xfrm>
            <a:off x="47328" y="5183900"/>
            <a:ext cx="1512168" cy="1385762"/>
          </a:xfrm>
          <a:prstGeom prst="rect">
            <a:avLst/>
          </a:prstGeom>
          <a:noFill/>
          <a:ln>
            <a:noFill/>
          </a:ln>
        </p:spPr>
        <p:txBody>
          <a:bodyPr wrap="square" rtlCol="0" anchor="ctr">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GB" sz="1600" b="1" i="0" u="none" strike="noStrike" kern="1200" cap="none" spc="0" normalizeH="0" baseline="0" noProof="0" dirty="0" err="1">
                <a:ln>
                  <a:noFill/>
                </a:ln>
                <a:solidFill>
                  <a:srgbClr val="00B050"/>
                </a:solidFill>
                <a:effectLst/>
                <a:uLnTx/>
                <a:uFillTx/>
                <a:latin typeface="Calibri" panose="020F0502020204030204"/>
                <a:ea typeface="+mn-ea"/>
                <a:cs typeface="+mn-cs"/>
              </a:rPr>
              <a:t>StandardScaler</a:t>
            </a:r>
            <a:endParaRPr kumimoji="0" lang="en-GB" sz="1600" b="1"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sp>
        <p:nvSpPr>
          <p:cNvPr id="14" name="TextBox 13"/>
          <p:cNvSpPr txBox="1"/>
          <p:nvPr/>
        </p:nvSpPr>
        <p:spPr>
          <a:xfrm>
            <a:off x="0" y="3437173"/>
            <a:ext cx="1559496" cy="1304697"/>
          </a:xfrm>
          <a:prstGeom prst="rect">
            <a:avLst/>
          </a:prstGeom>
          <a:noFill/>
          <a:ln>
            <a:noFill/>
          </a:ln>
        </p:spPr>
        <p:txBody>
          <a:bodyPr wrap="square" rtlCol="0" anchor="ctr">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GB" sz="1600" b="1" i="0" u="none" strike="noStrike" kern="1200" cap="none" spc="0" normalizeH="0" baseline="0" noProof="0" dirty="0">
                <a:ln>
                  <a:noFill/>
                </a:ln>
                <a:solidFill>
                  <a:srgbClr val="00B050"/>
                </a:solidFill>
                <a:effectLst/>
                <a:uLnTx/>
                <a:uFillTx/>
                <a:latin typeface="Calibri" panose="020F0502020204030204"/>
                <a:ea typeface="+mn-ea"/>
                <a:cs typeface="+mn-cs"/>
              </a:rPr>
              <a:t>Original data</a:t>
            </a:r>
          </a:p>
        </p:txBody>
      </p:sp>
      <p:cxnSp>
        <p:nvCxnSpPr>
          <p:cNvPr id="5" name="Straight Connector 4">
            <a:extLst>
              <a:ext uri="{FF2B5EF4-FFF2-40B4-BE49-F238E27FC236}">
                <a16:creationId xmlns:a16="http://schemas.microsoft.com/office/drawing/2014/main" id="{7900870A-0BEF-AB98-F30B-F2E19AEF5180}"/>
              </a:ext>
            </a:extLst>
          </p:cNvPr>
          <p:cNvCxnSpPr/>
          <p:nvPr/>
        </p:nvCxnSpPr>
        <p:spPr>
          <a:xfrm>
            <a:off x="1526842" y="4911164"/>
            <a:ext cx="9000000" cy="0"/>
          </a:xfrm>
          <a:prstGeom prst="line">
            <a:avLst/>
          </a:prstGeom>
          <a:ln>
            <a:prstDash val="sysDot"/>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6462CE8-B1EC-6FE6-15B9-35BE22A31B18}"/>
              </a:ext>
            </a:extLst>
          </p:cNvPr>
          <p:cNvCxnSpPr/>
          <p:nvPr/>
        </p:nvCxnSpPr>
        <p:spPr>
          <a:xfrm>
            <a:off x="1526840" y="2949013"/>
            <a:ext cx="9000000" cy="0"/>
          </a:xfrm>
          <a:prstGeom prst="line">
            <a:avLst/>
          </a:prstGeom>
          <a:ln>
            <a:prstDash val="sysDot"/>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5C8A7FC-0BB9-4040-9A6C-EA7D841D7504}"/>
              </a:ext>
            </a:extLst>
          </p:cNvPr>
          <p:cNvCxnSpPr/>
          <p:nvPr/>
        </p:nvCxnSpPr>
        <p:spPr>
          <a:xfrm>
            <a:off x="1518676" y="6798262"/>
            <a:ext cx="9000000" cy="0"/>
          </a:xfrm>
          <a:prstGeom prst="line">
            <a:avLst/>
          </a:prstGeom>
          <a:ln>
            <a:prstDash val="sysDot"/>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C951CE58-48A3-6BD6-8E22-6F03E4128D3B}"/>
              </a:ext>
            </a:extLst>
          </p:cNvPr>
          <p:cNvPicPr>
            <a:picLocks noChangeAspect="1"/>
          </p:cNvPicPr>
          <p:nvPr/>
        </p:nvPicPr>
        <p:blipFill rotWithShape="1">
          <a:blip r:embed="rId5">
            <a:extLst>
              <a:ext uri="{28A0092B-C50C-407E-A947-70E740481C1C}">
                <a14:useLocalDpi xmlns:a14="http://schemas.microsoft.com/office/drawing/2010/main" val="0"/>
              </a:ext>
            </a:extLst>
          </a:blip>
          <a:srcRect t="50694"/>
          <a:stretch/>
        </p:blipFill>
        <p:spPr>
          <a:xfrm>
            <a:off x="7644008" y="5051710"/>
            <a:ext cx="1762413" cy="1762880"/>
          </a:xfrm>
          <a:prstGeom prst="rect">
            <a:avLst/>
          </a:prstGeom>
          <a:ln>
            <a:noFill/>
          </a:ln>
          <a:effectLst>
            <a:outerShdw blurRad="190500" dist="63500" dir="2700000" sx="95000" sy="95000" algn="tl" rotWithShape="0">
              <a:srgbClr val="333333">
                <a:alpha val="20000"/>
              </a:srgbClr>
            </a:outerShdw>
          </a:effectLst>
        </p:spPr>
      </p:pic>
      <p:sp>
        <p:nvSpPr>
          <p:cNvPr id="2" name="TextBox 1">
            <a:extLst>
              <a:ext uri="{FF2B5EF4-FFF2-40B4-BE49-F238E27FC236}">
                <a16:creationId xmlns:a16="http://schemas.microsoft.com/office/drawing/2014/main" id="{82F4A968-879D-16D3-8321-9F8F3DD4C5EF}"/>
              </a:ext>
            </a:extLst>
          </p:cNvPr>
          <p:cNvSpPr txBox="1"/>
          <p:nvPr/>
        </p:nvSpPr>
        <p:spPr>
          <a:xfrm>
            <a:off x="10057868" y="3235462"/>
            <a:ext cx="1923454" cy="1387698"/>
          </a:xfrm>
          <a:prstGeom prst="rect">
            <a:avLst/>
          </a:prstGeom>
          <a:solidFill>
            <a:schemeClr val="accent4">
              <a:lumMod val="20000"/>
              <a:lumOff val="80000"/>
            </a:schemeClr>
          </a:solidFill>
          <a:ln>
            <a:solidFill>
              <a:srgbClr val="24B5B3"/>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mn-cs"/>
              </a:rPr>
              <a:t>Important: always use </a:t>
            </a:r>
            <a:r>
              <a:rPr kumimoji="0" lang="en-GB" sz="1800" b="1" i="0" u="none" strike="noStrike" kern="1200" cap="none" spc="0" normalizeH="0" baseline="0" noProof="0" dirty="0">
                <a:ln>
                  <a:noFill/>
                </a:ln>
                <a:solidFill>
                  <a:srgbClr val="24B5B3"/>
                </a:solidFill>
                <a:effectLst/>
                <a:uLnTx/>
                <a:uFillTx/>
                <a:latin typeface="Calibri" panose="020F0502020204030204"/>
                <a:ea typeface="+mn-ea"/>
                <a:cs typeface="+mn-cs"/>
              </a:rPr>
              <a:t>the same </a:t>
            </a: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mn-cs"/>
              </a:rPr>
              <a:t>scaler for the train and test data!</a:t>
            </a:r>
          </a:p>
        </p:txBody>
      </p:sp>
      <p:sp>
        <p:nvSpPr>
          <p:cNvPr id="13" name="Title 1">
            <a:extLst>
              <a:ext uri="{FF2B5EF4-FFF2-40B4-BE49-F238E27FC236}">
                <a16:creationId xmlns:a16="http://schemas.microsoft.com/office/drawing/2014/main" id="{FC59C73A-A1E3-2B37-2D17-AD97DE60B257}"/>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9" name="Line 2">
            <a:extLst>
              <a:ext uri="{FF2B5EF4-FFF2-40B4-BE49-F238E27FC236}">
                <a16:creationId xmlns:a16="http://schemas.microsoft.com/office/drawing/2014/main" id="{20E74320-51DA-A9CB-B25E-7DF5FE6A24B8}"/>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20" name="Line 2">
            <a:extLst>
              <a:ext uri="{FF2B5EF4-FFF2-40B4-BE49-F238E27FC236}">
                <a16:creationId xmlns:a16="http://schemas.microsoft.com/office/drawing/2014/main" id="{ABBD5855-08C7-83B1-C1C0-CADE8ECDBEE6}"/>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5125803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p:cNvSpPr/>
          <p:nvPr/>
        </p:nvSpPr>
        <p:spPr>
          <a:xfrm>
            <a:off x="8265521" y="1988840"/>
            <a:ext cx="3807143" cy="2016224"/>
          </a:xfrm>
          <a:prstGeom prst="roundRect">
            <a:avLst/>
          </a:prstGeom>
          <a:solidFill>
            <a:schemeClr val="accent1">
              <a:lumMod val="20000"/>
              <a:lumOff val="80000"/>
            </a:schemeClr>
          </a:solidFill>
          <a:ln w="9525">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DE7A00"/>
              </a:solidFill>
              <a:effectLst/>
              <a:uLnTx/>
              <a:uFillTx/>
              <a:latin typeface="Calibri" panose="020F0502020204030204"/>
              <a:ea typeface="+mn-ea"/>
              <a:cs typeface="+mn-cs"/>
            </a:endParaRPr>
          </a:p>
        </p:txBody>
      </p:sp>
      <p:sp>
        <p:nvSpPr>
          <p:cNvPr id="5" name="Content Placeholder 2"/>
          <p:cNvSpPr>
            <a:spLocks noGrp="1"/>
          </p:cNvSpPr>
          <p:nvPr>
            <p:ph idx="1"/>
          </p:nvPr>
        </p:nvSpPr>
        <p:spPr>
          <a:xfrm>
            <a:off x="720000" y="1268760"/>
            <a:ext cx="7290703" cy="5400600"/>
          </a:xfrm>
        </p:spPr>
        <p:txBody>
          <a:bodyPr>
            <a:noAutofit/>
          </a:bodyPr>
          <a:lstStyle/>
          <a:p>
            <a:pPr marL="360363" lvl="1" indent="-360363">
              <a:buFont typeface="Arial" panose="020B0604020202020204" pitchFamily="34" charset="0"/>
              <a:buChar char="•"/>
              <a:tabLst>
                <a:tab pos="3138488" algn="l"/>
              </a:tabLst>
            </a:pPr>
            <a:r>
              <a:rPr lang="en-GB" dirty="0"/>
              <a:t>Training ANNs involves finding the weights </a:t>
            </a:r>
            <a:r>
              <a:rPr lang="en-GB" i="1" dirty="0"/>
              <a:t>w</a:t>
            </a:r>
            <a:r>
              <a:rPr lang="en-GB" dirty="0"/>
              <a:t> that </a:t>
            </a:r>
            <a:r>
              <a:rPr lang="en-GB" b="1" dirty="0"/>
              <a:t>minimise</a:t>
            </a:r>
            <a:r>
              <a:rPr lang="en-GB" dirty="0"/>
              <a:t> the </a:t>
            </a:r>
            <a:r>
              <a:rPr lang="en-GB" b="1" dirty="0"/>
              <a:t>loss function</a:t>
            </a:r>
            <a:endParaRPr lang="en-GB" dirty="0"/>
          </a:p>
          <a:p>
            <a:pPr marL="360363" lvl="1" indent="-360363">
              <a:buFont typeface="Arial" panose="020B0604020202020204" pitchFamily="34" charset="0"/>
              <a:buChar char="•"/>
              <a:tabLst>
                <a:tab pos="3138488" algn="l"/>
              </a:tabLst>
            </a:pPr>
            <a:endParaRPr lang="en-GB" dirty="0"/>
          </a:p>
          <a:p>
            <a:pPr marL="360363" lvl="1" indent="-360363">
              <a:buFont typeface="Arial" panose="020B0604020202020204" pitchFamily="34" charset="0"/>
              <a:buChar char="•"/>
              <a:tabLst>
                <a:tab pos="3138488" algn="l"/>
              </a:tabLst>
            </a:pPr>
            <a:endParaRPr lang="en-GB" dirty="0"/>
          </a:p>
          <a:p>
            <a:pPr marL="360363" lvl="1" indent="-360363">
              <a:buFont typeface="Arial" panose="020B0604020202020204" pitchFamily="34" charset="0"/>
              <a:buChar char="•"/>
              <a:tabLst>
                <a:tab pos="3138488" algn="l"/>
              </a:tabLst>
            </a:pPr>
            <a:endParaRPr lang="en-GB" dirty="0"/>
          </a:p>
          <a:p>
            <a:pPr marL="360363" lvl="1" indent="-360363">
              <a:buFont typeface="Arial" panose="020B0604020202020204" pitchFamily="34" charset="0"/>
              <a:buChar char="•"/>
              <a:tabLst>
                <a:tab pos="3138488" algn="l"/>
              </a:tabLst>
            </a:pPr>
            <a:endParaRPr lang="en-GB" dirty="0"/>
          </a:p>
          <a:p>
            <a:pPr marL="360363" lvl="1" indent="-360363">
              <a:buFont typeface="Arial" panose="020B0604020202020204" pitchFamily="34" charset="0"/>
              <a:buChar char="•"/>
              <a:tabLst>
                <a:tab pos="3138488" algn="l"/>
              </a:tabLst>
            </a:pPr>
            <a:r>
              <a:rPr lang="en-GB" dirty="0"/>
              <a:t>Mathematically training an ANN is an </a:t>
            </a:r>
            <a:r>
              <a:rPr lang="en-GB" b="1" dirty="0"/>
              <a:t>ill-posed</a:t>
            </a:r>
            <a:r>
              <a:rPr lang="en-GB" dirty="0"/>
              <a:t> problem (“singular”)</a:t>
            </a:r>
          </a:p>
          <a:p>
            <a:pPr marL="360363" lvl="1" indent="-360363">
              <a:buFont typeface="Arial" panose="020B0604020202020204" pitchFamily="34" charset="0"/>
              <a:buChar char="•"/>
              <a:tabLst>
                <a:tab pos="3138488" algn="l"/>
              </a:tabLst>
            </a:pPr>
            <a:endParaRPr lang="en-GB" dirty="0"/>
          </a:p>
          <a:p>
            <a:pPr marL="360363" lvl="1" indent="-360363">
              <a:buFont typeface="Arial" panose="020B0604020202020204" pitchFamily="34" charset="0"/>
              <a:buChar char="•"/>
              <a:tabLst>
                <a:tab pos="3138488" algn="l"/>
              </a:tabLst>
            </a:pPr>
            <a:endParaRPr lang="en-GB" dirty="0"/>
          </a:p>
          <a:p>
            <a:pPr marL="360363" lvl="1" indent="-360363">
              <a:buFont typeface="Arial" panose="020B0604020202020204" pitchFamily="34" charset="0"/>
              <a:buChar char="•"/>
              <a:tabLst>
                <a:tab pos="3138488" algn="l"/>
              </a:tabLst>
            </a:pPr>
            <a:r>
              <a:rPr lang="en-GB" dirty="0"/>
              <a:t>Unlike choice models, ANNs are not uniquely identifiable: i.e., numerous sets of weights give </a:t>
            </a:r>
            <a:r>
              <a:rPr lang="en-GB" b="1" dirty="0"/>
              <a:t>the same output probability distribution </a:t>
            </a:r>
            <a:r>
              <a:rPr lang="en-GB" dirty="0"/>
              <a:t>on any data.</a:t>
            </a:r>
          </a:p>
          <a:p>
            <a:pPr marL="360363" lvl="1" indent="-360363">
              <a:buFont typeface="Arial" panose="020B0604020202020204" pitchFamily="34" charset="0"/>
              <a:buChar char="•"/>
              <a:tabLst>
                <a:tab pos="3138488" algn="l"/>
              </a:tabLst>
            </a:pPr>
            <a:endParaRPr lang="en-US" sz="1700" dirty="0"/>
          </a:p>
          <a:p>
            <a:pPr marL="360363" lvl="1" indent="-360363">
              <a:buFont typeface="Arial" panose="020B0604020202020204" pitchFamily="34" charset="0"/>
              <a:buChar char="•"/>
              <a:tabLst>
                <a:tab pos="3138488" algn="l"/>
              </a:tabLst>
            </a:pPr>
            <a:endParaRPr lang="en-US" sz="1700" dirty="0"/>
          </a:p>
          <a:p>
            <a:pPr marL="360363" lvl="1" indent="-360363">
              <a:buFont typeface="Arial" panose="020B0604020202020204" pitchFamily="34" charset="0"/>
              <a:buChar char="•"/>
              <a:tabLst>
                <a:tab pos="3138488" algn="l"/>
              </a:tabLst>
            </a:pPr>
            <a:endParaRPr lang="en-US" sz="1700" dirty="0"/>
          </a:p>
          <a:p>
            <a:pPr marL="360363" lvl="1" indent="-360363">
              <a:buFont typeface="Arial" panose="020B0604020202020204" pitchFamily="34" charset="0"/>
              <a:buChar char="•"/>
              <a:tabLst>
                <a:tab pos="3138488" algn="l"/>
              </a:tabLst>
            </a:pPr>
            <a:endParaRPr lang="en-US" sz="1700" dirty="0"/>
          </a:p>
          <a:p>
            <a:pPr marL="360363" lvl="1" indent="-360363">
              <a:buFont typeface="Arial" panose="020B0604020202020204" pitchFamily="34" charset="0"/>
              <a:buChar char="•"/>
              <a:tabLst>
                <a:tab pos="3138488" algn="l"/>
              </a:tabLst>
            </a:pPr>
            <a:endParaRPr lang="en-US" sz="1700" dirty="0"/>
          </a:p>
          <a:p>
            <a:pPr marL="360363" lvl="1" indent="-360363">
              <a:buFont typeface="Arial" panose="020B0604020202020204" pitchFamily="34" charset="0"/>
              <a:buChar char="•"/>
              <a:tabLst>
                <a:tab pos="3138488" algn="l"/>
              </a:tabLst>
            </a:pPr>
            <a:endParaRPr lang="en-US" sz="1700" dirty="0"/>
          </a:p>
          <a:p>
            <a:pPr marL="360363" lvl="1" indent="-360363">
              <a:buFont typeface="Arial" panose="020B0604020202020204" pitchFamily="34" charset="0"/>
              <a:buChar char="•"/>
              <a:tabLst>
                <a:tab pos="3138488" algn="l"/>
              </a:tabLst>
            </a:pPr>
            <a:endParaRPr lang="en-GB" sz="1700" dirty="0"/>
          </a:p>
          <a:p>
            <a:endParaRPr lang="en-GB" sz="1700" dirty="0"/>
          </a:p>
          <a:p>
            <a:pPr marL="0" indent="0">
              <a:buNone/>
              <a:tabLst>
                <a:tab pos="361950" algn="l"/>
              </a:tabLst>
            </a:pPr>
            <a:r>
              <a:rPr lang="en-GB" sz="1700" dirty="0"/>
              <a:t>	</a:t>
            </a:r>
          </a:p>
          <a:p>
            <a:pPr marL="0" indent="0">
              <a:buNone/>
              <a:tabLst>
                <a:tab pos="361950" algn="l"/>
              </a:tabLst>
            </a:pPr>
            <a:endParaRPr lang="en-GB" sz="1700" dirty="0"/>
          </a:p>
          <a:p>
            <a:pPr marL="358775" indent="-358775">
              <a:tabLst>
                <a:tab pos="3314700" algn="l"/>
              </a:tabLst>
            </a:pPr>
            <a:endParaRPr lang="en-GB" sz="1700" dirty="0"/>
          </a:p>
          <a:p>
            <a:endParaRPr lang="en-GB" sz="17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grpSp>
        <p:nvGrpSpPr>
          <p:cNvPr id="3" name="Group 2"/>
          <p:cNvGrpSpPr/>
          <p:nvPr/>
        </p:nvGrpSpPr>
        <p:grpSpPr>
          <a:xfrm>
            <a:off x="8256240" y="2132856"/>
            <a:ext cx="3960440" cy="1756430"/>
            <a:chOff x="8256240" y="2132856"/>
            <a:chExt cx="3960440" cy="1756430"/>
          </a:xfrm>
        </p:grpSpPr>
        <p:sp>
          <p:nvSpPr>
            <p:cNvPr id="13" name="TextBox 12"/>
            <p:cNvSpPr txBox="1"/>
            <p:nvPr/>
          </p:nvSpPr>
          <p:spPr>
            <a:xfrm>
              <a:off x="8265521" y="2481315"/>
              <a:ext cx="1296144" cy="338554"/>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A + B = 4</a:t>
              </a:r>
              <a:endParaRPr kumimoji="0" lang="nl-NL" sz="1800" b="0" i="0" u="none" strike="noStrike" kern="1200" cap="none" spc="0" normalizeH="0" baseline="0" noProof="0" dirty="0">
                <a:ln>
                  <a:noFill/>
                </a:ln>
                <a:solidFill>
                  <a:srgbClr val="DE7A00"/>
                </a:solidFill>
                <a:effectLst/>
                <a:uLnTx/>
                <a:uFillTx/>
                <a:latin typeface="Calibri"/>
                <a:ea typeface="+mn-ea"/>
                <a:cs typeface="+mn-cs"/>
              </a:endParaRPr>
            </a:p>
          </p:txBody>
        </p:sp>
        <p:sp>
          <p:nvSpPr>
            <p:cNvPr id="14" name="TextBox 13"/>
            <p:cNvSpPr txBox="1"/>
            <p:nvPr/>
          </p:nvSpPr>
          <p:spPr>
            <a:xfrm>
              <a:off x="8256240" y="3304511"/>
              <a:ext cx="1800200" cy="584775"/>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A + B = 4</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A – B = 2</a:t>
              </a:r>
              <a:endParaRPr kumimoji="0" lang="nl-NL" sz="1800" b="0" i="0" u="none" strike="noStrike" kern="1200" cap="none" spc="0" normalizeH="0" baseline="0" noProof="0" dirty="0">
                <a:ln>
                  <a:noFill/>
                </a:ln>
                <a:solidFill>
                  <a:srgbClr val="DE7A00"/>
                </a:solidFill>
                <a:effectLst/>
                <a:uLnTx/>
                <a:uFillTx/>
                <a:latin typeface="Calibri"/>
                <a:ea typeface="+mn-ea"/>
                <a:cs typeface="+mn-cs"/>
              </a:endParaRPr>
            </a:p>
          </p:txBody>
        </p:sp>
        <p:sp>
          <p:nvSpPr>
            <p:cNvPr id="15" name="TextBox 14"/>
            <p:cNvSpPr txBox="1"/>
            <p:nvPr/>
          </p:nvSpPr>
          <p:spPr>
            <a:xfrm>
              <a:off x="9807202" y="2466477"/>
              <a:ext cx="1296144"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not uniquely identifiable: </a:t>
              </a:r>
              <a:endParaRPr kumimoji="0" lang="nl-NL" sz="1800" b="0" i="0" u="none" strike="noStrike" kern="1200" cap="none" spc="0" normalizeH="0" baseline="0" noProof="0" dirty="0">
                <a:ln>
                  <a:noFill/>
                </a:ln>
                <a:solidFill>
                  <a:srgbClr val="DE7A00"/>
                </a:solidFill>
                <a:effectLst/>
                <a:uLnTx/>
                <a:uFillTx/>
                <a:latin typeface="Calibri"/>
                <a:ea typeface="+mn-ea"/>
                <a:cs typeface="+mn-cs"/>
              </a:endParaRPr>
            </a:p>
          </p:txBody>
        </p:sp>
        <p:sp>
          <p:nvSpPr>
            <p:cNvPr id="16" name="TextBox 15"/>
            <p:cNvSpPr txBox="1"/>
            <p:nvPr/>
          </p:nvSpPr>
          <p:spPr>
            <a:xfrm>
              <a:off x="9797921" y="3304510"/>
              <a:ext cx="1296144"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uniquely identifiable</a:t>
              </a:r>
              <a:endParaRPr kumimoji="0" lang="nl-NL" sz="1800" b="0" i="0" u="none" strike="noStrike" kern="1200" cap="none" spc="0" normalizeH="0" baseline="0" noProof="0" dirty="0">
                <a:ln>
                  <a:noFill/>
                </a:ln>
                <a:solidFill>
                  <a:srgbClr val="DE7A00"/>
                </a:solidFill>
                <a:effectLst/>
                <a:uLnTx/>
                <a:uFillTx/>
                <a:latin typeface="Calibri"/>
                <a:ea typeface="+mn-ea"/>
                <a:cs typeface="+mn-cs"/>
              </a:endParaRPr>
            </a:p>
          </p:txBody>
        </p:sp>
        <p:sp>
          <p:nvSpPr>
            <p:cNvPr id="10" name="TextBox 9"/>
            <p:cNvSpPr txBox="1"/>
            <p:nvPr/>
          </p:nvSpPr>
          <p:spPr>
            <a:xfrm>
              <a:off x="11169724" y="2132856"/>
              <a:ext cx="1046956"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A=0,B=4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A=1,B=3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A=2,B=2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A=3,B=1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DE7A00"/>
                  </a:solidFill>
                  <a:effectLst/>
                  <a:uLnTx/>
                  <a:uFillTx/>
                  <a:latin typeface="Calibri"/>
                  <a:ea typeface="+mn-ea"/>
                  <a:cs typeface="+mn-cs"/>
                </a:rPr>
                <a:t>A=4,B=0</a:t>
              </a:r>
              <a:endParaRPr kumimoji="0" lang="nl-NL" sz="1800" b="0" i="0" u="none" strike="noStrike" kern="1200" cap="none" spc="0" normalizeH="0" baseline="0" noProof="0" dirty="0">
                <a:ln>
                  <a:noFill/>
                </a:ln>
                <a:solidFill>
                  <a:srgbClr val="DE7A00"/>
                </a:solidFill>
                <a:effectLst/>
                <a:uLnTx/>
                <a:uFillTx/>
                <a:latin typeface="Calibri"/>
                <a:ea typeface="+mn-ea"/>
                <a:cs typeface="+mn-cs"/>
              </a:endParaRPr>
            </a:p>
          </p:txBody>
        </p:sp>
        <p:sp>
          <p:nvSpPr>
            <p:cNvPr id="11" name="TextBox 10"/>
            <p:cNvSpPr txBox="1"/>
            <p:nvPr/>
          </p:nvSpPr>
          <p:spPr>
            <a:xfrm>
              <a:off x="11169724" y="3498419"/>
              <a:ext cx="104695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1" i="0" u="none" strike="noStrike" kern="1200" cap="none" spc="0" normalizeH="0" baseline="0" noProof="0" dirty="0">
                  <a:ln>
                    <a:noFill/>
                  </a:ln>
                  <a:solidFill>
                    <a:srgbClr val="FF0000"/>
                  </a:solidFill>
                  <a:effectLst/>
                  <a:uLnTx/>
                  <a:uFillTx/>
                  <a:latin typeface="Calibri"/>
                  <a:ea typeface="+mn-ea"/>
                  <a:cs typeface="+mn-cs"/>
                </a:rPr>
                <a:t>A=3,B=1</a:t>
              </a:r>
            </a:p>
          </p:txBody>
        </p:sp>
      </p:grpSp>
      <p:graphicFrame>
        <p:nvGraphicFramePr>
          <p:cNvPr id="12" name="Object 11"/>
          <p:cNvGraphicFramePr>
            <a:graphicFrameLocks noChangeAspect="1"/>
          </p:cNvGraphicFramePr>
          <p:nvPr/>
        </p:nvGraphicFramePr>
        <p:xfrm>
          <a:off x="2495600" y="2064296"/>
          <a:ext cx="4583113" cy="585787"/>
        </p:xfrm>
        <a:graphic>
          <a:graphicData uri="http://schemas.openxmlformats.org/presentationml/2006/ole">
            <mc:AlternateContent xmlns:mc="http://schemas.openxmlformats.org/markup-compatibility/2006">
              <mc:Choice xmlns:v="urn:schemas-microsoft-com:vml" Requires="v">
                <p:oleObj name="Equation" r:id="rId3" imgW="2387520" imgH="304560" progId="Equation.DSMT4">
                  <p:embed/>
                </p:oleObj>
              </mc:Choice>
              <mc:Fallback>
                <p:oleObj name="Equation" r:id="rId3" imgW="2387520" imgH="304560" progId="Equation.DSMT4">
                  <p:embed/>
                  <p:pic>
                    <p:nvPicPr>
                      <p:cNvPr id="12" name="Object 11"/>
                      <p:cNvPicPr/>
                      <p:nvPr/>
                    </p:nvPicPr>
                    <p:blipFill>
                      <a:blip r:embed="rId4"/>
                      <a:stretch>
                        <a:fillRect/>
                      </a:stretch>
                    </p:blipFill>
                    <p:spPr>
                      <a:xfrm>
                        <a:off x="2495600" y="2064296"/>
                        <a:ext cx="4583113" cy="585787"/>
                      </a:xfrm>
                      <a:prstGeom prst="rect">
                        <a:avLst/>
                      </a:prstGeom>
                    </p:spPr>
                  </p:pic>
                </p:oleObj>
              </mc:Fallback>
            </mc:AlternateContent>
          </a:graphicData>
        </a:graphic>
      </p:graphicFrame>
      <p:sp>
        <p:nvSpPr>
          <p:cNvPr id="2" name="TextBox 1"/>
          <p:cNvSpPr txBox="1"/>
          <p:nvPr/>
        </p:nvSpPr>
        <p:spPr>
          <a:xfrm>
            <a:off x="1055440" y="5156022"/>
            <a:ext cx="10416560" cy="646331"/>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1" i="0" u="none" strike="noStrike" kern="1200" cap="none" spc="0" normalizeH="0" baseline="0" noProof="0" dirty="0">
                <a:ln>
                  <a:noFill/>
                </a:ln>
                <a:solidFill>
                  <a:srgbClr val="00B050"/>
                </a:solidFill>
                <a:effectLst/>
                <a:uLnTx/>
                <a:uFillTx/>
                <a:latin typeface="Calibri" panose="020F0502020204030204"/>
                <a:ea typeface="+mn-ea"/>
                <a:cs typeface="+mn-cs"/>
                <a:sym typeface="Wingdings" panose="05000000000000000000" pitchFamily="2" charset="2"/>
              </a:rPr>
              <a:t>But lack of identifiability is not a problem: the model weights cannot be interpreted anyway </a:t>
            </a:r>
            <a:endParaRPr kumimoji="0" lang="en-GB" sz="1800" b="1" i="0" u="none" strike="noStrike" kern="1200" cap="none" spc="0" normalizeH="0" baseline="0" noProof="0" dirty="0">
              <a:ln>
                <a:noFill/>
              </a:ln>
              <a:solidFill>
                <a:srgbClr val="00B050"/>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itle 1">
            <a:extLst>
              <a:ext uri="{FF2B5EF4-FFF2-40B4-BE49-F238E27FC236}">
                <a16:creationId xmlns:a16="http://schemas.microsoft.com/office/drawing/2014/main" id="{FC4B8D2B-9DA1-7113-1BE4-57B110B22E0A}"/>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21" name="Line 2">
            <a:extLst>
              <a:ext uri="{FF2B5EF4-FFF2-40B4-BE49-F238E27FC236}">
                <a16:creationId xmlns:a16="http://schemas.microsoft.com/office/drawing/2014/main" id="{1E9FE278-E056-8A89-AE72-657B58762E64}"/>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22" name="Line 2">
            <a:extLst>
              <a:ext uri="{FF2B5EF4-FFF2-40B4-BE49-F238E27FC236}">
                <a16:creationId xmlns:a16="http://schemas.microsoft.com/office/drawing/2014/main" id="{3B3E48A2-D572-C386-8321-277F053D203F}"/>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4164238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animEffect transition="in" filter="fade">
                                      <p:cBhvr>
                                        <p:cTn id="7" dur="500"/>
                                        <p:tgtEl>
                                          <p:spTgt spid="5">
                                            <p:txEl>
                                              <p:pRg st="5" end="5"/>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8" end="8"/>
                                            </p:txEl>
                                          </p:spTgt>
                                        </p:tgtEl>
                                        <p:attrNameLst>
                                          <p:attrName>style.visibility</p:attrName>
                                        </p:attrNameLst>
                                      </p:cBhvr>
                                      <p:to>
                                        <p:strVal val="visible"/>
                                      </p:to>
                                    </p:set>
                                    <p:animEffect transition="in" filter="fade">
                                      <p:cBhvr>
                                        <p:cTn id="10" dur="500"/>
                                        <p:tgtEl>
                                          <p:spTgt spid="5">
                                            <p:txEl>
                                              <p:pRg st="8" end="8"/>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a:picLocks noChangeAspect="1"/>
          </p:cNvPicPr>
          <p:nvPr/>
        </p:nvPicPr>
        <p:blipFill>
          <a:blip r:embed="rId3"/>
          <a:stretch>
            <a:fillRect/>
          </a:stretch>
        </p:blipFill>
        <p:spPr>
          <a:xfrm>
            <a:off x="6609039" y="2855301"/>
            <a:ext cx="5078985" cy="3527073"/>
          </a:xfrm>
          <a:prstGeom prst="rect">
            <a:avLst/>
          </a:prstGeom>
        </p:spPr>
      </p:pic>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Content Placeholder 2"/>
          <p:cNvSpPr>
            <a:spLocks noGrp="1"/>
          </p:cNvSpPr>
          <p:nvPr>
            <p:ph idx="1"/>
          </p:nvPr>
        </p:nvSpPr>
        <p:spPr>
          <a:xfrm>
            <a:off x="720000" y="1260000"/>
            <a:ext cx="5564650" cy="5400600"/>
          </a:xfrm>
        </p:spPr>
        <p:txBody>
          <a:bodyPr>
            <a:normAutofit/>
          </a:bodyPr>
          <a:lstStyle/>
          <a:p>
            <a:pPr marL="360363" lvl="1" indent="-360363">
              <a:buFont typeface="Arial" panose="020B0604020202020204" pitchFamily="34" charset="0"/>
              <a:buChar char="•"/>
              <a:tabLst>
                <a:tab pos="3138488" algn="l"/>
              </a:tabLst>
            </a:pPr>
            <a:r>
              <a:rPr lang="en-GB" sz="1800" dirty="0"/>
              <a:t>Data must always be </a:t>
            </a:r>
            <a:r>
              <a:rPr lang="en-GB" sz="1800" b="1" dirty="0"/>
              <a:t>split</a:t>
            </a:r>
            <a:r>
              <a:rPr lang="en-GB" sz="1800" dirty="0"/>
              <a:t> in two parts:</a:t>
            </a:r>
          </a:p>
          <a:p>
            <a:pPr marL="760413" lvl="2" indent="-360363">
              <a:buFont typeface="+mj-lt"/>
              <a:buAutoNum type="arabicPeriod"/>
              <a:tabLst>
                <a:tab pos="3138488" algn="l"/>
              </a:tabLst>
            </a:pPr>
            <a:r>
              <a:rPr lang="en-GB" sz="1800" dirty="0"/>
              <a:t>Train set</a:t>
            </a:r>
          </a:p>
          <a:p>
            <a:pPr marL="760413" lvl="2" indent="-360363">
              <a:buFont typeface="+mj-lt"/>
              <a:buAutoNum type="arabicPeriod"/>
              <a:tabLst>
                <a:tab pos="3138488" algn="l"/>
              </a:tabLst>
            </a:pPr>
            <a:r>
              <a:rPr lang="en-GB" sz="1800" dirty="0"/>
              <a:t>Test set</a:t>
            </a:r>
          </a:p>
          <a:p>
            <a:pPr marL="760413" lvl="2" indent="-360363">
              <a:tabLst>
                <a:tab pos="3138488" algn="l"/>
              </a:tabLst>
            </a:pPr>
            <a:endParaRPr lang="en-GB" sz="1800" dirty="0"/>
          </a:p>
          <a:p>
            <a:pPr marL="760413" lvl="2" indent="-360363">
              <a:tabLst>
                <a:tab pos="3138488" algn="l"/>
              </a:tabLst>
            </a:pPr>
            <a:endParaRPr lang="en-GB" sz="1800" dirty="0"/>
          </a:p>
          <a:p>
            <a:pPr marL="342900" lvl="1" indent="-342900">
              <a:buFont typeface="Arial" panose="020B0604020202020204" pitchFamily="34" charset="0"/>
              <a:buChar char="•"/>
              <a:tabLst>
                <a:tab pos="3138488" algn="l"/>
              </a:tabLst>
            </a:pPr>
            <a:r>
              <a:rPr lang="en-GB" sz="1800" dirty="0"/>
              <a:t>The ANN is trained on the </a:t>
            </a:r>
            <a:r>
              <a:rPr lang="en-GB" sz="1800" b="1" dirty="0"/>
              <a:t>training set</a:t>
            </a:r>
          </a:p>
          <a:p>
            <a:pPr marL="760413" lvl="2" indent="-360363">
              <a:buFont typeface="Wingdings" panose="05000000000000000000" pitchFamily="2" charset="2"/>
              <a:buChar char="Ø"/>
              <a:tabLst>
                <a:tab pos="3138488" algn="l"/>
              </a:tabLst>
            </a:pPr>
            <a:r>
              <a:rPr lang="en-GB" sz="1800" dirty="0"/>
              <a:t>The training </a:t>
            </a:r>
            <a:r>
              <a:rPr lang="en-GB" sz="1800" b="1" dirty="0"/>
              <a:t>stops</a:t>
            </a:r>
            <a:r>
              <a:rPr lang="en-GB" sz="1800" dirty="0"/>
              <a:t> when:</a:t>
            </a:r>
          </a:p>
          <a:p>
            <a:pPr marL="1217613" lvl="3" indent="-360363">
              <a:buFont typeface="+mj-lt"/>
              <a:buAutoNum type="arabicPeriod"/>
              <a:tabLst>
                <a:tab pos="3138488" algn="l"/>
              </a:tabLst>
            </a:pPr>
            <a:r>
              <a:rPr lang="en-GB" dirty="0"/>
              <a:t>The performance on the </a:t>
            </a:r>
            <a:r>
              <a:rPr lang="en-GB" b="1" dirty="0"/>
              <a:t>training set </a:t>
            </a:r>
            <a:r>
              <a:rPr lang="en-GB" dirty="0"/>
              <a:t>no longer improves</a:t>
            </a:r>
          </a:p>
          <a:p>
            <a:pPr marL="1217613" lvl="3" indent="-360363">
              <a:buFont typeface="+mj-lt"/>
              <a:buAutoNum type="arabicPeriod"/>
              <a:tabLst>
                <a:tab pos="3138488" algn="l"/>
              </a:tabLst>
            </a:pPr>
            <a:r>
              <a:rPr lang="en-GB" dirty="0"/>
              <a:t>Maximum epochs is reached</a:t>
            </a:r>
            <a:endParaRPr lang="en-GB" sz="1800" dirty="0"/>
          </a:p>
        </p:txBody>
      </p:sp>
      <p:cxnSp>
        <p:nvCxnSpPr>
          <p:cNvPr id="8" name="Straight Arrow Connector 7"/>
          <p:cNvCxnSpPr/>
          <p:nvPr/>
        </p:nvCxnSpPr>
        <p:spPr>
          <a:xfrm>
            <a:off x="5159896" y="3140968"/>
            <a:ext cx="2088232" cy="648072"/>
          </a:xfrm>
          <a:prstGeom prst="straightConnector1">
            <a:avLst/>
          </a:prstGeom>
          <a:ln w="19050">
            <a:solidFill>
              <a:srgbClr val="157DB7"/>
            </a:solidFill>
            <a:prstDash val="sysDash"/>
            <a:headEnd type="none" w="med" len="med"/>
            <a:tailEnd type="triangle" w="lg" len="med"/>
          </a:ln>
        </p:spPr>
        <p:style>
          <a:lnRef idx="1">
            <a:schemeClr val="accent2"/>
          </a:lnRef>
          <a:fillRef idx="0">
            <a:schemeClr val="accent2"/>
          </a:fillRef>
          <a:effectRef idx="0">
            <a:schemeClr val="accent2"/>
          </a:effectRef>
          <a:fontRef idx="minor">
            <a:schemeClr val="tx1"/>
          </a:fontRef>
        </p:style>
      </p:cxnSp>
      <p:grpSp>
        <p:nvGrpSpPr>
          <p:cNvPr id="11" name="Group 10"/>
          <p:cNvGrpSpPr/>
          <p:nvPr/>
        </p:nvGrpSpPr>
        <p:grpSpPr>
          <a:xfrm>
            <a:off x="5311701" y="4109814"/>
            <a:ext cx="6279292" cy="1876871"/>
            <a:chOff x="5311701" y="4109814"/>
            <a:chExt cx="6279292" cy="1876871"/>
          </a:xfrm>
        </p:grpSpPr>
        <p:sp>
          <p:nvSpPr>
            <p:cNvPr id="9" name="Oval 8"/>
            <p:cNvSpPr/>
            <p:nvPr/>
          </p:nvSpPr>
          <p:spPr>
            <a:xfrm>
              <a:off x="10366857" y="5737233"/>
              <a:ext cx="1224136" cy="249452"/>
            </a:xfrm>
            <a:prstGeom prst="ellipse">
              <a:avLst/>
            </a:prstGeom>
            <a:noFill/>
            <a:ln w="12700">
              <a:solidFill>
                <a:srgbClr val="FF3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cxnSp>
          <p:nvCxnSpPr>
            <p:cNvPr id="27" name="Straight Arrow Connector 26"/>
            <p:cNvCxnSpPr>
              <a:cxnSpLocks/>
            </p:cNvCxnSpPr>
            <p:nvPr/>
          </p:nvCxnSpPr>
          <p:spPr>
            <a:xfrm>
              <a:off x="5311701" y="4109814"/>
              <a:ext cx="5055156" cy="1709631"/>
            </a:xfrm>
            <a:prstGeom prst="straightConnector1">
              <a:avLst/>
            </a:prstGeom>
            <a:ln w="19050">
              <a:solidFill>
                <a:srgbClr val="FF3300"/>
              </a:solidFill>
              <a:prstDash val="sysDash"/>
              <a:headEnd type="none" w="med" len="med"/>
              <a:tailEnd type="triangle" w="lg" len="med"/>
            </a:ln>
          </p:spPr>
          <p:style>
            <a:lnRef idx="1">
              <a:schemeClr val="accent2"/>
            </a:lnRef>
            <a:fillRef idx="0">
              <a:schemeClr val="accent2"/>
            </a:fillRef>
            <a:effectRef idx="0">
              <a:schemeClr val="accent2"/>
            </a:effectRef>
            <a:fontRef idx="minor">
              <a:schemeClr val="tx1"/>
            </a:fontRef>
          </p:style>
        </p:cxnSp>
      </p:grpSp>
      <p:sp>
        <p:nvSpPr>
          <p:cNvPr id="19" name="TextBox 18"/>
          <p:cNvSpPr txBox="1"/>
          <p:nvPr/>
        </p:nvSpPr>
        <p:spPr>
          <a:xfrm>
            <a:off x="6946726" y="2577076"/>
            <a:ext cx="4741298"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Learning curve plot</a:t>
            </a:r>
          </a:p>
        </p:txBody>
      </p:sp>
      <p:pic>
        <p:nvPicPr>
          <p:cNvPr id="2" name="Picture 2">
            <a:extLst>
              <a:ext uri="{FF2B5EF4-FFF2-40B4-BE49-F238E27FC236}">
                <a16:creationId xmlns:a16="http://schemas.microsoft.com/office/drawing/2014/main" id="{AD72AE4C-6BBB-B6EA-183F-BB18DA13BB3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76281" y="1016900"/>
            <a:ext cx="2282188" cy="1298213"/>
          </a:xfrm>
          <a:prstGeom prst="rect">
            <a:avLst/>
          </a:prstGeom>
          <a:noFill/>
          <a:extLst>
            <a:ext uri="{909E8E84-426E-40DD-AFC4-6F175D3DCCD1}">
              <a14:hiddenFill xmlns:a14="http://schemas.microsoft.com/office/drawing/2010/main">
                <a:solidFill>
                  <a:srgbClr val="FFFFFF"/>
                </a:solidFill>
              </a14:hiddenFill>
            </a:ext>
          </a:extLst>
        </p:spPr>
      </p:pic>
      <p:sp>
        <p:nvSpPr>
          <p:cNvPr id="10" name="Title 1">
            <a:extLst>
              <a:ext uri="{FF2B5EF4-FFF2-40B4-BE49-F238E27FC236}">
                <a16:creationId xmlns:a16="http://schemas.microsoft.com/office/drawing/2014/main" id="{3AB6F89C-B942-6FB0-73A4-753706D7D50C}"/>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2" name="Line 2">
            <a:extLst>
              <a:ext uri="{FF2B5EF4-FFF2-40B4-BE49-F238E27FC236}">
                <a16:creationId xmlns:a16="http://schemas.microsoft.com/office/drawing/2014/main" id="{A70B8102-78D3-50C2-C9B8-68404E1F3D3C}"/>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3" name="Line 2">
            <a:extLst>
              <a:ext uri="{FF2B5EF4-FFF2-40B4-BE49-F238E27FC236}">
                <a16:creationId xmlns:a16="http://schemas.microsoft.com/office/drawing/2014/main" id="{93A2A64B-B864-A3EA-D3DD-B5C2EC5F2047}"/>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3724218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Content Placeholder 2"/>
          <p:cNvSpPr>
            <a:spLocks noGrp="1"/>
          </p:cNvSpPr>
          <p:nvPr>
            <p:ph idx="1"/>
          </p:nvPr>
        </p:nvSpPr>
        <p:spPr>
          <a:xfrm>
            <a:off x="720000" y="1260000"/>
            <a:ext cx="5540264" cy="5400600"/>
          </a:xfrm>
        </p:spPr>
        <p:txBody>
          <a:bodyPr>
            <a:normAutofit/>
          </a:bodyPr>
          <a:lstStyle/>
          <a:p>
            <a:pPr marL="360363" lvl="1" indent="-360363">
              <a:buFont typeface="Arial" panose="020B0604020202020204" pitchFamily="34" charset="0"/>
              <a:buChar char="•"/>
              <a:tabLst>
                <a:tab pos="3138488" algn="l"/>
              </a:tabLst>
            </a:pPr>
            <a:r>
              <a:rPr lang="en-GB" sz="1800" dirty="0"/>
              <a:t>Data must always be </a:t>
            </a:r>
            <a:r>
              <a:rPr lang="en-GB" sz="1800" b="1" dirty="0"/>
              <a:t>split</a:t>
            </a:r>
            <a:r>
              <a:rPr lang="en-GB" sz="1800" dirty="0"/>
              <a:t> in two parts:</a:t>
            </a:r>
          </a:p>
          <a:p>
            <a:pPr marL="760413" lvl="2" indent="-360363">
              <a:buFont typeface="+mj-lt"/>
              <a:buAutoNum type="arabicPeriod"/>
              <a:tabLst>
                <a:tab pos="3138488" algn="l"/>
              </a:tabLst>
            </a:pPr>
            <a:r>
              <a:rPr lang="en-GB" sz="1800" dirty="0"/>
              <a:t>Train set</a:t>
            </a:r>
          </a:p>
          <a:p>
            <a:pPr marL="760413" lvl="2" indent="-360363">
              <a:buFont typeface="+mj-lt"/>
              <a:buAutoNum type="arabicPeriod"/>
              <a:tabLst>
                <a:tab pos="3138488" algn="l"/>
              </a:tabLst>
            </a:pPr>
            <a:r>
              <a:rPr lang="en-GB" sz="1800" dirty="0"/>
              <a:t>Test set</a:t>
            </a:r>
          </a:p>
          <a:p>
            <a:pPr marL="760413" lvl="2" indent="-360363">
              <a:tabLst>
                <a:tab pos="3138488" algn="l"/>
              </a:tabLst>
            </a:pPr>
            <a:endParaRPr lang="en-GB" sz="1800" dirty="0"/>
          </a:p>
          <a:p>
            <a:pPr marL="760413" lvl="2" indent="-360363">
              <a:tabLst>
                <a:tab pos="3138488" algn="l"/>
              </a:tabLst>
            </a:pPr>
            <a:endParaRPr lang="en-GB" sz="1800" dirty="0"/>
          </a:p>
          <a:p>
            <a:pPr marL="342900" lvl="1" indent="-342900">
              <a:buFont typeface="Arial" panose="020B0604020202020204" pitchFamily="34" charset="0"/>
              <a:buChar char="•"/>
              <a:tabLst>
                <a:tab pos="3138488" algn="l"/>
              </a:tabLst>
            </a:pPr>
            <a:r>
              <a:rPr lang="en-GB" dirty="0"/>
              <a:t>The ANN is trained on the </a:t>
            </a:r>
            <a:r>
              <a:rPr lang="en-GB" b="1" dirty="0"/>
              <a:t>training set</a:t>
            </a:r>
          </a:p>
          <a:p>
            <a:pPr marL="760413" lvl="2" indent="-360363">
              <a:buFont typeface="Wingdings" panose="05000000000000000000" pitchFamily="2" charset="2"/>
              <a:buChar char="Ø"/>
              <a:tabLst>
                <a:tab pos="3138488" algn="l"/>
              </a:tabLst>
            </a:pPr>
            <a:r>
              <a:rPr lang="en-GB" dirty="0"/>
              <a:t>The training </a:t>
            </a:r>
            <a:r>
              <a:rPr lang="en-GB" b="1" dirty="0"/>
              <a:t>stops</a:t>
            </a:r>
            <a:r>
              <a:rPr lang="en-GB" dirty="0"/>
              <a:t> when:</a:t>
            </a:r>
          </a:p>
          <a:p>
            <a:pPr marL="1217613" lvl="3" indent="-360363">
              <a:buFont typeface="+mj-lt"/>
              <a:buAutoNum type="arabicPeriod"/>
              <a:tabLst>
                <a:tab pos="3138488" algn="l"/>
              </a:tabLst>
            </a:pPr>
            <a:r>
              <a:rPr lang="en-GB" dirty="0"/>
              <a:t>The performance on the </a:t>
            </a:r>
            <a:r>
              <a:rPr lang="en-GB" b="1" dirty="0"/>
              <a:t>training set </a:t>
            </a:r>
            <a:r>
              <a:rPr lang="en-GB" dirty="0"/>
              <a:t>no longer improves</a:t>
            </a:r>
          </a:p>
          <a:p>
            <a:pPr marL="1217613" lvl="3" indent="-360363">
              <a:buFont typeface="+mj-lt"/>
              <a:buAutoNum type="arabicPeriod"/>
              <a:tabLst>
                <a:tab pos="3138488" algn="l"/>
              </a:tabLst>
            </a:pPr>
            <a:r>
              <a:rPr lang="en-GB" dirty="0"/>
              <a:t>Maximum epochs is reached</a:t>
            </a:r>
          </a:p>
          <a:p>
            <a:pPr marL="400050" lvl="2" indent="0">
              <a:buNone/>
              <a:tabLst>
                <a:tab pos="3138488" algn="l"/>
              </a:tabLst>
            </a:pPr>
            <a:endParaRPr lang="en-GB" sz="1800" dirty="0"/>
          </a:p>
          <a:p>
            <a:pPr marL="285750" lvl="1">
              <a:buFont typeface="Arial" panose="020B0604020202020204" pitchFamily="34" charset="0"/>
              <a:buChar char="•"/>
              <a:tabLst>
                <a:tab pos="3138488" algn="l"/>
              </a:tabLst>
            </a:pPr>
            <a:r>
              <a:rPr lang="en-GB" b="1" dirty="0"/>
              <a:t>Early stopping (main idea)</a:t>
            </a:r>
          </a:p>
          <a:p>
            <a:pPr marL="760413" lvl="2" indent="-360363">
              <a:buFont typeface="Wingdings" panose="05000000000000000000" pitchFamily="2" charset="2"/>
              <a:buChar char="Ø"/>
              <a:tabLst>
                <a:tab pos="3138488" algn="l"/>
              </a:tabLst>
            </a:pPr>
            <a:r>
              <a:rPr lang="en-GB" sz="1800" dirty="0"/>
              <a:t>After each epoch, the performance of the model is evaluated on </a:t>
            </a:r>
            <a:r>
              <a:rPr lang="en-GB" sz="1800" b="1" dirty="0"/>
              <a:t>test set</a:t>
            </a:r>
          </a:p>
          <a:p>
            <a:pPr marL="760413" lvl="2" indent="-360363">
              <a:buFont typeface="Wingdings" panose="05000000000000000000" pitchFamily="2" charset="2"/>
              <a:buChar char="Ø"/>
              <a:tabLst>
                <a:tab pos="3138488" algn="l"/>
              </a:tabLst>
            </a:pPr>
            <a:r>
              <a:rPr lang="en-GB" dirty="0"/>
              <a:t>To avoid the model from </a:t>
            </a:r>
            <a:r>
              <a:rPr lang="en-GB" b="1" dirty="0"/>
              <a:t>overfitting</a:t>
            </a:r>
            <a:r>
              <a:rPr lang="en-GB" dirty="0"/>
              <a:t>, training stops when the performance of the </a:t>
            </a:r>
            <a:r>
              <a:rPr lang="en-GB" b="1" dirty="0"/>
              <a:t>test data</a:t>
            </a:r>
            <a:r>
              <a:rPr lang="en-GB" dirty="0"/>
              <a:t> no longer improves</a:t>
            </a:r>
            <a:endParaRPr lang="en-GB" sz="1800" dirty="0"/>
          </a:p>
        </p:txBody>
      </p:sp>
      <p:grpSp>
        <p:nvGrpSpPr>
          <p:cNvPr id="17" name="Group 16"/>
          <p:cNvGrpSpPr/>
          <p:nvPr/>
        </p:nvGrpSpPr>
        <p:grpSpPr>
          <a:xfrm>
            <a:off x="6470573" y="2642056"/>
            <a:ext cx="5302830" cy="3888432"/>
            <a:chOff x="6470573" y="2642056"/>
            <a:chExt cx="5302830" cy="3888432"/>
          </a:xfrm>
        </p:grpSpPr>
        <p:pic>
          <p:nvPicPr>
            <p:cNvPr id="2" name="Picture 1"/>
            <p:cNvPicPr>
              <a:picLocks noChangeAspect="1"/>
            </p:cNvPicPr>
            <p:nvPr/>
          </p:nvPicPr>
          <p:blipFill rotWithShape="1">
            <a:blip r:embed="rId3"/>
            <a:srcRect l="2670" t="11244" r="7881"/>
            <a:stretch/>
          </p:blipFill>
          <p:spPr>
            <a:xfrm>
              <a:off x="6470573" y="2642056"/>
              <a:ext cx="5302830" cy="3888432"/>
            </a:xfrm>
            <a:prstGeom prst="rect">
              <a:avLst/>
            </a:prstGeom>
          </p:spPr>
        </p:pic>
        <p:grpSp>
          <p:nvGrpSpPr>
            <p:cNvPr id="14" name="Group 13"/>
            <p:cNvGrpSpPr/>
            <p:nvPr/>
          </p:nvGrpSpPr>
          <p:grpSpPr>
            <a:xfrm>
              <a:off x="7452224" y="2714802"/>
              <a:ext cx="1020040" cy="426166"/>
              <a:chOff x="7452224" y="2714802"/>
              <a:chExt cx="1020040" cy="426166"/>
            </a:xfrm>
          </p:grpSpPr>
          <p:sp>
            <p:nvSpPr>
              <p:cNvPr id="13" name="Rectangle 12"/>
              <p:cNvSpPr/>
              <p:nvPr/>
            </p:nvSpPr>
            <p:spPr>
              <a:xfrm>
                <a:off x="7476080" y="2761054"/>
                <a:ext cx="996184" cy="379914"/>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sp>
            <p:nvSpPr>
              <p:cNvPr id="12" name="TextBox 11"/>
              <p:cNvSpPr txBox="1"/>
              <p:nvPr/>
            </p:nvSpPr>
            <p:spPr>
              <a:xfrm>
                <a:off x="7452224" y="2878691"/>
                <a:ext cx="702556" cy="216024"/>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Calibri" panose="020F0502020204030204"/>
                    <a:ea typeface="+mn-ea"/>
                    <a:cs typeface="+mn-cs"/>
                  </a:rPr>
                  <a:t>Test loss</a:t>
                </a:r>
              </a:p>
            </p:txBody>
          </p:sp>
          <p:sp>
            <p:nvSpPr>
              <p:cNvPr id="15" name="TextBox 14"/>
              <p:cNvSpPr txBox="1"/>
              <p:nvPr/>
            </p:nvSpPr>
            <p:spPr>
              <a:xfrm>
                <a:off x="7452224" y="2714802"/>
                <a:ext cx="948032" cy="216024"/>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dirty="0">
                    <a:ln>
                      <a:noFill/>
                    </a:ln>
                    <a:solidFill>
                      <a:prstClr val="black"/>
                    </a:solidFill>
                    <a:effectLst/>
                    <a:uLnTx/>
                    <a:uFillTx/>
                    <a:latin typeface="Calibri" panose="020F0502020204030204"/>
                    <a:ea typeface="+mn-ea"/>
                    <a:cs typeface="+mn-cs"/>
                  </a:rPr>
                  <a:t>Training loss</a:t>
                </a:r>
              </a:p>
            </p:txBody>
          </p:sp>
        </p:grpSp>
      </p:grpSp>
      <p:cxnSp>
        <p:nvCxnSpPr>
          <p:cNvPr id="7" name="Straight Arrow Connector 6"/>
          <p:cNvCxnSpPr>
            <a:cxnSpLocks/>
          </p:cNvCxnSpPr>
          <p:nvPr/>
        </p:nvCxnSpPr>
        <p:spPr>
          <a:xfrm flipV="1">
            <a:off x="5888736" y="5454106"/>
            <a:ext cx="1534838" cy="196726"/>
          </a:xfrm>
          <a:prstGeom prst="straightConnector1">
            <a:avLst/>
          </a:prstGeom>
          <a:ln w="19050">
            <a:solidFill>
              <a:srgbClr val="E09351"/>
            </a:solidFill>
            <a:prstDash val="sysDash"/>
            <a:headEnd type="none" w="med" len="med"/>
            <a:tailEnd type="triangle" w="lg" len="med"/>
          </a:ln>
        </p:spPr>
        <p:style>
          <a:lnRef idx="1">
            <a:schemeClr val="accent2"/>
          </a:lnRef>
          <a:fillRef idx="0">
            <a:schemeClr val="accent2"/>
          </a:fillRef>
          <a:effectRef idx="0">
            <a:schemeClr val="accent2"/>
          </a:effectRef>
          <a:fontRef idx="minor">
            <a:schemeClr val="tx1"/>
          </a:fontRef>
        </p:style>
      </p:cxnSp>
      <p:sp>
        <p:nvSpPr>
          <p:cNvPr id="19" name="TextBox 18"/>
          <p:cNvSpPr txBox="1"/>
          <p:nvPr/>
        </p:nvSpPr>
        <p:spPr>
          <a:xfrm>
            <a:off x="7032105" y="2218915"/>
            <a:ext cx="4741298"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Learning curve plot</a:t>
            </a:r>
          </a:p>
        </p:txBody>
      </p:sp>
      <p:grpSp>
        <p:nvGrpSpPr>
          <p:cNvPr id="34" name="Group 33"/>
          <p:cNvGrpSpPr/>
          <p:nvPr/>
        </p:nvGrpSpPr>
        <p:grpSpPr>
          <a:xfrm>
            <a:off x="9199218" y="2714802"/>
            <a:ext cx="2310081" cy="3365148"/>
            <a:chOff x="9199218" y="2714802"/>
            <a:chExt cx="2310081" cy="3365148"/>
          </a:xfrm>
        </p:grpSpPr>
        <p:sp>
          <p:nvSpPr>
            <p:cNvPr id="28" name="Oval 27"/>
            <p:cNvSpPr/>
            <p:nvPr/>
          </p:nvSpPr>
          <p:spPr>
            <a:xfrm>
              <a:off x="9199218" y="5401380"/>
              <a:ext cx="936104" cy="249452"/>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cxnSp>
          <p:nvCxnSpPr>
            <p:cNvPr id="30" name="Straight Connector 29"/>
            <p:cNvCxnSpPr/>
            <p:nvPr/>
          </p:nvCxnSpPr>
          <p:spPr>
            <a:xfrm flipH="1">
              <a:off x="10128448" y="2714802"/>
              <a:ext cx="6874" cy="3365148"/>
            </a:xfrm>
            <a:prstGeom prst="line">
              <a:avLst/>
            </a:prstGeom>
            <a:ln w="19050">
              <a:solidFill>
                <a:srgbClr val="FF0000"/>
              </a:solidFill>
              <a:prstDash val="dash"/>
              <a:headEnd type="none" w="med" len="med"/>
              <a:tailEnd type="none" w="med" len="med"/>
            </a:ln>
          </p:spPr>
          <p:style>
            <a:lnRef idx="1">
              <a:schemeClr val="accent2"/>
            </a:lnRef>
            <a:fillRef idx="0">
              <a:schemeClr val="accent2"/>
            </a:fillRef>
            <a:effectRef idx="0">
              <a:schemeClr val="accent2"/>
            </a:effectRef>
            <a:fontRef idx="minor">
              <a:schemeClr val="tx1"/>
            </a:fontRef>
          </p:style>
        </p:cxnSp>
        <p:sp>
          <p:nvSpPr>
            <p:cNvPr id="33" name="Rectangle 32"/>
            <p:cNvSpPr/>
            <p:nvPr/>
          </p:nvSpPr>
          <p:spPr>
            <a:xfrm>
              <a:off x="10152830" y="2761054"/>
              <a:ext cx="1356469" cy="3188226"/>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grpSp>
      <p:sp>
        <p:nvSpPr>
          <p:cNvPr id="40" name="TextBox 39"/>
          <p:cNvSpPr txBox="1"/>
          <p:nvPr/>
        </p:nvSpPr>
        <p:spPr>
          <a:xfrm>
            <a:off x="10107527" y="3289450"/>
            <a:ext cx="723537" cy="199051"/>
          </a:xfrm>
          <a:prstGeom prst="rect">
            <a:avLst/>
          </a:prstGeom>
          <a:noFill/>
          <a:ln>
            <a:no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FF0000"/>
                </a:solidFill>
                <a:effectLst/>
                <a:uLnTx/>
                <a:uFillTx/>
                <a:latin typeface="Calibri" panose="020F0502020204030204"/>
                <a:ea typeface="+mn-ea"/>
                <a:cs typeface="+mn-cs"/>
              </a:rPr>
              <a:t>STOP</a:t>
            </a:r>
          </a:p>
        </p:txBody>
      </p:sp>
      <p:sp>
        <p:nvSpPr>
          <p:cNvPr id="41" name="Oval 40"/>
          <p:cNvSpPr/>
          <p:nvPr/>
        </p:nvSpPr>
        <p:spPr>
          <a:xfrm>
            <a:off x="9156356" y="5454106"/>
            <a:ext cx="144000" cy="144000"/>
          </a:xfrm>
          <a:prstGeom prst="ellipse">
            <a:avLst/>
          </a:prstGeom>
          <a:noFill/>
          <a:ln w="1270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cxnSp>
        <p:nvCxnSpPr>
          <p:cNvPr id="43" name="Straight Connector 42"/>
          <p:cNvCxnSpPr/>
          <p:nvPr/>
        </p:nvCxnSpPr>
        <p:spPr>
          <a:xfrm flipH="1">
            <a:off x="9239566" y="2714802"/>
            <a:ext cx="0" cy="3355817"/>
          </a:xfrm>
          <a:prstGeom prst="line">
            <a:avLst/>
          </a:prstGeom>
          <a:ln w="9525">
            <a:solidFill>
              <a:srgbClr val="00B050"/>
            </a:solidFill>
            <a:prstDash val="sysDash"/>
            <a:headEnd type="none" w="med" len="med"/>
            <a:tailEnd type="none" w="med" len="med"/>
          </a:ln>
        </p:spPr>
        <p:style>
          <a:lnRef idx="1">
            <a:schemeClr val="accent2"/>
          </a:lnRef>
          <a:fillRef idx="0">
            <a:schemeClr val="accent2"/>
          </a:fillRef>
          <a:effectRef idx="0">
            <a:schemeClr val="accent2"/>
          </a:effectRef>
          <a:fontRef idx="minor">
            <a:schemeClr val="tx1"/>
          </a:fontRef>
        </p:style>
      </p:cxnSp>
      <p:sp>
        <p:nvSpPr>
          <p:cNvPr id="45" name="TextBox 44"/>
          <p:cNvSpPr txBox="1"/>
          <p:nvPr/>
        </p:nvSpPr>
        <p:spPr>
          <a:xfrm>
            <a:off x="9300356" y="2951011"/>
            <a:ext cx="778521" cy="143704"/>
          </a:xfrm>
          <a:prstGeom prst="rect">
            <a:avLst/>
          </a:prstGeom>
          <a:noFill/>
          <a:ln>
            <a:no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5 epochs</a:t>
            </a:r>
          </a:p>
        </p:txBody>
      </p:sp>
      <p:cxnSp>
        <p:nvCxnSpPr>
          <p:cNvPr id="47" name="Straight Connector 46"/>
          <p:cNvCxnSpPr/>
          <p:nvPr/>
        </p:nvCxnSpPr>
        <p:spPr>
          <a:xfrm>
            <a:off x="9300356" y="2822814"/>
            <a:ext cx="778521" cy="0"/>
          </a:xfrm>
          <a:prstGeom prst="line">
            <a:avLst/>
          </a:prstGeom>
          <a:ln w="6350">
            <a:solidFill>
              <a:schemeClr val="bg1">
                <a:lumMod val="50000"/>
              </a:schemeClr>
            </a:solidFill>
            <a:headEnd type="triangle" w="sm" len="med"/>
            <a:tailEnd type="triangle" w="sm" len="med"/>
          </a:ln>
        </p:spPr>
        <p:style>
          <a:lnRef idx="1">
            <a:schemeClr val="accent2"/>
          </a:lnRef>
          <a:fillRef idx="0">
            <a:schemeClr val="accent2"/>
          </a:fillRef>
          <a:effectRef idx="0">
            <a:schemeClr val="accent2"/>
          </a:effectRef>
          <a:fontRef idx="minor">
            <a:schemeClr val="tx1"/>
          </a:fontRef>
        </p:style>
      </p:cxnSp>
      <p:sp>
        <p:nvSpPr>
          <p:cNvPr id="9" name="Title 1">
            <a:extLst>
              <a:ext uri="{FF2B5EF4-FFF2-40B4-BE49-F238E27FC236}">
                <a16:creationId xmlns:a16="http://schemas.microsoft.com/office/drawing/2014/main" id="{502250C4-7C51-E6BD-BEC3-2565F269343B}"/>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0" name="Line 2">
            <a:extLst>
              <a:ext uri="{FF2B5EF4-FFF2-40B4-BE49-F238E27FC236}">
                <a16:creationId xmlns:a16="http://schemas.microsoft.com/office/drawing/2014/main" id="{4FD49330-DA08-2EEA-56EC-86BC6DFC0F0C}"/>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17B4D30A-26F9-BAC1-B439-659021F788AE}"/>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4985716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8B30B-C1A9-61EF-90A6-F98F375FED7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A94BF9C-654A-1BB2-3002-5D6C280FF75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9" name="Title 1">
            <a:extLst>
              <a:ext uri="{FF2B5EF4-FFF2-40B4-BE49-F238E27FC236}">
                <a16:creationId xmlns:a16="http://schemas.microsoft.com/office/drawing/2014/main" id="{F40C0217-2D71-26BA-822E-D132797CAB33}"/>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0" name="Line 2">
            <a:extLst>
              <a:ext uri="{FF2B5EF4-FFF2-40B4-BE49-F238E27FC236}">
                <a16:creationId xmlns:a16="http://schemas.microsoft.com/office/drawing/2014/main" id="{3BF683AD-BE50-3897-4CFD-8B265B8DC5ED}"/>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2D3ABFE5-4655-C873-C81D-513DE5392479}"/>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pic>
        <p:nvPicPr>
          <p:cNvPr id="3074" name="Picture 2" descr="machine learning - General question regarding Over-fitting vs Complexity of  Models - Cross Validated">
            <a:extLst>
              <a:ext uri="{FF2B5EF4-FFF2-40B4-BE49-F238E27FC236}">
                <a16:creationId xmlns:a16="http://schemas.microsoft.com/office/drawing/2014/main" id="{6FDD9F61-FB49-7058-7037-BAA661A35FF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5811" b="13250"/>
          <a:stretch>
            <a:fillRect/>
          </a:stretch>
        </p:blipFill>
        <p:spPr bwMode="auto">
          <a:xfrm>
            <a:off x="1764102" y="1380067"/>
            <a:ext cx="9144000" cy="48649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66221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59999"/>
            <a:ext cx="8148344" cy="2534120"/>
          </a:xfrm>
        </p:spPr>
        <p:txBody>
          <a:bodyPr>
            <a:noAutofit/>
          </a:bodyPr>
          <a:lstStyle/>
          <a:p>
            <a:pPr marL="355600" lvl="1" indent="-355600">
              <a:buFont typeface="Arial" panose="020B0604020202020204" pitchFamily="34" charset="0"/>
              <a:buChar char="•"/>
              <a:tabLst>
                <a:tab pos="3138488" algn="l"/>
              </a:tabLst>
            </a:pPr>
            <a:r>
              <a:rPr lang="en-GB" sz="1800" dirty="0"/>
              <a:t>When training an ANN a researcher needs to set the </a:t>
            </a:r>
            <a:r>
              <a:rPr lang="en-GB" sz="1800" b="1" dirty="0" err="1"/>
              <a:t>hyperparameters</a:t>
            </a:r>
            <a:endParaRPr lang="en-GB" sz="1800" dirty="0"/>
          </a:p>
          <a:p>
            <a:pPr marL="800100" lvl="2" indent="-400050">
              <a:buFont typeface="+mj-lt"/>
              <a:buAutoNum type="arabicPeriod"/>
              <a:tabLst>
                <a:tab pos="3138488" algn="l"/>
              </a:tabLst>
            </a:pPr>
            <a:r>
              <a:rPr lang="en-GB" sz="1800" u="sng" dirty="0"/>
              <a:t>Batch size</a:t>
            </a:r>
          </a:p>
          <a:p>
            <a:pPr marL="800100" lvl="2" indent="-400050">
              <a:buFont typeface="+mj-lt"/>
              <a:buAutoNum type="arabicPeriod"/>
              <a:tabLst>
                <a:tab pos="3138488" algn="l"/>
              </a:tabLst>
            </a:pPr>
            <a:r>
              <a:rPr lang="en-GB" sz="1800" u="sng" dirty="0"/>
              <a:t>Optimisation algorithms</a:t>
            </a:r>
          </a:p>
          <a:p>
            <a:pPr marL="800100" lvl="2" indent="-400050">
              <a:buFont typeface="+mj-lt"/>
              <a:buAutoNum type="arabicPeriod"/>
              <a:tabLst>
                <a:tab pos="3138488" algn="l"/>
              </a:tabLst>
            </a:pPr>
            <a:r>
              <a:rPr lang="en-GB" sz="1800" u="sng" dirty="0"/>
              <a:t>Learning rate</a:t>
            </a:r>
          </a:p>
          <a:p>
            <a:pPr marL="800100" lvl="2" indent="-400050">
              <a:buFont typeface="+mj-lt"/>
              <a:buAutoNum type="arabicPeriod"/>
              <a:tabLst>
                <a:tab pos="3138488" algn="l"/>
              </a:tabLst>
            </a:pPr>
            <a:r>
              <a:rPr lang="en-GB" sz="1800" u="sng" dirty="0"/>
              <a:t>Regularisation</a:t>
            </a:r>
          </a:p>
          <a:p>
            <a:pPr marL="400050" lvl="1" indent="-400050">
              <a:buFont typeface="Arial" panose="020B0604020202020204" pitchFamily="34" charset="0"/>
              <a:buChar char="•"/>
              <a:tabLst>
                <a:tab pos="3138488" algn="l"/>
              </a:tabLst>
            </a:pPr>
            <a:endParaRPr lang="en-GB" sz="1800" u="sng" dirty="0"/>
          </a:p>
          <a:p>
            <a:pPr marL="400050" lvl="1" indent="-400050">
              <a:buFont typeface="Arial" panose="020B0604020202020204" pitchFamily="34" charset="0"/>
              <a:buChar char="•"/>
              <a:tabLst>
                <a:tab pos="3138488" algn="l"/>
              </a:tabLst>
            </a:pPr>
            <a:endParaRPr lang="en-GB" sz="1800" u="sng" dirty="0"/>
          </a:p>
          <a:p>
            <a:pPr marL="360363" lvl="1" indent="-360363">
              <a:buFont typeface="Arial" panose="020B0604020202020204" pitchFamily="34" charset="0"/>
              <a:buChar char="•"/>
              <a:tabLst>
                <a:tab pos="3138488" algn="l"/>
              </a:tabLst>
            </a:pPr>
            <a:r>
              <a:rPr lang="en-GB" sz="1800" b="1" dirty="0"/>
              <a:t>Hyperparameter</a:t>
            </a:r>
            <a:r>
              <a:rPr lang="en-GB" sz="1800" dirty="0"/>
              <a:t> </a:t>
            </a:r>
            <a:r>
              <a:rPr lang="en-GB" sz="1800" b="1" dirty="0"/>
              <a:t>tuning</a:t>
            </a:r>
            <a:r>
              <a:rPr lang="en-GB" sz="1800" dirty="0"/>
              <a:t> often involves the </a:t>
            </a:r>
            <a:r>
              <a:rPr lang="en-GB" sz="1800" b="1" dirty="0"/>
              <a:t>finding the optimal combination of hyperparameters</a:t>
            </a:r>
            <a:r>
              <a:rPr lang="en-GB" sz="1800" dirty="0"/>
              <a:t>, and often can considerably improve the model performance</a:t>
            </a:r>
          </a:p>
          <a:p>
            <a:pPr marL="360363" lvl="1" indent="-360363">
              <a:buFont typeface="Arial" panose="020B0604020202020204" pitchFamily="34" charset="0"/>
              <a:buChar char="•"/>
              <a:tabLst>
                <a:tab pos="3138488" algn="l"/>
              </a:tabLst>
            </a:pPr>
            <a:endParaRPr lang="en-GB" sz="1800" dirty="0"/>
          </a:p>
          <a:p>
            <a:pPr marL="360363" lvl="1" indent="-360363">
              <a:buFont typeface="Arial" panose="020B0604020202020204" pitchFamily="34" charset="0"/>
              <a:buChar char="•"/>
              <a:tabLst>
                <a:tab pos="3138488" algn="l"/>
              </a:tabLst>
            </a:pPr>
            <a:endParaRPr lang="en-GB" dirty="0"/>
          </a:p>
          <a:p>
            <a:pPr marL="360363" lvl="1" indent="-360363">
              <a:tabLst>
                <a:tab pos="3138488" algn="l"/>
              </a:tabLst>
            </a:pPr>
            <a:r>
              <a:rPr lang="en-GB" dirty="0">
                <a:solidFill>
                  <a:prstClr val="black"/>
                </a:solidFill>
              </a:rPr>
              <a:t>To tune the hyperparameters often a simple </a:t>
            </a:r>
            <a:r>
              <a:rPr lang="en-GB" b="1" dirty="0">
                <a:solidFill>
                  <a:prstClr val="black"/>
                </a:solidFill>
              </a:rPr>
              <a:t>grid search</a:t>
            </a:r>
            <a:r>
              <a:rPr lang="en-GB" dirty="0">
                <a:solidFill>
                  <a:prstClr val="black"/>
                </a:solidFill>
              </a:rPr>
              <a:t> is used.</a:t>
            </a:r>
          </a:p>
          <a:p>
            <a:pPr marL="360363" lvl="1" indent="-360363">
              <a:buFont typeface="Arial" panose="020B0604020202020204" pitchFamily="34" charset="0"/>
              <a:buChar char="•"/>
              <a:tabLst>
                <a:tab pos="3138488" algn="l"/>
              </a:tabLst>
            </a:pPr>
            <a:endParaRPr lang="en-GB" sz="1800" dirty="0"/>
          </a:p>
          <a:p>
            <a:pPr marL="360363" lvl="1" indent="-360363">
              <a:tabLst>
                <a:tab pos="3138488" algn="l"/>
              </a:tabLst>
            </a:pPr>
            <a:r>
              <a:rPr lang="en-GB" dirty="0">
                <a:solidFill>
                  <a:prstClr val="black"/>
                </a:solidFill>
              </a:rPr>
              <a:t>But, hyperparameter tuning can quickly become computationally excessive…</a:t>
            </a:r>
          </a:p>
          <a:p>
            <a:pPr marL="360363" lvl="1" indent="-360363">
              <a:buFont typeface="Arial" panose="020B0604020202020204" pitchFamily="34" charset="0"/>
              <a:buChar char="•"/>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grpSp>
        <p:nvGrpSpPr>
          <p:cNvPr id="10" name="Group 9"/>
          <p:cNvGrpSpPr/>
          <p:nvPr/>
        </p:nvGrpSpPr>
        <p:grpSpPr>
          <a:xfrm>
            <a:off x="720000" y="1381694"/>
            <a:ext cx="11124206" cy="3197693"/>
            <a:chOff x="1044000" y="1381694"/>
            <a:chExt cx="11124206" cy="3197693"/>
          </a:xfrm>
        </p:grpSpPr>
        <p:pic>
          <p:nvPicPr>
            <p:cNvPr id="3" name="Picture 2"/>
            <p:cNvPicPr>
              <a:picLocks noChangeAspect="1"/>
            </p:cNvPicPr>
            <p:nvPr/>
          </p:nvPicPr>
          <p:blipFill rotWithShape="1">
            <a:blip r:embed="rId2"/>
            <a:srcRect l="19519" t="19764" r="18025" b="19708"/>
            <a:stretch/>
          </p:blipFill>
          <p:spPr>
            <a:xfrm>
              <a:off x="10295998" y="1381694"/>
              <a:ext cx="1872208" cy="1911212"/>
            </a:xfrm>
            <a:prstGeom prst="rect">
              <a:avLst/>
            </a:prstGeom>
          </p:spPr>
        </p:pic>
        <p:sp>
          <p:nvSpPr>
            <p:cNvPr id="8" name="TextBox 7"/>
            <p:cNvSpPr txBox="1"/>
            <p:nvPr/>
          </p:nvSpPr>
          <p:spPr>
            <a:xfrm>
              <a:off x="1044000" y="3933056"/>
              <a:ext cx="6967340" cy="646331"/>
            </a:xfrm>
            <a:prstGeom prst="rect">
              <a:avLst/>
            </a:prstGeom>
            <a:noFill/>
          </p:spPr>
          <p:txBody>
            <a:bodyPr wrap="square" rtlCol="0">
              <a:spAutoFit/>
            </a:bodyPr>
            <a:lstStyle/>
            <a:p>
              <a:pPr marL="3429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3" name="Title 1">
            <a:extLst>
              <a:ext uri="{FF2B5EF4-FFF2-40B4-BE49-F238E27FC236}">
                <a16:creationId xmlns:a16="http://schemas.microsoft.com/office/drawing/2014/main" id="{9EDCE169-4E92-EE1C-22EE-F33114447826}"/>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4" name="Line 2">
            <a:extLst>
              <a:ext uri="{FF2B5EF4-FFF2-40B4-BE49-F238E27FC236}">
                <a16:creationId xmlns:a16="http://schemas.microsoft.com/office/drawing/2014/main" id="{303C234A-7B17-1E2F-57C5-68C93D5F0317}"/>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5" name="Line 2">
            <a:extLst>
              <a:ext uri="{FF2B5EF4-FFF2-40B4-BE49-F238E27FC236}">
                <a16:creationId xmlns:a16="http://schemas.microsoft.com/office/drawing/2014/main" id="{3B6CFE75-7A99-64EE-B1BA-914FC8E4F58D}"/>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031213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0000"/>
            <a:ext cx="11136560" cy="5400600"/>
          </a:xfrm>
        </p:spPr>
        <p:txBody>
          <a:bodyPr>
            <a:noAutofit/>
          </a:bodyPr>
          <a:lstStyle/>
          <a:p>
            <a:pPr marL="0" lvl="1" indent="0">
              <a:buNone/>
              <a:tabLst>
                <a:tab pos="3138488" algn="l"/>
              </a:tabLst>
            </a:pPr>
            <a:r>
              <a:rPr lang="en-GB" sz="1800" b="1" dirty="0" err="1"/>
              <a:t>Hyperparameters</a:t>
            </a:r>
            <a:endParaRPr lang="en-GB" sz="1800" dirty="0"/>
          </a:p>
          <a:p>
            <a:pPr marL="808038" lvl="2" indent="-407988">
              <a:buFont typeface="+mj-lt"/>
              <a:buAutoNum type="arabicPeriod"/>
              <a:tabLst>
                <a:tab pos="3138488" algn="l"/>
              </a:tabLst>
            </a:pPr>
            <a:r>
              <a:rPr lang="en-GB" sz="1800" u="sng" dirty="0"/>
              <a:t>Batch size</a:t>
            </a:r>
            <a:r>
              <a:rPr lang="en-GB" sz="1800" dirty="0"/>
              <a:t>: number of observations (aka instances) utilized in </a:t>
            </a:r>
            <a:r>
              <a:rPr lang="en-GB" sz="1800" b="1" dirty="0"/>
              <a:t>1 iteration</a:t>
            </a:r>
          </a:p>
          <a:p>
            <a:pPr marL="400050" lvl="2" indent="0">
              <a:buNone/>
              <a:tabLst>
                <a:tab pos="3138488" algn="l"/>
              </a:tabLst>
            </a:pPr>
            <a:r>
              <a:rPr lang="en-GB" sz="1800" b="1" dirty="0"/>
              <a:t>			Stability			Robustness towards saddles 							and local minima	</a:t>
            </a:r>
          </a:p>
          <a:p>
            <a:pPr marL="1257300" lvl="3" indent="-400050">
              <a:tabLst>
                <a:tab pos="3138488" algn="l"/>
              </a:tabLst>
            </a:pPr>
            <a:r>
              <a:rPr lang="en-GB" sz="1800" dirty="0"/>
              <a:t>All instances (i.e. all data)</a:t>
            </a:r>
            <a:r>
              <a:rPr lang="en-GB" sz="1800" dirty="0">
                <a:sym typeface="Wingdings" panose="05000000000000000000" pitchFamily="2" charset="2"/>
              </a:rPr>
              <a:t>		Very stable		Not so robust</a:t>
            </a:r>
          </a:p>
          <a:p>
            <a:pPr marL="857250" lvl="3" indent="0">
              <a:buNone/>
              <a:tabLst>
                <a:tab pos="1257300" algn="l"/>
                <a:tab pos="3138488" algn="l"/>
              </a:tabLst>
            </a:pPr>
            <a:r>
              <a:rPr lang="en-GB" sz="1800" i="1" dirty="0">
                <a:solidFill>
                  <a:srgbClr val="4886B3"/>
                </a:solidFill>
                <a:sym typeface="Wingdings" panose="05000000000000000000" pitchFamily="2" charset="2"/>
              </a:rPr>
              <a:t>	Batch gradient descent</a:t>
            </a:r>
            <a:r>
              <a:rPr lang="en-GB" sz="1800" dirty="0">
                <a:solidFill>
                  <a:srgbClr val="4886B3"/>
                </a:solidFill>
                <a:sym typeface="Wingdings" panose="05000000000000000000" pitchFamily="2" charset="2"/>
              </a:rPr>
              <a:t>							</a:t>
            </a:r>
          </a:p>
          <a:p>
            <a:pPr marL="1257300" lvl="3" indent="-400050">
              <a:tabLst>
                <a:tab pos="3138488" algn="l"/>
              </a:tabLst>
            </a:pPr>
            <a:r>
              <a:rPr lang="en-GB" sz="1800" dirty="0">
                <a:sym typeface="Wingdings" panose="05000000000000000000" pitchFamily="2" charset="2"/>
              </a:rPr>
              <a:t>One instance randomly sampled	Very instable		Robust</a:t>
            </a:r>
          </a:p>
          <a:p>
            <a:pPr marL="857250" lvl="3" indent="0">
              <a:buNone/>
              <a:tabLst>
                <a:tab pos="1257300" algn="l"/>
                <a:tab pos="3138488" algn="l"/>
              </a:tabLst>
            </a:pPr>
            <a:r>
              <a:rPr lang="en-GB" sz="1800" i="1" dirty="0">
                <a:solidFill>
                  <a:srgbClr val="8754AD"/>
                </a:solidFill>
                <a:sym typeface="Wingdings" panose="05000000000000000000" pitchFamily="2" charset="2"/>
              </a:rPr>
              <a:t>	Stochastic gradient descent</a:t>
            </a:r>
            <a:endParaRPr lang="en-GB" sz="1800" dirty="0">
              <a:solidFill>
                <a:srgbClr val="8754AD"/>
              </a:solidFill>
              <a:sym typeface="Wingdings" panose="05000000000000000000" pitchFamily="2" charset="2"/>
            </a:endParaRPr>
          </a:p>
          <a:p>
            <a:pPr marL="1257300" lvl="3" indent="-400050">
              <a:tabLst>
                <a:tab pos="3138488" algn="l"/>
              </a:tabLst>
            </a:pPr>
            <a:r>
              <a:rPr lang="en-GB" sz="1800" i="1" dirty="0"/>
              <a:t>N</a:t>
            </a:r>
            <a:r>
              <a:rPr lang="en-GB" sz="1800" dirty="0"/>
              <a:t> instances </a:t>
            </a:r>
            <a:r>
              <a:rPr lang="en-GB" sz="1800" dirty="0">
                <a:sym typeface="Wingdings" panose="05000000000000000000" pitchFamily="2" charset="2"/>
              </a:rPr>
              <a:t>randomly sampled	Fairly stable		Fairly robust</a:t>
            </a:r>
          </a:p>
          <a:p>
            <a:pPr marL="857250" lvl="3" indent="0">
              <a:buNone/>
              <a:tabLst>
                <a:tab pos="1257300" algn="l"/>
                <a:tab pos="3138488" algn="l"/>
              </a:tabLst>
            </a:pPr>
            <a:r>
              <a:rPr lang="en-GB" sz="1800" i="1" dirty="0">
                <a:solidFill>
                  <a:srgbClr val="23BB67"/>
                </a:solidFill>
                <a:sym typeface="Wingdings" panose="05000000000000000000" pitchFamily="2" charset="2"/>
              </a:rPr>
              <a:t>	Mini batch gradient </a:t>
            </a:r>
            <a:endParaRPr lang="en-GB" sz="1800" dirty="0">
              <a:solidFill>
                <a:srgbClr val="23BB67"/>
              </a:solidFill>
            </a:endParaRPr>
          </a:p>
        </p:txBody>
      </p:sp>
      <p:sp>
        <p:nvSpPr>
          <p:cNvPr id="4" name="Slide Number Placeholder 3"/>
          <p:cNvSpPr>
            <a:spLocks noGrp="1"/>
          </p:cNvSpPr>
          <p:nvPr>
            <p:ph type="sldNum" sz="quarter" idx="12"/>
          </p:nvPr>
        </p:nvSpPr>
        <p:spPr>
          <a:xfrm>
            <a:off x="10154579" y="6356350"/>
            <a:ext cx="1353059" cy="365125"/>
          </a:xfrm>
          <a:solidFill>
            <a:schemeClr val="bg1"/>
          </a:solid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9" name="Picture 8"/>
          <p:cNvPicPr>
            <a:picLocks noChangeAspect="1"/>
          </p:cNvPicPr>
          <p:nvPr/>
        </p:nvPicPr>
        <p:blipFill>
          <a:blip r:embed="rId3"/>
          <a:stretch>
            <a:fillRect/>
          </a:stretch>
        </p:blipFill>
        <p:spPr>
          <a:xfrm>
            <a:off x="3763349" y="4488330"/>
            <a:ext cx="5062817" cy="2233146"/>
          </a:xfrm>
          <a:prstGeom prst="rect">
            <a:avLst/>
          </a:prstGeom>
        </p:spPr>
      </p:pic>
      <p:cxnSp>
        <p:nvCxnSpPr>
          <p:cNvPr id="3" name="Straight Arrow Connector 2"/>
          <p:cNvCxnSpPr>
            <a:cxnSpLocks/>
          </p:cNvCxnSpPr>
          <p:nvPr/>
        </p:nvCxnSpPr>
        <p:spPr>
          <a:xfrm flipH="1">
            <a:off x="6075904" y="3960300"/>
            <a:ext cx="143827" cy="517110"/>
          </a:xfrm>
          <a:prstGeom prst="straightConnector1">
            <a:avLst/>
          </a:prstGeom>
          <a:ln>
            <a:solidFill>
              <a:schemeClr val="tx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0" name="Rectangle 9"/>
          <p:cNvSpPr/>
          <p:nvPr/>
        </p:nvSpPr>
        <p:spPr>
          <a:xfrm>
            <a:off x="7849354" y="1844824"/>
            <a:ext cx="3575238" cy="2520280"/>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Rectangle 1"/>
          <p:cNvSpPr/>
          <p:nvPr/>
        </p:nvSpPr>
        <p:spPr>
          <a:xfrm>
            <a:off x="5257809" y="1844824"/>
            <a:ext cx="5976664" cy="26435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sp>
        <p:nvSpPr>
          <p:cNvPr id="11" name="Title 1">
            <a:extLst>
              <a:ext uri="{FF2B5EF4-FFF2-40B4-BE49-F238E27FC236}">
                <a16:creationId xmlns:a16="http://schemas.microsoft.com/office/drawing/2014/main" id="{0A310088-AC7C-FB33-5566-EDD3EA0B2071}"/>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2" name="Line 2">
            <a:extLst>
              <a:ext uri="{FF2B5EF4-FFF2-40B4-BE49-F238E27FC236}">
                <a16:creationId xmlns:a16="http://schemas.microsoft.com/office/drawing/2014/main" id="{18AC96C1-FE7F-7F3D-84C3-BD5559139DC0}"/>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3" name="Line 2">
            <a:extLst>
              <a:ext uri="{FF2B5EF4-FFF2-40B4-BE49-F238E27FC236}">
                <a16:creationId xmlns:a16="http://schemas.microsoft.com/office/drawing/2014/main" id="{1855F425-93A9-4903-C196-953B4E63EA43}"/>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10173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500"/>
                                        <p:tgtEl>
                                          <p:spTgt spid="5">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3" end="3"/>
                                            </p:txEl>
                                          </p:spTgt>
                                        </p:tgtEl>
                                        <p:attrNameLst>
                                          <p:attrName>style.visibility</p:attrName>
                                        </p:attrNameLst>
                                      </p:cBhvr>
                                      <p:to>
                                        <p:strVal val="visible"/>
                                      </p:to>
                                    </p:set>
                                    <p:animEffect transition="in" filter="fade">
                                      <p:cBhvr>
                                        <p:cTn id="10" dur="500"/>
                                        <p:tgtEl>
                                          <p:spTgt spid="5">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animEffect transition="in" filter="fade">
                                      <p:cBhvr>
                                        <p:cTn id="13" dur="500"/>
                                        <p:tgtEl>
                                          <p:spTgt spid="5">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5" end="5"/>
                                            </p:txEl>
                                          </p:spTgt>
                                        </p:tgtEl>
                                        <p:attrNameLst>
                                          <p:attrName>style.visibility</p:attrName>
                                        </p:attrNameLst>
                                      </p:cBhvr>
                                      <p:to>
                                        <p:strVal val="visible"/>
                                      </p:to>
                                    </p:set>
                                    <p:animEffect transition="in" filter="fade">
                                      <p:cBhvr>
                                        <p:cTn id="16" dur="500"/>
                                        <p:tgtEl>
                                          <p:spTgt spid="5">
                                            <p:txEl>
                                              <p:pRg st="5" end="5"/>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animEffect transition="in" filter="fade">
                                      <p:cBhvr>
                                        <p:cTn id="19" dur="500"/>
                                        <p:tgtEl>
                                          <p:spTgt spid="5">
                                            <p:txEl>
                                              <p:pRg st="6" end="6"/>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5">
                                            <p:txEl>
                                              <p:pRg st="7" end="7"/>
                                            </p:txEl>
                                          </p:spTgt>
                                        </p:tgtEl>
                                        <p:attrNameLst>
                                          <p:attrName>style.visibility</p:attrName>
                                        </p:attrNameLst>
                                      </p:cBhvr>
                                      <p:to>
                                        <p:strVal val="visible"/>
                                      </p:to>
                                    </p:set>
                                    <p:animEffect transition="in" filter="fade">
                                      <p:cBhvr>
                                        <p:cTn id="22" dur="500"/>
                                        <p:tgtEl>
                                          <p:spTgt spid="5">
                                            <p:txEl>
                                              <p:pRg st="7" end="7"/>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animEffect transition="in" filter="fade">
                                      <p:cBhvr>
                                        <p:cTn id="25" dur="500"/>
                                        <p:tgtEl>
                                          <p:spTgt spid="5">
                                            <p:txEl>
                                              <p:pRg st="8" end="8"/>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grpId="0" nodeType="clickEffect">
                                  <p:stCondLst>
                                    <p:cond delay="0"/>
                                  </p:stCondLst>
                                  <p:childTnLst>
                                    <p:animEffect transition="out" filter="fade">
                                      <p:cBhvr>
                                        <p:cTn id="29" dur="500"/>
                                        <p:tgtEl>
                                          <p:spTgt spid="2"/>
                                        </p:tgtEl>
                                      </p:cBhvr>
                                    </p:animEffect>
                                    <p:set>
                                      <p:cBhvr>
                                        <p:cTn id="30" dur="1" fill="hold">
                                          <p:stCondLst>
                                            <p:cond delay="499"/>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childTnLst>
                                </p:cTn>
                              </p:par>
                              <p:par>
                                <p:cTn id="39" presetID="10" presetClass="entr" presetSubtype="0" fill="hold" nodeType="with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3" name="Content Placeholder 2"/>
          <p:cNvSpPr>
            <a:spLocks noGrp="1"/>
          </p:cNvSpPr>
          <p:nvPr>
            <p:ph idx="1"/>
          </p:nvPr>
        </p:nvSpPr>
        <p:spPr>
          <a:xfrm>
            <a:off x="720000" y="1260000"/>
            <a:ext cx="11136560" cy="5400600"/>
          </a:xfrm>
        </p:spPr>
        <p:txBody>
          <a:bodyPr>
            <a:noAutofit/>
          </a:bodyPr>
          <a:lstStyle/>
          <a:p>
            <a:pPr marL="0" lvl="2" indent="0">
              <a:buNone/>
              <a:tabLst>
                <a:tab pos="3138488" algn="l"/>
              </a:tabLst>
            </a:pPr>
            <a:r>
              <a:rPr lang="en-GB" sz="1800" b="1" dirty="0" err="1"/>
              <a:t>Hyperparameters</a:t>
            </a:r>
            <a:endParaRPr lang="en-GB" sz="1800" dirty="0"/>
          </a:p>
          <a:p>
            <a:pPr marL="800100" lvl="2" indent="-400050">
              <a:buFont typeface="+mj-lt"/>
              <a:buAutoNum type="arabicPeriod"/>
              <a:tabLst>
                <a:tab pos="3138488" algn="l"/>
              </a:tabLst>
            </a:pPr>
            <a:r>
              <a:rPr lang="en-GB" sz="1800" u="sng" dirty="0"/>
              <a:t>Batch size</a:t>
            </a:r>
            <a:r>
              <a:rPr lang="en-GB" sz="1800" dirty="0"/>
              <a:t>:</a:t>
            </a:r>
            <a:r>
              <a:rPr lang="en-GB" sz="1800" b="1" dirty="0"/>
              <a:t> </a:t>
            </a:r>
            <a:r>
              <a:rPr lang="en-GB" sz="1800" dirty="0"/>
              <a:t>number of observations (aka instances) utilized in </a:t>
            </a:r>
            <a:r>
              <a:rPr lang="en-GB" sz="1800" b="1" dirty="0"/>
              <a:t>1 iteration</a:t>
            </a:r>
          </a:p>
          <a:p>
            <a:pPr marL="400050" lvl="2" indent="0">
              <a:buNone/>
              <a:tabLst>
                <a:tab pos="3138488" algn="l"/>
              </a:tabLst>
            </a:pPr>
            <a:r>
              <a:rPr lang="en-GB" sz="1800" b="1" dirty="0"/>
              <a:t>			Stability			Robustness towards saddles 							and local minima	</a:t>
            </a:r>
          </a:p>
          <a:p>
            <a:pPr marL="1257300" lvl="3" indent="-400050">
              <a:tabLst>
                <a:tab pos="3138488" algn="l"/>
              </a:tabLst>
            </a:pPr>
            <a:r>
              <a:rPr lang="en-GB" sz="1800" dirty="0"/>
              <a:t>All data</a:t>
            </a:r>
            <a:r>
              <a:rPr lang="en-GB" sz="1800" dirty="0">
                <a:sym typeface="Wingdings" panose="05000000000000000000" pitchFamily="2" charset="2"/>
              </a:rPr>
              <a:t> 			Very stable		Not so robust</a:t>
            </a:r>
          </a:p>
          <a:p>
            <a:pPr marL="857250" lvl="3" indent="0">
              <a:buNone/>
              <a:tabLst>
                <a:tab pos="1257300" algn="l"/>
                <a:tab pos="3138488" algn="l"/>
              </a:tabLst>
            </a:pPr>
            <a:r>
              <a:rPr lang="en-GB" sz="1800" i="1" dirty="0">
                <a:solidFill>
                  <a:srgbClr val="4886B3"/>
                </a:solidFill>
                <a:sym typeface="Wingdings" panose="05000000000000000000" pitchFamily="2" charset="2"/>
              </a:rPr>
              <a:t>	Batch gradient descent</a:t>
            </a:r>
            <a:r>
              <a:rPr lang="en-GB" sz="1800" dirty="0">
                <a:solidFill>
                  <a:srgbClr val="4886B3"/>
                </a:solidFill>
                <a:sym typeface="Wingdings" panose="05000000000000000000" pitchFamily="2" charset="2"/>
              </a:rPr>
              <a:t>							</a:t>
            </a:r>
          </a:p>
          <a:p>
            <a:pPr marL="1257300" lvl="3" indent="-400050">
              <a:tabLst>
                <a:tab pos="3138488" algn="l"/>
              </a:tabLst>
            </a:pPr>
            <a:r>
              <a:rPr lang="en-GB" sz="1800" dirty="0">
                <a:sym typeface="Wingdings" panose="05000000000000000000" pitchFamily="2" charset="2"/>
              </a:rPr>
              <a:t>One instance randomly sampled	Very instable		Robust</a:t>
            </a:r>
          </a:p>
          <a:p>
            <a:pPr marL="857250" lvl="3" indent="0">
              <a:buNone/>
              <a:tabLst>
                <a:tab pos="1257300" algn="l"/>
                <a:tab pos="3138488" algn="l"/>
              </a:tabLst>
            </a:pPr>
            <a:r>
              <a:rPr lang="en-GB" sz="1800" i="1" dirty="0">
                <a:solidFill>
                  <a:srgbClr val="8754AD"/>
                </a:solidFill>
                <a:sym typeface="Wingdings" panose="05000000000000000000" pitchFamily="2" charset="2"/>
              </a:rPr>
              <a:t>	Stochastic gradient descent</a:t>
            </a:r>
            <a:endParaRPr lang="en-GB" sz="1800" dirty="0">
              <a:solidFill>
                <a:srgbClr val="8754AD"/>
              </a:solidFill>
              <a:sym typeface="Wingdings" panose="05000000000000000000" pitchFamily="2" charset="2"/>
            </a:endParaRPr>
          </a:p>
          <a:p>
            <a:pPr marL="1257300" lvl="3" indent="-400050">
              <a:tabLst>
                <a:tab pos="3138488" algn="l"/>
              </a:tabLst>
            </a:pPr>
            <a:r>
              <a:rPr lang="en-GB" sz="1800" i="1" dirty="0"/>
              <a:t>N</a:t>
            </a:r>
            <a:r>
              <a:rPr lang="en-GB" sz="1800" dirty="0"/>
              <a:t> instances </a:t>
            </a:r>
            <a:r>
              <a:rPr lang="en-GB" sz="1800" dirty="0">
                <a:sym typeface="Wingdings" panose="05000000000000000000" pitchFamily="2" charset="2"/>
              </a:rPr>
              <a:t>randomly sampled	Fairly stable		Fairly robust</a:t>
            </a:r>
          </a:p>
          <a:p>
            <a:pPr marL="857250" lvl="3" indent="0">
              <a:buNone/>
              <a:tabLst>
                <a:tab pos="1257300" algn="l"/>
                <a:tab pos="3138488" algn="l"/>
              </a:tabLst>
            </a:pPr>
            <a:r>
              <a:rPr lang="en-GB" sz="1800" i="1" dirty="0">
                <a:solidFill>
                  <a:srgbClr val="23BB67"/>
                </a:solidFill>
                <a:sym typeface="Wingdings" panose="05000000000000000000" pitchFamily="2" charset="2"/>
              </a:rPr>
              <a:t>	Mini batch gradient </a:t>
            </a:r>
            <a:endParaRPr lang="en-GB" sz="1800" dirty="0">
              <a:solidFill>
                <a:srgbClr val="23BB67"/>
              </a:solidFill>
            </a:endParaRPr>
          </a:p>
        </p:txBody>
      </p:sp>
      <p:sp>
        <p:nvSpPr>
          <p:cNvPr id="14" name="Rectangle 13"/>
          <p:cNvSpPr/>
          <p:nvPr/>
        </p:nvSpPr>
        <p:spPr>
          <a:xfrm>
            <a:off x="1631504" y="2276872"/>
            <a:ext cx="6192688" cy="381642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8" name="Group 7"/>
          <p:cNvGrpSpPr/>
          <p:nvPr/>
        </p:nvGrpSpPr>
        <p:grpSpPr>
          <a:xfrm>
            <a:off x="1847528" y="2276872"/>
            <a:ext cx="5057775" cy="3968709"/>
            <a:chOff x="1543050" y="1933575"/>
            <a:chExt cx="5057775" cy="3968709"/>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66875" y="1933575"/>
              <a:ext cx="4933950" cy="3819832"/>
            </a:xfrm>
            <a:prstGeom prst="rect">
              <a:avLst/>
            </a:prstGeom>
          </p:spPr>
        </p:pic>
        <p:sp>
          <p:nvSpPr>
            <p:cNvPr id="10" name="Rectangle 9"/>
            <p:cNvSpPr/>
            <p:nvPr/>
          </p:nvSpPr>
          <p:spPr>
            <a:xfrm>
              <a:off x="5105400" y="2082453"/>
              <a:ext cx="1362075" cy="131797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TextBox 10"/>
            <p:cNvSpPr txBox="1"/>
            <p:nvPr/>
          </p:nvSpPr>
          <p:spPr>
            <a:xfrm>
              <a:off x="5105399" y="2086501"/>
              <a:ext cx="1362076"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Robustness of different optimisation algorithms</a:t>
              </a:r>
            </a:p>
          </p:txBody>
        </p:sp>
        <p:sp>
          <p:nvSpPr>
            <p:cNvPr id="12" name="Rectangle 11"/>
            <p:cNvSpPr/>
            <p:nvPr/>
          </p:nvSpPr>
          <p:spPr>
            <a:xfrm>
              <a:off x="1543050" y="1933575"/>
              <a:ext cx="5057775" cy="3968709"/>
            </a:xfrm>
            <a:prstGeom prst="rect">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 name="Rectangle 1"/>
          <p:cNvSpPr/>
          <p:nvPr/>
        </p:nvSpPr>
        <p:spPr>
          <a:xfrm>
            <a:off x="5266019" y="1942873"/>
            <a:ext cx="1180009" cy="257536"/>
          </a:xfrm>
          <a:prstGeom prst="rect">
            <a:avLst/>
          </a:prstGeom>
          <a:solidFill>
            <a:schemeClr val="bg1">
              <a:alpha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9" name="Straight Arrow Connector 8"/>
          <p:cNvCxnSpPr>
            <a:cxnSpLocks/>
          </p:cNvCxnSpPr>
          <p:nvPr/>
        </p:nvCxnSpPr>
        <p:spPr>
          <a:xfrm flipH="1">
            <a:off x="7178947" y="2200409"/>
            <a:ext cx="853884" cy="374734"/>
          </a:xfrm>
          <a:prstGeom prst="straightConnector1">
            <a:avLst/>
          </a:prstGeom>
          <a:ln w="19050">
            <a:solidFill>
              <a:schemeClr val="tx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5" name="Title 1">
            <a:extLst>
              <a:ext uri="{FF2B5EF4-FFF2-40B4-BE49-F238E27FC236}">
                <a16:creationId xmlns:a16="http://schemas.microsoft.com/office/drawing/2014/main" id="{5CE46552-4E5D-51ED-9F64-E64AFA846EF3}"/>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6" name="Line 2">
            <a:extLst>
              <a:ext uri="{FF2B5EF4-FFF2-40B4-BE49-F238E27FC236}">
                <a16:creationId xmlns:a16="http://schemas.microsoft.com/office/drawing/2014/main" id="{6D506571-833B-1E27-4F82-4DBCC466F307}"/>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7" name="Line 2">
            <a:extLst>
              <a:ext uri="{FF2B5EF4-FFF2-40B4-BE49-F238E27FC236}">
                <a16:creationId xmlns:a16="http://schemas.microsoft.com/office/drawing/2014/main" id="{55A4B096-A231-69A8-DC98-36093CDE6B98}"/>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802001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8788400" y="6356351"/>
            <a:ext cx="28448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3" name="Content Placeholder 2"/>
          <p:cNvSpPr>
            <a:spLocks noGrp="1"/>
          </p:cNvSpPr>
          <p:nvPr>
            <p:ph idx="1"/>
          </p:nvPr>
        </p:nvSpPr>
        <p:spPr>
          <a:xfrm>
            <a:off x="720000" y="1268760"/>
            <a:ext cx="11136560" cy="4059987"/>
          </a:xfrm>
        </p:spPr>
        <p:txBody>
          <a:bodyPr>
            <a:noAutofit/>
          </a:bodyPr>
          <a:lstStyle/>
          <a:p>
            <a:pPr marL="0" lvl="1" indent="0">
              <a:buNone/>
              <a:tabLst>
                <a:tab pos="3138488" algn="l"/>
              </a:tabLst>
            </a:pPr>
            <a:r>
              <a:rPr lang="en-GB" sz="1800" b="1" dirty="0" err="1"/>
              <a:t>Hyperparameters</a:t>
            </a:r>
            <a:endParaRPr lang="en-GB" sz="1800" dirty="0"/>
          </a:p>
          <a:p>
            <a:pPr marL="800100" lvl="2" indent="-400050">
              <a:buFont typeface="+mj-lt"/>
              <a:buAutoNum type="arabicPeriod"/>
              <a:tabLst>
                <a:tab pos="3138488" algn="l"/>
              </a:tabLst>
            </a:pPr>
            <a:r>
              <a:rPr lang="en-GB" sz="1800" u="sng" dirty="0"/>
              <a:t>Batch size</a:t>
            </a:r>
            <a:r>
              <a:rPr lang="en-GB" sz="1800" dirty="0"/>
              <a:t>:</a:t>
            </a:r>
            <a:r>
              <a:rPr lang="en-GB" sz="1800" b="1" dirty="0"/>
              <a:t> </a:t>
            </a:r>
            <a:r>
              <a:rPr lang="en-GB" sz="1800" dirty="0"/>
              <a:t>number of observations (aka instances) utilized in </a:t>
            </a:r>
            <a:r>
              <a:rPr lang="en-GB" sz="1800" b="1" dirty="0"/>
              <a:t>1 iteration</a:t>
            </a:r>
          </a:p>
          <a:p>
            <a:pPr marL="400050" lvl="2" indent="0">
              <a:buNone/>
              <a:tabLst>
                <a:tab pos="3138488" algn="l"/>
              </a:tabLst>
            </a:pPr>
            <a:r>
              <a:rPr lang="en-GB" sz="1800" b="1" dirty="0"/>
              <a:t>			Stability			Robustness towards saddles 							and local minima	</a:t>
            </a:r>
          </a:p>
          <a:p>
            <a:pPr marL="1257300" lvl="3" indent="-400050">
              <a:tabLst>
                <a:tab pos="3138488" algn="l"/>
              </a:tabLst>
            </a:pPr>
            <a:r>
              <a:rPr lang="en-GB" sz="1800" dirty="0"/>
              <a:t>All instances (i.e. all data)</a:t>
            </a:r>
            <a:r>
              <a:rPr lang="en-GB" sz="1800" dirty="0">
                <a:sym typeface="Wingdings" panose="05000000000000000000" pitchFamily="2" charset="2"/>
              </a:rPr>
              <a:t>		Very stable		Not so robust</a:t>
            </a:r>
          </a:p>
          <a:p>
            <a:pPr marL="857250" lvl="3" indent="0">
              <a:buNone/>
              <a:tabLst>
                <a:tab pos="1257300" algn="l"/>
                <a:tab pos="3138488" algn="l"/>
              </a:tabLst>
            </a:pPr>
            <a:r>
              <a:rPr lang="en-GB" sz="1800" i="1" dirty="0">
                <a:solidFill>
                  <a:srgbClr val="4886B3"/>
                </a:solidFill>
                <a:sym typeface="Wingdings" panose="05000000000000000000" pitchFamily="2" charset="2"/>
              </a:rPr>
              <a:t>	Batch gradient descent</a:t>
            </a:r>
            <a:r>
              <a:rPr lang="en-GB" sz="1800" dirty="0">
                <a:solidFill>
                  <a:srgbClr val="4886B3"/>
                </a:solidFill>
                <a:sym typeface="Wingdings" panose="05000000000000000000" pitchFamily="2" charset="2"/>
              </a:rPr>
              <a:t>							</a:t>
            </a:r>
          </a:p>
          <a:p>
            <a:pPr marL="1257300" lvl="3" indent="-400050">
              <a:tabLst>
                <a:tab pos="3138488" algn="l"/>
              </a:tabLst>
            </a:pPr>
            <a:r>
              <a:rPr lang="en-GB" sz="1800" dirty="0">
                <a:sym typeface="Wingdings" panose="05000000000000000000" pitchFamily="2" charset="2"/>
              </a:rPr>
              <a:t>One instance randomly sampled	Very instable		Robust</a:t>
            </a:r>
          </a:p>
          <a:p>
            <a:pPr marL="857250" lvl="3" indent="0">
              <a:buNone/>
              <a:tabLst>
                <a:tab pos="1257300" algn="l"/>
                <a:tab pos="3138488" algn="l"/>
              </a:tabLst>
            </a:pPr>
            <a:r>
              <a:rPr lang="en-GB" sz="1800" i="1" dirty="0">
                <a:solidFill>
                  <a:srgbClr val="8754AD"/>
                </a:solidFill>
                <a:sym typeface="Wingdings" panose="05000000000000000000" pitchFamily="2" charset="2"/>
              </a:rPr>
              <a:t>	Stochastic gradient descent</a:t>
            </a:r>
            <a:endParaRPr lang="en-GB" sz="1800" dirty="0">
              <a:solidFill>
                <a:srgbClr val="8754AD"/>
              </a:solidFill>
              <a:sym typeface="Wingdings" panose="05000000000000000000" pitchFamily="2" charset="2"/>
            </a:endParaRPr>
          </a:p>
          <a:p>
            <a:pPr marL="1257300" lvl="3" indent="-400050">
              <a:tabLst>
                <a:tab pos="3138488" algn="l"/>
              </a:tabLst>
            </a:pPr>
            <a:r>
              <a:rPr lang="en-GB" sz="1800" i="1" dirty="0"/>
              <a:t>N</a:t>
            </a:r>
            <a:r>
              <a:rPr lang="en-GB" sz="1800" dirty="0"/>
              <a:t> instances </a:t>
            </a:r>
            <a:r>
              <a:rPr lang="en-GB" sz="1800" dirty="0">
                <a:sym typeface="Wingdings" panose="05000000000000000000" pitchFamily="2" charset="2"/>
              </a:rPr>
              <a:t>randomly sampled	Fairly stable		Fairly robust</a:t>
            </a:r>
          </a:p>
          <a:p>
            <a:pPr marL="857250" lvl="3" indent="0">
              <a:buNone/>
              <a:tabLst>
                <a:tab pos="1257300" algn="l"/>
                <a:tab pos="3138488" algn="l"/>
              </a:tabLst>
            </a:pPr>
            <a:r>
              <a:rPr lang="en-GB" sz="1800" i="1" dirty="0">
                <a:solidFill>
                  <a:srgbClr val="23BB67"/>
                </a:solidFill>
                <a:sym typeface="Wingdings" panose="05000000000000000000" pitchFamily="2" charset="2"/>
              </a:rPr>
              <a:t>	Mini batch gradient </a:t>
            </a:r>
          </a:p>
          <a:p>
            <a:pPr marL="857250" lvl="3" indent="0">
              <a:buNone/>
              <a:tabLst>
                <a:tab pos="1257300" algn="l"/>
                <a:tab pos="3138488" algn="l"/>
              </a:tabLst>
            </a:pPr>
            <a:endParaRPr lang="en-GB" sz="1800" i="1" dirty="0">
              <a:solidFill>
                <a:srgbClr val="23BB67"/>
              </a:solidFill>
              <a:sym typeface="Wingdings" panose="05000000000000000000" pitchFamily="2" charset="2"/>
            </a:endParaRPr>
          </a:p>
          <a:p>
            <a:pPr marL="857250" lvl="3" indent="0">
              <a:buNone/>
              <a:tabLst>
                <a:tab pos="1257300" algn="l"/>
                <a:tab pos="3138488" algn="l"/>
              </a:tabLst>
            </a:pPr>
            <a:r>
              <a:rPr lang="en-GB" sz="1800" dirty="0">
                <a:sym typeface="Wingdings" panose="05000000000000000000" pitchFamily="2" charset="2"/>
              </a:rPr>
              <a:t>In 1 </a:t>
            </a:r>
            <a:r>
              <a:rPr lang="en-GB" sz="1800" b="1" dirty="0">
                <a:sym typeface="Wingdings" panose="05000000000000000000" pitchFamily="2" charset="2"/>
              </a:rPr>
              <a:t>epoch</a:t>
            </a:r>
            <a:r>
              <a:rPr lang="en-GB" sz="1800" dirty="0">
                <a:sym typeface="Wingdings" panose="05000000000000000000" pitchFamily="2" charset="2"/>
              </a:rPr>
              <a:t> all the observations (instances) in the data has been utilised ones</a:t>
            </a:r>
            <a:endParaRPr lang="en-GB" sz="1800" dirty="0"/>
          </a:p>
        </p:txBody>
      </p:sp>
      <p:grpSp>
        <p:nvGrpSpPr>
          <p:cNvPr id="16" name="Group 15"/>
          <p:cNvGrpSpPr/>
          <p:nvPr/>
        </p:nvGrpSpPr>
        <p:grpSpPr>
          <a:xfrm>
            <a:off x="3678560" y="5373216"/>
            <a:ext cx="4834880" cy="1348260"/>
            <a:chOff x="1985040" y="5397192"/>
            <a:chExt cx="4834880" cy="1348260"/>
          </a:xfrm>
        </p:grpSpPr>
        <p:sp>
          <p:nvSpPr>
            <p:cNvPr id="2" name="Rounded Rectangle 1"/>
            <p:cNvSpPr/>
            <p:nvPr/>
          </p:nvSpPr>
          <p:spPr>
            <a:xfrm>
              <a:off x="1985040" y="5397192"/>
              <a:ext cx="4834880" cy="1348260"/>
            </a:xfrm>
            <a:prstGeom prst="roundRect">
              <a:avLst/>
            </a:prstGeom>
            <a:ln/>
          </p:spPr>
          <p:style>
            <a:lnRef idx="2">
              <a:schemeClr val="accent1"/>
            </a:lnRef>
            <a:fillRef idx="1">
              <a:schemeClr val="lt1"/>
            </a:fillRef>
            <a:effectRef idx="0">
              <a:schemeClr val="accent1"/>
            </a:effectRef>
            <a:fontRef idx="minor">
              <a:schemeClr val="dk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1" u="none" strike="noStrike" kern="1200" cap="none" spc="0" normalizeH="0" baseline="0" noProof="0" dirty="0">
                  <a:ln>
                    <a:noFill/>
                  </a:ln>
                  <a:solidFill>
                    <a:prstClr val="black"/>
                  </a:solidFill>
                  <a:effectLst/>
                  <a:uLnTx/>
                  <a:uFillTx/>
                  <a:latin typeface="Calibri" panose="020F0502020204030204"/>
                  <a:ea typeface="+mn-ea"/>
                  <a:cs typeface="+mn-cs"/>
                </a:rPr>
                <a:t>Relationship batch size, iteration, epoch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N = 10,000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observations</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BS = 1,000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mini)batch size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Right Arrow 4"/>
            <p:cNvSpPr/>
            <p:nvPr/>
          </p:nvSpPr>
          <p:spPr>
            <a:xfrm>
              <a:off x="4857258" y="5877272"/>
              <a:ext cx="432048" cy="360040"/>
            </a:xfrm>
            <a:prstGeom prst="rightArrow">
              <a:avLst/>
            </a:prstGeom>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Box 8"/>
            <p:cNvSpPr txBox="1"/>
            <p:nvPr/>
          </p:nvSpPr>
          <p:spPr>
            <a:xfrm>
              <a:off x="5375920" y="5725922"/>
              <a:ext cx="1440160"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10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iterations</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per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Epoch</a:t>
              </a:r>
            </a:p>
          </p:txBody>
        </p:sp>
      </p:grpSp>
      <p:sp>
        <p:nvSpPr>
          <p:cNvPr id="8" name="Title 1">
            <a:extLst>
              <a:ext uri="{FF2B5EF4-FFF2-40B4-BE49-F238E27FC236}">
                <a16:creationId xmlns:a16="http://schemas.microsoft.com/office/drawing/2014/main" id="{F5697CBB-66A4-FD29-3A20-4ECDED77EE47}"/>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0" name="Line 2">
            <a:extLst>
              <a:ext uri="{FF2B5EF4-FFF2-40B4-BE49-F238E27FC236}">
                <a16:creationId xmlns:a16="http://schemas.microsoft.com/office/drawing/2014/main" id="{24737A1A-6139-60DF-42E8-457EF68555F3}"/>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60746430-8BA1-82BF-759B-BE51A0FC42C7}"/>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5825585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0000"/>
            <a:ext cx="8724408" cy="5400600"/>
          </a:xfrm>
        </p:spPr>
        <p:txBody>
          <a:bodyPr>
            <a:noAutofit/>
          </a:bodyPr>
          <a:lstStyle/>
          <a:p>
            <a:pPr marL="0" lvl="1" indent="0">
              <a:buNone/>
              <a:tabLst>
                <a:tab pos="3138488" algn="l"/>
              </a:tabLst>
            </a:pPr>
            <a:r>
              <a:rPr lang="en-GB" sz="1800" b="1" dirty="0" err="1"/>
              <a:t>Hyperparameters</a:t>
            </a:r>
            <a:endParaRPr lang="en-GB" sz="1800" dirty="0"/>
          </a:p>
          <a:p>
            <a:pPr marL="800100" lvl="2" indent="-400050">
              <a:buFont typeface="+mj-lt"/>
              <a:buAutoNum type="arabicPeriod" startAt="2"/>
              <a:tabLst>
                <a:tab pos="3138488" algn="l"/>
              </a:tabLst>
            </a:pPr>
            <a:r>
              <a:rPr lang="en-GB" sz="1800" u="sng" dirty="0"/>
              <a:t>Optimisation algorithms: </a:t>
            </a:r>
            <a:r>
              <a:rPr lang="en-US" sz="1800" dirty="0"/>
              <a:t>procedure for finding the weights that result in the minimum or maximum output of the function</a:t>
            </a:r>
            <a:endParaRPr lang="en-GB" sz="1800" b="1" dirty="0"/>
          </a:p>
          <a:p>
            <a:pPr marL="1217613" lvl="3" indent="-360363">
              <a:buFont typeface="Wingdings" panose="05000000000000000000" pitchFamily="2" charset="2"/>
              <a:buChar char="Ø"/>
              <a:tabLst>
                <a:tab pos="3138488" algn="l"/>
              </a:tabLst>
            </a:pPr>
            <a:r>
              <a:rPr lang="en-GB" sz="1800" dirty="0"/>
              <a:t>Gradient Descent (GD) [most commonly used: e.g. </a:t>
            </a:r>
            <a:r>
              <a:rPr lang="en-GB" sz="1800" b="1" dirty="0"/>
              <a:t>Adam</a:t>
            </a:r>
            <a:r>
              <a:rPr lang="en-GB" sz="1800" dirty="0"/>
              <a:t>, </a:t>
            </a:r>
            <a:r>
              <a:rPr lang="en-GB" sz="1800" dirty="0" err="1"/>
              <a:t>Adagrad</a:t>
            </a:r>
            <a:r>
              <a:rPr lang="en-GB" sz="1800" dirty="0"/>
              <a:t>, </a:t>
            </a:r>
            <a:r>
              <a:rPr lang="en-GB" sz="1800" dirty="0" err="1"/>
              <a:t>RMSprop</a:t>
            </a:r>
            <a:r>
              <a:rPr lang="en-GB" sz="1800" dirty="0"/>
              <a:t>] </a:t>
            </a:r>
          </a:p>
          <a:p>
            <a:pPr marL="1217613" lvl="3" indent="-360363">
              <a:buFont typeface="Wingdings" panose="05000000000000000000" pitchFamily="2" charset="2"/>
              <a:buChar char="Ø"/>
              <a:tabLst>
                <a:tab pos="3138488" algn="l"/>
              </a:tabLst>
            </a:pPr>
            <a:r>
              <a:rPr lang="en-GB" sz="1800" dirty="0"/>
              <a:t>L-BFGS</a:t>
            </a:r>
          </a:p>
          <a:p>
            <a:pPr marL="1217613" lvl="3" indent="-360363">
              <a:buFont typeface="Wingdings" panose="05000000000000000000" pitchFamily="2" charset="2"/>
              <a:buChar char="Ø"/>
              <a:tabLst>
                <a:tab pos="3138488" algn="l"/>
              </a:tabLst>
            </a:pPr>
            <a:r>
              <a:rPr lang="en-GB" sz="1800" dirty="0" err="1"/>
              <a:t>Levenberg</a:t>
            </a:r>
            <a:r>
              <a:rPr lang="en-GB" sz="1800" dirty="0"/>
              <a:t>–Marquardt  (combination ↑)</a:t>
            </a:r>
          </a:p>
          <a:p>
            <a:pPr marL="857250" lvl="3" indent="0">
              <a:buNone/>
              <a:tabLst>
                <a:tab pos="3138488" algn="l"/>
              </a:tabLst>
            </a:pPr>
            <a:endParaRPr lang="en-GB" sz="1800" dirty="0"/>
          </a:p>
          <a:p>
            <a:pPr marL="800100" lvl="2" indent="-400050">
              <a:tabLst>
                <a:tab pos="3138488" algn="l"/>
              </a:tabLst>
            </a:pPr>
            <a:r>
              <a:rPr lang="en-GB" sz="1800" dirty="0"/>
              <a:t>Optimisation algorithms differ from one another in terms of:</a:t>
            </a:r>
          </a:p>
          <a:p>
            <a:pPr marL="1257300" lvl="3" indent="-400050">
              <a:buFont typeface="Wingdings" panose="05000000000000000000" pitchFamily="2" charset="2"/>
              <a:buChar char="Ø"/>
              <a:tabLst>
                <a:tab pos="3138488" algn="l"/>
              </a:tabLst>
            </a:pPr>
            <a:r>
              <a:rPr lang="en-GB" sz="1800" dirty="0"/>
              <a:t>Speed to converge to a solution</a:t>
            </a:r>
          </a:p>
          <a:p>
            <a:pPr marL="1257300" lvl="3" indent="-400050">
              <a:buFont typeface="Wingdings" panose="05000000000000000000" pitchFamily="2" charset="2"/>
              <a:buChar char="Ø"/>
              <a:tabLst>
                <a:tab pos="3138488" algn="l"/>
              </a:tabLst>
            </a:pPr>
            <a:r>
              <a:rPr lang="en-GB" sz="1800" dirty="0"/>
              <a:t>Robustness towards </a:t>
            </a:r>
            <a:r>
              <a:rPr lang="en-GB" sz="1800" b="1" dirty="0"/>
              <a:t>local minima and saddle points</a:t>
            </a:r>
          </a:p>
          <a:p>
            <a:pPr marL="400050" lvl="2" indent="0">
              <a:buNone/>
              <a:tabLst>
                <a:tab pos="3138488" algn="l"/>
              </a:tabLst>
            </a:pPr>
            <a:endParaRPr lang="en-GB" sz="1800" b="1" dirty="0"/>
          </a:p>
          <a:p>
            <a:pPr marL="800100" lvl="2" indent="-400050">
              <a:tabLst>
                <a:tab pos="3138488" algn="l"/>
              </a:tabLst>
            </a:pPr>
            <a:endParaRPr lang="en-GB" sz="1800" dirty="0"/>
          </a:p>
        </p:txBody>
      </p:sp>
      <p:pic>
        <p:nvPicPr>
          <p:cNvPr id="7" name="Picture 6" descr="Screen Clipping"/>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06702" y="4536474"/>
            <a:ext cx="2646425" cy="2202371"/>
          </a:xfrm>
          <a:prstGeom prst="rect">
            <a:avLst/>
          </a:prstGeom>
        </p:spPr>
      </p:pic>
      <p:pic>
        <p:nvPicPr>
          <p:cNvPr id="1433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68408" y="1417638"/>
            <a:ext cx="2148637" cy="235815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pic>
        <p:nvPicPr>
          <p:cNvPr id="13" name="Picture 12"/>
          <p:cNvPicPr>
            <a:picLocks noChangeAspect="1"/>
          </p:cNvPicPr>
          <p:nvPr/>
        </p:nvPicPr>
        <p:blipFill rotWithShape="1">
          <a:blip r:embed="rId4"/>
          <a:srcRect l="65931" t="10789" r="7611"/>
          <a:stretch/>
        </p:blipFill>
        <p:spPr>
          <a:xfrm>
            <a:off x="5618800" y="4761068"/>
            <a:ext cx="2313431" cy="2124316"/>
          </a:xfrm>
          <a:prstGeom prst="rect">
            <a:avLst/>
          </a:prstGeom>
        </p:spPr>
      </p:pic>
      <p:grpSp>
        <p:nvGrpSpPr>
          <p:cNvPr id="2" name="Group 1"/>
          <p:cNvGrpSpPr/>
          <p:nvPr/>
        </p:nvGrpSpPr>
        <p:grpSpPr>
          <a:xfrm>
            <a:off x="3093720" y="4489290"/>
            <a:ext cx="4592320" cy="1175519"/>
            <a:chOff x="3093720" y="4489290"/>
            <a:chExt cx="4592320" cy="1175519"/>
          </a:xfrm>
        </p:grpSpPr>
        <p:sp>
          <p:nvSpPr>
            <p:cNvPr id="15" name="Oval 14"/>
            <p:cNvSpPr/>
            <p:nvPr/>
          </p:nvSpPr>
          <p:spPr>
            <a:xfrm rot="807032">
              <a:off x="6867905" y="5603133"/>
              <a:ext cx="98552" cy="6167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TextBox 15"/>
            <p:cNvSpPr txBox="1"/>
            <p:nvPr/>
          </p:nvSpPr>
          <p:spPr>
            <a:xfrm>
              <a:off x="3093720" y="4489290"/>
              <a:ext cx="1859407"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1" i="0" u="none" strike="noStrike" kern="1200" cap="none" spc="0" normalizeH="0" baseline="0" noProof="0" dirty="0">
                  <a:ln>
                    <a:noFill/>
                  </a:ln>
                  <a:solidFill>
                    <a:prstClr val="black"/>
                  </a:solidFill>
                  <a:effectLst/>
                  <a:uLnTx/>
                  <a:uFillTx/>
                  <a:latin typeface="Calibri" panose="020F0502020204030204"/>
                  <a:ea typeface="+mn-ea"/>
                  <a:cs typeface="+mn-cs"/>
                </a:rPr>
                <a:t>Local minima</a:t>
              </a:r>
            </a:p>
          </p:txBody>
        </p:sp>
        <p:sp>
          <p:nvSpPr>
            <p:cNvPr id="18" name="TextBox 17"/>
            <p:cNvSpPr txBox="1"/>
            <p:nvPr/>
          </p:nvSpPr>
          <p:spPr>
            <a:xfrm>
              <a:off x="5811521" y="4489290"/>
              <a:ext cx="18745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1" i="0" u="none" strike="noStrike" kern="1200" cap="none" spc="0" normalizeH="0" baseline="0" noProof="0" dirty="0">
                  <a:ln>
                    <a:noFill/>
                  </a:ln>
                  <a:solidFill>
                    <a:prstClr val="black"/>
                  </a:solidFill>
                  <a:effectLst/>
                  <a:uLnTx/>
                  <a:uFillTx/>
                  <a:latin typeface="Calibri" panose="020F0502020204030204"/>
                  <a:ea typeface="+mn-ea"/>
                  <a:cs typeface="+mn-cs"/>
                </a:rPr>
                <a:t>Saddle point</a:t>
              </a:r>
            </a:p>
          </p:txBody>
        </p:sp>
      </p:grpSp>
      <p:sp>
        <p:nvSpPr>
          <p:cNvPr id="17" name="Rectangular Callout 16"/>
          <p:cNvSpPr/>
          <p:nvPr/>
        </p:nvSpPr>
        <p:spPr>
          <a:xfrm>
            <a:off x="8040216" y="5127626"/>
            <a:ext cx="4038600" cy="1228725"/>
          </a:xfrm>
          <a:prstGeom prst="wedgeRectCallout">
            <a:avLst>
              <a:gd name="adj1" fmla="val -56368"/>
              <a:gd name="adj2" fmla="val 81104"/>
            </a:avLst>
          </a:prstGeom>
          <a:noFill/>
          <a:ln>
            <a:solidFill>
              <a:srgbClr val="4886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700" b="0" i="0" u="none" strike="noStrike" kern="1200" cap="none" spc="0" normalizeH="0" baseline="0" noProof="0" dirty="0">
                <a:ln>
                  <a:noFill/>
                </a:ln>
                <a:solidFill>
                  <a:srgbClr val="0070C0"/>
                </a:solidFill>
                <a:effectLst/>
                <a:uLnTx/>
                <a:uFillTx/>
                <a:latin typeface="Calibri" panose="020F0502020204030204"/>
                <a:ea typeface="+mn-ea"/>
                <a:cs typeface="+mn-cs"/>
              </a:rPr>
              <a:t>While the global minimum is seldom found, this is not necessarily a problem. </a:t>
            </a:r>
          </a:p>
          <a:p>
            <a:pPr marL="285750" marR="0" lvl="1"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700" b="0" i="0" u="none" strike="noStrike" kern="1200" cap="none" spc="0" normalizeH="0" baseline="0" noProof="0" dirty="0">
              <a:ln>
                <a:noFill/>
              </a:ln>
              <a:solidFill>
                <a:srgbClr val="0070C0"/>
              </a:solidFill>
              <a:effectLst/>
              <a:uLnTx/>
              <a:uFillTx/>
              <a:latin typeface="Calibri" panose="020F0502020204030204"/>
              <a:ea typeface="+mn-ea"/>
              <a:cs typeface="+mn-cs"/>
            </a:endParaRPr>
          </a:p>
          <a:p>
            <a:pPr marL="28575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700" b="0" i="0" u="none" strike="noStrike" kern="1200" cap="none" spc="0" normalizeH="0" baseline="0" noProof="0" dirty="0">
                <a:ln>
                  <a:noFill/>
                </a:ln>
                <a:solidFill>
                  <a:srgbClr val="0070C0"/>
                </a:solidFill>
                <a:effectLst/>
                <a:uLnTx/>
                <a:uFillTx/>
                <a:latin typeface="Calibri" panose="020F0502020204030204"/>
                <a:ea typeface="+mn-ea"/>
                <a:cs typeface="+mn-cs"/>
              </a:rPr>
              <a:t>A ‘good’ local minimum can still be good</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Title 1">
            <a:extLst>
              <a:ext uri="{FF2B5EF4-FFF2-40B4-BE49-F238E27FC236}">
                <a16:creationId xmlns:a16="http://schemas.microsoft.com/office/drawing/2014/main" id="{6223BB5D-1130-7E43-BA5F-F9FB36561467}"/>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0" name="Line 2">
            <a:extLst>
              <a:ext uri="{FF2B5EF4-FFF2-40B4-BE49-F238E27FC236}">
                <a16:creationId xmlns:a16="http://schemas.microsoft.com/office/drawing/2014/main" id="{0FB7CAD4-5E15-0343-7BF8-8C0FDACAF1A8}"/>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8F6150AE-0A13-318E-DE9E-B93868585AC7}"/>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3275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500"/>
                                        <p:tgtEl>
                                          <p:spTgt spid="5">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3" end="3"/>
                                            </p:txEl>
                                          </p:spTgt>
                                        </p:tgtEl>
                                        <p:attrNameLst>
                                          <p:attrName>style.visibility</p:attrName>
                                        </p:attrNameLst>
                                      </p:cBhvr>
                                      <p:to>
                                        <p:strVal val="visible"/>
                                      </p:to>
                                    </p:set>
                                    <p:animEffect transition="in" filter="fade">
                                      <p:cBhvr>
                                        <p:cTn id="10" dur="500"/>
                                        <p:tgtEl>
                                          <p:spTgt spid="5">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animEffect transition="in" filter="fade">
                                      <p:cBhvr>
                                        <p:cTn id="13" dur="500"/>
                                        <p:tgtEl>
                                          <p:spTgt spid="5">
                                            <p:txEl>
                                              <p:pRg st="4" end="4"/>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
                                            <p:txEl>
                                              <p:pRg st="6" end="6"/>
                                            </p:txEl>
                                          </p:spTgt>
                                        </p:tgtEl>
                                        <p:attrNameLst>
                                          <p:attrName>style.visibility</p:attrName>
                                        </p:attrNameLst>
                                      </p:cBhvr>
                                      <p:to>
                                        <p:strVal val="visible"/>
                                      </p:to>
                                    </p:set>
                                    <p:animEffect transition="in" filter="fade">
                                      <p:cBhvr>
                                        <p:cTn id="18" dur="500"/>
                                        <p:tgtEl>
                                          <p:spTgt spid="5">
                                            <p:txEl>
                                              <p:pRg st="6" end="6"/>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
                                            <p:txEl>
                                              <p:pRg st="7" end="7"/>
                                            </p:txEl>
                                          </p:spTgt>
                                        </p:tgtEl>
                                        <p:attrNameLst>
                                          <p:attrName>style.visibility</p:attrName>
                                        </p:attrNameLst>
                                      </p:cBhvr>
                                      <p:to>
                                        <p:strVal val="visible"/>
                                      </p:to>
                                    </p:set>
                                    <p:animEffect transition="in" filter="fade">
                                      <p:cBhvr>
                                        <p:cTn id="21" dur="500"/>
                                        <p:tgtEl>
                                          <p:spTgt spid="5">
                                            <p:txEl>
                                              <p:pRg st="7" end="7"/>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5">
                                            <p:txEl>
                                              <p:pRg st="8" end="8"/>
                                            </p:txEl>
                                          </p:spTgt>
                                        </p:tgtEl>
                                        <p:attrNameLst>
                                          <p:attrName>style.visibility</p:attrName>
                                        </p:attrNameLst>
                                      </p:cBhvr>
                                      <p:to>
                                        <p:strVal val="visible"/>
                                      </p:to>
                                    </p:set>
                                    <p:animEffect transition="in" filter="fade">
                                      <p:cBhvr>
                                        <p:cTn id="24" dur="500"/>
                                        <p:tgtEl>
                                          <p:spTgt spid="5">
                                            <p:txEl>
                                              <p:pRg st="8" end="8"/>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par>
                                <p:cTn id="28" presetID="10" presetClass="entr" presetSubtype="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childTnLst>
                                </p:cTn>
                              </p:par>
                              <p:par>
                                <p:cTn id="34" presetID="10" presetClass="entr" presetSubtype="0" fill="hold" nodeType="with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8498135" cy="5400600"/>
          </a:xfrm>
        </p:spPr>
        <p:txBody>
          <a:bodyPr>
            <a:noAutofit/>
          </a:bodyPr>
          <a:lstStyle/>
          <a:p>
            <a:pPr marL="0" lvl="1" indent="0">
              <a:buNone/>
              <a:tabLst>
                <a:tab pos="3138488" algn="l"/>
              </a:tabLst>
            </a:pPr>
            <a:r>
              <a:rPr lang="en-GB" sz="1800" b="1" dirty="0" err="1"/>
              <a:t>Hyperparameters</a:t>
            </a:r>
            <a:endParaRPr lang="en-GB" sz="1800" dirty="0"/>
          </a:p>
          <a:p>
            <a:pPr marL="800100" lvl="2" indent="-400050">
              <a:buFont typeface="+mj-lt"/>
              <a:buAutoNum type="arabicPeriod" startAt="3"/>
              <a:tabLst>
                <a:tab pos="3138488" algn="l"/>
              </a:tabLst>
            </a:pPr>
            <a:r>
              <a:rPr lang="en-GB" sz="1800" u="sng" dirty="0"/>
              <a:t>Learning rate</a:t>
            </a:r>
            <a:r>
              <a:rPr lang="en-GB" sz="1800" dirty="0"/>
              <a:t>: determines the </a:t>
            </a:r>
            <a:r>
              <a:rPr lang="en-GB" sz="1800" b="1" dirty="0"/>
              <a:t>step size </a:t>
            </a:r>
            <a:r>
              <a:rPr lang="en-GB" sz="1800" dirty="0"/>
              <a:t>at an iteration </a:t>
            </a:r>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TextBox 1"/>
          <p:cNvSpPr txBox="1"/>
          <p:nvPr/>
        </p:nvSpPr>
        <p:spPr>
          <a:xfrm>
            <a:off x="2721326" y="5530194"/>
            <a:ext cx="3106504"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C00000"/>
                </a:solidFill>
                <a:effectLst/>
                <a:uLnTx/>
                <a:uFillTx/>
                <a:latin typeface="Calibri"/>
                <a:ea typeface="+mn-ea"/>
                <a:cs typeface="+mn-cs"/>
              </a:rPr>
              <a:t>Too big </a:t>
            </a:r>
            <a:r>
              <a:rPr kumimoji="0" lang="en-GB" sz="1600" b="0" i="0" u="none" strike="noStrike" kern="1200" cap="none" spc="0" normalizeH="0" baseline="0" noProof="0" dirty="0">
                <a:ln>
                  <a:noFill/>
                </a:ln>
                <a:solidFill>
                  <a:srgbClr val="C00000"/>
                </a:solidFill>
                <a:effectLst/>
                <a:uLnTx/>
                <a:uFillTx/>
                <a:latin typeface="Calibri"/>
                <a:ea typeface="+mn-ea"/>
                <a:cs typeface="+mn-cs"/>
                <a:sym typeface="Wingdings" panose="05000000000000000000" pitchFamily="2" charset="2"/>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C00000"/>
                </a:solidFill>
                <a:effectLst/>
                <a:uLnTx/>
                <a:uFillTx/>
                <a:latin typeface="Calibri"/>
                <a:ea typeface="+mn-ea"/>
                <a:cs typeface="+mn-cs"/>
                <a:sym typeface="Wingdings" panose="05000000000000000000" pitchFamily="2" charset="2"/>
              </a:rPr>
              <a:t>Overshooting (instability)</a:t>
            </a:r>
            <a:endParaRPr kumimoji="0" lang="en-GB" sz="1600" b="0" i="0" u="none" strike="noStrike" kern="1200" cap="none" spc="0" normalizeH="0" baseline="0" noProof="0" dirty="0">
              <a:ln>
                <a:noFill/>
              </a:ln>
              <a:solidFill>
                <a:srgbClr val="C00000"/>
              </a:solidFill>
              <a:effectLst/>
              <a:uLnTx/>
              <a:uFillTx/>
              <a:latin typeface="Calibri"/>
              <a:ea typeface="+mn-ea"/>
              <a:cs typeface="+mn-cs"/>
            </a:endParaRPr>
          </a:p>
        </p:txBody>
      </p:sp>
      <p:sp>
        <p:nvSpPr>
          <p:cNvPr id="8" name="TextBox 7"/>
          <p:cNvSpPr txBox="1"/>
          <p:nvPr/>
        </p:nvSpPr>
        <p:spPr>
          <a:xfrm>
            <a:off x="5827830" y="5530194"/>
            <a:ext cx="2909769"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C00000"/>
                </a:solidFill>
                <a:effectLst/>
                <a:uLnTx/>
                <a:uFillTx/>
                <a:latin typeface="Calibri"/>
                <a:ea typeface="+mn-ea"/>
                <a:cs typeface="+mn-cs"/>
              </a:rPr>
              <a:t>Too small </a:t>
            </a:r>
            <a:r>
              <a:rPr kumimoji="0" lang="en-GB" sz="1600" b="0" i="0" u="none" strike="noStrike" kern="1200" cap="none" spc="0" normalizeH="0" baseline="0" noProof="0" dirty="0">
                <a:ln>
                  <a:noFill/>
                </a:ln>
                <a:solidFill>
                  <a:srgbClr val="C00000"/>
                </a:solidFill>
                <a:effectLst/>
                <a:uLnTx/>
                <a:uFillTx/>
                <a:latin typeface="Calibri"/>
                <a:ea typeface="+mn-ea"/>
                <a:cs typeface="+mn-cs"/>
                <a:sym typeface="Wingdings" panose="05000000000000000000" pitchFamily="2" charset="2"/>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C00000"/>
                </a:solidFill>
                <a:effectLst/>
                <a:uLnTx/>
                <a:uFillTx/>
                <a:latin typeface="Calibri"/>
                <a:ea typeface="+mn-ea"/>
                <a:cs typeface="+mn-cs"/>
                <a:sym typeface="Wingdings" panose="05000000000000000000" pitchFamily="2" charset="2"/>
              </a:rPr>
              <a:t>Slow to converge</a:t>
            </a:r>
          </a:p>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solidFill>
                  <a:srgbClr val="C00000"/>
                </a:solidFill>
                <a:latin typeface="Calibri"/>
                <a:sym typeface="Wingdings" panose="05000000000000000000" pitchFamily="2" charset="2"/>
              </a:rPr>
              <a:t>Get stuck in local solutions</a:t>
            </a:r>
            <a:endParaRPr kumimoji="0" lang="en-GB" sz="1600" b="0" i="0" u="none" strike="noStrike" kern="1200" cap="none" spc="0" normalizeH="0" baseline="0" noProof="0" dirty="0">
              <a:ln>
                <a:noFill/>
              </a:ln>
              <a:solidFill>
                <a:srgbClr val="C00000"/>
              </a:solidFill>
              <a:effectLst/>
              <a:uLnTx/>
              <a:uFillTx/>
              <a:latin typeface="Calibri"/>
              <a:ea typeface="+mn-ea"/>
              <a:cs typeface="+mn-cs"/>
            </a:endParaRPr>
          </a:p>
        </p:txBody>
      </p:sp>
      <p:pic>
        <p:nvPicPr>
          <p:cNvPr id="11" name="Pictur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23053" y="2719277"/>
            <a:ext cx="3014546" cy="2608992"/>
          </a:xfrm>
          <a:prstGeom prst="rect">
            <a:avLst/>
          </a:prstGeom>
        </p:spPr>
      </p:pic>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21325" y="2719277"/>
            <a:ext cx="3106505" cy="2557689"/>
          </a:xfrm>
          <a:prstGeom prst="rect">
            <a:avLst/>
          </a:prstGeom>
        </p:spPr>
      </p:pic>
      <p:sp>
        <p:nvSpPr>
          <p:cNvPr id="13" name="TextBox 12"/>
          <p:cNvSpPr txBox="1"/>
          <p:nvPr/>
        </p:nvSpPr>
        <p:spPr>
          <a:xfrm>
            <a:off x="2721325" y="2303145"/>
            <a:ext cx="300172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1" i="0" u="none" strike="noStrike" kern="1200" cap="none" spc="0" normalizeH="0" baseline="0" noProof="0" dirty="0">
                <a:ln>
                  <a:noFill/>
                </a:ln>
                <a:solidFill>
                  <a:prstClr val="black"/>
                </a:solidFill>
                <a:effectLst/>
                <a:uLnTx/>
                <a:uFillTx/>
                <a:latin typeface="Calibri" panose="020F0502020204030204"/>
                <a:ea typeface="+mn-ea"/>
                <a:cs typeface="+mn-cs"/>
              </a:rPr>
              <a:t>Large learning rate</a:t>
            </a:r>
          </a:p>
        </p:txBody>
      </p:sp>
      <p:sp>
        <p:nvSpPr>
          <p:cNvPr id="16" name="TextBox 15"/>
          <p:cNvSpPr txBox="1"/>
          <p:nvPr/>
        </p:nvSpPr>
        <p:spPr>
          <a:xfrm>
            <a:off x="5723054" y="2303145"/>
            <a:ext cx="3014546"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1" i="0" u="none" strike="noStrike" kern="1200" cap="none" spc="0" normalizeH="0" baseline="0" noProof="0" dirty="0">
                <a:ln>
                  <a:noFill/>
                </a:ln>
                <a:solidFill>
                  <a:prstClr val="black"/>
                </a:solidFill>
                <a:effectLst/>
                <a:uLnTx/>
                <a:uFillTx/>
                <a:latin typeface="Calibri" panose="020F0502020204030204"/>
                <a:ea typeface="+mn-ea"/>
                <a:cs typeface="+mn-cs"/>
              </a:rPr>
              <a:t>Small learning rate</a:t>
            </a:r>
          </a:p>
        </p:txBody>
      </p:sp>
      <p:sp>
        <p:nvSpPr>
          <p:cNvPr id="9" name="Title 1">
            <a:extLst>
              <a:ext uri="{FF2B5EF4-FFF2-40B4-BE49-F238E27FC236}">
                <a16:creationId xmlns:a16="http://schemas.microsoft.com/office/drawing/2014/main" id="{35C67FC3-1FCB-8AD1-982E-CB8C45027ACE}"/>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0" name="Line 2">
            <a:extLst>
              <a:ext uri="{FF2B5EF4-FFF2-40B4-BE49-F238E27FC236}">
                <a16:creationId xmlns:a16="http://schemas.microsoft.com/office/drawing/2014/main" id="{B8D9F923-4671-CDC0-CC7F-9F669535EDF3}"/>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4" name="Line 2">
            <a:extLst>
              <a:ext uri="{FF2B5EF4-FFF2-40B4-BE49-F238E27FC236}">
                <a16:creationId xmlns:a16="http://schemas.microsoft.com/office/drawing/2014/main" id="{CD2A009A-E3CB-6EBA-4434-F1037124B79A}"/>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9536105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10225136" cy="5400600"/>
          </a:xfrm>
        </p:spPr>
        <p:txBody>
          <a:bodyPr>
            <a:noAutofit/>
          </a:bodyPr>
          <a:lstStyle/>
          <a:p>
            <a:pPr marL="0" lvl="1" indent="0">
              <a:buNone/>
              <a:tabLst>
                <a:tab pos="3138488" algn="l"/>
              </a:tabLst>
            </a:pPr>
            <a:r>
              <a:rPr lang="en-GB" sz="1800" b="1" dirty="0" err="1"/>
              <a:t>Hyperparameters</a:t>
            </a:r>
            <a:endParaRPr lang="en-GB" sz="1800" dirty="0"/>
          </a:p>
          <a:p>
            <a:pPr marL="800100" lvl="2" indent="-400050">
              <a:buFont typeface="+mj-lt"/>
              <a:buAutoNum type="arabicPeriod" startAt="4"/>
              <a:tabLst>
                <a:tab pos="3138488" algn="l"/>
              </a:tabLst>
            </a:pPr>
            <a:r>
              <a:rPr lang="en-GB" sz="1800" u="sng" dirty="0"/>
              <a:t>Regularisation</a:t>
            </a:r>
            <a:r>
              <a:rPr lang="en-GB" sz="1800" dirty="0"/>
              <a:t>: </a:t>
            </a:r>
            <a:r>
              <a:rPr lang="en-GB" sz="1800" b="1" dirty="0"/>
              <a:t>penalises</a:t>
            </a:r>
            <a:r>
              <a:rPr lang="en-GB" sz="1800" dirty="0"/>
              <a:t> the magnitudes of the </a:t>
            </a:r>
            <a:r>
              <a:rPr lang="en-GB" sz="1800" b="1" dirty="0"/>
              <a:t>weights</a:t>
            </a:r>
            <a:r>
              <a:rPr lang="en-GB" sz="1800" dirty="0"/>
              <a:t>, to avoid overfitting</a:t>
            </a:r>
          </a:p>
          <a:p>
            <a:pPr marL="400050" lvl="2" indent="0">
              <a:buNone/>
              <a:tabLst>
                <a:tab pos="3138488" algn="l"/>
              </a:tabLst>
            </a:pPr>
            <a:endParaRPr lang="en-GB" sz="1800" dirty="0"/>
          </a:p>
          <a:p>
            <a:pPr marL="1257300" lvl="3" indent="-400050">
              <a:buFont typeface="Wingdings" panose="05000000000000000000" pitchFamily="2" charset="2"/>
              <a:buChar char="Ø"/>
              <a:tabLst>
                <a:tab pos="3138488" algn="l"/>
              </a:tabLst>
            </a:pPr>
            <a:r>
              <a:rPr lang="en-GB" sz="1800" dirty="0"/>
              <a:t>L1 regularisation (aka Lasso) penalises the sum of the absolute values of the weights</a:t>
            </a:r>
          </a:p>
          <a:p>
            <a:pPr marL="1257300" lvl="3" indent="-400050">
              <a:buFont typeface="Wingdings" panose="05000000000000000000" pitchFamily="2" charset="2"/>
              <a:buChar char="Ø"/>
              <a:tabLst>
                <a:tab pos="3138488" algn="l"/>
              </a:tabLst>
            </a:pPr>
            <a:endParaRPr lang="en-GB" sz="1800" dirty="0"/>
          </a:p>
          <a:p>
            <a:pPr marL="1257300" lvl="3" indent="-400050">
              <a:buFont typeface="Wingdings" panose="05000000000000000000" pitchFamily="2" charset="2"/>
              <a:buChar char="Ø"/>
              <a:tabLst>
                <a:tab pos="3138488" algn="l"/>
              </a:tabLst>
            </a:pPr>
            <a:endParaRPr lang="en-GB" sz="1800" dirty="0"/>
          </a:p>
          <a:p>
            <a:pPr marL="1257300" lvl="3" indent="-400050">
              <a:buFont typeface="Wingdings" panose="05000000000000000000" pitchFamily="2" charset="2"/>
              <a:buChar char="Ø"/>
              <a:tabLst>
                <a:tab pos="3138488" algn="l"/>
              </a:tabLst>
            </a:pPr>
            <a:r>
              <a:rPr lang="en-GB" sz="1800" dirty="0"/>
              <a:t>L2 regularisation (aka ridge) penalises the sum of the squared values of the weights</a:t>
            </a:r>
          </a:p>
          <a:p>
            <a:pPr marL="1257300" lvl="3" indent="-400050">
              <a:buFont typeface="Wingdings" panose="05000000000000000000" pitchFamily="2" charset="2"/>
              <a:buChar char="Ø"/>
              <a:tabLst>
                <a:tab pos="3138488" algn="l"/>
              </a:tabLst>
            </a:pPr>
            <a:endParaRPr lang="en-GB" sz="1800" dirty="0"/>
          </a:p>
          <a:p>
            <a:pPr marL="800100" lvl="2" indent="-400050">
              <a:tabLst>
                <a:tab pos="3138488" algn="l"/>
              </a:tabLst>
            </a:pPr>
            <a:r>
              <a:rPr lang="en-GB" sz="1800" dirty="0"/>
              <a:t>The </a:t>
            </a:r>
            <a:r>
              <a:rPr lang="en-GB" sz="1800" b="1" dirty="0"/>
              <a:t>penalty</a:t>
            </a:r>
            <a:r>
              <a:rPr lang="en-GB" sz="1800" dirty="0"/>
              <a:t> is added to the cost (loss) function:</a:t>
            </a:r>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r>
              <a:rPr lang="en-GB" sz="1800" dirty="0"/>
              <a:t>The hyperparameter </a:t>
            </a:r>
            <a:r>
              <a:rPr lang="el-GR" sz="1800" b="1" dirty="0"/>
              <a:t>α</a:t>
            </a:r>
            <a:r>
              <a:rPr lang="en-GB" sz="1800" dirty="0"/>
              <a:t> governs the strength of the </a:t>
            </a:r>
            <a:r>
              <a:rPr lang="en-GB" sz="1800" b="1" dirty="0"/>
              <a:t>penalty</a:t>
            </a:r>
            <a:r>
              <a:rPr lang="en-GB" sz="1800" dirty="0"/>
              <a:t> relative to the </a:t>
            </a:r>
            <a:r>
              <a:rPr lang="en-GB" sz="1800" b="1" dirty="0"/>
              <a:t>cost function</a:t>
            </a:r>
          </a:p>
          <a:p>
            <a:pPr marL="1257300" lvl="3" indent="-400050">
              <a:buFont typeface="Wingdings" panose="05000000000000000000" pitchFamily="2" charset="2"/>
              <a:buChar char="Ø"/>
              <a:tabLst>
                <a:tab pos="2419350" algn="l"/>
              </a:tabLst>
            </a:pPr>
            <a:r>
              <a:rPr lang="en-GB" sz="1800" dirty="0"/>
              <a:t>Too high </a:t>
            </a:r>
            <a:r>
              <a:rPr lang="el-GR" sz="1800" dirty="0"/>
              <a:t>α</a:t>
            </a:r>
            <a:r>
              <a:rPr lang="en-GB" sz="1800" dirty="0"/>
              <a:t> 	</a:t>
            </a:r>
            <a:r>
              <a:rPr lang="en-GB" sz="1800" dirty="0">
                <a:sym typeface="Wingdings" panose="05000000000000000000" pitchFamily="2" charset="2"/>
              </a:rPr>
              <a:t> risks </a:t>
            </a:r>
            <a:r>
              <a:rPr lang="en-GB" sz="1800" dirty="0" err="1">
                <a:sym typeface="Wingdings" panose="05000000000000000000" pitchFamily="2" charset="2"/>
              </a:rPr>
              <a:t>underfitting</a:t>
            </a:r>
            <a:endParaRPr lang="en-GB" sz="1800" dirty="0">
              <a:sym typeface="Wingdings" panose="05000000000000000000" pitchFamily="2" charset="2"/>
            </a:endParaRPr>
          </a:p>
          <a:p>
            <a:pPr marL="1257300" lvl="3" indent="-400050">
              <a:buFont typeface="Wingdings" panose="05000000000000000000" pitchFamily="2" charset="2"/>
              <a:buChar char="Ø"/>
              <a:tabLst>
                <a:tab pos="2419350" algn="l"/>
              </a:tabLst>
            </a:pPr>
            <a:r>
              <a:rPr lang="en-GB" sz="1800" dirty="0"/>
              <a:t>Too low </a:t>
            </a:r>
            <a:r>
              <a:rPr lang="el-GR" sz="1800" dirty="0"/>
              <a:t>α</a:t>
            </a:r>
            <a:r>
              <a:rPr lang="en-GB" sz="1800" dirty="0"/>
              <a:t> 	</a:t>
            </a:r>
            <a:r>
              <a:rPr lang="en-GB" sz="1800" dirty="0">
                <a:sym typeface="Wingdings" panose="05000000000000000000" pitchFamily="2" charset="2"/>
              </a:rPr>
              <a:t> risks overfitting</a:t>
            </a:r>
            <a:endParaRPr lang="en-GB" sz="1800" dirty="0"/>
          </a:p>
          <a:p>
            <a:pPr marL="1257300" lvl="3"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grpSp>
        <p:nvGrpSpPr>
          <p:cNvPr id="2" name="Group 1"/>
          <p:cNvGrpSpPr/>
          <p:nvPr/>
        </p:nvGrpSpPr>
        <p:grpSpPr>
          <a:xfrm>
            <a:off x="2054225" y="4252445"/>
            <a:ext cx="9417775" cy="1210143"/>
            <a:chOff x="2054225" y="4252445"/>
            <a:chExt cx="9417775" cy="1210143"/>
          </a:xfrm>
        </p:grpSpPr>
        <p:graphicFrame>
          <p:nvGraphicFramePr>
            <p:cNvPr id="3" name="Object 2"/>
            <p:cNvGraphicFramePr>
              <a:graphicFrameLocks noChangeAspect="1"/>
            </p:cNvGraphicFramePr>
            <p:nvPr/>
          </p:nvGraphicFramePr>
          <p:xfrm>
            <a:off x="2054225" y="4437063"/>
            <a:ext cx="2682875" cy="1025525"/>
          </p:xfrm>
          <a:graphic>
            <a:graphicData uri="http://schemas.openxmlformats.org/presentationml/2006/ole">
              <mc:AlternateContent xmlns:mc="http://schemas.openxmlformats.org/markup-compatibility/2006">
                <mc:Choice xmlns:v="urn:schemas-microsoft-com:vml" Requires="v">
                  <p:oleObj name="Equation" r:id="rId2" imgW="1726920" imgH="660240" progId="Equation.DSMT4">
                    <p:embed/>
                  </p:oleObj>
                </mc:Choice>
                <mc:Fallback>
                  <p:oleObj name="Equation" r:id="rId2" imgW="1726920" imgH="660240" progId="Equation.DSMT4">
                    <p:embed/>
                    <p:pic>
                      <p:nvPicPr>
                        <p:cNvPr id="3" name="Object 2"/>
                        <p:cNvPicPr/>
                        <p:nvPr/>
                      </p:nvPicPr>
                      <p:blipFill>
                        <a:blip r:embed="rId3"/>
                        <a:stretch>
                          <a:fillRect/>
                        </a:stretch>
                      </p:blipFill>
                      <p:spPr>
                        <a:xfrm>
                          <a:off x="2054225" y="4437063"/>
                          <a:ext cx="2682875" cy="1025525"/>
                        </a:xfrm>
                        <a:prstGeom prst="rect">
                          <a:avLst/>
                        </a:prstGeom>
                      </p:spPr>
                    </p:pic>
                  </p:oleObj>
                </mc:Fallback>
              </mc:AlternateContent>
            </a:graphicData>
          </a:graphic>
        </p:graphicFrame>
        <p:cxnSp>
          <p:nvCxnSpPr>
            <p:cNvPr id="7" name="Elbow Connector 6"/>
            <p:cNvCxnSpPr/>
            <p:nvPr/>
          </p:nvCxnSpPr>
          <p:spPr>
            <a:xfrm rot="10800000" flipV="1">
              <a:off x="2934544" y="4365111"/>
              <a:ext cx="1944216" cy="144000"/>
            </a:xfrm>
            <a:prstGeom prst="bentConnector3">
              <a:avLst>
                <a:gd name="adj1" fmla="val 100138"/>
              </a:avLst>
            </a:prstGeom>
            <a:ln w="19050">
              <a:solidFill>
                <a:srgbClr val="0070C0"/>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0" name="TextBox 9"/>
            <p:cNvSpPr txBox="1"/>
            <p:nvPr/>
          </p:nvSpPr>
          <p:spPr>
            <a:xfrm>
              <a:off x="4878759" y="4252445"/>
              <a:ext cx="659324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mn-cs"/>
                </a:rPr>
                <a:t>Cross-entropy (</a:t>
              </a:r>
              <a:r>
                <a:rPr kumimoji="0" lang="en-GB"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minimising</a:t>
              </a:r>
              <a:r>
                <a:rPr kumimoji="0" lang="en-GB" sz="1800" b="0"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 the </a:t>
              </a:r>
              <a:r>
                <a:rPr kumimoji="0" lang="en-GB"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cross-entropy</a:t>
              </a:r>
              <a:r>
                <a:rPr kumimoji="0" lang="en-GB" sz="1800" b="0"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 implies </a:t>
              </a:r>
              <a:r>
                <a:rPr kumimoji="0" lang="en-GB" sz="1800" b="1"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maximising</a:t>
              </a:r>
              <a:r>
                <a:rPr kumimoji="0" lang="en-GB" sz="1800" b="0" i="0" u="none" strike="noStrike" kern="1200" cap="none" spc="0" normalizeH="0" baseline="0" noProof="0" dirty="0">
                  <a:ln>
                    <a:noFill/>
                  </a:ln>
                  <a:solidFill>
                    <a:srgbClr val="0070C0"/>
                  </a:solidFill>
                  <a:effectLst/>
                  <a:uLnTx/>
                  <a:uFillTx/>
                  <a:latin typeface="Calibri"/>
                  <a:ea typeface="+mn-ea"/>
                  <a:cs typeface="+mn-cs"/>
                  <a:sym typeface="Wingdings" panose="05000000000000000000" pitchFamily="2" charset="2"/>
                </a:rPr>
                <a:t> LL)</a:t>
              </a:r>
              <a:endPar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p:sp>
          <p:nvSpPr>
            <p:cNvPr id="11" name="TextBox 10"/>
            <p:cNvSpPr txBox="1"/>
            <p:nvPr/>
          </p:nvSpPr>
          <p:spPr>
            <a:xfrm>
              <a:off x="5484629" y="4765159"/>
              <a:ext cx="208823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mn-cs"/>
                </a:rPr>
                <a:t>Penalty</a:t>
              </a:r>
            </a:p>
          </p:txBody>
        </p:sp>
        <p:cxnSp>
          <p:nvCxnSpPr>
            <p:cNvPr id="12" name="Elbow Connector 11"/>
            <p:cNvCxnSpPr/>
            <p:nvPr/>
          </p:nvCxnSpPr>
          <p:spPr>
            <a:xfrm rot="10800000">
              <a:off x="3514350" y="4806443"/>
              <a:ext cx="1944216" cy="144000"/>
            </a:xfrm>
            <a:prstGeom prst="bentConnector3">
              <a:avLst>
                <a:gd name="adj1" fmla="val 100138"/>
              </a:avLst>
            </a:prstGeom>
            <a:ln w="19050">
              <a:solidFill>
                <a:srgbClr val="0070C0"/>
              </a:solidFill>
              <a:headEnd type="none" w="med" len="med"/>
              <a:tailEnd type="triangle"/>
            </a:ln>
          </p:spPr>
          <p:style>
            <a:lnRef idx="1">
              <a:schemeClr val="accent2"/>
            </a:lnRef>
            <a:fillRef idx="0">
              <a:schemeClr val="accent2"/>
            </a:fillRef>
            <a:effectRef idx="0">
              <a:schemeClr val="accent2"/>
            </a:effectRef>
            <a:fontRef idx="minor">
              <a:schemeClr val="tx1"/>
            </a:fontRef>
          </p:style>
        </p:cxnSp>
      </p:grpSp>
      <p:grpSp>
        <p:nvGrpSpPr>
          <p:cNvPr id="13" name="Group 12"/>
          <p:cNvGrpSpPr/>
          <p:nvPr/>
        </p:nvGrpSpPr>
        <p:grpSpPr>
          <a:xfrm>
            <a:off x="10030370" y="2151462"/>
            <a:ext cx="684000" cy="1340438"/>
            <a:chOff x="10419670" y="2241403"/>
            <a:chExt cx="684000" cy="1319168"/>
          </a:xfrm>
        </p:grpSpPr>
        <p:graphicFrame>
          <p:nvGraphicFramePr>
            <p:cNvPr id="8" name="Object 7"/>
            <p:cNvGraphicFramePr>
              <a:graphicFrameLocks noChangeAspect="1"/>
            </p:cNvGraphicFramePr>
            <p:nvPr/>
          </p:nvGraphicFramePr>
          <p:xfrm>
            <a:off x="10419670" y="2241403"/>
            <a:ext cx="655637" cy="400050"/>
          </p:xfrm>
          <a:graphic>
            <a:graphicData uri="http://schemas.openxmlformats.org/presentationml/2006/ole">
              <mc:AlternateContent xmlns:mc="http://schemas.openxmlformats.org/markup-compatibility/2006">
                <mc:Choice xmlns:v="urn:schemas-microsoft-com:vml" Requires="v">
                  <p:oleObj name="Equation" r:id="rId4" imgW="393480" imgH="241200" progId="Equation.DSMT4">
                    <p:embed/>
                  </p:oleObj>
                </mc:Choice>
                <mc:Fallback>
                  <p:oleObj name="Equation" r:id="rId4" imgW="393480" imgH="241200" progId="Equation.DSMT4">
                    <p:embed/>
                    <p:pic>
                      <p:nvPicPr>
                        <p:cNvPr id="8" name="Object 7"/>
                        <p:cNvPicPr/>
                        <p:nvPr/>
                      </p:nvPicPr>
                      <p:blipFill>
                        <a:blip r:embed="rId5"/>
                        <a:stretch>
                          <a:fillRect/>
                        </a:stretch>
                      </p:blipFill>
                      <p:spPr>
                        <a:xfrm>
                          <a:off x="10419670" y="2241403"/>
                          <a:ext cx="655637" cy="400050"/>
                        </a:xfrm>
                        <a:prstGeom prst="rect">
                          <a:avLst/>
                        </a:prstGeom>
                      </p:spPr>
                    </p:pic>
                  </p:oleObj>
                </mc:Fallback>
              </mc:AlternateContent>
            </a:graphicData>
          </a:graphic>
        </p:graphicFrame>
        <p:graphicFrame>
          <p:nvGraphicFramePr>
            <p:cNvPr id="9" name="Object 8"/>
            <p:cNvGraphicFramePr>
              <a:graphicFrameLocks noChangeAspect="1"/>
            </p:cNvGraphicFramePr>
            <p:nvPr/>
          </p:nvGraphicFramePr>
          <p:xfrm>
            <a:off x="10419670" y="3130626"/>
            <a:ext cx="684000" cy="429945"/>
          </p:xfrm>
          <a:graphic>
            <a:graphicData uri="http://schemas.openxmlformats.org/presentationml/2006/ole">
              <mc:AlternateContent xmlns:mc="http://schemas.openxmlformats.org/markup-compatibility/2006">
                <mc:Choice xmlns:v="urn:schemas-microsoft-com:vml" Requires="v">
                  <p:oleObj name="Equation" r:id="rId6" imgW="444240" imgH="279360" progId="Equation.DSMT4">
                    <p:embed/>
                  </p:oleObj>
                </mc:Choice>
                <mc:Fallback>
                  <p:oleObj name="Equation" r:id="rId6" imgW="444240" imgH="279360" progId="Equation.DSMT4">
                    <p:embed/>
                    <p:pic>
                      <p:nvPicPr>
                        <p:cNvPr id="9" name="Object 8"/>
                        <p:cNvPicPr/>
                        <p:nvPr/>
                      </p:nvPicPr>
                      <p:blipFill>
                        <a:blip r:embed="rId7"/>
                        <a:stretch>
                          <a:fillRect/>
                        </a:stretch>
                      </p:blipFill>
                      <p:spPr>
                        <a:xfrm>
                          <a:off x="10419670" y="3130626"/>
                          <a:ext cx="684000" cy="429945"/>
                        </a:xfrm>
                        <a:prstGeom prst="rect">
                          <a:avLst/>
                        </a:prstGeom>
                      </p:spPr>
                    </p:pic>
                  </p:oleObj>
                </mc:Fallback>
              </mc:AlternateContent>
            </a:graphicData>
          </a:graphic>
        </p:graphicFrame>
      </p:grpSp>
      <p:sp>
        <p:nvSpPr>
          <p:cNvPr id="16" name="Title 1">
            <a:extLst>
              <a:ext uri="{FF2B5EF4-FFF2-40B4-BE49-F238E27FC236}">
                <a16:creationId xmlns:a16="http://schemas.microsoft.com/office/drawing/2014/main" id="{A002B591-7DBA-1DCD-6B2B-80612B6D9C8C}"/>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7" name="Line 2">
            <a:extLst>
              <a:ext uri="{FF2B5EF4-FFF2-40B4-BE49-F238E27FC236}">
                <a16:creationId xmlns:a16="http://schemas.microsoft.com/office/drawing/2014/main" id="{71EFDC39-957A-54EA-A47C-5714FBA6EBE1}"/>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8" name="Line 2">
            <a:extLst>
              <a:ext uri="{FF2B5EF4-FFF2-40B4-BE49-F238E27FC236}">
                <a16:creationId xmlns:a16="http://schemas.microsoft.com/office/drawing/2014/main" id="{B6A402E7-C1BE-ABCA-7ABD-B87285DC8C31}"/>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945435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animEffect transition="in" filter="fade">
                                      <p:cBhvr>
                                        <p:cTn id="7" dur="500"/>
                                        <p:tgtEl>
                                          <p:spTgt spid="5">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6" end="6"/>
                                            </p:txEl>
                                          </p:spTgt>
                                        </p:tgtEl>
                                        <p:attrNameLst>
                                          <p:attrName>style.visibility</p:attrName>
                                        </p:attrNameLst>
                                      </p:cBhvr>
                                      <p:to>
                                        <p:strVal val="visible"/>
                                      </p:to>
                                    </p:set>
                                    <p:animEffect transition="in" filter="fade">
                                      <p:cBhvr>
                                        <p:cTn id="10" dur="500"/>
                                        <p:tgtEl>
                                          <p:spTgt spid="5">
                                            <p:txEl>
                                              <p:pRg st="6" end="6"/>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
                                            <p:txEl>
                                              <p:pRg st="8" end="8"/>
                                            </p:txEl>
                                          </p:spTgt>
                                        </p:tgtEl>
                                        <p:attrNameLst>
                                          <p:attrName>style.visibility</p:attrName>
                                        </p:attrNameLst>
                                      </p:cBhvr>
                                      <p:to>
                                        <p:strVal val="visible"/>
                                      </p:to>
                                    </p:set>
                                    <p:animEffect transition="in" filter="fade">
                                      <p:cBhvr>
                                        <p:cTn id="18" dur="500"/>
                                        <p:tgtEl>
                                          <p:spTgt spid="5">
                                            <p:txEl>
                                              <p:pRg st="8" end="8"/>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500"/>
                                        <p:tgtEl>
                                          <p:spTgt spid="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5">
                                            <p:txEl>
                                              <p:pRg st="14" end="14"/>
                                            </p:txEl>
                                          </p:spTgt>
                                        </p:tgtEl>
                                        <p:attrNameLst>
                                          <p:attrName>style.visibility</p:attrName>
                                        </p:attrNameLst>
                                      </p:cBhvr>
                                      <p:to>
                                        <p:strVal val="visible"/>
                                      </p:to>
                                    </p:set>
                                    <p:animEffect transition="in" filter="fade">
                                      <p:cBhvr>
                                        <p:cTn id="26" dur="500"/>
                                        <p:tgtEl>
                                          <p:spTgt spid="5">
                                            <p:txEl>
                                              <p:pRg st="14" end="14"/>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5">
                                            <p:txEl>
                                              <p:pRg st="15" end="15"/>
                                            </p:txEl>
                                          </p:spTgt>
                                        </p:tgtEl>
                                        <p:attrNameLst>
                                          <p:attrName>style.visibility</p:attrName>
                                        </p:attrNameLst>
                                      </p:cBhvr>
                                      <p:to>
                                        <p:strVal val="visible"/>
                                      </p:to>
                                    </p:set>
                                    <p:animEffect transition="in" filter="fade">
                                      <p:cBhvr>
                                        <p:cTn id="29" dur="500"/>
                                        <p:tgtEl>
                                          <p:spTgt spid="5">
                                            <p:txEl>
                                              <p:pRg st="15" end="15"/>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5">
                                            <p:txEl>
                                              <p:pRg st="16" end="16"/>
                                            </p:txEl>
                                          </p:spTgt>
                                        </p:tgtEl>
                                        <p:attrNameLst>
                                          <p:attrName>style.visibility</p:attrName>
                                        </p:attrNameLst>
                                      </p:cBhvr>
                                      <p:to>
                                        <p:strVal val="visible"/>
                                      </p:to>
                                    </p:set>
                                    <p:animEffect transition="in" filter="fade">
                                      <p:cBhvr>
                                        <p:cTn id="32" dur="500"/>
                                        <p:tgtEl>
                                          <p:spTgt spid="5">
                                            <p:txEl>
                                              <p:pRg st="16" end="1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10225136" cy="5400600"/>
          </a:xfrm>
        </p:spPr>
        <p:txBody>
          <a:bodyPr>
            <a:noAutofit/>
          </a:bodyPr>
          <a:lstStyle/>
          <a:p>
            <a:pPr marL="0" lvl="1" indent="0">
              <a:buNone/>
              <a:tabLst>
                <a:tab pos="3138488" algn="l"/>
              </a:tabLst>
            </a:pPr>
            <a:r>
              <a:rPr lang="en-GB" sz="1800" b="1" dirty="0" err="1"/>
              <a:t>Hyperparameter</a:t>
            </a:r>
            <a:r>
              <a:rPr lang="en-GB" sz="1800" b="1" dirty="0"/>
              <a:t> tuning in practice</a:t>
            </a:r>
          </a:p>
          <a:p>
            <a:pPr marL="0" lvl="1" indent="0">
              <a:buNone/>
              <a:tabLst>
                <a:tab pos="3138488" algn="l"/>
              </a:tabLst>
            </a:pPr>
            <a:endParaRPr lang="en-GB" dirty="0"/>
          </a:p>
          <a:p>
            <a:pPr marL="0" lvl="1" indent="0">
              <a:buNone/>
              <a:tabLst>
                <a:tab pos="3138488" algn="l"/>
              </a:tabLst>
            </a:pPr>
            <a:r>
              <a:rPr lang="en-GB" sz="1800" dirty="0"/>
              <a:t>For </a:t>
            </a:r>
            <a:r>
              <a:rPr lang="en-GB" sz="1800" dirty="0" err="1"/>
              <a:t>hyperparameter</a:t>
            </a:r>
            <a:r>
              <a:rPr lang="en-GB" sz="1800" dirty="0"/>
              <a:t> tuning we can use </a:t>
            </a:r>
            <a:r>
              <a:rPr lang="en-GB" sz="1800" dirty="0" err="1"/>
              <a:t>SciKit-learn’s</a:t>
            </a:r>
            <a:r>
              <a:rPr lang="en-GB" sz="1800" dirty="0"/>
              <a:t> </a:t>
            </a:r>
            <a:r>
              <a:rPr lang="en-GB" b="1" dirty="0" err="1"/>
              <a:t>GridSearchCV</a:t>
            </a:r>
            <a:endParaRPr lang="en-GB" b="1" dirty="0"/>
          </a:p>
          <a:p>
            <a:pPr marL="0" lvl="1" indent="0">
              <a:buNone/>
              <a:tabLst>
                <a:tab pos="3138488" algn="l"/>
              </a:tabLst>
            </a:pPr>
            <a:endParaRPr lang="en-GB" b="1" dirty="0"/>
          </a:p>
          <a:p>
            <a:pPr marL="0" lvl="1" indent="0">
              <a:buNone/>
              <a:tabLst>
                <a:tab pos="3138488" algn="l"/>
              </a:tabLst>
            </a:pPr>
            <a:endParaRPr lang="en-GB" sz="1800" dirty="0"/>
          </a:p>
          <a:p>
            <a:pPr marL="1257300" lvl="3"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15" name="Picture 14" descr="Screen Clippi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58660" y="2443758"/>
            <a:ext cx="7897327" cy="3667637"/>
          </a:xfrm>
          <a:prstGeom prst="rect">
            <a:avLst/>
          </a:prstGeom>
        </p:spPr>
      </p:pic>
      <p:sp>
        <p:nvSpPr>
          <p:cNvPr id="16" name="Rectangle 15"/>
          <p:cNvSpPr/>
          <p:nvPr/>
        </p:nvSpPr>
        <p:spPr>
          <a:xfrm>
            <a:off x="2639616" y="5229200"/>
            <a:ext cx="1152128"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pic>
        <p:nvPicPr>
          <p:cNvPr id="2" name="Picture 1">
            <a:extLst>
              <a:ext uri="{FF2B5EF4-FFF2-40B4-BE49-F238E27FC236}">
                <a16:creationId xmlns:a16="http://schemas.microsoft.com/office/drawing/2014/main" id="{F516F3B6-04F4-9B89-A082-1F7EE8772298}"/>
              </a:ext>
            </a:extLst>
          </p:cNvPr>
          <p:cNvPicPr>
            <a:picLocks noChangeAspect="1"/>
          </p:cNvPicPr>
          <p:nvPr/>
        </p:nvPicPr>
        <p:blipFill rotWithShape="1">
          <a:blip r:embed="rId3"/>
          <a:srcRect l="19519" t="19764" r="18025" b="19708"/>
          <a:stretch/>
        </p:blipFill>
        <p:spPr>
          <a:xfrm>
            <a:off x="9635430" y="975092"/>
            <a:ext cx="1872208" cy="1911212"/>
          </a:xfrm>
          <a:prstGeom prst="rect">
            <a:avLst/>
          </a:prstGeom>
        </p:spPr>
      </p:pic>
      <p:sp>
        <p:nvSpPr>
          <p:cNvPr id="8" name="Title 1">
            <a:extLst>
              <a:ext uri="{FF2B5EF4-FFF2-40B4-BE49-F238E27FC236}">
                <a16:creationId xmlns:a16="http://schemas.microsoft.com/office/drawing/2014/main" id="{92EB79EE-3776-99E3-8928-07CCE7C7AA45}"/>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9" name="Line 2">
            <a:extLst>
              <a:ext uri="{FF2B5EF4-FFF2-40B4-BE49-F238E27FC236}">
                <a16:creationId xmlns:a16="http://schemas.microsoft.com/office/drawing/2014/main" id="{36C57E04-C4E9-4639-DB5D-BB0E9731438A}"/>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7808DFF5-554D-50B3-B9F5-421F0C6D719A}"/>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6759329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4196633" y="1700808"/>
            <a:ext cx="7632848" cy="5182899"/>
          </a:xfrm>
          <a:prstGeom prst="rect">
            <a:avLst/>
          </a:prstGeom>
        </p:spPr>
      </p:pic>
      <p:sp>
        <p:nvSpPr>
          <p:cNvPr id="5" name="Content Placeholder 2"/>
          <p:cNvSpPr>
            <a:spLocks noGrp="1"/>
          </p:cNvSpPr>
          <p:nvPr>
            <p:ph idx="1"/>
          </p:nvPr>
        </p:nvSpPr>
        <p:spPr>
          <a:xfrm>
            <a:off x="720000" y="1268760"/>
            <a:ext cx="10225136" cy="1152128"/>
          </a:xfrm>
        </p:spPr>
        <p:txBody>
          <a:bodyPr>
            <a:noAutofit/>
          </a:bodyPr>
          <a:lstStyle/>
          <a:p>
            <a:pPr marL="0" lvl="1" indent="0">
              <a:buNone/>
              <a:tabLst>
                <a:tab pos="3138488" algn="l"/>
              </a:tabLst>
            </a:pPr>
            <a:r>
              <a:rPr lang="en-GB" sz="1800" b="1" dirty="0" err="1"/>
              <a:t>Hyperparameter</a:t>
            </a:r>
            <a:r>
              <a:rPr lang="en-GB" sz="1800" b="1" dirty="0"/>
              <a:t> tuning in practice</a:t>
            </a:r>
          </a:p>
          <a:p>
            <a:pPr marL="0" lvl="1" indent="0">
              <a:buNone/>
              <a:tabLst>
                <a:tab pos="3138488" algn="l"/>
              </a:tabLst>
            </a:pPr>
            <a:endParaRPr lang="en-GB" dirty="0"/>
          </a:p>
          <a:p>
            <a:pPr marL="0" lvl="1" indent="0">
              <a:buNone/>
              <a:tabLst>
                <a:tab pos="3138488" algn="l"/>
              </a:tabLst>
            </a:pPr>
            <a:r>
              <a:rPr lang="en-GB" sz="1800" dirty="0"/>
              <a:t>For hyperparameter tuning we can use </a:t>
            </a:r>
            <a:r>
              <a:rPr lang="en-GB" sz="1800" dirty="0" err="1"/>
              <a:t>SciKit-learn’s</a:t>
            </a:r>
            <a:r>
              <a:rPr lang="en-GB" sz="1800" dirty="0"/>
              <a:t> </a:t>
            </a:r>
            <a:r>
              <a:rPr lang="en-GB" b="1" dirty="0" err="1"/>
              <a:t>GridSearchCV</a:t>
            </a: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TextBox 2"/>
          <p:cNvSpPr txBox="1"/>
          <p:nvPr/>
        </p:nvSpPr>
        <p:spPr>
          <a:xfrm>
            <a:off x="461727" y="3856776"/>
            <a:ext cx="3929204" cy="2864699"/>
          </a:xfrm>
          <a:prstGeom prst="rect">
            <a:avLst/>
          </a:prstGeom>
          <a:noFill/>
          <a:ln>
            <a:solidFill>
              <a:srgbClr val="00B050"/>
            </a:solidFill>
          </a:ln>
        </p:spPr>
        <p:txBody>
          <a:bodyPr wrap="square" rtlCol="0" anchor="ctr">
            <a:no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In this case, these hyperparameters:</a:t>
            </a:r>
          </a:p>
          <a:p>
            <a:pPr marL="630238" marR="0" lvl="1"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L2 = 0.0001</a:t>
            </a:r>
          </a:p>
          <a:p>
            <a:pPr marL="630238" marR="0" lvl="1"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Lr = 0.001</a:t>
            </a:r>
          </a:p>
          <a:p>
            <a:pPr marL="630238" marR="0" lvl="1"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Layers = (30,30)</a:t>
            </a:r>
          </a:p>
          <a:p>
            <a:pPr marL="314325" marR="0" lvl="1" indent="0" algn="l" defTabSz="914400" rtl="0" eaLnBrk="1" fontAlgn="auto" latinLnBrk="0" hangingPunct="1">
              <a:lnSpc>
                <a:spcPct val="100000"/>
              </a:lnSpc>
              <a:spcBef>
                <a:spcPts val="0"/>
              </a:spcBef>
              <a:spcAft>
                <a:spcPts val="0"/>
              </a:spcAft>
              <a:buClrTx/>
              <a:buSzTx/>
              <a:buFontTx/>
              <a:buNone/>
              <a:tabLst>
                <a:tab pos="260350" algn="l"/>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result in the best </a:t>
            </a:r>
            <a:r>
              <a:rPr kumimoji="0" lang="en-GB" sz="1800" b="1" i="0" u="none" strike="noStrike" kern="1200" cap="none" spc="0" normalizeH="0" baseline="0" noProof="0" dirty="0">
                <a:ln>
                  <a:noFill/>
                </a:ln>
                <a:solidFill>
                  <a:srgbClr val="00B050"/>
                </a:solidFill>
                <a:effectLst/>
                <a:uLnTx/>
                <a:uFillTx/>
                <a:latin typeface="Calibri" panose="020F0502020204030204"/>
                <a:ea typeface="+mn-ea"/>
                <a:cs typeface="+mn-cs"/>
              </a:rPr>
              <a:t>generalisation performance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srgbClr val="00B050"/>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Note: we do </a:t>
            </a:r>
            <a:r>
              <a:rPr kumimoji="0" lang="en-GB" sz="1800" b="1" i="0" u="none" strike="noStrike" kern="1200" cap="none" spc="0" normalizeH="0" baseline="0" noProof="0" dirty="0">
                <a:ln>
                  <a:noFill/>
                </a:ln>
                <a:solidFill>
                  <a:srgbClr val="00B050"/>
                </a:solidFill>
                <a:effectLst/>
                <a:uLnTx/>
                <a:uFillTx/>
                <a:latin typeface="Calibri" panose="020F0502020204030204"/>
                <a:ea typeface="+mn-ea"/>
                <a:cs typeface="+mn-cs"/>
              </a:rPr>
              <a:t>not</a:t>
            </a: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 consider the weights of the model to assess its performance</a:t>
            </a:r>
          </a:p>
        </p:txBody>
      </p:sp>
      <p:sp>
        <p:nvSpPr>
          <p:cNvPr id="7" name="Rectangle 6"/>
          <p:cNvSpPr/>
          <p:nvPr/>
        </p:nvSpPr>
        <p:spPr>
          <a:xfrm>
            <a:off x="4572484" y="4437112"/>
            <a:ext cx="227372" cy="2284364"/>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sp>
        <p:nvSpPr>
          <p:cNvPr id="10" name="Title 1">
            <a:extLst>
              <a:ext uri="{FF2B5EF4-FFF2-40B4-BE49-F238E27FC236}">
                <a16:creationId xmlns:a16="http://schemas.microsoft.com/office/drawing/2014/main" id="{A79899C6-A490-A567-0A67-1E48EFEDB551}"/>
              </a:ext>
            </a:extLst>
          </p:cNvPr>
          <p:cNvSpPr>
            <a:spLocks noGrp="1"/>
          </p:cNvSpPr>
          <p:nvPr>
            <p:ph type="title"/>
          </p:nvPr>
        </p:nvSpPr>
        <p:spPr>
          <a:xfrm>
            <a:off x="1981200" y="-58697"/>
            <a:ext cx="8229600" cy="1143000"/>
          </a:xfrm>
        </p:spPr>
        <p:txBody>
          <a:bodyPr/>
          <a:lstStyle/>
          <a:p>
            <a:r>
              <a:rPr lang="en-GB" dirty="0"/>
              <a:t>Training ANNs</a:t>
            </a:r>
            <a:endParaRPr lang="en-GB" sz="1800" dirty="0"/>
          </a:p>
        </p:txBody>
      </p:sp>
      <p:sp>
        <p:nvSpPr>
          <p:cNvPr id="11" name="Line 2">
            <a:extLst>
              <a:ext uri="{FF2B5EF4-FFF2-40B4-BE49-F238E27FC236}">
                <a16:creationId xmlns:a16="http://schemas.microsoft.com/office/drawing/2014/main" id="{5D3DED44-DC1E-2F07-F6F5-B94D2D3C0C36}"/>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2" name="Line 2">
            <a:extLst>
              <a:ext uri="{FF2B5EF4-FFF2-40B4-BE49-F238E27FC236}">
                <a16:creationId xmlns:a16="http://schemas.microsoft.com/office/drawing/2014/main" id="{C3C71804-3C20-8D50-F90B-2F078DC29884}"/>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7406062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4000" dirty="0"/>
              <a:t>K-fold cross validation</a:t>
            </a:r>
          </a:p>
        </p:txBody>
      </p:sp>
      <p:sp>
        <p:nvSpPr>
          <p:cNvPr id="3" name="Content Placeholder 2"/>
          <p:cNvSpPr>
            <a:spLocks noGrp="1"/>
          </p:cNvSpPr>
          <p:nvPr>
            <p:ph idx="1"/>
          </p:nvPr>
        </p:nvSpPr>
        <p:spPr>
          <a:xfrm>
            <a:off x="585926" y="1260000"/>
            <a:ext cx="7377344" cy="5400600"/>
          </a:xfrm>
        </p:spPr>
        <p:txBody>
          <a:bodyPr>
            <a:normAutofit/>
          </a:bodyPr>
          <a:lstStyle/>
          <a:p>
            <a:pPr marL="285750" lvl="1">
              <a:buFont typeface="Arial" panose="020B0604020202020204" pitchFamily="34" charset="0"/>
              <a:buChar char="•"/>
              <a:tabLst>
                <a:tab pos="3138488" algn="l"/>
              </a:tabLst>
            </a:pPr>
            <a:r>
              <a:rPr lang="en-GB" sz="1800" dirty="0"/>
              <a:t>K-fold cross validation is a method</a:t>
            </a:r>
            <a:r>
              <a:rPr lang="en-US" sz="1800" dirty="0"/>
              <a:t> to </a:t>
            </a:r>
            <a:r>
              <a:rPr lang="en-US" sz="1800" b="1" dirty="0"/>
              <a:t>more rigorously evaluate the </a:t>
            </a:r>
            <a:r>
              <a:rPr lang="en-US" sz="1800" b="1" dirty="0" err="1"/>
              <a:t>generalisation</a:t>
            </a:r>
            <a:r>
              <a:rPr lang="en-US" sz="1800" b="1" dirty="0"/>
              <a:t> performance </a:t>
            </a:r>
            <a:r>
              <a:rPr lang="en-US" sz="1800" dirty="0"/>
              <a:t>(vs train/test)</a:t>
            </a:r>
          </a:p>
          <a:p>
            <a:pPr marL="285750" lvl="1">
              <a:buFont typeface="Arial" panose="020B0604020202020204" pitchFamily="34" charset="0"/>
              <a:buChar char="•"/>
              <a:tabLst>
                <a:tab pos="3138488" algn="l"/>
              </a:tabLst>
            </a:pPr>
            <a:endParaRPr lang="en-US" sz="1800" dirty="0"/>
          </a:p>
          <a:p>
            <a:pPr marL="285750" lvl="1">
              <a:buFont typeface="Arial" panose="020B0604020202020204" pitchFamily="34" charset="0"/>
              <a:buChar char="•"/>
              <a:tabLst>
                <a:tab pos="3138488" algn="l"/>
              </a:tabLst>
            </a:pPr>
            <a:r>
              <a:rPr lang="en-US" sz="1800" dirty="0"/>
              <a:t>K-fold cross validations is a ‘</a:t>
            </a:r>
            <a:r>
              <a:rPr lang="en-US" sz="1800" b="1" dirty="0"/>
              <a:t>must use</a:t>
            </a:r>
            <a:r>
              <a:rPr lang="en-US" sz="1800" dirty="0"/>
              <a:t>’ when </a:t>
            </a:r>
            <a:r>
              <a:rPr lang="en-GB" sz="1800" dirty="0"/>
              <a:t>tuning the </a:t>
            </a:r>
            <a:r>
              <a:rPr lang="en-GB" sz="1800" dirty="0" err="1"/>
              <a:t>hyperparameters</a:t>
            </a:r>
            <a:endParaRPr lang="en-GB" sz="1800" dirty="0"/>
          </a:p>
          <a:p>
            <a:pPr marL="285750" lvl="1">
              <a:buFont typeface="Arial" panose="020B0604020202020204" pitchFamily="34" charset="0"/>
              <a:buChar char="•"/>
              <a:tabLst>
                <a:tab pos="3138488" algn="l"/>
              </a:tabLst>
            </a:pPr>
            <a:endParaRPr lang="en-GB" sz="1800" dirty="0"/>
          </a:p>
          <a:p>
            <a:pPr marL="285750" lvl="1">
              <a:buFont typeface="Arial" panose="020B0604020202020204" pitchFamily="34" charset="0"/>
              <a:buChar char="•"/>
              <a:tabLst>
                <a:tab pos="3138488" algn="l"/>
              </a:tabLst>
            </a:pPr>
            <a:r>
              <a:rPr lang="en-GB" sz="1800" dirty="0"/>
              <a:t>When tuning </a:t>
            </a:r>
            <a:r>
              <a:rPr lang="en-GB" sz="1800" dirty="0" err="1"/>
              <a:t>hyperparameters</a:t>
            </a:r>
            <a:r>
              <a:rPr lang="en-GB" sz="1800" dirty="0"/>
              <a:t> on a simple train/test split, one risks overfitting on the particular manifestation of the test-split</a:t>
            </a:r>
          </a:p>
          <a:p>
            <a:pPr marL="285750" lvl="1">
              <a:buFont typeface="Arial" panose="020B0604020202020204" pitchFamily="34" charset="0"/>
              <a:buChar char="•"/>
              <a:tabLst>
                <a:tab pos="3138488" algn="l"/>
              </a:tabLst>
            </a:pPr>
            <a:endParaRPr lang="en-GB" sz="1800" dirty="0"/>
          </a:p>
          <a:p>
            <a:pPr marL="285750" lvl="1">
              <a:buFont typeface="Arial" panose="020B0604020202020204" pitchFamily="34" charset="0"/>
              <a:buChar char="•"/>
              <a:tabLst>
                <a:tab pos="3138488" algn="l"/>
              </a:tabLst>
            </a:pPr>
            <a:endParaRPr lang="en-GB" sz="1800" dirty="0"/>
          </a:p>
          <a:p>
            <a:endParaRPr lang="en-GB" sz="1800" dirty="0"/>
          </a:p>
          <a:p>
            <a:pPr marL="0" indent="0">
              <a:buNone/>
              <a:tabLst>
                <a:tab pos="361950" algn="l"/>
              </a:tabLst>
            </a:pPr>
            <a:r>
              <a:rPr lang="en-GB" sz="1800" dirty="0"/>
              <a:t>	</a:t>
            </a:r>
          </a:p>
          <a:p>
            <a:pPr marL="0" indent="0">
              <a:buNone/>
              <a:tabLst>
                <a:tab pos="361950" algn="l"/>
              </a:tabLst>
            </a:pPr>
            <a:endParaRPr lang="en-GB" sz="1800" dirty="0"/>
          </a:p>
          <a:p>
            <a:pPr marL="358775" indent="-358775">
              <a:tabLst>
                <a:tab pos="3314700" algn="l"/>
              </a:tabLst>
            </a:pPr>
            <a:endParaRPr lang="en-GB" sz="1800" dirty="0"/>
          </a:p>
          <a:p>
            <a:endParaRPr lang="en-GB" sz="1800" dirty="0"/>
          </a:p>
        </p:txBody>
      </p:sp>
      <p:sp>
        <p:nvSpPr>
          <p:cNvPr id="4" name="Slide Number Placeholder 3"/>
          <p:cNvSpPr>
            <a:spLocks noGrp="1"/>
          </p:cNvSpPr>
          <p:nvPr>
            <p:ph type="sldNum" sz="quarter" idx="12"/>
          </p:nvPr>
        </p:nvSpPr>
        <p:spPr/>
        <p:txBody>
          <a:bodyPr/>
          <a:lstStyle/>
          <a:p>
            <a:fld id="{B8038A88-BFD1-4DDE-9255-0657B8D83B52}" type="slidenum">
              <a:rPr lang="nl-NL" smtClean="0">
                <a:solidFill>
                  <a:prstClr val="black">
                    <a:tint val="75000"/>
                  </a:prstClr>
                </a:solidFill>
              </a:rPr>
              <a:pPr/>
              <a:t>43</a:t>
            </a:fld>
            <a:endParaRPr lang="nl-NL">
              <a:solidFill>
                <a:prstClr val="black">
                  <a:tint val="75000"/>
                </a:prstClr>
              </a:solidFill>
            </a:endParaRPr>
          </a:p>
        </p:txBody>
      </p:sp>
      <p:grpSp>
        <p:nvGrpSpPr>
          <p:cNvPr id="6" name="Group 5"/>
          <p:cNvGrpSpPr/>
          <p:nvPr/>
        </p:nvGrpSpPr>
        <p:grpSpPr>
          <a:xfrm>
            <a:off x="8202510" y="1260000"/>
            <a:ext cx="3556264" cy="2534708"/>
            <a:chOff x="8026136" y="3328962"/>
            <a:chExt cx="3556264" cy="2534708"/>
          </a:xfrm>
        </p:grpSpPr>
        <p:pic>
          <p:nvPicPr>
            <p:cNvPr id="12" name="Picture 11"/>
            <p:cNvPicPr>
              <a:picLocks noChangeAspect="1"/>
            </p:cNvPicPr>
            <p:nvPr/>
          </p:nvPicPr>
          <p:blipFill rotWithShape="1">
            <a:blip r:embed="rId2"/>
            <a:srcRect t="31045" r="29022" b="10956"/>
            <a:stretch/>
          </p:blipFill>
          <p:spPr>
            <a:xfrm>
              <a:off x="8026136" y="3850846"/>
              <a:ext cx="3556264" cy="2012824"/>
            </a:xfrm>
            <a:prstGeom prst="rect">
              <a:avLst/>
            </a:prstGeom>
          </p:spPr>
        </p:pic>
        <p:sp>
          <p:nvSpPr>
            <p:cNvPr id="5" name="Rectangle 4"/>
            <p:cNvSpPr/>
            <p:nvPr/>
          </p:nvSpPr>
          <p:spPr>
            <a:xfrm>
              <a:off x="8472264" y="3328962"/>
              <a:ext cx="3094735" cy="275544"/>
            </a:xfrm>
            <a:prstGeom prst="rect">
              <a:avLst/>
            </a:prstGeom>
            <a:solidFill>
              <a:schemeClr val="bg1">
                <a:lumMod val="85000"/>
              </a:schemeClr>
            </a:solidFill>
            <a:ln w="1270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All data</a:t>
              </a:r>
            </a:p>
          </p:txBody>
        </p:sp>
      </p:grpSp>
      <p:sp>
        <p:nvSpPr>
          <p:cNvPr id="7" name="TextBox 6">
            <a:extLst>
              <a:ext uri="{FF2B5EF4-FFF2-40B4-BE49-F238E27FC236}">
                <a16:creationId xmlns:a16="http://schemas.microsoft.com/office/drawing/2014/main" id="{0BC3FC14-AED0-08E3-4884-B9D25864682D}"/>
              </a:ext>
            </a:extLst>
          </p:cNvPr>
          <p:cNvSpPr txBox="1"/>
          <p:nvPr/>
        </p:nvSpPr>
        <p:spPr>
          <a:xfrm>
            <a:off x="585926" y="3662852"/>
            <a:ext cx="7616584" cy="2823099"/>
          </a:xfrm>
          <a:prstGeom prst="rect">
            <a:avLst/>
          </a:prstGeom>
          <a:noFill/>
        </p:spPr>
        <p:txBody>
          <a:bodyPr wrap="square" rtlCol="0">
            <a:noAutofit/>
          </a:bodyPr>
          <a:lstStyle/>
          <a:p>
            <a:pPr marL="28575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r>
              <a:rPr kumimoji="0" lang="en-GB" sz="1700" b="1" i="0" u="none" strike="noStrike" kern="1200" cap="none" spc="0" normalizeH="0" baseline="0" noProof="0" dirty="0">
                <a:ln>
                  <a:noFill/>
                </a:ln>
                <a:solidFill>
                  <a:prstClr val="black"/>
                </a:solidFill>
                <a:effectLst/>
                <a:uLnTx/>
                <a:uFillTx/>
                <a:latin typeface="Calibri" panose="020F0502020204030204"/>
                <a:ea typeface="+mn-ea"/>
                <a:cs typeface="+mn-cs"/>
              </a:rPr>
              <a:t>K-fold cross validation procedure for </a:t>
            </a:r>
            <a:r>
              <a:rPr kumimoji="0" lang="en-GB" sz="1700" b="1" i="0" u="none" strike="noStrike" kern="1200" cap="none" spc="0" normalizeH="0" baseline="0" noProof="0" dirty="0" err="1">
                <a:ln>
                  <a:noFill/>
                </a:ln>
                <a:solidFill>
                  <a:prstClr val="black"/>
                </a:solidFill>
                <a:effectLst/>
                <a:uLnTx/>
                <a:uFillTx/>
                <a:latin typeface="Calibri" panose="020F0502020204030204"/>
                <a:ea typeface="+mn-ea"/>
                <a:cs typeface="+mn-cs"/>
              </a:rPr>
              <a:t>hypertuning</a:t>
            </a: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800100" marR="0" lvl="2" indent="-342900" algn="l" defTabSz="914400" rtl="0" eaLnBrk="1" fontAlgn="auto" latinLnBrk="0" hangingPunct="1">
              <a:lnSpc>
                <a:spcPct val="90000"/>
              </a:lnSpc>
              <a:spcBef>
                <a:spcPts val="500"/>
              </a:spcBef>
              <a:spcAft>
                <a:spcPts val="0"/>
              </a:spcAft>
              <a:buClrTx/>
              <a:buSzTx/>
              <a:buFont typeface="+mj-lt"/>
              <a:buAutoNum type="arabicPeriod"/>
              <a:tabLst>
                <a:tab pos="3138488" algn="l"/>
              </a:tabLst>
              <a:defRPr/>
            </a:pP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Split data in K-folds</a:t>
            </a:r>
          </a:p>
          <a:p>
            <a:pPr marL="800100" marR="0" lvl="2" indent="-342900" algn="l" defTabSz="914400" rtl="0" eaLnBrk="1" fontAlgn="auto" latinLnBrk="0" hangingPunct="1">
              <a:lnSpc>
                <a:spcPct val="90000"/>
              </a:lnSpc>
              <a:spcBef>
                <a:spcPts val="500"/>
              </a:spcBef>
              <a:spcAft>
                <a:spcPts val="0"/>
              </a:spcAft>
              <a:buClrTx/>
              <a:buSzTx/>
              <a:buFont typeface="+mj-lt"/>
              <a:buAutoNum type="arabicPeriod"/>
              <a:tabLst>
                <a:tab pos="3138488" algn="l"/>
              </a:tabLst>
              <a:defRPr/>
            </a:pP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For </a:t>
            </a:r>
            <a:r>
              <a:rPr kumimoji="0" lang="en-GB" sz="1700" b="0" i="1" u="none" strike="noStrike" kern="1200" cap="none" spc="0" normalizeH="0" baseline="0" noProof="0" dirty="0">
                <a:ln>
                  <a:noFill/>
                </a:ln>
                <a:solidFill>
                  <a:prstClr val="black"/>
                </a:solidFill>
                <a:effectLst/>
                <a:uLnTx/>
                <a:uFillTx/>
                <a:latin typeface="Calibri" panose="020F0502020204030204"/>
                <a:ea typeface="+mn-ea"/>
                <a:cs typeface="+mn-cs"/>
              </a:rPr>
              <a:t>m</a:t>
            </a: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 = 1…</a:t>
            </a:r>
            <a:r>
              <a:rPr kumimoji="0" lang="en-GB" sz="1700" b="0" i="1" u="none" strike="noStrike" kern="1200" cap="none" spc="0" normalizeH="0" baseline="0" noProof="0" dirty="0">
                <a:ln>
                  <a:noFill/>
                </a:ln>
                <a:solidFill>
                  <a:prstClr val="black"/>
                </a:solidFill>
                <a:effectLst/>
                <a:uLnTx/>
                <a:uFillTx/>
                <a:latin typeface="Calibri" panose="020F0502020204030204"/>
                <a:ea typeface="+mn-ea"/>
                <a:cs typeface="+mn-cs"/>
              </a:rPr>
              <a:t>M</a:t>
            </a: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 (models with hyperparameter settings)</a:t>
            </a:r>
          </a:p>
          <a:p>
            <a:pPr marL="1257300" marR="0" lvl="3" indent="-342900" algn="l" defTabSz="914400" rtl="0" eaLnBrk="1" fontAlgn="auto" latinLnBrk="0" hangingPunct="1">
              <a:lnSpc>
                <a:spcPct val="90000"/>
              </a:lnSpc>
              <a:spcBef>
                <a:spcPts val="500"/>
              </a:spcBef>
              <a:spcAft>
                <a:spcPts val="0"/>
              </a:spcAft>
              <a:buClrTx/>
              <a:buSzTx/>
              <a:buFont typeface="+mj-lt"/>
              <a:buAutoNum type="arabicPeriod" startAt="3"/>
              <a:tabLst>
                <a:tab pos="3138488" algn="l"/>
              </a:tabLst>
              <a:defRPr/>
            </a:pP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For </a:t>
            </a:r>
            <a:r>
              <a:rPr kumimoji="0" lang="en-GB" sz="1700" b="0" i="1" u="none" strike="noStrike" kern="1200" cap="none" spc="0" normalizeH="0" baseline="0" noProof="0" dirty="0">
                <a:ln>
                  <a:noFill/>
                </a:ln>
                <a:solidFill>
                  <a:prstClr val="black"/>
                </a:solidFill>
                <a:effectLst/>
                <a:uLnTx/>
                <a:uFillTx/>
                <a:latin typeface="Calibri" panose="020F0502020204030204"/>
                <a:ea typeface="+mn-ea"/>
                <a:cs typeface="+mn-cs"/>
              </a:rPr>
              <a:t>k</a:t>
            </a: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 = 1…</a:t>
            </a:r>
            <a:r>
              <a:rPr kumimoji="0" lang="en-GB" sz="1700" b="0" i="1" u="none" strike="noStrike" kern="1200" cap="none" spc="0" normalizeH="0" baseline="0" noProof="0" dirty="0">
                <a:ln>
                  <a:noFill/>
                </a:ln>
                <a:solidFill>
                  <a:prstClr val="black"/>
                </a:solidFill>
                <a:effectLst/>
                <a:uLnTx/>
                <a:uFillTx/>
                <a:latin typeface="Calibri" panose="020F0502020204030204"/>
                <a:ea typeface="+mn-ea"/>
                <a:cs typeface="+mn-cs"/>
              </a:rPr>
              <a:t>K</a:t>
            </a:r>
          </a:p>
          <a:p>
            <a:pPr marL="1771650" marR="0" lvl="4" indent="-400050" algn="l" defTabSz="914400" rtl="0" eaLnBrk="1" fontAlgn="auto" latinLnBrk="0" hangingPunct="1">
              <a:lnSpc>
                <a:spcPct val="90000"/>
              </a:lnSpc>
              <a:spcBef>
                <a:spcPts val="500"/>
              </a:spcBef>
              <a:spcAft>
                <a:spcPts val="0"/>
              </a:spcAft>
              <a:buClrTx/>
              <a:buSzTx/>
              <a:buFont typeface="+mj-lt"/>
              <a:buAutoNum type="romanUcPeriod"/>
              <a:tabLst>
                <a:tab pos="3138488" algn="l"/>
              </a:tabLst>
              <a:defRPr/>
            </a:pPr>
            <a:r>
              <a:rPr kumimoji="0" lang="en-GB" sz="1500" b="0" i="0" u="none" strike="noStrike" kern="1200" cap="none" spc="0" normalizeH="0" baseline="0" noProof="0" dirty="0">
                <a:ln>
                  <a:noFill/>
                </a:ln>
                <a:solidFill>
                  <a:prstClr val="black"/>
                </a:solidFill>
                <a:effectLst/>
                <a:uLnTx/>
                <a:uFillTx/>
                <a:latin typeface="Calibri" panose="020F0502020204030204"/>
                <a:ea typeface="+mn-ea"/>
                <a:cs typeface="+mn-cs"/>
              </a:rPr>
              <a:t>Train the model, while leaving fold </a:t>
            </a:r>
            <a:r>
              <a:rPr kumimoji="0" lang="en-GB" sz="1500" b="0" i="1" u="none" strike="noStrike" kern="1200" cap="none" spc="0" normalizeH="0" baseline="0" noProof="0" dirty="0">
                <a:ln>
                  <a:noFill/>
                </a:ln>
                <a:solidFill>
                  <a:prstClr val="black"/>
                </a:solidFill>
                <a:effectLst/>
                <a:uLnTx/>
                <a:uFillTx/>
                <a:latin typeface="Calibri" panose="020F0502020204030204"/>
                <a:ea typeface="+mn-ea"/>
                <a:cs typeface="+mn-cs"/>
              </a:rPr>
              <a:t>k</a:t>
            </a:r>
            <a:r>
              <a:rPr kumimoji="0" lang="en-GB" sz="1500" b="0" i="0" u="none" strike="noStrike" kern="1200" cap="none" spc="0" normalizeH="0" baseline="0" noProof="0" dirty="0">
                <a:ln>
                  <a:noFill/>
                </a:ln>
                <a:solidFill>
                  <a:prstClr val="black"/>
                </a:solidFill>
                <a:effectLst/>
                <a:uLnTx/>
                <a:uFillTx/>
                <a:latin typeface="Calibri" panose="020F0502020204030204"/>
                <a:ea typeface="+mn-ea"/>
                <a:cs typeface="+mn-cs"/>
              </a:rPr>
              <a:t> out</a:t>
            </a:r>
          </a:p>
          <a:p>
            <a:pPr marL="1771650" marR="0" lvl="4" indent="-400050" algn="l" defTabSz="914400" rtl="0" eaLnBrk="1" fontAlgn="auto" latinLnBrk="0" hangingPunct="1">
              <a:lnSpc>
                <a:spcPct val="90000"/>
              </a:lnSpc>
              <a:spcBef>
                <a:spcPts val="500"/>
              </a:spcBef>
              <a:spcAft>
                <a:spcPts val="0"/>
              </a:spcAft>
              <a:buClrTx/>
              <a:buSzTx/>
              <a:buFont typeface="+mj-lt"/>
              <a:buAutoNum type="romanUcPeriod"/>
              <a:tabLst>
                <a:tab pos="3138488" algn="l"/>
              </a:tabLst>
              <a:defRPr/>
            </a:pPr>
            <a:r>
              <a:rPr kumimoji="0" lang="en-GB" sz="1500" b="0" i="0" u="none" strike="noStrike" kern="1200" cap="none" spc="0" normalizeH="0" baseline="0" noProof="0" dirty="0">
                <a:ln>
                  <a:noFill/>
                </a:ln>
                <a:solidFill>
                  <a:prstClr val="black"/>
                </a:solidFill>
                <a:effectLst/>
                <a:uLnTx/>
                <a:uFillTx/>
                <a:latin typeface="Calibri" panose="020F0502020204030204"/>
                <a:ea typeface="+mn-ea"/>
                <a:cs typeface="+mn-cs"/>
              </a:rPr>
              <a:t>Evaluate the model performance on fold </a:t>
            </a:r>
            <a:r>
              <a:rPr kumimoji="0" lang="en-GB" sz="1500" b="0" i="1" u="none" strike="noStrike" kern="1200" cap="none" spc="0" normalizeH="0" baseline="0" noProof="0" dirty="0">
                <a:ln>
                  <a:noFill/>
                </a:ln>
                <a:solidFill>
                  <a:prstClr val="black"/>
                </a:solidFill>
                <a:effectLst/>
                <a:uLnTx/>
                <a:uFillTx/>
                <a:latin typeface="Calibri" panose="020F0502020204030204"/>
                <a:ea typeface="+mn-ea"/>
                <a:cs typeface="+mn-cs"/>
              </a:rPr>
              <a:t>k</a:t>
            </a:r>
          </a:p>
          <a:p>
            <a:pPr marL="1257300" marR="0" lvl="3" indent="-342900" algn="l" defTabSz="914400" rtl="0" eaLnBrk="1" fontAlgn="auto" latinLnBrk="0" hangingPunct="1">
              <a:lnSpc>
                <a:spcPct val="90000"/>
              </a:lnSpc>
              <a:spcBef>
                <a:spcPts val="500"/>
              </a:spcBef>
              <a:spcAft>
                <a:spcPts val="0"/>
              </a:spcAft>
              <a:buClrTx/>
              <a:buSzTx/>
              <a:buFont typeface="+mj-lt"/>
              <a:buAutoNum type="arabicPeriod" startAt="3"/>
              <a:tabLst>
                <a:tab pos="3138488" algn="l"/>
              </a:tabLst>
              <a:defRPr/>
            </a:pP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Compute avg. performance of model </a:t>
            </a:r>
            <a:r>
              <a:rPr kumimoji="0" lang="en-GB" sz="1700" b="0" i="1" u="none" strike="noStrike" kern="1200" cap="none" spc="0" normalizeH="0" baseline="0" noProof="0" dirty="0">
                <a:ln>
                  <a:noFill/>
                </a:ln>
                <a:solidFill>
                  <a:prstClr val="black"/>
                </a:solidFill>
                <a:effectLst/>
                <a:uLnTx/>
                <a:uFillTx/>
                <a:latin typeface="Calibri" panose="020F0502020204030204"/>
                <a:ea typeface="+mn-ea"/>
                <a:cs typeface="+mn-cs"/>
              </a:rPr>
              <a:t>m</a:t>
            </a: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 across all </a:t>
            </a:r>
            <a:r>
              <a:rPr kumimoji="0" lang="en-GB" sz="1700" b="0" i="1" u="none" strike="noStrike" kern="1200" cap="none" spc="0" normalizeH="0" baseline="0" noProof="0" dirty="0">
                <a:ln>
                  <a:noFill/>
                </a:ln>
                <a:solidFill>
                  <a:prstClr val="black"/>
                </a:solidFill>
                <a:effectLst/>
                <a:uLnTx/>
                <a:uFillTx/>
                <a:latin typeface="Calibri" panose="020F0502020204030204"/>
                <a:ea typeface="+mn-ea"/>
                <a:cs typeface="+mn-cs"/>
              </a:rPr>
              <a:t>K</a:t>
            </a: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 folds</a:t>
            </a:r>
          </a:p>
          <a:p>
            <a:pPr marL="800100" marR="0" lvl="2" indent="-342900" algn="l" defTabSz="914400" rtl="0" eaLnBrk="1" fontAlgn="auto" latinLnBrk="0" hangingPunct="1">
              <a:lnSpc>
                <a:spcPct val="90000"/>
              </a:lnSpc>
              <a:spcBef>
                <a:spcPts val="500"/>
              </a:spcBef>
              <a:spcAft>
                <a:spcPts val="0"/>
              </a:spcAft>
              <a:buClrTx/>
              <a:buSzTx/>
              <a:buFont typeface="+mj-lt"/>
              <a:buAutoNum type="arabicPeriod" startAt="5"/>
              <a:tabLst>
                <a:tab pos="3138488" algn="l"/>
              </a:tabLst>
              <a:defRPr/>
            </a:pP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Identify hyperparameters based on the best avg. performance across folds</a:t>
            </a:r>
          </a:p>
          <a:p>
            <a:pPr marL="800100" marR="0" lvl="2" indent="-342900" algn="l" defTabSz="914400" rtl="0" eaLnBrk="1" fontAlgn="auto" latinLnBrk="0" hangingPunct="1">
              <a:lnSpc>
                <a:spcPct val="90000"/>
              </a:lnSpc>
              <a:spcBef>
                <a:spcPts val="500"/>
              </a:spcBef>
              <a:spcAft>
                <a:spcPts val="0"/>
              </a:spcAft>
              <a:buClrTx/>
              <a:buSzTx/>
              <a:buFont typeface="+mj-lt"/>
              <a:buAutoNum type="arabicPeriod" startAt="5"/>
              <a:tabLst>
                <a:tab pos="3138488" algn="l"/>
              </a:tabLst>
              <a:defRPr/>
            </a:pP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For deployment: train model with optimised hyperparameters on </a:t>
            </a:r>
            <a:r>
              <a:rPr kumimoji="0" lang="en-GB" sz="1700" b="0" i="0" u="sng" strike="noStrike" kern="1200" cap="none" spc="0" normalizeH="0" baseline="0" noProof="0" dirty="0">
                <a:ln>
                  <a:noFill/>
                </a:ln>
                <a:solidFill>
                  <a:prstClr val="black"/>
                </a:solidFill>
                <a:effectLst/>
                <a:uLnTx/>
                <a:uFillTx/>
                <a:latin typeface="Calibri" panose="020F0502020204030204"/>
                <a:ea typeface="+mn-ea"/>
                <a:cs typeface="+mn-cs"/>
              </a:rPr>
              <a:t>all</a:t>
            </a:r>
            <a:r>
              <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rPr>
              <a:t> data</a:t>
            </a:r>
          </a:p>
          <a:p>
            <a:pPr marL="28575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algn="l" defTabSz="904875">
              <a:tabLst>
                <a:tab pos="715963" algn="l"/>
                <a:tab pos="3228975" algn="l"/>
              </a:tabLst>
            </a:pPr>
            <a:endParaRPr lang="en-GB" dirty="0">
              <a:cs typeface="Calibri" panose="020F0502020204030204" pitchFamily="34" charset="0"/>
              <a:sym typeface="Wingdings" panose="05000000000000000000" pitchFamily="2" charset="2"/>
            </a:endParaRPr>
          </a:p>
        </p:txBody>
      </p:sp>
      <p:sp>
        <p:nvSpPr>
          <p:cNvPr id="9" name="Line 2">
            <a:extLst>
              <a:ext uri="{FF2B5EF4-FFF2-40B4-BE49-F238E27FC236}">
                <a16:creationId xmlns:a16="http://schemas.microsoft.com/office/drawing/2014/main" id="{7AB2EDE4-1CDF-3BDC-D679-1EBF27040509}"/>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38257F78-8124-C71F-4B23-0E158B94746B}"/>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600100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fade">
                                      <p:cBhvr>
                                        <p:cTn id="10" dur="500"/>
                                        <p:tgtEl>
                                          <p:spTgt spid="3">
                                            <p:txEl>
                                              <p:pRg st="4" end="4"/>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a:spLocks noGrp="1"/>
          </p:cNvSpPr>
          <p:nvPr>
            <p:ph type="title"/>
          </p:nvPr>
        </p:nvSpPr>
        <p:spPr>
          <a:xfrm>
            <a:off x="1981200" y="0"/>
            <a:ext cx="8229600" cy="6858000"/>
          </a:xfrm>
        </p:spPr>
        <p:txBody>
          <a:bodyPr/>
          <a:lstStyle/>
          <a:p>
            <a:r>
              <a:rPr lang="en-GB" dirty="0"/>
              <a:t>Model performance metrics</a:t>
            </a:r>
            <a:endParaRPr lang="en-GB" sz="1800" dirty="0"/>
          </a:p>
        </p:txBody>
      </p:sp>
      <p:sp>
        <p:nvSpPr>
          <p:cNvPr id="5" name="Content Placeholder 2"/>
          <p:cNvSpPr>
            <a:spLocks noGrp="1"/>
          </p:cNvSpPr>
          <p:nvPr>
            <p:ph idx="1"/>
          </p:nvPr>
        </p:nvSpPr>
        <p:spPr>
          <a:xfrm>
            <a:off x="1981200" y="1268760"/>
            <a:ext cx="8507288" cy="5400600"/>
          </a:xfrm>
        </p:spPr>
        <p:txBody>
          <a:bodyPr>
            <a:normAutofit/>
          </a:bodyPr>
          <a:lstStyle/>
          <a:p>
            <a:pPr marL="0" lvl="1" indent="0">
              <a:buNone/>
              <a:tabLst>
                <a:tab pos="3138488" algn="l"/>
              </a:tabLst>
            </a:pPr>
            <a:endParaRPr lang="en-GB" sz="1800" b="1" dirty="0"/>
          </a:p>
          <a:p>
            <a:pPr marL="0" lvl="1" indent="0">
              <a:buNone/>
              <a:tabLst>
                <a:tab pos="3138488" algn="l"/>
              </a:tabLst>
            </a:pPr>
            <a:endParaRPr lang="en-GB" sz="1800" b="1" dirty="0"/>
          </a:p>
          <a:p>
            <a:pPr marL="360363" lvl="1" indent="-360363">
              <a:buFont typeface="Arial" panose="020B0604020202020204" pitchFamily="34" charset="0"/>
              <a:buChar char="•"/>
              <a:tabLst>
                <a:tab pos="3138488" algn="l"/>
              </a:tabLst>
            </a:pPr>
            <a:endParaRPr lang="en-US" sz="1800" dirty="0"/>
          </a:p>
          <a:p>
            <a:pPr marL="360363" lvl="1" indent="-360363">
              <a:buFont typeface="Arial" panose="020B0604020202020204" pitchFamily="34" charset="0"/>
              <a:buChar char="•"/>
              <a:tabLst>
                <a:tab pos="3138488" algn="l"/>
              </a:tabLst>
            </a:pPr>
            <a:endParaRPr lang="en-US" sz="1800" dirty="0"/>
          </a:p>
          <a:p>
            <a:pPr marL="360363" lvl="1" indent="-360363">
              <a:buFont typeface="Arial" panose="020B0604020202020204" pitchFamily="34" charset="0"/>
              <a:buChar char="•"/>
              <a:tabLst>
                <a:tab pos="3138488" algn="l"/>
              </a:tabLst>
            </a:pPr>
            <a:endParaRPr lang="en-US" sz="1800" dirty="0"/>
          </a:p>
          <a:p>
            <a:pPr marL="360363" lvl="1" indent="-360363">
              <a:buFont typeface="Arial" panose="020B0604020202020204" pitchFamily="34" charset="0"/>
              <a:buChar char="•"/>
              <a:tabLst>
                <a:tab pos="3138488" algn="l"/>
              </a:tabLst>
            </a:pPr>
            <a:endParaRPr lang="en-US" sz="1800" dirty="0"/>
          </a:p>
          <a:p>
            <a:pPr marL="360363" lvl="1" indent="-360363">
              <a:buFont typeface="Arial" panose="020B0604020202020204" pitchFamily="34" charset="0"/>
              <a:buChar char="•"/>
              <a:tabLst>
                <a:tab pos="3138488" algn="l"/>
              </a:tabLst>
            </a:pPr>
            <a:endParaRPr lang="en-US" sz="1800" dirty="0"/>
          </a:p>
          <a:p>
            <a:pPr marL="360363" lvl="1" indent="-360363">
              <a:buFont typeface="Arial" panose="020B0604020202020204" pitchFamily="34" charset="0"/>
              <a:buChar char="•"/>
              <a:tabLst>
                <a:tab pos="3138488" algn="l"/>
              </a:tabLst>
            </a:pPr>
            <a:endParaRPr lang="en-US" sz="1800" dirty="0"/>
          </a:p>
          <a:p>
            <a:pPr marL="360363" lvl="1" indent="-360363">
              <a:buFont typeface="Arial" panose="020B0604020202020204" pitchFamily="34" charset="0"/>
              <a:buChar char="•"/>
              <a:tabLst>
                <a:tab pos="3138488" algn="l"/>
              </a:tabLst>
            </a:pPr>
            <a:endParaRPr lang="en-US" sz="1800" dirty="0"/>
          </a:p>
          <a:p>
            <a:pPr marL="360363" lvl="1" indent="-360363">
              <a:buFont typeface="Arial" panose="020B0604020202020204" pitchFamily="34" charset="0"/>
              <a:buChar char="•"/>
              <a:tabLst>
                <a:tab pos="3138488" algn="l"/>
              </a:tabLst>
            </a:pPr>
            <a:endParaRPr lang="en-US" sz="1800" dirty="0"/>
          </a:p>
          <a:p>
            <a:pPr marL="360363" lvl="1" indent="-360363">
              <a:buFont typeface="Arial" panose="020B0604020202020204" pitchFamily="34" charset="0"/>
              <a:buChar char="•"/>
              <a:tabLst>
                <a:tab pos="3138488" algn="l"/>
              </a:tabLst>
            </a:pPr>
            <a:endParaRPr lang="en-GB" sz="1800" dirty="0"/>
          </a:p>
          <a:p>
            <a:endParaRPr lang="en-GB" sz="1800" dirty="0"/>
          </a:p>
          <a:p>
            <a:pPr marL="0" indent="0">
              <a:buNone/>
              <a:tabLst>
                <a:tab pos="361950" algn="l"/>
              </a:tabLst>
            </a:pPr>
            <a:r>
              <a:rPr lang="en-GB" sz="1800" dirty="0"/>
              <a:t>	</a:t>
            </a:r>
          </a:p>
          <a:p>
            <a:pPr marL="0" indent="0">
              <a:buNone/>
              <a:tabLst>
                <a:tab pos="361950" algn="l"/>
              </a:tabLst>
            </a:pPr>
            <a:endParaRPr lang="en-GB" sz="1800" dirty="0"/>
          </a:p>
          <a:p>
            <a:pPr marL="358775" indent="-358775">
              <a:tabLst>
                <a:tab pos="3314700" algn="l"/>
              </a:tabLst>
            </a:pPr>
            <a:endParaRPr lang="en-GB" sz="1800" dirty="0"/>
          </a:p>
          <a:p>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5705360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3999" y="1389921"/>
            <a:ext cx="10439163" cy="450287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60363" lvl="1" indent="-360363">
              <a:buFont typeface="Arial" panose="020B0604020202020204" pitchFamily="34" charset="0"/>
              <a:buChar char="•"/>
              <a:tabLst>
                <a:tab pos="3138488" algn="l"/>
              </a:tabLst>
            </a:pPr>
            <a:r>
              <a:rPr kumimoji="0" lang="en-GB" sz="1800" b="0" i="0" u="none" strike="noStrike" kern="1200" cap="none" spc="0" normalizeH="0" baseline="0" noProof="0" dirty="0">
                <a:ln>
                  <a:noFill/>
                </a:ln>
                <a:solidFill>
                  <a:prstClr val="black"/>
                </a:solidFill>
                <a:effectLst/>
                <a:uLnTx/>
                <a:uFillTx/>
                <a:latin typeface="Calibri"/>
                <a:ea typeface="+mn-ea"/>
                <a:cs typeface="+mn-cs"/>
              </a:rPr>
              <a:t>While in choice modelling </a:t>
            </a:r>
            <a:r>
              <a:rPr lang="en-GB" sz="1800" dirty="0">
                <a:solidFill>
                  <a:prstClr val="black"/>
                </a:solidFill>
              </a:rPr>
              <a:t>almost exclusively, </a:t>
            </a:r>
            <a:r>
              <a:rPr kumimoji="0" lang="en-GB" sz="1800" b="0" i="0" u="none" strike="noStrike" kern="1200" cap="none" spc="0" normalizeH="0" baseline="0" noProof="0" dirty="0">
                <a:ln>
                  <a:noFill/>
                </a:ln>
                <a:solidFill>
                  <a:prstClr val="black"/>
                </a:solidFill>
                <a:effectLst/>
                <a:uLnTx/>
                <a:uFillTx/>
                <a:latin typeface="Calibri"/>
                <a:ea typeface="+mn-ea"/>
                <a:cs typeface="+mn-cs"/>
              </a:rPr>
              <a:t>the </a:t>
            </a:r>
            <a:r>
              <a:rPr kumimoji="0" lang="en-GB" sz="1800" b="1" i="0" u="none" strike="noStrike" kern="1200" cap="none" spc="0" normalizeH="0" baseline="0" noProof="0" dirty="0">
                <a:ln>
                  <a:noFill/>
                </a:ln>
                <a:solidFill>
                  <a:prstClr val="black"/>
                </a:solidFill>
                <a:effectLst/>
                <a:uLnTx/>
                <a:uFillTx/>
                <a:latin typeface="Calibri"/>
                <a:ea typeface="+mn-ea"/>
                <a:cs typeface="+mn-cs"/>
              </a:rPr>
              <a:t>LL</a:t>
            </a:r>
            <a:r>
              <a:rPr kumimoji="0" lang="en-GB" sz="1800" b="0" i="0" u="none" strike="noStrike" kern="1200" cap="none" spc="0" normalizeH="0" baseline="0" noProof="0" dirty="0">
                <a:ln>
                  <a:noFill/>
                </a:ln>
                <a:solidFill>
                  <a:prstClr val="black"/>
                </a:solidFill>
                <a:effectLst/>
                <a:uLnTx/>
                <a:uFillTx/>
                <a:latin typeface="Calibri"/>
                <a:ea typeface="+mn-ea"/>
                <a:cs typeface="+mn-cs"/>
              </a:rPr>
              <a:t> is used as </a:t>
            </a:r>
            <a:r>
              <a:rPr kumimoji="0" lang="en-GB" sz="1800" b="1" i="1" u="none" strike="noStrike" kern="1200" cap="none" spc="0" normalizeH="0" baseline="0" noProof="0" dirty="0">
                <a:ln>
                  <a:noFill/>
                </a:ln>
                <a:solidFill>
                  <a:prstClr val="black"/>
                </a:solidFill>
                <a:effectLst/>
                <a:uLnTx/>
                <a:uFillTx/>
                <a:latin typeface="Calibri"/>
                <a:ea typeface="+mn-ea"/>
                <a:cs typeface="+mn-cs"/>
              </a:rPr>
              <a:t>the</a:t>
            </a:r>
            <a:r>
              <a:rPr kumimoji="0" lang="en-GB" sz="1800" b="0" i="0" u="none" strike="noStrike" kern="1200" cap="none" spc="0" normalizeH="0" baseline="0" noProof="0" dirty="0">
                <a:ln>
                  <a:noFill/>
                </a:ln>
                <a:solidFill>
                  <a:prstClr val="black"/>
                </a:solidFill>
                <a:effectLst/>
                <a:uLnTx/>
                <a:uFillTx/>
                <a:latin typeface="Calibri"/>
                <a:ea typeface="+mn-ea"/>
                <a:cs typeface="+mn-cs"/>
              </a:rPr>
              <a:t> </a:t>
            </a:r>
            <a:r>
              <a:rPr kumimoji="0" lang="en-GB" sz="1800" b="1" i="0" u="none" strike="noStrike" kern="1200" cap="none" spc="0" normalizeH="0" baseline="0" noProof="0" dirty="0">
                <a:ln>
                  <a:noFill/>
                </a:ln>
                <a:solidFill>
                  <a:prstClr val="black"/>
                </a:solidFill>
                <a:effectLst/>
                <a:uLnTx/>
                <a:uFillTx/>
                <a:latin typeface="Calibri"/>
                <a:ea typeface="+mn-ea"/>
                <a:cs typeface="+mn-cs"/>
              </a:rPr>
              <a:t>yardstick</a:t>
            </a:r>
            <a:r>
              <a:rPr kumimoji="0" lang="en-GB" sz="1800" b="0" i="0" u="none" strike="noStrike" kern="1200" cap="none" spc="0" normalizeH="0" baseline="0" noProof="0" dirty="0">
                <a:ln>
                  <a:noFill/>
                </a:ln>
                <a:solidFill>
                  <a:prstClr val="black"/>
                </a:solidFill>
                <a:effectLst/>
                <a:uLnTx/>
                <a:uFillTx/>
                <a:latin typeface="Calibri"/>
                <a:ea typeface="+mn-ea"/>
                <a:cs typeface="+mn-cs"/>
              </a:rPr>
              <a:t> for model performance, in machine </a:t>
            </a:r>
            <a:r>
              <a:rPr lang="en-GB" sz="1800" dirty="0">
                <a:solidFill>
                  <a:prstClr val="black"/>
                </a:solidFill>
              </a:rPr>
              <a:t>learning, </a:t>
            </a:r>
            <a:r>
              <a:rPr kumimoji="0" lang="en-GB" sz="1800" b="0" i="0" u="none" strike="noStrike" kern="1200" cap="none" spc="0" normalizeH="0" baseline="0" noProof="0" dirty="0">
                <a:ln>
                  <a:noFill/>
                </a:ln>
                <a:solidFill>
                  <a:prstClr val="black"/>
                </a:solidFill>
                <a:effectLst/>
                <a:uLnTx/>
                <a:uFillTx/>
                <a:latin typeface="Calibri"/>
                <a:ea typeface="+mn-ea"/>
                <a:cs typeface="+mn-cs"/>
              </a:rPr>
              <a:t>various other </a:t>
            </a:r>
            <a:r>
              <a:rPr kumimoji="0" lang="en-GB" sz="1800" b="1" i="0" u="none" strike="noStrike" kern="1200" cap="none" spc="0" normalizeH="0" baseline="0" noProof="0" dirty="0">
                <a:ln>
                  <a:noFill/>
                </a:ln>
                <a:solidFill>
                  <a:prstClr val="black"/>
                </a:solidFill>
                <a:effectLst/>
                <a:uLnTx/>
                <a:uFillTx/>
                <a:latin typeface="Calibri"/>
                <a:ea typeface="+mn-ea"/>
                <a:cs typeface="+mn-cs"/>
              </a:rPr>
              <a:t>metrics </a:t>
            </a:r>
            <a:r>
              <a:rPr kumimoji="0" lang="en-GB" sz="1800" i="0" u="none" strike="noStrike" kern="1200" cap="none" spc="0" normalizeH="0" baseline="0" noProof="0" dirty="0">
                <a:ln>
                  <a:noFill/>
                </a:ln>
                <a:solidFill>
                  <a:prstClr val="black"/>
                </a:solidFill>
                <a:effectLst/>
                <a:uLnTx/>
                <a:uFillTx/>
                <a:latin typeface="Calibri"/>
                <a:ea typeface="+mn-ea"/>
                <a:cs typeface="+mn-cs"/>
              </a:rPr>
              <a:t>are used</a:t>
            </a:r>
          </a:p>
          <a:p>
            <a:pPr marL="360363" lvl="1" indent="-360363">
              <a:buFont typeface="Arial" panose="020B0604020202020204" pitchFamily="34" charset="0"/>
              <a:buChar char="•"/>
              <a:tabLst>
                <a:tab pos="3138488" algn="l"/>
              </a:tabLst>
            </a:pPr>
            <a:endParaRPr kumimoji="0" lang="en-GB" sz="180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The following metrics are commonly used in ML in </a:t>
            </a:r>
            <a:r>
              <a:rPr kumimoji="0" lang="en-GB" sz="1800" b="1" i="0" u="none" strike="noStrike" kern="1200" cap="none" spc="0" normalizeH="0" baseline="0" noProof="0" dirty="0">
                <a:ln>
                  <a:noFill/>
                </a:ln>
                <a:solidFill>
                  <a:prstClr val="black"/>
                </a:solidFill>
                <a:effectLst/>
                <a:uLnTx/>
                <a:uFillTx/>
                <a:latin typeface="Calibri"/>
                <a:ea typeface="+mn-ea"/>
                <a:cs typeface="+mn-cs"/>
              </a:rPr>
              <a:t>classification tasks</a:t>
            </a:r>
            <a:r>
              <a:rPr kumimoji="0" lang="en-GB" sz="1800" b="0" i="0" u="none" strike="noStrike" kern="1200" cap="none" spc="0" normalizeH="0" baseline="0" noProof="0" dirty="0">
                <a:ln>
                  <a:noFill/>
                </a:ln>
                <a:solidFill>
                  <a:prstClr val="black"/>
                </a:solidFill>
                <a:effectLst/>
                <a:uLnTx/>
                <a:uFillTx/>
                <a:latin typeface="Calibri"/>
                <a:ea typeface="+mn-ea"/>
                <a:cs typeface="+mn-cs"/>
              </a:rPr>
              <a:t>:</a:t>
            </a:r>
          </a:p>
          <a:p>
            <a:pPr marL="800100" marR="0" lvl="2"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Accuracy</a:t>
            </a:r>
          </a:p>
          <a:p>
            <a:pPr marL="800100" marR="0" lvl="2"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Precision</a:t>
            </a:r>
          </a:p>
          <a:p>
            <a:pPr marL="800100" marR="0" lvl="2"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Recall</a:t>
            </a:r>
          </a:p>
          <a:p>
            <a:pPr marL="800100" marR="0" lvl="2"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Matthew’s coefficient</a:t>
            </a:r>
          </a:p>
          <a:p>
            <a:pPr marL="457200" marR="0" lvl="2"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These metrics are computed based on the </a:t>
            </a:r>
            <a:r>
              <a:rPr kumimoji="0" lang="en-GB" sz="1800" b="1"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confusion matrix</a:t>
            </a: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1" indent="-285750"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7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285750" marR="0" lvl="1"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à"/>
              <a:tabLst>
                <a:tab pos="3138488" algn="l"/>
              </a:tabLst>
              <a:defRPr/>
            </a:pPr>
            <a:endParaRPr kumimoji="0" lang="en-GB"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GB" sz="1700" b="0" i="0" u="none" strike="noStrike" kern="1200" cap="none" spc="0" normalizeH="0" baseline="0" noProof="0" dirty="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7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GB" sz="17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7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700" b="0" i="0" u="none" strike="noStrike" kern="1200" cap="none" spc="0" normalizeH="0" baseline="0" noProof="0" dirty="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700" b="0" i="0" u="none" strike="noStrike" kern="1200" cap="none" spc="0" normalizeH="0" baseline="0" noProof="0" dirty="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7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r>
              <a:rPr kumimoji="0" lang="en-GB" sz="1700" b="0" i="0" u="none" strike="noStrike" kern="1200" cap="none" spc="0" normalizeH="0" baseline="0" noProof="0" dirty="0" err="1">
                <a:ln>
                  <a:noFill/>
                </a:ln>
                <a:solidFill>
                  <a:prstClr val="black"/>
                </a:solidFill>
                <a:effectLst/>
                <a:uLnTx/>
                <a:uFillTx/>
                <a:latin typeface="Calibri"/>
                <a:ea typeface="+mn-ea"/>
                <a:cs typeface="+mn-cs"/>
              </a:rPr>
              <a:t>vc</a:t>
            </a:r>
            <a:endParaRPr kumimoji="0" lang="en-GB" sz="1700" b="0" i="0" u="none" strike="noStrike" kern="1200" cap="none" spc="0" normalizeH="0" baseline="0" noProof="0" dirty="0">
              <a:ln>
                <a:noFill/>
              </a:ln>
              <a:solidFill>
                <a:prstClr val="black"/>
              </a:solidFill>
              <a:effectLst/>
              <a:uLnTx/>
              <a:uFillTx/>
              <a:latin typeface="Calibri"/>
              <a:ea typeface="+mn-ea"/>
              <a:cs typeface="+mn-cs"/>
            </a:endParaRPr>
          </a:p>
        </p:txBody>
      </p:sp>
      <p:sp>
        <p:nvSpPr>
          <p:cNvPr id="3" name="Line 2">
            <a:extLst>
              <a:ext uri="{FF2B5EF4-FFF2-40B4-BE49-F238E27FC236}">
                <a16:creationId xmlns:a16="http://schemas.microsoft.com/office/drawing/2014/main" id="{8F3015AF-0A6F-C07C-2BB6-FA099B75B730}"/>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5" name="Line 2">
            <a:extLst>
              <a:ext uri="{FF2B5EF4-FFF2-40B4-BE49-F238E27FC236}">
                <a16:creationId xmlns:a16="http://schemas.microsoft.com/office/drawing/2014/main" id="{E364099D-29D3-EBFF-32EF-F1F88E8AC7B4}"/>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25867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xEl>
                                              <p:pRg st="3" end="3"/>
                                            </p:txEl>
                                          </p:spTgt>
                                        </p:tgtEl>
                                        <p:attrNameLst>
                                          <p:attrName>style.visibility</p:attrName>
                                        </p:attrNameLst>
                                      </p:cBhvr>
                                      <p:to>
                                        <p:strVal val="visible"/>
                                      </p:to>
                                    </p:set>
                                    <p:animEffect transition="in" filter="fade">
                                      <p:cBhvr>
                                        <p:cTn id="7" dur="500"/>
                                        <p:tgtEl>
                                          <p:spTgt spid="15">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5">
                                            <p:txEl>
                                              <p:pRg st="4" end="4"/>
                                            </p:txEl>
                                          </p:spTgt>
                                        </p:tgtEl>
                                        <p:attrNameLst>
                                          <p:attrName>style.visibility</p:attrName>
                                        </p:attrNameLst>
                                      </p:cBhvr>
                                      <p:to>
                                        <p:strVal val="visible"/>
                                      </p:to>
                                    </p:set>
                                    <p:animEffect transition="in" filter="fade">
                                      <p:cBhvr>
                                        <p:cTn id="10" dur="500"/>
                                        <p:tgtEl>
                                          <p:spTgt spid="15">
                                            <p:txEl>
                                              <p:pRg st="4" end="4"/>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xEl>
                                              <p:pRg st="5" end="5"/>
                                            </p:txEl>
                                          </p:spTgt>
                                        </p:tgtEl>
                                        <p:attrNameLst>
                                          <p:attrName>style.visibility</p:attrName>
                                        </p:attrNameLst>
                                      </p:cBhvr>
                                      <p:to>
                                        <p:strVal val="visible"/>
                                      </p:to>
                                    </p:set>
                                    <p:animEffect transition="in" filter="fade">
                                      <p:cBhvr>
                                        <p:cTn id="13" dur="500"/>
                                        <p:tgtEl>
                                          <p:spTgt spid="15">
                                            <p:txEl>
                                              <p:pRg st="5" end="5"/>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5">
                                            <p:txEl>
                                              <p:pRg st="6" end="6"/>
                                            </p:txEl>
                                          </p:spTgt>
                                        </p:tgtEl>
                                        <p:attrNameLst>
                                          <p:attrName>style.visibility</p:attrName>
                                        </p:attrNameLst>
                                      </p:cBhvr>
                                      <p:to>
                                        <p:strVal val="visible"/>
                                      </p:to>
                                    </p:set>
                                    <p:animEffect transition="in" filter="fade">
                                      <p:cBhvr>
                                        <p:cTn id="16" dur="500"/>
                                        <p:tgtEl>
                                          <p:spTgt spid="15">
                                            <p:txEl>
                                              <p:pRg st="6" end="6"/>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xEl>
                                              <p:pRg st="7" end="7"/>
                                            </p:txEl>
                                          </p:spTgt>
                                        </p:tgtEl>
                                        <p:attrNameLst>
                                          <p:attrName>style.visibility</p:attrName>
                                        </p:attrNameLst>
                                      </p:cBhvr>
                                      <p:to>
                                        <p:strVal val="visible"/>
                                      </p:to>
                                    </p:set>
                                    <p:animEffect transition="in" filter="fade">
                                      <p:cBhvr>
                                        <p:cTn id="19" dur="500"/>
                                        <p:tgtEl>
                                          <p:spTgt spid="15">
                                            <p:txEl>
                                              <p:pRg st="7" end="7"/>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5">
                                            <p:txEl>
                                              <p:pRg st="9" end="9"/>
                                            </p:txEl>
                                          </p:spTgt>
                                        </p:tgtEl>
                                        <p:attrNameLst>
                                          <p:attrName>style.visibility</p:attrName>
                                        </p:attrNameLst>
                                      </p:cBhvr>
                                      <p:to>
                                        <p:strVal val="visible"/>
                                      </p:to>
                                    </p:set>
                                    <p:animEffect transition="in" filter="fade">
                                      <p:cBhvr>
                                        <p:cTn id="22" dur="500"/>
                                        <p:tgtEl>
                                          <p:spTgt spid="1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Table 15"/>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Positive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Negative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kern="1200" dirty="0">
                          <a:solidFill>
                            <a:schemeClr val="dk1"/>
                          </a:solidFill>
                          <a:latin typeface="+mn-lt"/>
                          <a:ea typeface="+mn-ea"/>
                          <a:cs typeface="+mn-cs"/>
                        </a:rPr>
                        <a:t>Positive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30</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70</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Negative</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170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220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sp>
        <p:nvSpPr>
          <p:cNvPr id="10" name="Title 1">
            <a:extLst>
              <a:ext uri="{FF2B5EF4-FFF2-40B4-BE49-F238E27FC236}">
                <a16:creationId xmlns:a16="http://schemas.microsoft.com/office/drawing/2014/main" id="{05137B5F-235F-FBE1-47D8-B0B35523F0EC}"/>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340032" cy="4329240"/>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a:t>
            </a: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Shows counts from predicted and actual outcomes. </a:t>
            </a:r>
          </a:p>
          <a:p>
            <a:pPr marL="800100" marR="0" lvl="2" indent="-28575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Predictions are based on </a:t>
            </a:r>
            <a:r>
              <a:rPr kumimoji="0" lang="en-US" sz="1800" b="1" i="0" u="none" strike="noStrike" kern="1200" cap="none" spc="0" normalizeH="0" baseline="0" noProof="0" dirty="0">
                <a:ln>
                  <a:noFill/>
                </a:ln>
                <a:solidFill>
                  <a:prstClr val="black"/>
                </a:solidFill>
                <a:effectLst/>
                <a:uLnTx/>
                <a:uFillTx/>
                <a:latin typeface="Calibri"/>
                <a:ea typeface="+mn-ea"/>
                <a:cs typeface="+mn-cs"/>
              </a:rPr>
              <a:t>highest probability </a:t>
            </a:r>
            <a:r>
              <a:rPr kumimoji="0" lang="en-US" sz="1800" b="0" i="0" u="none" strike="noStrike" kern="1200" cap="none" spc="0" normalizeH="0" baseline="0" noProof="0" dirty="0">
                <a:ln>
                  <a:noFill/>
                </a:ln>
                <a:solidFill>
                  <a:prstClr val="black"/>
                </a:solidFill>
                <a:effectLst/>
                <a:uLnTx/>
                <a:uFillTx/>
                <a:latin typeface="Calibri"/>
                <a:ea typeface="+mn-ea"/>
                <a:cs typeface="+mn-cs"/>
              </a:rPr>
              <a:t>alternative</a:t>
            </a:r>
          </a:p>
          <a:p>
            <a:pPr marL="514350" marR="0" lvl="2" indent="0" algn="l" defTabSz="914400" rtl="0" eaLnBrk="1" fontAlgn="auto" latinLnBrk="0" hangingPunct="1">
              <a:lnSpc>
                <a:spcPct val="100000"/>
              </a:lnSpc>
              <a:spcBef>
                <a:spcPct val="20000"/>
              </a:spcBef>
              <a:spcAft>
                <a:spcPts val="0"/>
              </a:spcAft>
              <a:buClrTx/>
              <a:buSzTx/>
              <a:buFont typeface="Arial" pitchFamily="34" charset="0"/>
              <a:buNone/>
              <a:tabLst>
                <a:tab pos="1254125"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514350" marR="0" lvl="2" indent="0" algn="l" defTabSz="914400" rtl="0" eaLnBrk="1" fontAlgn="auto" latinLnBrk="0" hangingPunct="1">
              <a:lnSpc>
                <a:spcPct val="100000"/>
              </a:lnSpc>
              <a:spcBef>
                <a:spcPct val="20000"/>
              </a:spcBef>
              <a:spcAft>
                <a:spcPts val="0"/>
              </a:spcAft>
              <a:buClrTx/>
              <a:buSzTx/>
              <a:buFont typeface="Arial" pitchFamily="34" charset="0"/>
              <a:buNone/>
              <a:tabLst>
                <a:tab pos="1254125"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	</a:t>
            </a:r>
            <a:r>
              <a:rPr kumimoji="0" lang="en-US" sz="1800" b="0" i="1" u="none" strike="noStrike" kern="1200" cap="none" spc="0" normalizeH="0" baseline="0" noProof="0" dirty="0">
                <a:ln>
                  <a:noFill/>
                </a:ln>
                <a:solidFill>
                  <a:prstClr val="black"/>
                </a:solidFill>
                <a:effectLst/>
                <a:uLnTx/>
                <a:uFillTx/>
                <a:latin typeface="Calibri"/>
                <a:ea typeface="+mn-ea"/>
                <a:cs typeface="+mn-cs"/>
              </a:rPr>
              <a:t>P</a:t>
            </a:r>
            <a:r>
              <a:rPr kumimoji="0" lang="en-US" sz="1800" b="0" i="1" u="none" strike="noStrike" kern="1200" cap="none" spc="0" normalizeH="0" baseline="-25000" noProof="0" dirty="0">
                <a:ln>
                  <a:noFill/>
                </a:ln>
                <a:solidFill>
                  <a:prstClr val="black"/>
                </a:solidFill>
                <a:effectLst/>
                <a:uLnTx/>
                <a:uFillTx/>
                <a:latin typeface="Calibri"/>
                <a:ea typeface="+mn-ea"/>
                <a:cs typeface="+mn-cs"/>
              </a:rPr>
              <a:t>in</a:t>
            </a:r>
            <a:r>
              <a:rPr kumimoji="0" lang="en-US" sz="1800" b="0" i="0" u="none" strike="noStrike" kern="1200" cap="none" spc="0" normalizeH="0" baseline="0" noProof="0" dirty="0">
                <a:ln>
                  <a:noFill/>
                </a:ln>
                <a:solidFill>
                  <a:prstClr val="black"/>
                </a:solidFill>
                <a:effectLst/>
                <a:uLnTx/>
                <a:uFillTx/>
                <a:latin typeface="Calibri"/>
                <a:ea typeface="+mn-ea"/>
                <a:cs typeface="+mn-cs"/>
              </a:rPr>
              <a:t> = [0.21  0.42  0.37] </a:t>
            </a:r>
            <a:r>
              <a:rPr kumimoji="0" lang="en-US"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 [0  1  0]</a:t>
            </a: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Counts on the diagonal are correctly classified outcomes</a:t>
            </a: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Counts on the off diagonal elements are the misclassified outcomes</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 name="TextBox 1"/>
          <p:cNvSpPr txBox="1"/>
          <p:nvPr/>
        </p:nvSpPr>
        <p:spPr>
          <a:xfrm>
            <a:off x="7032104" y="1700808"/>
            <a:ext cx="4176000" cy="288032"/>
          </a:xfrm>
          <a:prstGeom prst="rect">
            <a:avLst/>
          </a:prstGeom>
          <a:noFill/>
          <a:ln>
            <a:noFill/>
          </a:ln>
        </p:spPr>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Confusion matrix (2 classes)</a:t>
            </a:r>
          </a:p>
        </p:txBody>
      </p:sp>
      <p:sp>
        <p:nvSpPr>
          <p:cNvPr id="11" name="Line 2">
            <a:extLst>
              <a:ext uri="{FF2B5EF4-FFF2-40B4-BE49-F238E27FC236}">
                <a16:creationId xmlns:a16="http://schemas.microsoft.com/office/drawing/2014/main" id="{0CEED76A-0C49-5293-AD26-9FF7365F2880}"/>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2" name="Line 2">
            <a:extLst>
              <a:ext uri="{FF2B5EF4-FFF2-40B4-BE49-F238E27FC236}">
                <a16:creationId xmlns:a16="http://schemas.microsoft.com/office/drawing/2014/main" id="{3D3BB2E2-F1BC-6177-8472-C2DA198BE0A7}"/>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41263028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71C0D4AD-B765-65D6-038C-73FDED10334D}"/>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340032" cy="4833296"/>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True Positive (TP)</a:t>
            </a:r>
          </a:p>
          <a:p>
            <a:pPr marL="800100" marR="0" lvl="2"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Ø"/>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The model correctly predicts the positive class</a:t>
            </a: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False Positive (FP)</a:t>
            </a:r>
          </a:p>
          <a:p>
            <a:pPr marL="742950" marR="0" lvl="2" indent="-228600" algn="l" defTabSz="914400" rtl="0" eaLnBrk="1" fontAlgn="auto" latinLnBrk="0" hangingPunct="1">
              <a:lnSpc>
                <a:spcPct val="100000"/>
              </a:lnSpc>
              <a:spcBef>
                <a:spcPct val="20000"/>
              </a:spcBef>
              <a:spcAft>
                <a:spcPts val="0"/>
              </a:spcAft>
              <a:buClrTx/>
              <a:buSzTx/>
              <a:buFont typeface="Wingdings" panose="05000000000000000000" pitchFamily="2" charset="2"/>
              <a:buChar char="Ø"/>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The model incorrectly predicts positive class</a:t>
            </a: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True Negative (TN)</a:t>
            </a:r>
          </a:p>
          <a:p>
            <a:pPr marL="800100" marR="0" lvl="2"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Ø"/>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The model correctly predicts the negative class</a:t>
            </a: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False Negative (FN)</a:t>
            </a:r>
          </a:p>
          <a:p>
            <a:pPr marL="800100" marR="0" lvl="2"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Ø"/>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The model incorrectly predicts negative class</a:t>
            </a: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42900" marR="0" lvl="1"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3" name="Table 2"/>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Positive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Negative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kern="1200" dirty="0">
                          <a:solidFill>
                            <a:schemeClr val="dk1"/>
                          </a:solidFill>
                          <a:latin typeface="+mn-lt"/>
                          <a:ea typeface="+mn-ea"/>
                          <a:cs typeface="+mn-cs"/>
                        </a:rPr>
                        <a:t>Positive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True Positives (TP)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False</a:t>
                      </a:r>
                      <a:r>
                        <a:rPr lang="en-GB" sz="1800" baseline="0" dirty="0">
                          <a:latin typeface="+mn-lt"/>
                        </a:rPr>
                        <a:t> Positives</a:t>
                      </a:r>
                    </a:p>
                    <a:p>
                      <a:pPr algn="ctr"/>
                      <a:r>
                        <a:rPr lang="en-GB" sz="1800" baseline="0" dirty="0">
                          <a:latin typeface="+mn-lt"/>
                        </a:rPr>
                        <a:t>(FP)</a:t>
                      </a:r>
                      <a:endParaRPr lang="en-GB" sz="1800" dirty="0">
                        <a:latin typeface="+mn-lt"/>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Negative</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False Negatives</a:t>
                      </a:r>
                    </a:p>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True Negatives</a:t>
                      </a:r>
                    </a:p>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sp>
        <p:nvSpPr>
          <p:cNvPr id="7" name="TextBox 6"/>
          <p:cNvSpPr txBox="1"/>
          <p:nvPr/>
        </p:nvSpPr>
        <p:spPr>
          <a:xfrm>
            <a:off x="7032104" y="1700808"/>
            <a:ext cx="4176000" cy="288032"/>
          </a:xfrm>
          <a:prstGeom prst="rect">
            <a:avLst/>
          </a:prstGeom>
          <a:noFill/>
          <a:ln>
            <a:noFill/>
          </a:ln>
        </p:spPr>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Confusion matrix (2 classes)</a:t>
            </a:r>
          </a:p>
        </p:txBody>
      </p:sp>
      <p:sp>
        <p:nvSpPr>
          <p:cNvPr id="9" name="Line 2">
            <a:extLst>
              <a:ext uri="{FF2B5EF4-FFF2-40B4-BE49-F238E27FC236}">
                <a16:creationId xmlns:a16="http://schemas.microsoft.com/office/drawing/2014/main" id="{DBE15AF4-EAC9-CE33-8795-7684B64FC7AC}"/>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943C489E-FD4D-F9E7-3CBD-53449F32F720}"/>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1730775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 name="Table 17"/>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Positive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Negative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kern="1200" dirty="0">
                          <a:solidFill>
                            <a:schemeClr val="dk1"/>
                          </a:solidFill>
                          <a:latin typeface="+mn-lt"/>
                          <a:ea typeface="+mn-ea"/>
                          <a:cs typeface="+mn-cs"/>
                        </a:rPr>
                        <a:t>Positive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baseline="0" dirty="0">
                          <a:latin typeface="+mn-lt"/>
                        </a:rPr>
                        <a:t>FP</a:t>
                      </a:r>
                      <a:endParaRPr lang="en-GB" sz="1800" dirty="0">
                        <a:latin typeface="+mn-lt"/>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Negative</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sp>
        <p:nvSpPr>
          <p:cNvPr id="7" name="Title 1">
            <a:extLst>
              <a:ext uri="{FF2B5EF4-FFF2-40B4-BE49-F238E27FC236}">
                <a16:creationId xmlns:a16="http://schemas.microsoft.com/office/drawing/2014/main" id="{C83A255C-6230-3E83-842A-2DE0B7E24FF8}"/>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340032" cy="4329240"/>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Accuracy [0,1]</a:t>
            </a: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361950" marR="0" lvl="2"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Ratio of correctly predicted observations to the total observations</a:t>
            </a: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2" name="Object 1"/>
          <p:cNvGraphicFramePr>
            <a:graphicFrameLocks noChangeAspect="1"/>
          </p:cNvGraphicFramePr>
          <p:nvPr/>
        </p:nvGraphicFramePr>
        <p:xfrm>
          <a:off x="1470010" y="2351598"/>
          <a:ext cx="3319138" cy="720000"/>
        </p:xfrm>
        <a:graphic>
          <a:graphicData uri="http://schemas.openxmlformats.org/presentationml/2006/ole">
            <mc:AlternateContent xmlns:mc="http://schemas.openxmlformats.org/markup-compatibility/2006">
              <mc:Choice xmlns:v="urn:schemas-microsoft-com:vml" Requires="v">
                <p:oleObj name="Equation" r:id="rId2" imgW="1701720" imgH="368280" progId="Equation.DSMT4">
                  <p:embed/>
                </p:oleObj>
              </mc:Choice>
              <mc:Fallback>
                <p:oleObj name="Equation" r:id="rId2" imgW="1701720" imgH="368280" progId="Equation.DSMT4">
                  <p:embed/>
                  <p:pic>
                    <p:nvPicPr>
                      <p:cNvPr id="2" name="Object 1"/>
                      <p:cNvPicPr/>
                      <p:nvPr/>
                    </p:nvPicPr>
                    <p:blipFill>
                      <a:blip r:embed="rId3"/>
                      <a:stretch>
                        <a:fillRect/>
                      </a:stretch>
                    </p:blipFill>
                    <p:spPr>
                      <a:xfrm>
                        <a:off x="1470010" y="2351598"/>
                        <a:ext cx="3319138" cy="720000"/>
                      </a:xfrm>
                      <a:prstGeom prst="rect">
                        <a:avLst/>
                      </a:prstGeom>
                    </p:spPr>
                  </p:pic>
                </p:oleObj>
              </mc:Fallback>
            </mc:AlternateContent>
          </a:graphicData>
        </a:graphic>
      </p:graphicFrame>
      <p:sp>
        <p:nvSpPr>
          <p:cNvPr id="8" name="Rounded Rectangle 7"/>
          <p:cNvSpPr/>
          <p:nvPr/>
        </p:nvSpPr>
        <p:spPr>
          <a:xfrm>
            <a:off x="8044563" y="3071599"/>
            <a:ext cx="2268194" cy="198000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grpSp>
        <p:nvGrpSpPr>
          <p:cNvPr id="13" name="Group 12"/>
          <p:cNvGrpSpPr/>
          <p:nvPr/>
        </p:nvGrpSpPr>
        <p:grpSpPr>
          <a:xfrm>
            <a:off x="5398192" y="2272473"/>
            <a:ext cx="1080000" cy="771690"/>
            <a:chOff x="9912422" y="1142746"/>
            <a:chExt cx="1080000" cy="771690"/>
          </a:xfrm>
        </p:grpSpPr>
        <p:sp>
          <p:nvSpPr>
            <p:cNvPr id="11" name="Rounded Rectangle 10"/>
            <p:cNvSpPr/>
            <p:nvPr/>
          </p:nvSpPr>
          <p:spPr>
            <a:xfrm>
              <a:off x="9912422" y="1142746"/>
              <a:ext cx="1080000" cy="324000"/>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100" b="1" i="0" u="none" strike="noStrike" kern="1200" cap="none" spc="0" normalizeH="0" baseline="0" noProof="0" dirty="0">
                  <a:ln>
                    <a:noFill/>
                  </a:ln>
                  <a:solidFill>
                    <a:srgbClr val="00B050"/>
                  </a:solidFill>
                  <a:effectLst/>
                  <a:uLnTx/>
                  <a:uFillTx/>
                  <a:latin typeface="Calibri"/>
                  <a:ea typeface="+mn-ea"/>
                  <a:cs typeface="+mn-cs"/>
                </a:rPr>
                <a:t>numerator</a:t>
              </a:r>
            </a:p>
          </p:txBody>
        </p:sp>
        <p:sp>
          <p:nvSpPr>
            <p:cNvPr id="19" name="Rounded Rectangle 18"/>
            <p:cNvSpPr/>
            <p:nvPr/>
          </p:nvSpPr>
          <p:spPr>
            <a:xfrm>
              <a:off x="9912422" y="1590436"/>
              <a:ext cx="1080000" cy="32400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100" b="1" i="0" u="none" strike="noStrike" kern="1200" cap="none" spc="0" normalizeH="0" baseline="0" noProof="0" dirty="0">
                  <a:ln>
                    <a:noFill/>
                  </a:ln>
                  <a:solidFill>
                    <a:srgbClr val="00B0F0"/>
                  </a:solidFill>
                  <a:effectLst/>
                  <a:uLnTx/>
                  <a:uFillTx/>
                  <a:latin typeface="Calibri"/>
                  <a:ea typeface="+mn-ea"/>
                  <a:cs typeface="+mn-cs"/>
                </a:rPr>
                <a:t>denominator</a:t>
              </a:r>
              <a:endParaRPr kumimoji="0" lang="en-GB" sz="2000" b="1" i="0" u="none" strike="noStrike" kern="1200" cap="none" spc="0" normalizeH="0" baseline="0" noProof="0" dirty="0">
                <a:ln>
                  <a:noFill/>
                </a:ln>
                <a:solidFill>
                  <a:srgbClr val="00B0F0"/>
                </a:solidFill>
                <a:effectLst/>
                <a:uLnTx/>
                <a:uFillTx/>
                <a:latin typeface="Calibri"/>
                <a:ea typeface="+mn-ea"/>
                <a:cs typeface="+mn-cs"/>
              </a:endParaRPr>
            </a:p>
          </p:txBody>
        </p:sp>
      </p:grpSp>
      <p:sp>
        <p:nvSpPr>
          <p:cNvPr id="20" name="Rounded Rectangle 19"/>
          <p:cNvSpPr/>
          <p:nvPr/>
        </p:nvSpPr>
        <p:spPr>
          <a:xfrm rot="2395412">
            <a:off x="7971482" y="3719283"/>
            <a:ext cx="2424215" cy="652758"/>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9" name="Line 2">
            <a:extLst>
              <a:ext uri="{FF2B5EF4-FFF2-40B4-BE49-F238E27FC236}">
                <a16:creationId xmlns:a16="http://schemas.microsoft.com/office/drawing/2014/main" id="{DE8F63C3-AD8A-E36F-3656-B01CA01DCCD1}"/>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7736FAF5-E9F7-1278-7E91-3779421FBC43}"/>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2624005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51CA3303-E293-F10E-5C3C-8CBE98B1CB0E}"/>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340032" cy="4329240"/>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Accuracy [0,1]</a:t>
            </a: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14" name="Table 13"/>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DIABETES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HEALTHY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dirty="0">
                          <a:latin typeface="+mn-lt"/>
                        </a:rPr>
                        <a:t>DIABETES</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30</a:t>
                      </a:r>
                    </a:p>
                    <a:p>
                      <a:pPr algn="ctr"/>
                      <a:r>
                        <a:rPr lang="en-GB" sz="1800" dirty="0">
                          <a:latin typeface="+mn-lt"/>
                        </a:rPr>
                        <a:t>(TP)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70</a:t>
                      </a:r>
                    </a:p>
                    <a:p>
                      <a:pPr algn="ctr"/>
                      <a:r>
                        <a:rPr lang="en-GB" sz="1800" dirty="0">
                          <a:latin typeface="+mn-lt"/>
                        </a:rPr>
                        <a:t>(FP)</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HEALTHY</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20</a:t>
                      </a:r>
                    </a:p>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170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220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graphicFrame>
        <p:nvGraphicFramePr>
          <p:cNvPr id="2" name="Object 1"/>
          <p:cNvGraphicFramePr>
            <a:graphicFrameLocks noChangeAspect="1"/>
          </p:cNvGraphicFramePr>
          <p:nvPr/>
        </p:nvGraphicFramePr>
        <p:xfrm>
          <a:off x="1470010" y="2351598"/>
          <a:ext cx="3319138" cy="720000"/>
        </p:xfrm>
        <a:graphic>
          <a:graphicData uri="http://schemas.openxmlformats.org/presentationml/2006/ole">
            <mc:AlternateContent xmlns:mc="http://schemas.openxmlformats.org/markup-compatibility/2006">
              <mc:Choice xmlns:v="urn:schemas-microsoft-com:vml" Requires="v">
                <p:oleObj name="Equation" r:id="rId2" imgW="1701720" imgH="368280" progId="Equation.DSMT4">
                  <p:embed/>
                </p:oleObj>
              </mc:Choice>
              <mc:Fallback>
                <p:oleObj name="Equation" r:id="rId2" imgW="1701720" imgH="368280" progId="Equation.DSMT4">
                  <p:embed/>
                  <p:pic>
                    <p:nvPicPr>
                      <p:cNvPr id="2" name="Object 1"/>
                      <p:cNvPicPr/>
                      <p:nvPr/>
                    </p:nvPicPr>
                    <p:blipFill>
                      <a:blip r:embed="rId3"/>
                      <a:stretch>
                        <a:fillRect/>
                      </a:stretch>
                    </p:blipFill>
                    <p:spPr>
                      <a:xfrm>
                        <a:off x="1470010" y="2351598"/>
                        <a:ext cx="3319138" cy="720000"/>
                      </a:xfrm>
                      <a:prstGeom prst="rect">
                        <a:avLst/>
                      </a:prstGeom>
                    </p:spPr>
                  </p:pic>
                </p:oleObj>
              </mc:Fallback>
            </mc:AlternateContent>
          </a:graphicData>
        </a:graphic>
      </p:graphicFrame>
      <p:grpSp>
        <p:nvGrpSpPr>
          <p:cNvPr id="9" name="Group 8"/>
          <p:cNvGrpSpPr/>
          <p:nvPr/>
        </p:nvGrpSpPr>
        <p:grpSpPr>
          <a:xfrm>
            <a:off x="1462682" y="1395624"/>
            <a:ext cx="10463614" cy="2860756"/>
            <a:chOff x="1462682" y="1395624"/>
            <a:chExt cx="10463614" cy="2860756"/>
          </a:xfrm>
        </p:grpSpPr>
        <p:grpSp>
          <p:nvGrpSpPr>
            <p:cNvPr id="7" name="Group 6"/>
            <p:cNvGrpSpPr/>
            <p:nvPr/>
          </p:nvGrpSpPr>
          <p:grpSpPr>
            <a:xfrm>
              <a:off x="7032104" y="1395624"/>
              <a:ext cx="4894192" cy="646364"/>
              <a:chOff x="7032104" y="1395624"/>
              <a:chExt cx="4894192" cy="646364"/>
            </a:xfrm>
          </p:grpSpPr>
          <p:sp>
            <p:nvSpPr>
              <p:cNvPr id="3" name="Rounded Rectangle 2"/>
              <p:cNvSpPr/>
              <p:nvPr/>
            </p:nvSpPr>
            <p:spPr>
              <a:xfrm>
                <a:off x="7032104" y="1395624"/>
                <a:ext cx="4894192" cy="646332"/>
              </a:xfrm>
              <a:prstGeom prst="roundRect">
                <a:avLst/>
              </a:prstGeom>
              <a:solidFill>
                <a:schemeClr val="accent4">
                  <a:lumMod val="20000"/>
                  <a:lumOff val="8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16" name="TextBox 15"/>
              <p:cNvSpPr txBox="1"/>
              <p:nvPr/>
            </p:nvSpPr>
            <p:spPr>
              <a:xfrm>
                <a:off x="7174944" y="1395657"/>
                <a:ext cx="4608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7030A0"/>
                    </a:solidFill>
                    <a:effectLst/>
                    <a:uLnTx/>
                    <a:uFillTx/>
                    <a:latin typeface="Calibri"/>
                    <a:ea typeface="+mn-ea"/>
                    <a:cs typeface="+mn-cs"/>
                  </a:rPr>
                  <a:t>Example (</a:t>
                </a:r>
                <a:r>
                  <a:rPr kumimoji="0" lang="en-GB" sz="1800" b="1" i="1" u="none" strike="noStrike" kern="1200" cap="none" spc="0" normalizeH="0" baseline="0" noProof="0" dirty="0">
                    <a:ln>
                      <a:noFill/>
                    </a:ln>
                    <a:solidFill>
                      <a:srgbClr val="7030A0"/>
                    </a:solidFill>
                    <a:effectLst/>
                    <a:uLnTx/>
                    <a:uFillTx/>
                    <a:latin typeface="Calibri"/>
                    <a:ea typeface="+mn-ea"/>
                    <a:cs typeface="+mn-cs"/>
                  </a:rPr>
                  <a:t>N</a:t>
                </a:r>
                <a:r>
                  <a:rPr kumimoji="0" lang="en-GB" sz="1800" b="1" i="0" u="none" strike="noStrike" kern="1200" cap="none" spc="0" normalizeH="0" baseline="0" noProof="0" dirty="0">
                    <a:ln>
                      <a:noFill/>
                    </a:ln>
                    <a:solidFill>
                      <a:srgbClr val="7030A0"/>
                    </a:solidFill>
                    <a:effectLst/>
                    <a:uLnTx/>
                    <a:uFillTx/>
                    <a:latin typeface="Calibri"/>
                    <a:ea typeface="+mn-ea"/>
                    <a:cs typeface="+mn-cs"/>
                  </a:rPr>
                  <a:t> = 220)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7030A0"/>
                    </a:solidFill>
                    <a:effectLst/>
                    <a:uLnTx/>
                    <a:uFillTx/>
                    <a:latin typeface="Calibri"/>
                    <a:ea typeface="+mn-ea"/>
                    <a:cs typeface="+mn-cs"/>
                  </a:rPr>
                  <a:t>Health state prediction: DIABETES or HEALTHY</a:t>
                </a:r>
              </a:p>
            </p:txBody>
          </p:sp>
        </p:grpSp>
        <p:graphicFrame>
          <p:nvGraphicFramePr>
            <p:cNvPr id="5" name="Object 4"/>
            <p:cNvGraphicFramePr>
              <a:graphicFrameLocks noChangeAspect="1"/>
            </p:cNvGraphicFramePr>
            <p:nvPr/>
          </p:nvGraphicFramePr>
          <p:xfrm>
            <a:off x="1462682" y="3536380"/>
            <a:ext cx="4493793" cy="720000"/>
          </p:xfrm>
          <a:graphic>
            <a:graphicData uri="http://schemas.openxmlformats.org/presentationml/2006/ole">
              <mc:AlternateContent xmlns:mc="http://schemas.openxmlformats.org/markup-compatibility/2006">
                <mc:Choice xmlns:v="urn:schemas-microsoft-com:vml" Requires="v">
                  <p:oleObj name="Equation" r:id="rId4" imgW="2298600" imgH="368280" progId="Equation.DSMT4">
                    <p:embed/>
                  </p:oleObj>
                </mc:Choice>
                <mc:Fallback>
                  <p:oleObj name="Equation" r:id="rId4" imgW="2298600" imgH="368280" progId="Equation.DSMT4">
                    <p:embed/>
                    <p:pic>
                      <p:nvPicPr>
                        <p:cNvPr id="5" name="Object 4"/>
                        <p:cNvPicPr/>
                        <p:nvPr/>
                      </p:nvPicPr>
                      <p:blipFill>
                        <a:blip r:embed="rId5"/>
                        <a:stretch>
                          <a:fillRect/>
                        </a:stretch>
                      </p:blipFill>
                      <p:spPr>
                        <a:xfrm>
                          <a:off x="1462682" y="3536380"/>
                          <a:ext cx="4493793" cy="720000"/>
                        </a:xfrm>
                        <a:prstGeom prst="rect">
                          <a:avLst/>
                        </a:prstGeom>
                        <a:ln>
                          <a:noFill/>
                        </a:ln>
                      </p:spPr>
                    </p:pic>
                  </p:oleObj>
                </mc:Fallback>
              </mc:AlternateContent>
            </a:graphicData>
          </a:graphic>
        </p:graphicFrame>
      </p:grpSp>
      <p:sp>
        <p:nvSpPr>
          <p:cNvPr id="20" name="Rounded Rectangle 19"/>
          <p:cNvSpPr/>
          <p:nvPr/>
        </p:nvSpPr>
        <p:spPr>
          <a:xfrm>
            <a:off x="8044563" y="3071599"/>
            <a:ext cx="2268194" cy="198000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1" name="Rounded Rectangle 20"/>
          <p:cNvSpPr/>
          <p:nvPr/>
        </p:nvSpPr>
        <p:spPr>
          <a:xfrm rot="2395412">
            <a:off x="7971482" y="3740591"/>
            <a:ext cx="2424215" cy="652758"/>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12" name="Line 2">
            <a:extLst>
              <a:ext uri="{FF2B5EF4-FFF2-40B4-BE49-F238E27FC236}">
                <a16:creationId xmlns:a16="http://schemas.microsoft.com/office/drawing/2014/main" id="{DD0BCF61-378B-872A-45D7-56555A404887}"/>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3" name="Line 2">
            <a:extLst>
              <a:ext uri="{FF2B5EF4-FFF2-40B4-BE49-F238E27FC236}">
                <a16:creationId xmlns:a16="http://schemas.microsoft.com/office/drawing/2014/main" id="{3D54ED35-39FF-2496-431B-23BC5693D287}"/>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9625666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Table 19"/>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Positive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Negative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kern="1200" dirty="0">
                          <a:solidFill>
                            <a:schemeClr val="dk1"/>
                          </a:solidFill>
                          <a:latin typeface="+mn-lt"/>
                          <a:ea typeface="+mn-ea"/>
                          <a:cs typeface="+mn-cs"/>
                        </a:rPr>
                        <a:t>Positive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baseline="0" dirty="0">
                          <a:latin typeface="+mn-lt"/>
                        </a:rPr>
                        <a:t>FP</a:t>
                      </a:r>
                      <a:endParaRPr lang="en-GB" sz="1800" dirty="0">
                        <a:latin typeface="+mn-lt"/>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Negative</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sp>
        <p:nvSpPr>
          <p:cNvPr id="7" name="Title 1">
            <a:extLst>
              <a:ext uri="{FF2B5EF4-FFF2-40B4-BE49-F238E27FC236}">
                <a16:creationId xmlns:a16="http://schemas.microsoft.com/office/drawing/2014/main" id="{B6DDD440-7776-F5E3-57B5-BA068F5A4407}"/>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412040" cy="4329240"/>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Precision [0,1]</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361950" marR="0" lvl="2"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361950" marR="0" lvl="2"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Ratio of correctly predicted positive (negative) observations to the total predicted positive (negative) observations</a:t>
            </a: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2" name="Object 1"/>
          <p:cNvGraphicFramePr>
            <a:graphicFrameLocks noChangeAspect="1"/>
          </p:cNvGraphicFramePr>
          <p:nvPr/>
        </p:nvGraphicFramePr>
        <p:xfrm>
          <a:off x="1487488" y="2231177"/>
          <a:ext cx="3749675" cy="1727200"/>
        </p:xfrm>
        <a:graphic>
          <a:graphicData uri="http://schemas.openxmlformats.org/presentationml/2006/ole">
            <mc:AlternateContent xmlns:mc="http://schemas.openxmlformats.org/markup-compatibility/2006">
              <mc:Choice xmlns:v="urn:schemas-microsoft-com:vml" Requires="v">
                <p:oleObj name="Equation" r:id="rId2" imgW="1879560" imgH="863280" progId="Equation.DSMT4">
                  <p:embed/>
                </p:oleObj>
              </mc:Choice>
              <mc:Fallback>
                <p:oleObj name="Equation" r:id="rId2" imgW="1879560" imgH="863280" progId="Equation.DSMT4">
                  <p:embed/>
                  <p:pic>
                    <p:nvPicPr>
                      <p:cNvPr id="2" name="Object 1"/>
                      <p:cNvPicPr/>
                      <p:nvPr/>
                    </p:nvPicPr>
                    <p:blipFill>
                      <a:blip r:embed="rId3"/>
                      <a:stretch>
                        <a:fillRect/>
                      </a:stretch>
                    </p:blipFill>
                    <p:spPr>
                      <a:xfrm>
                        <a:off x="1487488" y="2231177"/>
                        <a:ext cx="3749675" cy="1727200"/>
                      </a:xfrm>
                      <a:prstGeom prst="rect">
                        <a:avLst/>
                      </a:prstGeom>
                    </p:spPr>
                  </p:pic>
                </p:oleObj>
              </mc:Fallback>
            </mc:AlternateContent>
          </a:graphicData>
        </a:graphic>
      </p:graphicFrame>
      <p:sp>
        <p:nvSpPr>
          <p:cNvPr id="21" name="Rounded Rectangle 20"/>
          <p:cNvSpPr/>
          <p:nvPr/>
        </p:nvSpPr>
        <p:spPr>
          <a:xfrm>
            <a:off x="8044563" y="4221089"/>
            <a:ext cx="2268194" cy="72008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2" name="Rounded Rectangle 21"/>
          <p:cNvSpPr/>
          <p:nvPr/>
        </p:nvSpPr>
        <p:spPr>
          <a:xfrm>
            <a:off x="8256240" y="3230566"/>
            <a:ext cx="572790" cy="609651"/>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3" name="Rounded Rectangle 22"/>
          <p:cNvSpPr/>
          <p:nvPr/>
        </p:nvSpPr>
        <p:spPr>
          <a:xfrm>
            <a:off x="8054422" y="3176088"/>
            <a:ext cx="2268194" cy="72008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4" name="Rounded Rectangle 23"/>
          <p:cNvSpPr/>
          <p:nvPr/>
        </p:nvSpPr>
        <p:spPr>
          <a:xfrm>
            <a:off x="9541438" y="4277622"/>
            <a:ext cx="572790" cy="609651"/>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grpSp>
        <p:nvGrpSpPr>
          <p:cNvPr id="26" name="Group 25"/>
          <p:cNvGrpSpPr/>
          <p:nvPr/>
        </p:nvGrpSpPr>
        <p:grpSpPr>
          <a:xfrm>
            <a:off x="5398192" y="2272473"/>
            <a:ext cx="1080000" cy="771690"/>
            <a:chOff x="9912422" y="1142746"/>
            <a:chExt cx="1080000" cy="771690"/>
          </a:xfrm>
        </p:grpSpPr>
        <p:sp>
          <p:nvSpPr>
            <p:cNvPr id="27" name="Rounded Rectangle 26"/>
            <p:cNvSpPr/>
            <p:nvPr/>
          </p:nvSpPr>
          <p:spPr>
            <a:xfrm>
              <a:off x="9912422" y="1142746"/>
              <a:ext cx="1080000" cy="324000"/>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100" b="1" i="0" u="none" strike="noStrike" kern="1200" cap="none" spc="0" normalizeH="0" baseline="0" noProof="0" dirty="0">
                  <a:ln>
                    <a:noFill/>
                  </a:ln>
                  <a:solidFill>
                    <a:srgbClr val="00B050"/>
                  </a:solidFill>
                  <a:effectLst/>
                  <a:uLnTx/>
                  <a:uFillTx/>
                  <a:latin typeface="Calibri"/>
                  <a:ea typeface="+mn-ea"/>
                  <a:cs typeface="+mn-cs"/>
                </a:rPr>
                <a:t>numerator</a:t>
              </a:r>
            </a:p>
          </p:txBody>
        </p:sp>
        <p:sp>
          <p:nvSpPr>
            <p:cNvPr id="28" name="Rounded Rectangle 27"/>
            <p:cNvSpPr/>
            <p:nvPr/>
          </p:nvSpPr>
          <p:spPr>
            <a:xfrm>
              <a:off x="9912422" y="1590436"/>
              <a:ext cx="1080000" cy="32400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100" b="1" i="0" u="none" strike="noStrike" kern="1200" cap="none" spc="0" normalizeH="0" baseline="0" noProof="0" dirty="0">
                  <a:ln>
                    <a:noFill/>
                  </a:ln>
                  <a:solidFill>
                    <a:srgbClr val="00B0F0"/>
                  </a:solidFill>
                  <a:effectLst/>
                  <a:uLnTx/>
                  <a:uFillTx/>
                  <a:latin typeface="Calibri"/>
                  <a:ea typeface="+mn-ea"/>
                  <a:cs typeface="+mn-cs"/>
                </a:rPr>
                <a:t>denominator</a:t>
              </a:r>
              <a:endParaRPr kumimoji="0" lang="en-GB" sz="2000" b="1" i="0" u="none" strike="noStrike" kern="1200" cap="none" spc="0" normalizeH="0" baseline="0" noProof="0" dirty="0">
                <a:ln>
                  <a:noFill/>
                </a:ln>
                <a:solidFill>
                  <a:srgbClr val="00B0F0"/>
                </a:solidFill>
                <a:effectLst/>
                <a:uLnTx/>
                <a:uFillTx/>
                <a:latin typeface="Calibri"/>
                <a:ea typeface="+mn-ea"/>
                <a:cs typeface="+mn-cs"/>
              </a:endParaRPr>
            </a:p>
          </p:txBody>
        </p:sp>
      </p:grpSp>
      <p:sp>
        <p:nvSpPr>
          <p:cNvPr id="18" name="TextBox 17"/>
          <p:cNvSpPr txBox="1"/>
          <p:nvPr/>
        </p:nvSpPr>
        <p:spPr>
          <a:xfrm>
            <a:off x="1487488" y="2990091"/>
            <a:ext cx="287283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aka Positive Predictive Value</a:t>
            </a:r>
          </a:p>
        </p:txBody>
      </p:sp>
      <p:sp>
        <p:nvSpPr>
          <p:cNvPr id="29" name="TextBox 28"/>
          <p:cNvSpPr txBox="1"/>
          <p:nvPr/>
        </p:nvSpPr>
        <p:spPr>
          <a:xfrm>
            <a:off x="1488352" y="3888522"/>
            <a:ext cx="338437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aka Negative Predictive Value</a:t>
            </a:r>
          </a:p>
        </p:txBody>
      </p:sp>
      <p:sp>
        <p:nvSpPr>
          <p:cNvPr id="8" name="Line 2">
            <a:extLst>
              <a:ext uri="{FF2B5EF4-FFF2-40B4-BE49-F238E27FC236}">
                <a16:creationId xmlns:a16="http://schemas.microsoft.com/office/drawing/2014/main" id="{8C73E920-1F50-0863-8458-43F2C8BE9DF4}"/>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9" name="Line 2">
            <a:extLst>
              <a:ext uri="{FF2B5EF4-FFF2-40B4-BE49-F238E27FC236}">
                <a16:creationId xmlns:a16="http://schemas.microsoft.com/office/drawing/2014/main" id="{3ABB991F-1A30-C410-34E8-362DAB550163}"/>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5052940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BD21F8FA-461B-B62D-0355-314628CCAFAB}"/>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340032" cy="4329240"/>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Precision [0,1]</a:t>
            </a: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14" name="Table 13"/>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DIABETES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HEALTHY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dirty="0">
                          <a:latin typeface="+mn-lt"/>
                        </a:rPr>
                        <a:t>DIABETES</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30</a:t>
                      </a:r>
                    </a:p>
                    <a:p>
                      <a:pPr algn="ctr"/>
                      <a:r>
                        <a:rPr lang="en-GB" sz="1800" dirty="0">
                          <a:latin typeface="+mn-lt"/>
                        </a:rPr>
                        <a:t>(TP)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70</a:t>
                      </a:r>
                    </a:p>
                    <a:p>
                      <a:pPr algn="ctr"/>
                      <a:r>
                        <a:rPr lang="en-GB" sz="1800" dirty="0">
                          <a:latin typeface="+mn-lt"/>
                        </a:rPr>
                        <a:t>(FP)</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HEALTHY</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20</a:t>
                      </a:r>
                    </a:p>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170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220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graphicFrame>
        <p:nvGraphicFramePr>
          <p:cNvPr id="2" name="Object 1"/>
          <p:cNvGraphicFramePr>
            <a:graphicFrameLocks noChangeAspect="1"/>
          </p:cNvGraphicFramePr>
          <p:nvPr/>
        </p:nvGraphicFramePr>
        <p:xfrm>
          <a:off x="1487488" y="2231177"/>
          <a:ext cx="3749675" cy="1727200"/>
        </p:xfrm>
        <a:graphic>
          <a:graphicData uri="http://schemas.openxmlformats.org/presentationml/2006/ole">
            <mc:AlternateContent xmlns:mc="http://schemas.openxmlformats.org/markup-compatibility/2006">
              <mc:Choice xmlns:v="urn:schemas-microsoft-com:vml" Requires="v">
                <p:oleObj name="Equation" r:id="rId2" imgW="1879560" imgH="863280" progId="Equation.DSMT4">
                  <p:embed/>
                </p:oleObj>
              </mc:Choice>
              <mc:Fallback>
                <p:oleObj name="Equation" r:id="rId2" imgW="1879560" imgH="863280" progId="Equation.DSMT4">
                  <p:embed/>
                  <p:pic>
                    <p:nvPicPr>
                      <p:cNvPr id="2" name="Object 1"/>
                      <p:cNvPicPr/>
                      <p:nvPr/>
                    </p:nvPicPr>
                    <p:blipFill>
                      <a:blip r:embed="rId3"/>
                      <a:stretch>
                        <a:fillRect/>
                      </a:stretch>
                    </p:blipFill>
                    <p:spPr>
                      <a:xfrm>
                        <a:off x="1487488" y="2231177"/>
                        <a:ext cx="3749675" cy="1727200"/>
                      </a:xfrm>
                      <a:prstGeom prst="rect">
                        <a:avLst/>
                      </a:prstGeom>
                    </p:spPr>
                  </p:pic>
                </p:oleObj>
              </mc:Fallback>
            </mc:AlternateContent>
          </a:graphicData>
        </a:graphic>
      </p:graphicFrame>
      <p:grpSp>
        <p:nvGrpSpPr>
          <p:cNvPr id="5" name="Group 4"/>
          <p:cNvGrpSpPr/>
          <p:nvPr/>
        </p:nvGrpSpPr>
        <p:grpSpPr>
          <a:xfrm>
            <a:off x="1467173" y="1395624"/>
            <a:ext cx="10125732" cy="4406689"/>
            <a:chOff x="1467173" y="1395624"/>
            <a:chExt cx="10125732" cy="4406689"/>
          </a:xfrm>
        </p:grpSpPr>
        <p:graphicFrame>
          <p:nvGraphicFramePr>
            <p:cNvPr id="3" name="Object 2"/>
            <p:cNvGraphicFramePr>
              <a:graphicFrameLocks noChangeAspect="1"/>
            </p:cNvGraphicFramePr>
            <p:nvPr/>
          </p:nvGraphicFramePr>
          <p:xfrm>
            <a:off x="1467173" y="4075113"/>
            <a:ext cx="4268787" cy="1727200"/>
          </p:xfrm>
          <a:graphic>
            <a:graphicData uri="http://schemas.openxmlformats.org/presentationml/2006/ole">
              <mc:AlternateContent xmlns:mc="http://schemas.openxmlformats.org/markup-compatibility/2006">
                <mc:Choice xmlns:v="urn:schemas-microsoft-com:vml" Requires="v">
                  <p:oleObj name="Equation" r:id="rId4" imgW="2133360" imgH="863280" progId="Equation.DSMT4">
                    <p:embed/>
                  </p:oleObj>
                </mc:Choice>
                <mc:Fallback>
                  <p:oleObj name="Equation" r:id="rId4" imgW="2133360" imgH="863280" progId="Equation.DSMT4">
                    <p:embed/>
                    <p:pic>
                      <p:nvPicPr>
                        <p:cNvPr id="3" name="Object 2"/>
                        <p:cNvPicPr/>
                        <p:nvPr/>
                      </p:nvPicPr>
                      <p:blipFill>
                        <a:blip r:embed="rId5"/>
                        <a:stretch>
                          <a:fillRect/>
                        </a:stretch>
                      </p:blipFill>
                      <p:spPr>
                        <a:xfrm>
                          <a:off x="1467173" y="4075113"/>
                          <a:ext cx="4268787" cy="1727200"/>
                        </a:xfrm>
                        <a:prstGeom prst="rect">
                          <a:avLst/>
                        </a:prstGeom>
                      </p:spPr>
                    </p:pic>
                  </p:oleObj>
                </mc:Fallback>
              </mc:AlternateContent>
            </a:graphicData>
          </a:graphic>
        </p:graphicFrame>
        <p:grpSp>
          <p:nvGrpSpPr>
            <p:cNvPr id="13" name="Group 12"/>
            <p:cNvGrpSpPr/>
            <p:nvPr/>
          </p:nvGrpSpPr>
          <p:grpSpPr>
            <a:xfrm>
              <a:off x="7032104" y="1395624"/>
              <a:ext cx="4560801" cy="660122"/>
              <a:chOff x="7032104" y="1395624"/>
              <a:chExt cx="4560801" cy="660122"/>
            </a:xfrm>
          </p:grpSpPr>
          <p:sp>
            <p:nvSpPr>
              <p:cNvPr id="18" name="Rounded Rectangle 17"/>
              <p:cNvSpPr/>
              <p:nvPr/>
            </p:nvSpPr>
            <p:spPr>
              <a:xfrm>
                <a:off x="7032104" y="1395624"/>
                <a:ext cx="4550296" cy="646332"/>
              </a:xfrm>
              <a:prstGeom prst="roundRect">
                <a:avLst/>
              </a:prstGeom>
              <a:solidFill>
                <a:schemeClr val="accent4">
                  <a:lumMod val="20000"/>
                  <a:lumOff val="8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19" name="TextBox 18"/>
              <p:cNvSpPr txBox="1"/>
              <p:nvPr/>
            </p:nvSpPr>
            <p:spPr>
              <a:xfrm>
                <a:off x="7042609" y="1409415"/>
                <a:ext cx="455029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7030A0"/>
                    </a:solidFill>
                    <a:effectLst/>
                    <a:uLnTx/>
                    <a:uFillTx/>
                    <a:latin typeface="Calibri"/>
                    <a:ea typeface="+mn-ea"/>
                    <a:cs typeface="+mn-cs"/>
                  </a:rPr>
                  <a:t>Example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7030A0"/>
                    </a:solidFill>
                    <a:effectLst/>
                    <a:uLnTx/>
                    <a:uFillTx/>
                    <a:latin typeface="Calibri"/>
                    <a:ea typeface="+mn-ea"/>
                    <a:cs typeface="+mn-cs"/>
                  </a:rPr>
                  <a:t>Health state prediction: DIABETES or HEALTHY</a:t>
                </a:r>
              </a:p>
            </p:txBody>
          </p:sp>
        </p:grpSp>
      </p:grpSp>
      <p:sp>
        <p:nvSpPr>
          <p:cNvPr id="7" name="TextBox 6"/>
          <p:cNvSpPr txBox="1"/>
          <p:nvPr/>
        </p:nvSpPr>
        <p:spPr>
          <a:xfrm>
            <a:off x="1487488" y="5964320"/>
            <a:ext cx="10072389" cy="646331"/>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7030A0"/>
                </a:solidFill>
                <a:effectLst/>
                <a:uLnTx/>
                <a:uFillTx/>
                <a:latin typeface="Calibri"/>
                <a:ea typeface="+mn-ea"/>
                <a:cs typeface="+mn-cs"/>
              </a:rPr>
              <a:t>The question that this metric answer: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7030A0"/>
                </a:solidFill>
                <a:effectLst/>
                <a:uLnTx/>
                <a:uFillTx/>
                <a:latin typeface="Calibri"/>
                <a:ea typeface="+mn-ea"/>
                <a:cs typeface="+mn-cs"/>
              </a:rPr>
              <a:t>Of all patients </a:t>
            </a:r>
            <a:r>
              <a:rPr kumimoji="0" lang="en-US" sz="1800" b="1" i="1" u="none" strike="noStrike" kern="1200" cap="none" spc="0" normalizeH="0" baseline="0" noProof="0" dirty="0">
                <a:ln>
                  <a:noFill/>
                </a:ln>
                <a:solidFill>
                  <a:srgbClr val="7030A0"/>
                </a:solidFill>
                <a:effectLst/>
                <a:uLnTx/>
                <a:uFillTx/>
                <a:latin typeface="Calibri"/>
                <a:ea typeface="+mn-ea"/>
                <a:cs typeface="+mn-cs"/>
              </a:rPr>
              <a:t>predicted</a:t>
            </a:r>
            <a:r>
              <a:rPr kumimoji="0" lang="en-US" sz="1800" b="0" i="1" u="none" strike="noStrike" kern="1200" cap="none" spc="0" normalizeH="0" baseline="0" noProof="0" dirty="0">
                <a:ln>
                  <a:noFill/>
                </a:ln>
                <a:solidFill>
                  <a:srgbClr val="7030A0"/>
                </a:solidFill>
                <a:effectLst/>
                <a:uLnTx/>
                <a:uFillTx/>
                <a:latin typeface="Calibri"/>
                <a:ea typeface="+mn-ea"/>
                <a:cs typeface="+mn-cs"/>
              </a:rPr>
              <a:t> to have DIABETES, how many actually have DIABETES?</a:t>
            </a:r>
            <a:endParaRPr kumimoji="0" lang="en-GB" sz="1800" b="0" i="1" u="none" strike="noStrike" kern="1200" cap="none" spc="0" normalizeH="0" baseline="0" noProof="0" dirty="0">
              <a:ln>
                <a:noFill/>
              </a:ln>
              <a:solidFill>
                <a:prstClr val="black"/>
              </a:solidFill>
              <a:effectLst/>
              <a:uLnTx/>
              <a:uFillTx/>
              <a:latin typeface="Calibri"/>
              <a:ea typeface="+mn-ea"/>
              <a:cs typeface="+mn-cs"/>
            </a:endParaRPr>
          </a:p>
        </p:txBody>
      </p:sp>
      <p:sp>
        <p:nvSpPr>
          <p:cNvPr id="16" name="Rounded Rectangle 15"/>
          <p:cNvSpPr/>
          <p:nvPr/>
        </p:nvSpPr>
        <p:spPr>
          <a:xfrm>
            <a:off x="8044563" y="4221089"/>
            <a:ext cx="2268194" cy="72008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0" name="Rounded Rectangle 19"/>
          <p:cNvSpPr/>
          <p:nvPr/>
        </p:nvSpPr>
        <p:spPr>
          <a:xfrm>
            <a:off x="8256240" y="3230566"/>
            <a:ext cx="572790" cy="609651"/>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1" name="Rounded Rectangle 20"/>
          <p:cNvSpPr/>
          <p:nvPr/>
        </p:nvSpPr>
        <p:spPr>
          <a:xfrm>
            <a:off x="8054422" y="3176088"/>
            <a:ext cx="2268194" cy="72008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2" name="Rounded Rectangle 21"/>
          <p:cNvSpPr/>
          <p:nvPr/>
        </p:nvSpPr>
        <p:spPr>
          <a:xfrm>
            <a:off x="9541438" y="4277622"/>
            <a:ext cx="572790" cy="609651"/>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11" name="Line 2">
            <a:extLst>
              <a:ext uri="{FF2B5EF4-FFF2-40B4-BE49-F238E27FC236}">
                <a16:creationId xmlns:a16="http://schemas.microsoft.com/office/drawing/2014/main" id="{E70811F1-A42A-3B1E-A216-911E8CF9EF01}"/>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2" name="Line 2">
            <a:extLst>
              <a:ext uri="{FF2B5EF4-FFF2-40B4-BE49-F238E27FC236}">
                <a16:creationId xmlns:a16="http://schemas.microsoft.com/office/drawing/2014/main" id="{79B5BE30-5939-8E0A-6C35-55001C372B66}"/>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6937103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Table 19"/>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Positive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Negative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kern="1200" dirty="0">
                          <a:solidFill>
                            <a:schemeClr val="dk1"/>
                          </a:solidFill>
                          <a:latin typeface="+mn-lt"/>
                          <a:ea typeface="+mn-ea"/>
                          <a:cs typeface="+mn-cs"/>
                        </a:rPr>
                        <a:t>Positive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baseline="0" dirty="0">
                          <a:latin typeface="+mn-lt"/>
                        </a:rPr>
                        <a:t>FP</a:t>
                      </a:r>
                      <a:endParaRPr lang="en-GB" sz="1800" dirty="0">
                        <a:latin typeface="+mn-lt"/>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Negative</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sp>
        <p:nvSpPr>
          <p:cNvPr id="7" name="Title 1">
            <a:extLst>
              <a:ext uri="{FF2B5EF4-FFF2-40B4-BE49-F238E27FC236}">
                <a16:creationId xmlns:a16="http://schemas.microsoft.com/office/drawing/2014/main" id="{D95E1767-E5CD-284D-3FB8-0734BB9C61F0}"/>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340032" cy="4329240"/>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Recall [0,1]</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3619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Ratio of correctly predicted positive (negative) observations to the all observations actually in that class</a:t>
            </a: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2" name="Object 1"/>
          <p:cNvGraphicFramePr>
            <a:graphicFrameLocks noChangeAspect="1"/>
          </p:cNvGraphicFramePr>
          <p:nvPr/>
        </p:nvGraphicFramePr>
        <p:xfrm>
          <a:off x="1487490" y="2259080"/>
          <a:ext cx="3370263" cy="1727200"/>
        </p:xfrm>
        <a:graphic>
          <a:graphicData uri="http://schemas.openxmlformats.org/presentationml/2006/ole">
            <mc:AlternateContent xmlns:mc="http://schemas.openxmlformats.org/markup-compatibility/2006">
              <mc:Choice xmlns:v="urn:schemas-microsoft-com:vml" Requires="v">
                <p:oleObj name="Equation" r:id="rId2" imgW="1688760" imgH="863280" progId="Equation.DSMT4">
                  <p:embed/>
                </p:oleObj>
              </mc:Choice>
              <mc:Fallback>
                <p:oleObj name="Equation" r:id="rId2" imgW="1688760" imgH="863280" progId="Equation.DSMT4">
                  <p:embed/>
                  <p:pic>
                    <p:nvPicPr>
                      <p:cNvPr id="2" name="Object 1"/>
                      <p:cNvPicPr/>
                      <p:nvPr/>
                    </p:nvPicPr>
                    <p:blipFill>
                      <a:blip r:embed="rId3"/>
                      <a:stretch>
                        <a:fillRect/>
                      </a:stretch>
                    </p:blipFill>
                    <p:spPr>
                      <a:xfrm>
                        <a:off x="1487490" y="2259080"/>
                        <a:ext cx="3370263" cy="1727200"/>
                      </a:xfrm>
                      <a:prstGeom prst="rect">
                        <a:avLst/>
                      </a:prstGeom>
                    </p:spPr>
                  </p:pic>
                </p:oleObj>
              </mc:Fallback>
            </mc:AlternateContent>
          </a:graphicData>
        </a:graphic>
      </p:graphicFrame>
      <p:sp>
        <p:nvSpPr>
          <p:cNvPr id="21" name="Rounded Rectangle 20"/>
          <p:cNvSpPr/>
          <p:nvPr/>
        </p:nvSpPr>
        <p:spPr>
          <a:xfrm rot="16200000">
            <a:off x="8866230" y="3670522"/>
            <a:ext cx="1923205" cy="72008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2" name="Rounded Rectangle 21"/>
          <p:cNvSpPr/>
          <p:nvPr/>
        </p:nvSpPr>
        <p:spPr>
          <a:xfrm>
            <a:off x="8256240" y="3230566"/>
            <a:ext cx="572790" cy="609651"/>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3" name="Rounded Rectangle 22"/>
          <p:cNvSpPr/>
          <p:nvPr/>
        </p:nvSpPr>
        <p:spPr>
          <a:xfrm rot="16200000">
            <a:off x="7564264" y="3687290"/>
            <a:ext cx="1956742" cy="72008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4" name="Rounded Rectangle 23"/>
          <p:cNvSpPr/>
          <p:nvPr/>
        </p:nvSpPr>
        <p:spPr>
          <a:xfrm>
            <a:off x="9541438" y="4277622"/>
            <a:ext cx="572790" cy="609651"/>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grpSp>
        <p:nvGrpSpPr>
          <p:cNvPr id="26" name="Group 25"/>
          <p:cNvGrpSpPr/>
          <p:nvPr/>
        </p:nvGrpSpPr>
        <p:grpSpPr>
          <a:xfrm>
            <a:off x="6240136" y="1505182"/>
            <a:ext cx="1080000" cy="771690"/>
            <a:chOff x="9912422" y="1142746"/>
            <a:chExt cx="1080000" cy="771690"/>
          </a:xfrm>
        </p:grpSpPr>
        <p:sp>
          <p:nvSpPr>
            <p:cNvPr id="27" name="Rounded Rectangle 26"/>
            <p:cNvSpPr/>
            <p:nvPr/>
          </p:nvSpPr>
          <p:spPr>
            <a:xfrm>
              <a:off x="9912422" y="1142746"/>
              <a:ext cx="1080000" cy="324000"/>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100" b="1" i="0" u="none" strike="noStrike" kern="1200" cap="none" spc="0" normalizeH="0" baseline="0" noProof="0" dirty="0">
                  <a:ln>
                    <a:noFill/>
                  </a:ln>
                  <a:solidFill>
                    <a:srgbClr val="00B050"/>
                  </a:solidFill>
                  <a:effectLst/>
                  <a:uLnTx/>
                  <a:uFillTx/>
                  <a:latin typeface="Calibri"/>
                  <a:ea typeface="+mn-ea"/>
                  <a:cs typeface="+mn-cs"/>
                </a:rPr>
                <a:t>numerator</a:t>
              </a:r>
            </a:p>
          </p:txBody>
        </p:sp>
        <p:sp>
          <p:nvSpPr>
            <p:cNvPr id="28" name="Rounded Rectangle 27"/>
            <p:cNvSpPr/>
            <p:nvPr/>
          </p:nvSpPr>
          <p:spPr>
            <a:xfrm>
              <a:off x="9912422" y="1590436"/>
              <a:ext cx="1080000" cy="32400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100" b="1" i="0" u="none" strike="noStrike" kern="1200" cap="none" spc="0" normalizeH="0" baseline="0" noProof="0" dirty="0">
                  <a:ln>
                    <a:noFill/>
                  </a:ln>
                  <a:solidFill>
                    <a:srgbClr val="00B0F0"/>
                  </a:solidFill>
                  <a:effectLst/>
                  <a:uLnTx/>
                  <a:uFillTx/>
                  <a:latin typeface="Calibri"/>
                  <a:ea typeface="+mn-ea"/>
                  <a:cs typeface="+mn-cs"/>
                </a:rPr>
                <a:t>denominator</a:t>
              </a:r>
              <a:endParaRPr kumimoji="0" lang="en-GB" sz="2000" b="1" i="0" u="none" strike="noStrike" kern="1200" cap="none" spc="0" normalizeH="0" baseline="0" noProof="0" dirty="0">
                <a:ln>
                  <a:noFill/>
                </a:ln>
                <a:solidFill>
                  <a:srgbClr val="00B0F0"/>
                </a:solidFill>
                <a:effectLst/>
                <a:uLnTx/>
                <a:uFillTx/>
                <a:latin typeface="Calibri"/>
                <a:ea typeface="+mn-ea"/>
                <a:cs typeface="+mn-cs"/>
              </a:endParaRPr>
            </a:p>
          </p:txBody>
        </p:sp>
      </p:grpSp>
      <p:sp>
        <p:nvSpPr>
          <p:cNvPr id="29" name="TextBox 28"/>
          <p:cNvSpPr txBox="1"/>
          <p:nvPr/>
        </p:nvSpPr>
        <p:spPr>
          <a:xfrm>
            <a:off x="4843267" y="3477657"/>
            <a:ext cx="204549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sym typeface="Wingdings" panose="05000000000000000000" pitchFamily="2" charset="2"/>
              </a:rPr>
              <a:t> </a:t>
            </a: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a.k.a. </a:t>
            </a:r>
            <a:r>
              <a:rPr kumimoji="0" lang="en-GB" sz="1800" b="1" i="0" u="none" strike="noStrike" kern="1200" cap="none" spc="0" normalizeH="0" baseline="0" noProof="0" dirty="0">
                <a:ln>
                  <a:noFill/>
                </a:ln>
                <a:solidFill>
                  <a:prstClr val="white">
                    <a:lumMod val="50000"/>
                  </a:prstClr>
                </a:solidFill>
                <a:effectLst/>
                <a:uLnTx/>
                <a:uFillTx/>
                <a:latin typeface="Calibri"/>
                <a:ea typeface="+mn-ea"/>
                <a:cs typeface="+mn-cs"/>
              </a:rPr>
              <a:t>Specificity</a:t>
            </a:r>
          </a:p>
        </p:txBody>
      </p:sp>
      <p:sp>
        <p:nvSpPr>
          <p:cNvPr id="16" name="TextBox 15"/>
          <p:cNvSpPr txBox="1"/>
          <p:nvPr/>
        </p:nvSpPr>
        <p:spPr>
          <a:xfrm>
            <a:off x="4857753" y="2441226"/>
            <a:ext cx="204549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sym typeface="Wingdings" panose="05000000000000000000" pitchFamily="2" charset="2"/>
              </a:rPr>
              <a:t> </a:t>
            </a: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a.k.a. </a:t>
            </a:r>
            <a:r>
              <a:rPr kumimoji="0" lang="en-GB" sz="1800" b="1" i="0" u="none" strike="noStrike" kern="1200" cap="none" spc="0" normalizeH="0" baseline="0" noProof="0" dirty="0">
                <a:ln>
                  <a:noFill/>
                </a:ln>
                <a:solidFill>
                  <a:prstClr val="white">
                    <a:lumMod val="50000"/>
                  </a:prstClr>
                </a:solidFill>
                <a:effectLst/>
                <a:uLnTx/>
                <a:uFillTx/>
                <a:latin typeface="Calibri"/>
                <a:ea typeface="+mn-ea"/>
                <a:cs typeface="+mn-cs"/>
              </a:rPr>
              <a:t>Sensitivity</a:t>
            </a:r>
          </a:p>
        </p:txBody>
      </p:sp>
      <p:sp>
        <p:nvSpPr>
          <p:cNvPr id="8" name="Line 2">
            <a:extLst>
              <a:ext uri="{FF2B5EF4-FFF2-40B4-BE49-F238E27FC236}">
                <a16:creationId xmlns:a16="http://schemas.microsoft.com/office/drawing/2014/main" id="{56BFB56E-6A3C-E435-BE7C-4FEB18A933CF}"/>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9" name="Line 2">
            <a:extLst>
              <a:ext uri="{FF2B5EF4-FFF2-40B4-BE49-F238E27FC236}">
                <a16:creationId xmlns:a16="http://schemas.microsoft.com/office/drawing/2014/main" id="{A7E7A217-F4CB-C0E5-4425-F851F65199D4}"/>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1787335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54675388-B415-689F-ADCE-6CB9A4401281}"/>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340032" cy="4329240"/>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Recall [0,1]</a:t>
            </a: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14" name="Table 13"/>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DIABETES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HEALTHY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dirty="0">
                          <a:latin typeface="+mn-lt"/>
                        </a:rPr>
                        <a:t>DIABETES</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30</a:t>
                      </a:r>
                    </a:p>
                    <a:p>
                      <a:pPr algn="ctr"/>
                      <a:r>
                        <a:rPr lang="en-GB" sz="1800" dirty="0">
                          <a:latin typeface="+mn-lt"/>
                        </a:rPr>
                        <a:t>(TP)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70</a:t>
                      </a:r>
                    </a:p>
                    <a:p>
                      <a:pPr algn="ctr"/>
                      <a:r>
                        <a:rPr lang="en-GB" sz="1800" dirty="0">
                          <a:latin typeface="+mn-lt"/>
                        </a:rPr>
                        <a:t>(FP)</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HEALTHY</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20</a:t>
                      </a:r>
                    </a:p>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170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220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graphicFrame>
        <p:nvGraphicFramePr>
          <p:cNvPr id="2" name="Object 1"/>
          <p:cNvGraphicFramePr>
            <a:graphicFrameLocks noChangeAspect="1"/>
          </p:cNvGraphicFramePr>
          <p:nvPr/>
        </p:nvGraphicFramePr>
        <p:xfrm>
          <a:off x="1487490" y="2259080"/>
          <a:ext cx="3370263" cy="1727200"/>
        </p:xfrm>
        <a:graphic>
          <a:graphicData uri="http://schemas.openxmlformats.org/presentationml/2006/ole">
            <mc:AlternateContent xmlns:mc="http://schemas.openxmlformats.org/markup-compatibility/2006">
              <mc:Choice xmlns:v="urn:schemas-microsoft-com:vml" Requires="v">
                <p:oleObj name="Equation" r:id="rId2" imgW="1688760" imgH="863280" progId="Equation.DSMT4">
                  <p:embed/>
                </p:oleObj>
              </mc:Choice>
              <mc:Fallback>
                <p:oleObj name="Equation" r:id="rId2" imgW="1688760" imgH="863280" progId="Equation.DSMT4">
                  <p:embed/>
                  <p:pic>
                    <p:nvPicPr>
                      <p:cNvPr id="2" name="Object 1"/>
                      <p:cNvPicPr/>
                      <p:nvPr/>
                    </p:nvPicPr>
                    <p:blipFill>
                      <a:blip r:embed="rId3"/>
                      <a:stretch>
                        <a:fillRect/>
                      </a:stretch>
                    </p:blipFill>
                    <p:spPr>
                      <a:xfrm>
                        <a:off x="1487490" y="2259080"/>
                        <a:ext cx="3370263" cy="1727200"/>
                      </a:xfrm>
                      <a:prstGeom prst="rect">
                        <a:avLst/>
                      </a:prstGeom>
                    </p:spPr>
                  </p:pic>
                </p:oleObj>
              </mc:Fallback>
            </mc:AlternateContent>
          </a:graphicData>
        </a:graphic>
      </p:graphicFrame>
      <p:grpSp>
        <p:nvGrpSpPr>
          <p:cNvPr id="3" name="Group 2"/>
          <p:cNvGrpSpPr/>
          <p:nvPr/>
        </p:nvGrpSpPr>
        <p:grpSpPr>
          <a:xfrm>
            <a:off x="1487488" y="1395624"/>
            <a:ext cx="10072388" cy="4481301"/>
            <a:chOff x="1487488" y="1395624"/>
            <a:chExt cx="10072388" cy="4481301"/>
          </a:xfrm>
        </p:grpSpPr>
        <p:graphicFrame>
          <p:nvGraphicFramePr>
            <p:cNvPr id="5" name="Object 4"/>
            <p:cNvGraphicFramePr>
              <a:graphicFrameLocks noChangeAspect="1"/>
            </p:cNvGraphicFramePr>
            <p:nvPr/>
          </p:nvGraphicFramePr>
          <p:xfrm>
            <a:off x="1487488" y="4149725"/>
            <a:ext cx="3940175" cy="1727200"/>
          </p:xfrm>
          <a:graphic>
            <a:graphicData uri="http://schemas.openxmlformats.org/presentationml/2006/ole">
              <mc:AlternateContent xmlns:mc="http://schemas.openxmlformats.org/markup-compatibility/2006">
                <mc:Choice xmlns:v="urn:schemas-microsoft-com:vml" Requires="v">
                  <p:oleObj name="Equation" r:id="rId4" imgW="1968480" imgH="863280" progId="Equation.DSMT4">
                    <p:embed/>
                  </p:oleObj>
                </mc:Choice>
                <mc:Fallback>
                  <p:oleObj name="Equation" r:id="rId4" imgW="1968480" imgH="863280" progId="Equation.DSMT4">
                    <p:embed/>
                    <p:pic>
                      <p:nvPicPr>
                        <p:cNvPr id="5" name="Object 4"/>
                        <p:cNvPicPr/>
                        <p:nvPr/>
                      </p:nvPicPr>
                      <p:blipFill>
                        <a:blip r:embed="rId5"/>
                        <a:stretch>
                          <a:fillRect/>
                        </a:stretch>
                      </p:blipFill>
                      <p:spPr>
                        <a:xfrm>
                          <a:off x="1487488" y="4149725"/>
                          <a:ext cx="3940175" cy="1727200"/>
                        </a:xfrm>
                        <a:prstGeom prst="rect">
                          <a:avLst/>
                        </a:prstGeom>
                      </p:spPr>
                    </p:pic>
                  </p:oleObj>
                </mc:Fallback>
              </mc:AlternateContent>
            </a:graphicData>
          </a:graphic>
        </p:graphicFrame>
        <p:grpSp>
          <p:nvGrpSpPr>
            <p:cNvPr id="13" name="Group 12"/>
            <p:cNvGrpSpPr/>
            <p:nvPr/>
          </p:nvGrpSpPr>
          <p:grpSpPr>
            <a:xfrm>
              <a:off x="7032103" y="1395624"/>
              <a:ext cx="4527773" cy="665176"/>
              <a:chOff x="7032103" y="1395624"/>
              <a:chExt cx="4527773" cy="665176"/>
            </a:xfrm>
          </p:grpSpPr>
          <p:sp>
            <p:nvSpPr>
              <p:cNvPr id="18" name="Rounded Rectangle 17"/>
              <p:cNvSpPr/>
              <p:nvPr/>
            </p:nvSpPr>
            <p:spPr>
              <a:xfrm>
                <a:off x="7032103" y="1395624"/>
                <a:ext cx="4527773" cy="646332"/>
              </a:xfrm>
              <a:prstGeom prst="roundRect">
                <a:avLst/>
              </a:prstGeom>
              <a:solidFill>
                <a:schemeClr val="accent4">
                  <a:lumMod val="20000"/>
                  <a:lumOff val="8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19" name="TextBox 18"/>
              <p:cNvSpPr txBox="1"/>
              <p:nvPr/>
            </p:nvSpPr>
            <p:spPr>
              <a:xfrm>
                <a:off x="7032103" y="1414469"/>
                <a:ext cx="4515210"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7030A0"/>
                    </a:solidFill>
                    <a:effectLst/>
                    <a:uLnTx/>
                    <a:uFillTx/>
                    <a:latin typeface="Calibri"/>
                    <a:ea typeface="+mn-ea"/>
                    <a:cs typeface="+mn-cs"/>
                  </a:rPr>
                  <a:t>Example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7030A0"/>
                    </a:solidFill>
                    <a:effectLst/>
                    <a:uLnTx/>
                    <a:uFillTx/>
                    <a:latin typeface="Calibri"/>
                    <a:ea typeface="+mn-ea"/>
                    <a:cs typeface="+mn-cs"/>
                  </a:rPr>
                  <a:t>Health state prediction: DIABETES or HEALTHY</a:t>
                </a:r>
              </a:p>
            </p:txBody>
          </p:sp>
        </p:grpSp>
      </p:grpSp>
      <p:sp>
        <p:nvSpPr>
          <p:cNvPr id="16" name="TextBox 15"/>
          <p:cNvSpPr txBox="1"/>
          <p:nvPr/>
        </p:nvSpPr>
        <p:spPr>
          <a:xfrm>
            <a:off x="1487488" y="5964320"/>
            <a:ext cx="10072389" cy="646331"/>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7030A0"/>
                </a:solidFill>
                <a:effectLst/>
                <a:uLnTx/>
                <a:uFillTx/>
                <a:latin typeface="Calibri"/>
                <a:ea typeface="+mn-ea"/>
                <a:cs typeface="+mn-cs"/>
              </a:rPr>
              <a:t>The question that this metric answer: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7030A0"/>
                </a:solidFill>
                <a:effectLst/>
                <a:uLnTx/>
                <a:uFillTx/>
                <a:latin typeface="Calibri"/>
                <a:ea typeface="+mn-ea"/>
                <a:cs typeface="+mn-cs"/>
              </a:rPr>
              <a:t>Of all the patients that truly have DIABETES, how many did the model predict?</a:t>
            </a:r>
          </a:p>
        </p:txBody>
      </p:sp>
      <p:sp>
        <p:nvSpPr>
          <p:cNvPr id="20" name="Rounded Rectangle 19"/>
          <p:cNvSpPr/>
          <p:nvPr/>
        </p:nvSpPr>
        <p:spPr>
          <a:xfrm rot="16200000">
            <a:off x="8866230" y="3670522"/>
            <a:ext cx="1923205" cy="72008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1" name="Rounded Rectangle 20"/>
          <p:cNvSpPr/>
          <p:nvPr/>
        </p:nvSpPr>
        <p:spPr>
          <a:xfrm>
            <a:off x="8256240" y="3230566"/>
            <a:ext cx="572790" cy="609651"/>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2" name="Rounded Rectangle 21"/>
          <p:cNvSpPr/>
          <p:nvPr/>
        </p:nvSpPr>
        <p:spPr>
          <a:xfrm rot="16200000">
            <a:off x="7564264" y="3687290"/>
            <a:ext cx="1956742" cy="72008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3" name="Rounded Rectangle 22"/>
          <p:cNvSpPr/>
          <p:nvPr/>
        </p:nvSpPr>
        <p:spPr>
          <a:xfrm>
            <a:off x="9541438" y="4277622"/>
            <a:ext cx="572790" cy="609651"/>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24" name="TextBox 23"/>
          <p:cNvSpPr txBox="1"/>
          <p:nvPr/>
        </p:nvSpPr>
        <p:spPr>
          <a:xfrm>
            <a:off x="4843267" y="3477657"/>
            <a:ext cx="204549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sym typeface="Wingdings" panose="05000000000000000000" pitchFamily="2" charset="2"/>
              </a:rPr>
              <a:t> </a:t>
            </a: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a.k.a. </a:t>
            </a:r>
            <a:r>
              <a:rPr kumimoji="0" lang="en-GB" sz="1800" b="1" i="0" u="none" strike="noStrike" kern="1200" cap="none" spc="0" normalizeH="0" baseline="0" noProof="0" dirty="0">
                <a:ln>
                  <a:noFill/>
                </a:ln>
                <a:solidFill>
                  <a:prstClr val="white">
                    <a:lumMod val="50000"/>
                  </a:prstClr>
                </a:solidFill>
                <a:effectLst/>
                <a:uLnTx/>
                <a:uFillTx/>
                <a:latin typeface="Calibri"/>
                <a:ea typeface="+mn-ea"/>
                <a:cs typeface="+mn-cs"/>
              </a:rPr>
              <a:t>specificity</a:t>
            </a:r>
          </a:p>
        </p:txBody>
      </p:sp>
      <p:sp>
        <p:nvSpPr>
          <p:cNvPr id="26" name="TextBox 25"/>
          <p:cNvSpPr txBox="1"/>
          <p:nvPr/>
        </p:nvSpPr>
        <p:spPr>
          <a:xfrm>
            <a:off x="4857753" y="2441226"/>
            <a:ext cx="204549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sym typeface="Wingdings" panose="05000000000000000000" pitchFamily="2" charset="2"/>
              </a:rPr>
              <a:t> </a:t>
            </a: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a.k.a. </a:t>
            </a:r>
            <a:r>
              <a:rPr kumimoji="0" lang="en-GB" sz="1800" b="1" i="0" u="none" strike="noStrike" kern="1200" cap="none" spc="0" normalizeH="0" baseline="0" noProof="0" dirty="0">
                <a:ln>
                  <a:noFill/>
                </a:ln>
                <a:solidFill>
                  <a:prstClr val="white">
                    <a:lumMod val="50000"/>
                  </a:prstClr>
                </a:solidFill>
                <a:effectLst/>
                <a:uLnTx/>
                <a:uFillTx/>
                <a:latin typeface="Calibri"/>
                <a:ea typeface="+mn-ea"/>
                <a:cs typeface="+mn-cs"/>
              </a:rPr>
              <a:t>sensitivity</a:t>
            </a:r>
          </a:p>
        </p:txBody>
      </p:sp>
      <p:sp>
        <p:nvSpPr>
          <p:cNvPr id="10" name="Line 2">
            <a:extLst>
              <a:ext uri="{FF2B5EF4-FFF2-40B4-BE49-F238E27FC236}">
                <a16:creationId xmlns:a16="http://schemas.microsoft.com/office/drawing/2014/main" id="{3BFDA21B-A720-F303-A91C-BC0187DEDB06}"/>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729BD30C-86E6-08D7-93E0-C71CC9330C1F}"/>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81807918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94CB5CF-0DF9-7C0F-3F14-D433A4E0DB2E}"/>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340032" cy="960068"/>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Matthew’s correlation coefficient</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3619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3619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MCC combines precision, specificity, sensitivity into a single number</a:t>
            </a:r>
          </a:p>
          <a:p>
            <a:pPr marL="3619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3619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MCC only returns a high score if the prediction is good in all of the four confusion matrix categories</a:t>
            </a: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3619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3619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14" name="Table 13"/>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Positive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Negative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kern="1200" dirty="0">
                          <a:solidFill>
                            <a:schemeClr val="dk1"/>
                          </a:solidFill>
                          <a:latin typeface="+mn-lt"/>
                          <a:ea typeface="+mn-ea"/>
                          <a:cs typeface="+mn-cs"/>
                        </a:rPr>
                        <a:t>Positive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30</a:t>
                      </a:r>
                    </a:p>
                    <a:p>
                      <a:pPr algn="ctr"/>
                      <a:r>
                        <a:rPr lang="en-GB" sz="1800" dirty="0">
                          <a:latin typeface="+mn-lt"/>
                        </a:rPr>
                        <a:t>(TP)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70</a:t>
                      </a:r>
                    </a:p>
                    <a:p>
                      <a:pPr algn="ctr"/>
                      <a:r>
                        <a:rPr lang="en-GB" sz="1800" dirty="0">
                          <a:latin typeface="+mn-lt"/>
                        </a:rPr>
                        <a:t>(FP)</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Negative</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20</a:t>
                      </a:r>
                    </a:p>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170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220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graphicFrame>
        <p:nvGraphicFramePr>
          <p:cNvPr id="2" name="Object 1"/>
          <p:cNvGraphicFramePr>
            <a:graphicFrameLocks noChangeAspect="1"/>
          </p:cNvGraphicFramePr>
          <p:nvPr/>
        </p:nvGraphicFramePr>
        <p:xfrm>
          <a:off x="1490395" y="2204864"/>
          <a:ext cx="6477813" cy="799984"/>
        </p:xfrm>
        <a:graphic>
          <a:graphicData uri="http://schemas.openxmlformats.org/presentationml/2006/ole">
            <mc:AlternateContent xmlns:mc="http://schemas.openxmlformats.org/markup-compatibility/2006">
              <mc:Choice xmlns:v="urn:schemas-microsoft-com:vml" Requires="v">
                <p:oleObj name="Equation" r:id="rId2" imgW="3504960" imgH="431640" progId="Equation.DSMT4">
                  <p:embed/>
                </p:oleObj>
              </mc:Choice>
              <mc:Fallback>
                <p:oleObj name="Equation" r:id="rId2" imgW="3504960" imgH="431640" progId="Equation.DSMT4">
                  <p:embed/>
                  <p:pic>
                    <p:nvPicPr>
                      <p:cNvPr id="2" name="Object 1"/>
                      <p:cNvPicPr/>
                      <p:nvPr/>
                    </p:nvPicPr>
                    <p:blipFill>
                      <a:blip r:embed="rId3"/>
                      <a:stretch>
                        <a:fillRect/>
                      </a:stretch>
                    </p:blipFill>
                    <p:spPr>
                      <a:xfrm>
                        <a:off x="1490395" y="2204864"/>
                        <a:ext cx="6477813" cy="799984"/>
                      </a:xfrm>
                      <a:prstGeom prst="rect">
                        <a:avLst/>
                      </a:prstGeom>
                    </p:spPr>
                  </p:pic>
                </p:oleObj>
              </mc:Fallback>
            </mc:AlternateContent>
          </a:graphicData>
        </a:graphic>
      </p:graphicFrame>
      <p:sp>
        <p:nvSpPr>
          <p:cNvPr id="17" name="Rounded Rectangle 16"/>
          <p:cNvSpPr/>
          <p:nvPr/>
        </p:nvSpPr>
        <p:spPr>
          <a:xfrm>
            <a:off x="8044563" y="3071599"/>
            <a:ext cx="2268194" cy="198000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18" name="Rounded Rectangle 17"/>
          <p:cNvSpPr>
            <a:spLocks noChangeAspect="1"/>
          </p:cNvSpPr>
          <p:nvPr/>
        </p:nvSpPr>
        <p:spPr>
          <a:xfrm>
            <a:off x="8150217" y="3162215"/>
            <a:ext cx="2060583" cy="1798767"/>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8" name="Line 2">
            <a:extLst>
              <a:ext uri="{FF2B5EF4-FFF2-40B4-BE49-F238E27FC236}">
                <a16:creationId xmlns:a16="http://schemas.microsoft.com/office/drawing/2014/main" id="{DFAA9B2D-984F-70BD-7599-DBA15082721D}"/>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9" name="Line 2">
            <a:extLst>
              <a:ext uri="{FF2B5EF4-FFF2-40B4-BE49-F238E27FC236}">
                <a16:creationId xmlns:a16="http://schemas.microsoft.com/office/drawing/2014/main" id="{DF1B4A0B-4450-532F-3AB3-0E254DADBFE3}"/>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42170076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C6D5D00-DAEE-514D-3CBA-5FEDEFE7543C}"/>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Content Placeholder 2"/>
          <p:cNvSpPr txBox="1">
            <a:spLocks/>
          </p:cNvSpPr>
          <p:nvPr/>
        </p:nvSpPr>
        <p:spPr>
          <a:xfrm>
            <a:off x="1044000" y="1260000"/>
            <a:ext cx="5340032" cy="960068"/>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Matthew’s correlation coefficient</a:t>
            </a: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14" name="Table 13"/>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DIABETES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HEALTHY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dirty="0">
                          <a:latin typeface="+mn-lt"/>
                        </a:rPr>
                        <a:t>DIABETES</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30</a:t>
                      </a:r>
                    </a:p>
                    <a:p>
                      <a:pPr algn="ctr"/>
                      <a:r>
                        <a:rPr lang="en-GB" sz="1800" dirty="0">
                          <a:latin typeface="+mn-lt"/>
                        </a:rPr>
                        <a:t>(TP)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70</a:t>
                      </a:r>
                    </a:p>
                    <a:p>
                      <a:pPr algn="ctr"/>
                      <a:r>
                        <a:rPr lang="en-GB" sz="1800" dirty="0">
                          <a:latin typeface="+mn-lt"/>
                        </a:rPr>
                        <a:t>(FP)</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HEALTHY</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20</a:t>
                      </a:r>
                    </a:p>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170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220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graphicFrame>
        <p:nvGraphicFramePr>
          <p:cNvPr id="5" name="Object 4"/>
          <p:cNvGraphicFramePr>
            <a:graphicFrameLocks noChangeAspect="1"/>
          </p:cNvGraphicFramePr>
          <p:nvPr/>
        </p:nvGraphicFramePr>
        <p:xfrm>
          <a:off x="1130355" y="3367726"/>
          <a:ext cx="5839310" cy="1789466"/>
        </p:xfrm>
        <a:graphic>
          <a:graphicData uri="http://schemas.openxmlformats.org/presentationml/2006/ole">
            <mc:AlternateContent xmlns:mc="http://schemas.openxmlformats.org/markup-compatibility/2006">
              <mc:Choice xmlns:v="urn:schemas-microsoft-com:vml" Requires="v">
                <p:oleObj name="Equation" r:id="rId2" imgW="3149280" imgH="965160" progId="Equation.DSMT4">
                  <p:embed/>
                </p:oleObj>
              </mc:Choice>
              <mc:Fallback>
                <p:oleObj name="Equation" r:id="rId2" imgW="3149280" imgH="965160" progId="Equation.DSMT4">
                  <p:embed/>
                  <p:pic>
                    <p:nvPicPr>
                      <p:cNvPr id="5" name="Object 4"/>
                      <p:cNvPicPr/>
                      <p:nvPr/>
                    </p:nvPicPr>
                    <p:blipFill>
                      <a:blip r:embed="rId3"/>
                      <a:stretch>
                        <a:fillRect/>
                      </a:stretch>
                    </p:blipFill>
                    <p:spPr>
                      <a:xfrm>
                        <a:off x="1130355" y="3367726"/>
                        <a:ext cx="5839310" cy="1789466"/>
                      </a:xfrm>
                      <a:prstGeom prst="rect">
                        <a:avLst/>
                      </a:prstGeom>
                    </p:spPr>
                  </p:pic>
                </p:oleObj>
              </mc:Fallback>
            </mc:AlternateContent>
          </a:graphicData>
        </a:graphic>
      </p:graphicFrame>
      <p:grpSp>
        <p:nvGrpSpPr>
          <p:cNvPr id="11" name="Group 10"/>
          <p:cNvGrpSpPr/>
          <p:nvPr/>
        </p:nvGrpSpPr>
        <p:grpSpPr>
          <a:xfrm>
            <a:off x="7032104" y="1392754"/>
            <a:ext cx="4560099" cy="649202"/>
            <a:chOff x="7032104" y="1392754"/>
            <a:chExt cx="4560099" cy="649202"/>
          </a:xfrm>
        </p:grpSpPr>
        <p:sp>
          <p:nvSpPr>
            <p:cNvPr id="12" name="Rounded Rectangle 11"/>
            <p:cNvSpPr/>
            <p:nvPr/>
          </p:nvSpPr>
          <p:spPr>
            <a:xfrm>
              <a:off x="7032104" y="1395624"/>
              <a:ext cx="4550296" cy="646332"/>
            </a:xfrm>
            <a:prstGeom prst="roundRect">
              <a:avLst/>
            </a:prstGeom>
            <a:solidFill>
              <a:schemeClr val="accent4">
                <a:lumMod val="20000"/>
                <a:lumOff val="8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13" name="TextBox 12"/>
            <p:cNvSpPr txBox="1"/>
            <p:nvPr/>
          </p:nvSpPr>
          <p:spPr>
            <a:xfrm>
              <a:off x="7032104" y="1392754"/>
              <a:ext cx="4560099"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7030A0"/>
                  </a:solidFill>
                  <a:effectLst/>
                  <a:uLnTx/>
                  <a:uFillTx/>
                  <a:latin typeface="Calibri"/>
                  <a:ea typeface="+mn-ea"/>
                  <a:cs typeface="+mn-cs"/>
                </a:rPr>
                <a:t>Example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7030A0"/>
                  </a:solidFill>
                  <a:effectLst/>
                  <a:uLnTx/>
                  <a:uFillTx/>
                  <a:latin typeface="Calibri"/>
                  <a:ea typeface="+mn-ea"/>
                  <a:cs typeface="+mn-cs"/>
                </a:rPr>
                <a:t>Health state prediction: DIABETES or HEALTHY</a:t>
              </a:r>
            </a:p>
          </p:txBody>
        </p:sp>
      </p:grpSp>
      <p:sp>
        <p:nvSpPr>
          <p:cNvPr id="17" name="Rounded Rectangle 16"/>
          <p:cNvSpPr/>
          <p:nvPr/>
        </p:nvSpPr>
        <p:spPr>
          <a:xfrm>
            <a:off x="8044563" y="3071599"/>
            <a:ext cx="2268194" cy="1980000"/>
          </a:xfrm>
          <a:prstGeom prst="roundRect">
            <a:avLst/>
          </a:prstGeom>
          <a:noFill/>
          <a:ln>
            <a:solidFill>
              <a:srgbClr val="00B0F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sp>
        <p:nvSpPr>
          <p:cNvPr id="18" name="Rounded Rectangle 17"/>
          <p:cNvSpPr>
            <a:spLocks noChangeAspect="1"/>
          </p:cNvSpPr>
          <p:nvPr/>
        </p:nvSpPr>
        <p:spPr>
          <a:xfrm>
            <a:off x="8150217" y="3162215"/>
            <a:ext cx="2060583" cy="1798767"/>
          </a:xfrm>
          <a:prstGeom prst="roundRect">
            <a:avLst/>
          </a:prstGeom>
          <a:noFill/>
          <a:ln w="31750">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00B050"/>
              </a:solidFill>
              <a:effectLst/>
              <a:uLnTx/>
              <a:uFillTx/>
              <a:latin typeface="Calibri"/>
              <a:ea typeface="+mn-ea"/>
              <a:cs typeface="+mn-cs"/>
            </a:endParaRPr>
          </a:p>
        </p:txBody>
      </p:sp>
      <p:graphicFrame>
        <p:nvGraphicFramePr>
          <p:cNvPr id="16" name="Object 15"/>
          <p:cNvGraphicFramePr>
            <a:graphicFrameLocks noChangeAspect="1"/>
          </p:cNvGraphicFramePr>
          <p:nvPr/>
        </p:nvGraphicFramePr>
        <p:xfrm>
          <a:off x="1490395" y="2204864"/>
          <a:ext cx="6477813" cy="799984"/>
        </p:xfrm>
        <a:graphic>
          <a:graphicData uri="http://schemas.openxmlformats.org/presentationml/2006/ole">
            <mc:AlternateContent xmlns:mc="http://schemas.openxmlformats.org/markup-compatibility/2006">
              <mc:Choice xmlns:v="urn:schemas-microsoft-com:vml" Requires="v">
                <p:oleObj name="Equation" r:id="rId4" imgW="3504960" imgH="431640" progId="Equation.DSMT4">
                  <p:embed/>
                </p:oleObj>
              </mc:Choice>
              <mc:Fallback>
                <p:oleObj name="Equation" r:id="rId4" imgW="3504960" imgH="431640" progId="Equation.DSMT4">
                  <p:embed/>
                  <p:pic>
                    <p:nvPicPr>
                      <p:cNvPr id="16" name="Object 15"/>
                      <p:cNvPicPr/>
                      <p:nvPr/>
                    </p:nvPicPr>
                    <p:blipFill>
                      <a:blip r:embed="rId5"/>
                      <a:stretch>
                        <a:fillRect/>
                      </a:stretch>
                    </p:blipFill>
                    <p:spPr>
                      <a:xfrm>
                        <a:off x="1490395" y="2204864"/>
                        <a:ext cx="6477813" cy="799984"/>
                      </a:xfrm>
                      <a:prstGeom prst="rect">
                        <a:avLst/>
                      </a:prstGeom>
                    </p:spPr>
                  </p:pic>
                </p:oleObj>
              </mc:Fallback>
            </mc:AlternateContent>
          </a:graphicData>
        </a:graphic>
      </p:graphicFrame>
      <p:sp>
        <p:nvSpPr>
          <p:cNvPr id="8" name="Line 2">
            <a:extLst>
              <a:ext uri="{FF2B5EF4-FFF2-40B4-BE49-F238E27FC236}">
                <a16:creationId xmlns:a16="http://schemas.microsoft.com/office/drawing/2014/main" id="{863AEE39-5427-CB4F-5586-0D81377F264F}"/>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9" name="Line 2">
            <a:extLst>
              <a:ext uri="{FF2B5EF4-FFF2-40B4-BE49-F238E27FC236}">
                <a16:creationId xmlns:a16="http://schemas.microsoft.com/office/drawing/2014/main" id="{8610F7EB-4210-0174-D41E-660BBF7BE180}"/>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317935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 name="Table 22"/>
          <p:cNvGraphicFramePr>
            <a:graphicFrameLocks noGrp="1"/>
          </p:cNvGraphicFramePr>
          <p:nvPr/>
        </p:nvGraphicFramePr>
        <p:xfrm>
          <a:off x="7032104" y="2220068"/>
          <a:ext cx="4176000" cy="3276000"/>
        </p:xfrm>
        <a:graphic>
          <a:graphicData uri="http://schemas.openxmlformats.org/drawingml/2006/table">
            <a:tbl>
              <a:tblPr>
                <a:tableStyleId>{5C22544A-7EE6-4342-B048-85BDC9FD1C3A}</a:tableStyleId>
              </a:tblPr>
              <a:tblGrid>
                <a:gridCol w="468000">
                  <a:extLst>
                    <a:ext uri="{9D8B030D-6E8A-4147-A177-3AD203B41FA5}">
                      <a16:colId xmlns:a16="http://schemas.microsoft.com/office/drawing/2014/main" val="3994737336"/>
                    </a:ext>
                  </a:extLst>
                </a:gridCol>
                <a:gridCol w="46800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79200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2">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Positive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Negative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2">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kern="1200" dirty="0">
                          <a:solidFill>
                            <a:schemeClr val="dk1"/>
                          </a:solidFill>
                          <a:latin typeface="+mn-lt"/>
                          <a:ea typeface="+mn-ea"/>
                          <a:cs typeface="+mn-cs"/>
                        </a:rPr>
                        <a:t>Positive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TP</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baseline="0" dirty="0">
                          <a:latin typeface="+mn-lt"/>
                        </a:rPr>
                        <a:t>FP</a:t>
                      </a:r>
                      <a:endParaRPr lang="en-GB" sz="1800" dirty="0">
                        <a:latin typeface="+mn-lt"/>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Negative</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sp>
        <p:nvSpPr>
          <p:cNvPr id="7" name="Title 1">
            <a:extLst>
              <a:ext uri="{FF2B5EF4-FFF2-40B4-BE49-F238E27FC236}">
                <a16:creationId xmlns:a16="http://schemas.microsoft.com/office/drawing/2014/main" id="{BBA2B5C1-F8FD-68E6-F97E-98B6F0BB1D23}"/>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 name="TextBox 2"/>
          <p:cNvSpPr txBox="1"/>
          <p:nvPr/>
        </p:nvSpPr>
        <p:spPr>
          <a:xfrm>
            <a:off x="1490395" y="3431707"/>
            <a:ext cx="4447797" cy="852721"/>
          </a:xfrm>
          <a:prstGeom prst="rect">
            <a:avLst/>
          </a:prstGeom>
          <a:solidFill>
            <a:srgbClr val="FFFF99"/>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nl-NL"/>
            </a:defPPr>
            <a:lvl1pPr>
              <a:defRPr>
                <a:solidFill>
                  <a:srgbClr val="00B050"/>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00B050"/>
                </a:solidFill>
                <a:effectLst/>
                <a:uLnTx/>
                <a:uFillTx/>
                <a:latin typeface="Calibri"/>
                <a:ea typeface="+mn-ea"/>
                <a:cs typeface="+mn-cs"/>
              </a:rPr>
              <a:t>Derive the minimum and maximum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00B050"/>
                </a:solidFill>
                <a:effectLst/>
                <a:uLnTx/>
                <a:uFillTx/>
                <a:latin typeface="Calibri"/>
                <a:ea typeface="+mn-ea"/>
                <a:cs typeface="+mn-cs"/>
              </a:rPr>
              <a:t>value that MCC can attain: [</a:t>
            </a:r>
            <a:r>
              <a:rPr kumimoji="0" lang="en-GB" sz="1800" b="1" i="0" u="none" strike="noStrike" kern="1200" cap="none" spc="0" normalizeH="0" baseline="0" noProof="0" dirty="0" err="1">
                <a:ln>
                  <a:noFill/>
                </a:ln>
                <a:solidFill>
                  <a:srgbClr val="00B050"/>
                </a:solidFill>
                <a:effectLst/>
                <a:uLnTx/>
                <a:uFillTx/>
                <a:latin typeface="Calibri"/>
                <a:ea typeface="+mn-ea"/>
                <a:cs typeface="+mn-cs"/>
              </a:rPr>
              <a:t>a,b</a:t>
            </a:r>
            <a:r>
              <a:rPr kumimoji="0" lang="en-GB" sz="1800" b="1" i="0" u="none" strike="noStrike" kern="1200" cap="none" spc="0" normalizeH="0" baseline="0" noProof="0" dirty="0">
                <a:ln>
                  <a:noFill/>
                </a:ln>
                <a:solidFill>
                  <a:srgbClr val="00B050"/>
                </a:solidFill>
                <a:effectLst/>
                <a:uLnTx/>
                <a:uFillTx/>
                <a:latin typeface="Calibri"/>
                <a:ea typeface="+mn-ea"/>
                <a:cs typeface="+mn-cs"/>
              </a:rPr>
              <a:t>]?</a:t>
            </a:r>
          </a:p>
        </p:txBody>
      </p:sp>
      <p:sp>
        <p:nvSpPr>
          <p:cNvPr id="17" name="Content Placeholder 2"/>
          <p:cNvSpPr txBox="1">
            <a:spLocks/>
          </p:cNvSpPr>
          <p:nvPr/>
        </p:nvSpPr>
        <p:spPr>
          <a:xfrm>
            <a:off x="1044000" y="1260000"/>
            <a:ext cx="5340032" cy="960068"/>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(2 classes)</a:t>
            </a: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Matthew’s correlation coefficient</a:t>
            </a: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pic>
        <p:nvPicPr>
          <p:cNvPr id="22" name="Picture 21"/>
          <p:cNvPicPr>
            <a:picLocks noChangeAspect="1"/>
          </p:cNvPicPr>
          <p:nvPr/>
        </p:nvPicPr>
        <p:blipFill>
          <a:blip r:embed="rId2"/>
          <a:stretch>
            <a:fillRect/>
          </a:stretch>
        </p:blipFill>
        <p:spPr>
          <a:xfrm>
            <a:off x="5087888" y="3472930"/>
            <a:ext cx="780713" cy="780713"/>
          </a:xfrm>
          <a:prstGeom prst="rect">
            <a:avLst/>
          </a:prstGeom>
        </p:spPr>
      </p:pic>
      <p:graphicFrame>
        <p:nvGraphicFramePr>
          <p:cNvPr id="24" name="Object 23"/>
          <p:cNvGraphicFramePr>
            <a:graphicFrameLocks noChangeAspect="1"/>
          </p:cNvGraphicFramePr>
          <p:nvPr/>
        </p:nvGraphicFramePr>
        <p:xfrm>
          <a:off x="1490395" y="2204864"/>
          <a:ext cx="6477813" cy="799984"/>
        </p:xfrm>
        <a:graphic>
          <a:graphicData uri="http://schemas.openxmlformats.org/presentationml/2006/ole">
            <mc:AlternateContent xmlns:mc="http://schemas.openxmlformats.org/markup-compatibility/2006">
              <mc:Choice xmlns:v="urn:schemas-microsoft-com:vml" Requires="v">
                <p:oleObj name="Equation" r:id="rId3" imgW="3504960" imgH="431640" progId="Equation.DSMT4">
                  <p:embed/>
                </p:oleObj>
              </mc:Choice>
              <mc:Fallback>
                <p:oleObj name="Equation" r:id="rId3" imgW="3504960" imgH="431640" progId="Equation.DSMT4">
                  <p:embed/>
                  <p:pic>
                    <p:nvPicPr>
                      <p:cNvPr id="24" name="Object 23"/>
                      <p:cNvPicPr/>
                      <p:nvPr/>
                    </p:nvPicPr>
                    <p:blipFill>
                      <a:blip r:embed="rId4"/>
                      <a:stretch>
                        <a:fillRect/>
                      </a:stretch>
                    </p:blipFill>
                    <p:spPr>
                      <a:xfrm>
                        <a:off x="1490395" y="2204864"/>
                        <a:ext cx="6477813" cy="799984"/>
                      </a:xfrm>
                      <a:prstGeom prst="rect">
                        <a:avLst/>
                      </a:prstGeom>
                    </p:spPr>
                  </p:pic>
                </p:oleObj>
              </mc:Fallback>
            </mc:AlternateContent>
          </a:graphicData>
        </a:graphic>
      </p:graphicFrame>
      <p:sp>
        <p:nvSpPr>
          <p:cNvPr id="8" name="Line 2">
            <a:extLst>
              <a:ext uri="{FF2B5EF4-FFF2-40B4-BE49-F238E27FC236}">
                <a16:creationId xmlns:a16="http://schemas.microsoft.com/office/drawing/2014/main" id="{1FA35977-E8A9-3EBC-8DD1-57A4C9BF9918}"/>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9" name="Line 2">
            <a:extLst>
              <a:ext uri="{FF2B5EF4-FFF2-40B4-BE49-F238E27FC236}">
                <a16:creationId xmlns:a16="http://schemas.microsoft.com/office/drawing/2014/main" id="{B69946BE-60B5-F78F-CCD7-CBA636523938}"/>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16615822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 name="Table 22"/>
          <p:cNvGraphicFramePr>
            <a:graphicFrameLocks noGrp="1"/>
          </p:cNvGraphicFramePr>
          <p:nvPr/>
        </p:nvGraphicFramePr>
        <p:xfrm>
          <a:off x="5735960" y="2000531"/>
          <a:ext cx="5008320" cy="4320000"/>
        </p:xfrm>
        <a:graphic>
          <a:graphicData uri="http://schemas.openxmlformats.org/drawingml/2006/table">
            <a:tbl>
              <a:tblPr>
                <a:tableStyleId>{5C22544A-7EE6-4342-B048-85BDC9FD1C3A}</a:tableStyleId>
              </a:tblPr>
              <a:tblGrid>
                <a:gridCol w="361920">
                  <a:extLst>
                    <a:ext uri="{9D8B030D-6E8A-4147-A177-3AD203B41FA5}">
                      <a16:colId xmlns:a16="http://schemas.microsoft.com/office/drawing/2014/main" val="3994737336"/>
                    </a:ext>
                  </a:extLst>
                </a:gridCol>
                <a:gridCol w="361920">
                  <a:extLst>
                    <a:ext uri="{9D8B030D-6E8A-4147-A177-3AD203B41FA5}">
                      <a16:colId xmlns:a16="http://schemas.microsoft.com/office/drawing/2014/main" val="2977056859"/>
                    </a:ext>
                  </a:extLst>
                </a:gridCol>
                <a:gridCol w="1224000">
                  <a:extLst>
                    <a:ext uri="{9D8B030D-6E8A-4147-A177-3AD203B41FA5}">
                      <a16:colId xmlns:a16="http://schemas.microsoft.com/office/drawing/2014/main" val="2053703784"/>
                    </a:ext>
                  </a:extLst>
                </a:gridCol>
                <a:gridCol w="1224000">
                  <a:extLst>
                    <a:ext uri="{9D8B030D-6E8A-4147-A177-3AD203B41FA5}">
                      <a16:colId xmlns:a16="http://schemas.microsoft.com/office/drawing/2014/main" val="1157899827"/>
                    </a:ext>
                  </a:extLst>
                </a:gridCol>
                <a:gridCol w="1224000">
                  <a:extLst>
                    <a:ext uri="{9D8B030D-6E8A-4147-A177-3AD203B41FA5}">
                      <a16:colId xmlns:a16="http://schemas.microsoft.com/office/drawing/2014/main" val="3676332295"/>
                    </a:ext>
                  </a:extLst>
                </a:gridCol>
                <a:gridCol w="612480">
                  <a:extLst>
                    <a:ext uri="{9D8B030D-6E8A-4147-A177-3AD203B41FA5}">
                      <a16:colId xmlns:a16="http://schemas.microsoft.com/office/drawing/2014/main" val="121804767"/>
                    </a:ext>
                  </a:extLst>
                </a:gridCol>
              </a:tblGrid>
              <a:tr h="396000">
                <a:tc rowSpan="2"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rowSpan="2" hMerge="1">
                  <a:txBody>
                    <a:bodyPr/>
                    <a:lstStyle/>
                    <a:p>
                      <a:pPr algn="ctr"/>
                      <a:endParaRPr lang="en-GB" dirty="0"/>
                    </a:p>
                  </a:txBody>
                  <a:tcPr anchor="ctr">
                    <a:solidFill>
                      <a:schemeClr val="bg1">
                        <a:lumMod val="75000"/>
                      </a:schemeClr>
                    </a:solidFill>
                  </a:tcPr>
                </a:tc>
                <a:tc gridSpan="3">
                  <a:txBody>
                    <a:bodyPr/>
                    <a:lstStyle/>
                    <a:p>
                      <a:pPr algn="ctr"/>
                      <a:r>
                        <a:rPr lang="en-GB" sz="1800" dirty="0">
                          <a:latin typeface="+mn-lt"/>
                        </a:rPr>
                        <a:t>T</a:t>
                      </a:r>
                      <a:r>
                        <a:rPr lang="en-GB" sz="1800" baseline="0" dirty="0">
                          <a:latin typeface="+mn-lt"/>
                        </a:rPr>
                        <a:t>rue outcome</a:t>
                      </a: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algn="ctr"/>
                      <a:endParaRPr lang="en-GB" dirty="0"/>
                    </a:p>
                  </a:txBody>
                  <a:tcPr anchor="ctr">
                    <a:solidFill>
                      <a:schemeClr val="bg1">
                        <a:lumMod val="75000"/>
                      </a:schemeClr>
                    </a:solidFill>
                  </a:tcPr>
                </a:tc>
                <a:tc hMerge="1">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algn="ctr"/>
                      <a:endParaRPr lang="en-GB" sz="1800" dirty="0">
                        <a:latin typeface="+mn-lt"/>
                      </a:endParaRP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77422590"/>
                  </a:ext>
                </a:extLst>
              </a:tr>
              <a:tr h="396000">
                <a:tc gridSpan="2" vMerge="1">
                  <a:txBody>
                    <a:bodyPr/>
                    <a:lstStyle/>
                    <a:p>
                      <a:pPr algn="ctr"/>
                      <a:endParaRPr lang="en-GB" dirty="0"/>
                    </a:p>
                  </a:txBody>
                  <a:tcPr anchor="ctr">
                    <a:solidFill>
                      <a:schemeClr val="bg1">
                        <a:lumMod val="75000"/>
                      </a:schemeClr>
                    </a:solidFill>
                  </a:tcPr>
                </a:tc>
                <a:tc hMerge="1" v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Class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Class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en-GB" sz="1800" dirty="0">
                          <a:latin typeface="+mn-lt"/>
                        </a:rPr>
                        <a:t>Class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C9C99"/>
                    </a:solidFill>
                  </a:tcPr>
                </a:tc>
                <a:tc vMerge="1">
                  <a:txBody>
                    <a:bodyPr/>
                    <a:lstStyle/>
                    <a:p>
                      <a:pPr algn="ctr"/>
                      <a:endParaRPr lang="en-GB" dirty="0"/>
                    </a:p>
                  </a:txBody>
                  <a:tcPr anchor="ctr">
                    <a:solidFill>
                      <a:schemeClr val="bg1">
                        <a:lumMod val="75000"/>
                      </a:schemeClr>
                    </a:solidFill>
                  </a:tcPr>
                </a:tc>
                <a:extLst>
                  <a:ext uri="{0D108BD9-81ED-4DB2-BD59-A6C34878D82A}">
                    <a16:rowId xmlns:a16="http://schemas.microsoft.com/office/drawing/2014/main" val="2795479193"/>
                  </a:ext>
                </a:extLst>
              </a:tr>
              <a:tr h="1044000">
                <a:tc rowSpan="3">
                  <a:txBody>
                    <a:bodyPr/>
                    <a:lstStyle/>
                    <a:p>
                      <a:pPr algn="ctr"/>
                      <a:r>
                        <a:rPr lang="en-GB" sz="1800" dirty="0">
                          <a:latin typeface="+mn-lt"/>
                        </a:rPr>
                        <a:t>Predicted</a:t>
                      </a:r>
                      <a:r>
                        <a:rPr lang="en-GB" sz="1800" baseline="0" dirty="0">
                          <a:latin typeface="+mn-lt"/>
                        </a:rPr>
                        <a:t> outcome</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GB" sz="1800" kern="1200" dirty="0">
                          <a:solidFill>
                            <a:schemeClr val="dk1"/>
                          </a:solidFill>
                          <a:latin typeface="+mn-lt"/>
                          <a:ea typeface="+mn-ea"/>
                          <a:cs typeface="+mn-cs"/>
                        </a:rPr>
                        <a:t>Class 1</a:t>
                      </a:r>
                      <a:endParaRPr lang="en-GB" sz="1800" dirty="0">
                        <a:latin typeface="+mn-lt"/>
                      </a:endParaRP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8DFB1"/>
                    </a:solidFill>
                  </a:tcPr>
                </a:tc>
                <a:tc>
                  <a:txBody>
                    <a:bodyPr/>
                    <a:lstStyle/>
                    <a:p>
                      <a:pPr algn="ctr"/>
                      <a:r>
                        <a:rPr lang="en-GB" sz="1800" dirty="0">
                          <a:latin typeface="+mn-lt"/>
                        </a:rPr>
                        <a:t>30</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40</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30</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4114900944"/>
                  </a:ext>
                </a:extLst>
              </a:tr>
              <a:tr h="1044000">
                <a:tc vMerge="1">
                  <a:txBody>
                    <a:bodyPr/>
                    <a:lstStyle/>
                    <a:p>
                      <a:endParaRPr lang="en-GB"/>
                    </a:p>
                  </a:txBody>
                  <a:tcPr/>
                </a:tc>
                <a:tc>
                  <a:txBody>
                    <a:bodyPr/>
                    <a:lstStyle/>
                    <a:p>
                      <a:pPr algn="ctr"/>
                      <a:r>
                        <a:rPr lang="en-GB" sz="1800" dirty="0">
                          <a:latin typeface="+mn-lt"/>
                        </a:rPr>
                        <a:t>Class 2</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en-GB" sz="1800" dirty="0">
                          <a:latin typeface="+mn-lt"/>
                        </a:rPr>
                        <a:t>10</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120</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198363741"/>
                  </a:ext>
                </a:extLst>
              </a:tr>
              <a:tr h="1044000">
                <a:tc vMerge="1">
                  <a:txBody>
                    <a:bodyPr/>
                    <a:lstStyle/>
                    <a:p>
                      <a:pPr algn="ctr"/>
                      <a:endParaRPr lang="en-GB" dirty="0"/>
                    </a:p>
                  </a:txBody>
                  <a:tcPr vert="vert270" anchor="ctr">
                    <a:solidFill>
                      <a:schemeClr val="bg1">
                        <a:lumMod val="75000"/>
                      </a:schemeClr>
                    </a:solidFill>
                  </a:tcPr>
                </a:tc>
                <a:tc>
                  <a:txBody>
                    <a:bodyPr/>
                    <a:lstStyle/>
                    <a:p>
                      <a:pPr algn="ctr"/>
                      <a:r>
                        <a:rPr lang="en-GB" sz="1800" dirty="0">
                          <a:latin typeface="+mn-lt"/>
                        </a:rPr>
                        <a:t>Class 3</a:t>
                      </a:r>
                    </a:p>
                  </a:txBody>
                  <a:tcPr vert="vert2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9C99"/>
                    </a:solidFill>
                  </a:tcPr>
                </a:tc>
                <a:tc>
                  <a:txBody>
                    <a:bodyPr/>
                    <a:lstStyle/>
                    <a:p>
                      <a:pPr algn="ctr"/>
                      <a:r>
                        <a:rPr lang="en-GB" sz="1800" dirty="0">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2CD"/>
                    </a:solidFill>
                  </a:tcPr>
                </a:tc>
                <a:tc>
                  <a:txBody>
                    <a:bodyPr/>
                    <a:lstStyle/>
                    <a:p>
                      <a:pPr algn="ctr"/>
                      <a:r>
                        <a:rPr lang="en-GB" sz="1800" dirty="0">
                          <a:latin typeface="+mn-lt"/>
                        </a:rPr>
                        <a:t>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extLst>
                  <a:ext uri="{0D108BD9-81ED-4DB2-BD59-A6C34878D82A}">
                    <a16:rowId xmlns:a16="http://schemas.microsoft.com/office/drawing/2014/main" val="3132018532"/>
                  </a:ext>
                </a:extLst>
              </a:tr>
              <a:tr h="396000">
                <a:tc gridSpan="2">
                  <a:txBody>
                    <a:bodyPr/>
                    <a:lstStyle/>
                    <a:p>
                      <a:pPr algn="ctr"/>
                      <a:endParaRPr lang="en-GB" sz="1800" dirty="0">
                        <a:latin typeface="+mn-lt"/>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hMerge="1">
                  <a:txBody>
                    <a:bodyPr/>
                    <a:lstStyle/>
                    <a:p>
                      <a:pPr algn="ctr"/>
                      <a:endParaRPr lang="en-GB" dirty="0"/>
                    </a:p>
                  </a:txBody>
                  <a:tcPr anchor="ctr">
                    <a:solidFill>
                      <a:schemeClr val="bg1">
                        <a:lumMod val="75000"/>
                      </a:schemeClr>
                    </a:solidFill>
                  </a:tcPr>
                </a:tc>
                <a:tc>
                  <a:txBody>
                    <a:bodyPr/>
                    <a:lstStyle/>
                    <a:p>
                      <a:pPr algn="ctr"/>
                      <a:r>
                        <a:rPr lang="en-GB" sz="1800" dirty="0">
                          <a:latin typeface="+mn-lt"/>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150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a:txBody>
                    <a:bodyPr/>
                    <a:lstStyle/>
                    <a:p>
                      <a:pPr algn="ctr"/>
                      <a:r>
                        <a:rPr lang="en-GB" sz="1800" dirty="0">
                          <a:latin typeface="+mn-lt"/>
                        </a:rPr>
                        <a:t>320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3017366942"/>
                  </a:ext>
                </a:extLst>
              </a:tr>
            </a:tbl>
          </a:graphicData>
        </a:graphic>
      </p:graphicFrame>
      <p:sp>
        <p:nvSpPr>
          <p:cNvPr id="9" name="Title 1">
            <a:extLst>
              <a:ext uri="{FF2B5EF4-FFF2-40B4-BE49-F238E27FC236}">
                <a16:creationId xmlns:a16="http://schemas.microsoft.com/office/drawing/2014/main" id="{E2FF26AF-A4CB-4922-0A5F-389E88EE0E8E}"/>
              </a:ext>
            </a:extLst>
          </p:cNvPr>
          <p:cNvSpPr>
            <a:spLocks noGrp="1"/>
          </p:cNvSpPr>
          <p:nvPr>
            <p:ph type="title"/>
          </p:nvPr>
        </p:nvSpPr>
        <p:spPr>
          <a:xfrm>
            <a:off x="2032000" y="-79300"/>
            <a:ext cx="8229600" cy="1143000"/>
          </a:xfrm>
        </p:spPr>
        <p:txBody>
          <a:bodyPr/>
          <a:lstStyle/>
          <a:p>
            <a:r>
              <a:rPr lang="en-GB" dirty="0"/>
              <a:t>Model performance metrics</a:t>
            </a: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5" name="Content Placeholder 2"/>
          <p:cNvSpPr txBox="1">
            <a:spLocks/>
          </p:cNvSpPr>
          <p:nvPr/>
        </p:nvSpPr>
        <p:spPr>
          <a:xfrm>
            <a:off x="1981200" y="1239505"/>
            <a:ext cx="8507288" cy="54006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a:p>
            <a:pPr marL="360363" marR="0" lvl="1" indent="-360363"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tab pos="361950"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58775" marR="0" lvl="0" indent="-358775" algn="l" defTabSz="914400" rtl="0" eaLnBrk="1" fontAlgn="auto" latinLnBrk="0" hangingPunct="1">
              <a:lnSpc>
                <a:spcPct val="100000"/>
              </a:lnSpc>
              <a:spcBef>
                <a:spcPct val="20000"/>
              </a:spcBef>
              <a:spcAft>
                <a:spcPts val="0"/>
              </a:spcAft>
              <a:buClrTx/>
              <a:buSzTx/>
              <a:buFont typeface="Arial" pitchFamily="34" charset="0"/>
              <a:buChar char="•"/>
              <a:tabLst>
                <a:tab pos="3314700"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7" name="Content Placeholder 2"/>
          <p:cNvSpPr txBox="1">
            <a:spLocks/>
          </p:cNvSpPr>
          <p:nvPr/>
        </p:nvSpPr>
        <p:spPr>
          <a:xfrm>
            <a:off x="1044000" y="1260000"/>
            <a:ext cx="5340032" cy="960068"/>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Confusion matrix (classes &gt; 2)</a:t>
            </a:r>
          </a:p>
          <a:p>
            <a:pPr marL="342900" marR="0" lvl="1" indent="-285750"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Same logic (called micro-averaging)</a:t>
            </a:r>
          </a:p>
          <a:p>
            <a:pPr marL="342900" marR="0" lvl="1" indent="-285750" algn="l" defTabSz="914400" rtl="0" eaLnBrk="1" fontAlgn="auto" latinLnBrk="0" hangingPunct="1">
              <a:lnSpc>
                <a:spcPct val="100000"/>
              </a:lnSpc>
              <a:spcBef>
                <a:spcPct val="20000"/>
              </a:spcBef>
              <a:spcAft>
                <a:spcPts val="0"/>
              </a:spcAft>
              <a:buClrTx/>
              <a:buSzTx/>
              <a:buFont typeface="Arial"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400050" marR="0" lvl="1" indent="-342900" algn="l" defTabSz="914400" rtl="0" eaLnBrk="1" fontAlgn="auto" latinLnBrk="0" hangingPunct="1">
              <a:lnSpc>
                <a:spcPct val="100000"/>
              </a:lnSpc>
              <a:spcBef>
                <a:spcPct val="20000"/>
              </a:spcBef>
              <a:spcAft>
                <a:spcPts val="0"/>
              </a:spcAft>
              <a:buClrTx/>
              <a:buSzTx/>
              <a:buFont typeface="Symbol" panose="05050102010706020507" pitchFamily="18"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57150" marR="0" lvl="1" indent="0" algn="l" defTabSz="914400" rtl="0" eaLnBrk="1" fontAlgn="auto" latinLnBrk="0" hangingPunct="1">
              <a:lnSpc>
                <a:spcPct val="100000"/>
              </a:lnSpc>
              <a:spcBef>
                <a:spcPct val="20000"/>
              </a:spcBef>
              <a:spcAft>
                <a:spcPts val="0"/>
              </a:spcAft>
              <a:buClrTx/>
              <a:buSzTx/>
              <a:buFont typeface="Arial"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2" name="Object 1"/>
          <p:cNvGraphicFramePr>
            <a:graphicFrameLocks noChangeAspect="1"/>
          </p:cNvGraphicFramePr>
          <p:nvPr/>
        </p:nvGraphicFramePr>
        <p:xfrm>
          <a:off x="1127448" y="2492896"/>
          <a:ext cx="2905150" cy="648072"/>
        </p:xfrm>
        <a:graphic>
          <a:graphicData uri="http://schemas.openxmlformats.org/presentationml/2006/ole">
            <mc:AlternateContent xmlns:mc="http://schemas.openxmlformats.org/markup-compatibility/2006">
              <mc:Choice xmlns:v="urn:schemas-microsoft-com:vml" Requires="v">
                <p:oleObj name="Equation" r:id="rId2" imgW="1650960" imgH="368280" progId="Equation.DSMT4">
                  <p:embed/>
                </p:oleObj>
              </mc:Choice>
              <mc:Fallback>
                <p:oleObj name="Equation" r:id="rId2" imgW="1650960" imgH="368280" progId="Equation.DSMT4">
                  <p:embed/>
                  <p:pic>
                    <p:nvPicPr>
                      <p:cNvPr id="2" name="Object 1"/>
                      <p:cNvPicPr/>
                      <p:nvPr/>
                    </p:nvPicPr>
                    <p:blipFill>
                      <a:blip r:embed="rId3"/>
                      <a:stretch>
                        <a:fillRect/>
                      </a:stretch>
                    </p:blipFill>
                    <p:spPr>
                      <a:xfrm>
                        <a:off x="1127448" y="2492896"/>
                        <a:ext cx="2905150" cy="648072"/>
                      </a:xfrm>
                      <a:prstGeom prst="rect">
                        <a:avLst/>
                      </a:prstGeom>
                    </p:spPr>
                  </p:pic>
                </p:oleObj>
              </mc:Fallback>
            </mc:AlternateContent>
          </a:graphicData>
        </a:graphic>
      </p:graphicFrame>
      <p:graphicFrame>
        <p:nvGraphicFramePr>
          <p:cNvPr id="5" name="Object 4"/>
          <p:cNvGraphicFramePr>
            <a:graphicFrameLocks noChangeAspect="1"/>
          </p:cNvGraphicFramePr>
          <p:nvPr/>
        </p:nvGraphicFramePr>
        <p:xfrm>
          <a:off x="1127448" y="3318622"/>
          <a:ext cx="3955034" cy="648000"/>
        </p:xfrm>
        <a:graphic>
          <a:graphicData uri="http://schemas.openxmlformats.org/presentationml/2006/ole">
            <mc:AlternateContent xmlns:mc="http://schemas.openxmlformats.org/markup-compatibility/2006">
              <mc:Choice xmlns:v="urn:schemas-microsoft-com:vml" Requires="v">
                <p:oleObj name="Equation" r:id="rId4" imgW="2247840" imgH="368280" progId="Equation.DSMT4">
                  <p:embed/>
                </p:oleObj>
              </mc:Choice>
              <mc:Fallback>
                <p:oleObj name="Equation" r:id="rId4" imgW="2247840" imgH="368280" progId="Equation.DSMT4">
                  <p:embed/>
                  <p:pic>
                    <p:nvPicPr>
                      <p:cNvPr id="5" name="Object 4"/>
                      <p:cNvPicPr/>
                      <p:nvPr/>
                    </p:nvPicPr>
                    <p:blipFill>
                      <a:blip r:embed="rId5"/>
                      <a:stretch>
                        <a:fillRect/>
                      </a:stretch>
                    </p:blipFill>
                    <p:spPr>
                      <a:xfrm>
                        <a:off x="1127448" y="3318622"/>
                        <a:ext cx="3955034" cy="648000"/>
                      </a:xfrm>
                      <a:prstGeom prst="rect">
                        <a:avLst/>
                      </a:prstGeom>
                    </p:spPr>
                  </p:pic>
                </p:oleObj>
              </mc:Fallback>
            </mc:AlternateContent>
          </a:graphicData>
        </a:graphic>
      </p:graphicFrame>
      <p:graphicFrame>
        <p:nvGraphicFramePr>
          <p:cNvPr id="7" name="Object 6"/>
          <p:cNvGraphicFramePr>
            <a:graphicFrameLocks noChangeAspect="1"/>
          </p:cNvGraphicFramePr>
          <p:nvPr/>
        </p:nvGraphicFramePr>
        <p:xfrm>
          <a:off x="1129383" y="4144276"/>
          <a:ext cx="3619859" cy="648000"/>
        </p:xfrm>
        <a:graphic>
          <a:graphicData uri="http://schemas.openxmlformats.org/presentationml/2006/ole">
            <mc:AlternateContent xmlns:mc="http://schemas.openxmlformats.org/markup-compatibility/2006">
              <mc:Choice xmlns:v="urn:schemas-microsoft-com:vml" Requires="v">
                <p:oleObj name="Equation" r:id="rId6" imgW="2057400" imgH="368280" progId="Equation.DSMT4">
                  <p:embed/>
                </p:oleObj>
              </mc:Choice>
              <mc:Fallback>
                <p:oleObj name="Equation" r:id="rId6" imgW="2057400" imgH="368280" progId="Equation.DSMT4">
                  <p:embed/>
                  <p:pic>
                    <p:nvPicPr>
                      <p:cNvPr id="7" name="Object 6"/>
                      <p:cNvPicPr/>
                      <p:nvPr/>
                    </p:nvPicPr>
                    <p:blipFill>
                      <a:blip r:embed="rId7"/>
                      <a:stretch>
                        <a:fillRect/>
                      </a:stretch>
                    </p:blipFill>
                    <p:spPr>
                      <a:xfrm>
                        <a:off x="1129383" y="4144276"/>
                        <a:ext cx="3619859" cy="648000"/>
                      </a:xfrm>
                      <a:prstGeom prst="rect">
                        <a:avLst/>
                      </a:prstGeom>
                    </p:spPr>
                  </p:pic>
                </p:oleObj>
              </mc:Fallback>
            </mc:AlternateContent>
          </a:graphicData>
        </a:graphic>
      </p:graphicFrame>
      <p:sp>
        <p:nvSpPr>
          <p:cNvPr id="10" name="Line 2">
            <a:extLst>
              <a:ext uri="{FF2B5EF4-FFF2-40B4-BE49-F238E27FC236}">
                <a16:creationId xmlns:a16="http://schemas.microsoft.com/office/drawing/2014/main" id="{72DC7AE5-B7C8-32A0-55E3-782DCC8502CE}"/>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478F7941-3F6E-AC75-F7AD-E6D7E85B389F}"/>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12540750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5B505A-D2AB-D0B4-81A8-402A7EC13061}"/>
              </a:ext>
            </a:extLst>
          </p:cNvPr>
          <p:cNvSpPr>
            <a:spLocks noGrp="1"/>
          </p:cNvSpPr>
          <p:nvPr>
            <p:ph type="title"/>
          </p:nvPr>
        </p:nvSpPr>
        <p:spPr>
          <a:xfrm>
            <a:off x="715992" y="1"/>
            <a:ext cx="10853708" cy="6858000"/>
          </a:xfrm>
        </p:spPr>
        <p:txBody>
          <a:bodyPr anchor="t"/>
          <a:lstStyle/>
          <a:p>
            <a:br>
              <a:rPr lang="en-US" sz="4000" noProof="0" dirty="0">
                <a:latin typeface="Calibri" panose="020F0502020204030204" pitchFamily="34" charset="0"/>
                <a:cs typeface="Calibri" panose="020F0502020204030204" pitchFamily="34" charset="0"/>
              </a:rPr>
            </a:br>
            <a:br>
              <a:rPr lang="en-US" sz="4000" noProof="0" dirty="0">
                <a:latin typeface="Calibri" panose="020F0502020204030204" pitchFamily="34" charset="0"/>
                <a:cs typeface="Calibri" panose="020F0502020204030204" pitchFamily="34" charset="0"/>
              </a:rPr>
            </a:br>
            <a:br>
              <a:rPr lang="en-US" sz="4000" noProof="0" dirty="0">
                <a:latin typeface="Calibri" panose="020F0502020204030204" pitchFamily="34" charset="0"/>
                <a:cs typeface="Calibri" panose="020F0502020204030204" pitchFamily="34" charset="0"/>
              </a:rPr>
            </a:br>
            <a:br>
              <a:rPr lang="en-US" sz="4000" noProof="0" dirty="0">
                <a:latin typeface="Calibri" panose="020F0502020204030204" pitchFamily="34" charset="0"/>
                <a:cs typeface="Calibri" panose="020F0502020204030204" pitchFamily="34" charset="0"/>
              </a:rPr>
            </a:br>
            <a:br>
              <a:rPr lang="en-US" sz="4000" noProof="0" dirty="0">
                <a:latin typeface="Calibri" panose="020F0502020204030204" pitchFamily="34" charset="0"/>
                <a:cs typeface="Calibri" panose="020F0502020204030204" pitchFamily="34" charset="0"/>
              </a:rPr>
            </a:br>
            <a:br>
              <a:rPr lang="en-US" sz="4000" noProof="0" dirty="0">
                <a:latin typeface="Calibri" panose="020F0502020204030204" pitchFamily="34" charset="0"/>
                <a:cs typeface="Calibri" panose="020F0502020204030204" pitchFamily="34" charset="0"/>
              </a:rPr>
            </a:br>
            <a:r>
              <a:rPr lang="en-US" sz="4000" noProof="0" dirty="0">
                <a:latin typeface="Calibri" panose="020F0502020204030204" pitchFamily="34" charset="0"/>
                <a:cs typeface="Calibri" panose="020F0502020204030204" pitchFamily="34" charset="0"/>
              </a:rPr>
              <a:t>An empirical example MLP</a:t>
            </a:r>
            <a:endParaRPr lang="en-US" sz="4000" i="1" noProof="0" dirty="0">
              <a:latin typeface="Calibri" panose="020F0502020204030204" pitchFamily="34" charset="0"/>
              <a:cs typeface="Calibri" panose="020F0502020204030204" pitchFamily="34" charset="0"/>
            </a:endParaRPr>
          </a:p>
        </p:txBody>
      </p:sp>
      <p:sp>
        <p:nvSpPr>
          <p:cNvPr id="2" name="Slide Number Placeholder 3">
            <a:extLst>
              <a:ext uri="{FF2B5EF4-FFF2-40B4-BE49-F238E27FC236}">
                <a16:creationId xmlns:a16="http://schemas.microsoft.com/office/drawing/2014/main" id="{C86AB89C-823B-7DAA-6EB3-C9769F9EF884}"/>
              </a:ext>
            </a:extLst>
          </p:cNvPr>
          <p:cNvSpPr txBox="1">
            <a:spLocks/>
          </p:cNvSpPr>
          <p:nvPr/>
        </p:nvSpPr>
        <p:spPr>
          <a:xfrm>
            <a:off x="11225348" y="6356351"/>
            <a:ext cx="357051" cy="365125"/>
          </a:xfrm>
          <a:prstGeom prst="rect">
            <a:avLst/>
          </a:prstGeom>
        </p:spPr>
        <p:txBody>
          <a:bodyPr vert="horz" lIns="91440" tIns="45720" rIns="91440" bIns="45720" rtlCol="0" anchor="ctr"/>
          <a:lstStyle>
            <a:defPPr>
              <a:defRPr lang="nl-NL"/>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2091469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lide Number Placeholder 3"/>
          <p:cNvSpPr>
            <a:spLocks noGrp="1"/>
          </p:cNvSpPr>
          <p:nvPr>
            <p:ph type="sldNum" sz="quarter" idx="12"/>
          </p:nvPr>
        </p:nvSpPr>
        <p:spPr>
          <a:xfrm>
            <a:off x="8737600" y="6356351"/>
            <a:ext cx="28448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Left Brace 4">
            <a:extLst>
              <a:ext uri="{FF2B5EF4-FFF2-40B4-BE49-F238E27FC236}">
                <a16:creationId xmlns:a16="http://schemas.microsoft.com/office/drawing/2014/main" id="{36D936C5-89D3-A915-A3F5-9079A73F5885}"/>
              </a:ext>
            </a:extLst>
          </p:cNvPr>
          <p:cNvSpPr/>
          <p:nvPr/>
        </p:nvSpPr>
        <p:spPr>
          <a:xfrm>
            <a:off x="3454399" y="1252330"/>
            <a:ext cx="491436" cy="4899992"/>
          </a:xfrm>
          <a:prstGeom prst="leftBrace">
            <a:avLst>
              <a:gd name="adj1" fmla="val 8333"/>
              <a:gd name="adj2" fmla="val 29729"/>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NL"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D08F533A-C32D-0BC7-D05E-38DF8E01A5F4}"/>
              </a:ext>
            </a:extLst>
          </p:cNvPr>
          <p:cNvSpPr txBox="1"/>
          <p:nvPr/>
        </p:nvSpPr>
        <p:spPr>
          <a:xfrm>
            <a:off x="536712" y="1988165"/>
            <a:ext cx="2917686" cy="1391479"/>
          </a:xfrm>
          <a:prstGeom prst="rect">
            <a:avLst/>
          </a:prstGeom>
          <a:noFill/>
        </p:spPr>
        <p:txBody>
          <a:bodyPr wrap="square" rtlCol="0" anchor="ctr">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NL"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All </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attributes and socio-demographic </a:t>
            </a:r>
            <a:r>
              <a:rPr kumimoji="0" lang="en-NL"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variables enter in the </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utility</a:t>
            </a:r>
            <a:endParaRPr kumimoji="0" lang="en-NL"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8" name="Left Brace 7">
            <a:extLst>
              <a:ext uri="{FF2B5EF4-FFF2-40B4-BE49-F238E27FC236}">
                <a16:creationId xmlns:a16="http://schemas.microsoft.com/office/drawing/2014/main" id="{DE01C79B-62C8-A8E0-D753-B698C4A5D26C}"/>
              </a:ext>
            </a:extLst>
          </p:cNvPr>
          <p:cNvSpPr/>
          <p:nvPr/>
        </p:nvSpPr>
        <p:spPr>
          <a:xfrm rot="10800000">
            <a:off x="8131794" y="3270951"/>
            <a:ext cx="491436" cy="903483"/>
          </a:xfrm>
          <a:prstGeom prst="leftBrace">
            <a:avLst>
              <a:gd name="adj1" fmla="val 8333"/>
              <a:gd name="adj2" fmla="val 70432"/>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NL"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629DB4C7-777B-A101-D795-C3C73C738302}"/>
              </a:ext>
            </a:extLst>
          </p:cNvPr>
          <p:cNvSpPr txBox="1"/>
          <p:nvPr/>
        </p:nvSpPr>
        <p:spPr>
          <a:xfrm>
            <a:off x="8623230" y="2906546"/>
            <a:ext cx="2321338" cy="1524060"/>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NL"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The  output layer contains the </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utilities </a:t>
            </a:r>
            <a:r>
              <a:rPr kumimoji="0" lang="en-NL"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predicted choice probabilities for the alternatives</a:t>
            </a:r>
          </a:p>
        </p:txBody>
      </p:sp>
      <p:sp>
        <p:nvSpPr>
          <p:cNvPr id="28" name="TextBox 27">
            <a:extLst>
              <a:ext uri="{FF2B5EF4-FFF2-40B4-BE49-F238E27FC236}">
                <a16:creationId xmlns:a16="http://schemas.microsoft.com/office/drawing/2014/main" id="{6DA4701B-6596-E95A-1EDB-5975CA0190F1}"/>
              </a:ext>
            </a:extLst>
          </p:cNvPr>
          <p:cNvSpPr txBox="1"/>
          <p:nvPr/>
        </p:nvSpPr>
        <p:spPr>
          <a:xfrm>
            <a:off x="3454398" y="6470712"/>
            <a:ext cx="4782307" cy="319087"/>
          </a:xfrm>
          <a:prstGeom prst="rect">
            <a:avLst/>
          </a:prstGeom>
          <a:noFill/>
        </p:spPr>
        <p:txBody>
          <a:bodyPr wrap="square" rtlCol="0">
            <a:noAutofit/>
          </a:bodyPr>
          <a:lstStyle/>
          <a:p>
            <a:pPr marL="0" marR="0" lvl="0" indent="0" algn="ct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600" b="0" i="0" u="none" strike="noStrike" kern="1200" cap="none" spc="0" normalizeH="0" baseline="0" noProof="0" dirty="0">
                <a:ln>
                  <a:noFill/>
                </a:ln>
                <a:solidFill>
                  <a:prstClr val="white">
                    <a:lumMod val="50000"/>
                  </a:prstClr>
                </a:solidFill>
                <a:effectLst/>
                <a:uLnTx/>
                <a:uFillTx/>
                <a:latin typeface="Calibri" panose="020F0502020204030204"/>
                <a:ea typeface="+mn-ea"/>
                <a:cs typeface="Calibri" panose="020F0502020204030204" pitchFamily="34" charset="0"/>
                <a:sym typeface="Wingdings" panose="05000000000000000000" pitchFamily="2" charset="2"/>
              </a:rPr>
              <a:t>RUM-</a:t>
            </a:r>
            <a:r>
              <a:rPr kumimoji="0" lang="en-GB" sz="1600" b="0" i="0" u="none" strike="noStrike" kern="1200" cap="none" spc="0" normalizeH="0" baseline="0" noProof="0" dirty="0" err="1">
                <a:ln>
                  <a:noFill/>
                </a:ln>
                <a:solidFill>
                  <a:prstClr val="white">
                    <a:lumMod val="50000"/>
                  </a:prstClr>
                </a:solidFill>
                <a:effectLst/>
                <a:uLnTx/>
                <a:uFillTx/>
                <a:latin typeface="Calibri" panose="020F0502020204030204"/>
                <a:ea typeface="+mn-ea"/>
                <a:cs typeface="Calibri" panose="020F0502020204030204" pitchFamily="34" charset="0"/>
                <a:sym typeface="Wingdings" panose="05000000000000000000" pitchFamily="2" charset="2"/>
              </a:rPr>
              <a:t>MNL</a:t>
            </a:r>
            <a:r>
              <a:rPr kumimoji="0" lang="en-GB" sz="1600" b="0" i="0" u="none" strike="noStrike" kern="1200" cap="none" spc="0" normalizeH="0" baseline="0" noProof="0" dirty="0">
                <a:ln>
                  <a:noFill/>
                </a:ln>
                <a:solidFill>
                  <a:prstClr val="white">
                    <a:lumMod val="50000"/>
                  </a:prstClr>
                </a:solidFill>
                <a:effectLst/>
                <a:uLnTx/>
                <a:uFillTx/>
                <a:latin typeface="Calibri" panose="020F0502020204030204"/>
                <a:ea typeface="+mn-ea"/>
                <a:cs typeface="Calibri" panose="020F0502020204030204" pitchFamily="34" charset="0"/>
                <a:sym typeface="Wingdings" panose="05000000000000000000" pitchFamily="2" charset="2"/>
              </a:rPr>
              <a:t> </a:t>
            </a:r>
            <a:endParaRPr kumimoji="0" lang="en-NL" sz="1600" b="0" i="0" u="none" strike="noStrike" kern="1200" cap="none" spc="0" normalizeH="0" baseline="0" noProof="0" dirty="0">
              <a:ln>
                <a:noFill/>
              </a:ln>
              <a:solidFill>
                <a:prstClr val="white">
                  <a:lumMod val="50000"/>
                </a:prstClr>
              </a:solidFill>
              <a:effectLst/>
              <a:uLnTx/>
              <a:uFillTx/>
              <a:latin typeface="Calibri" panose="020F0502020204030204"/>
              <a:ea typeface="+mn-ea"/>
              <a:cs typeface="Calibri" panose="020F0502020204030204" pitchFamily="34" charset="0"/>
              <a:sym typeface="Wingdings" panose="05000000000000000000" pitchFamily="2" charset="2"/>
            </a:endParaRPr>
          </a:p>
        </p:txBody>
      </p:sp>
      <p:pic>
        <p:nvPicPr>
          <p:cNvPr id="25" name="Picture 24">
            <a:extLst>
              <a:ext uri="{FF2B5EF4-FFF2-40B4-BE49-F238E27FC236}">
                <a16:creationId xmlns:a16="http://schemas.microsoft.com/office/drawing/2014/main" id="{50560387-46BC-A2B8-20FE-77CFB771181F}"/>
              </a:ext>
            </a:extLst>
          </p:cNvPr>
          <p:cNvPicPr>
            <a:picLocks noChangeAspect="1"/>
          </p:cNvPicPr>
          <p:nvPr/>
        </p:nvPicPr>
        <p:blipFill rotWithShape="1">
          <a:blip r:embed="rId3"/>
          <a:srcRect b="11691"/>
          <a:stretch/>
        </p:blipFill>
        <p:spPr>
          <a:xfrm>
            <a:off x="4355610" y="2004246"/>
            <a:ext cx="3661813" cy="2871514"/>
          </a:xfrm>
          <a:prstGeom prst="rect">
            <a:avLst/>
          </a:prstGeom>
        </p:spPr>
      </p:pic>
      <p:sp>
        <p:nvSpPr>
          <p:cNvPr id="3" name="Title 1">
            <a:extLst>
              <a:ext uri="{FF2B5EF4-FFF2-40B4-BE49-F238E27FC236}">
                <a16:creationId xmlns:a16="http://schemas.microsoft.com/office/drawing/2014/main" id="{83FBC11F-330D-7E6B-4D84-E923098D5F18}"/>
              </a:ext>
            </a:extLst>
          </p:cNvPr>
          <p:cNvSpPr>
            <a:spLocks noGrp="1"/>
          </p:cNvSpPr>
          <p:nvPr>
            <p:ph type="title"/>
          </p:nvPr>
        </p:nvSpPr>
        <p:spPr>
          <a:xfrm>
            <a:off x="2032000" y="-79300"/>
            <a:ext cx="8229600" cy="1143000"/>
          </a:xfrm>
        </p:spPr>
        <p:txBody>
          <a:bodyPr/>
          <a:lstStyle/>
          <a:p>
            <a:r>
              <a:rPr lang="en-GB" dirty="0"/>
              <a:t>Empirical example MNL</a:t>
            </a:r>
            <a:endParaRPr lang="en-GB" sz="1800" dirty="0"/>
          </a:p>
        </p:txBody>
      </p:sp>
      <p:sp>
        <p:nvSpPr>
          <p:cNvPr id="7" name="Line 2">
            <a:extLst>
              <a:ext uri="{FF2B5EF4-FFF2-40B4-BE49-F238E27FC236}">
                <a16:creationId xmlns:a16="http://schemas.microsoft.com/office/drawing/2014/main" id="{86F49F28-2E0E-DC1E-3CE7-0D2AB1C8A74F}"/>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D7770123-053D-F72F-FF7B-8A963749984F}"/>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41069735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2785730" cy="5400600"/>
          </a:xfrm>
        </p:spPr>
        <p:txBody>
          <a:bodyPr>
            <a:noAutofit/>
          </a:bodyPr>
          <a:lstStyle/>
          <a:p>
            <a:pPr marL="0" lvl="1" indent="0">
              <a:buNone/>
              <a:tabLst>
                <a:tab pos="3138488" algn="l"/>
              </a:tabLst>
            </a:pPr>
            <a:r>
              <a:rPr lang="en-GB" sz="1800" b="1" dirty="0"/>
              <a:t>Swiss metro</a:t>
            </a:r>
          </a:p>
          <a:p>
            <a:pPr marL="0" lvl="1" indent="0">
              <a:buNone/>
              <a:tabLst>
                <a:tab pos="3138488" algn="l"/>
              </a:tabLst>
            </a:pPr>
            <a:endParaRPr lang="en-GB" b="1" dirty="0"/>
          </a:p>
          <a:p>
            <a:pPr marL="0" lvl="1" indent="0">
              <a:buNone/>
              <a:tabLst>
                <a:tab pos="3138488" algn="l"/>
              </a:tabLst>
            </a:pPr>
            <a:endParaRPr lang="en-GB" sz="1800" b="1" dirty="0"/>
          </a:p>
          <a:p>
            <a:pPr marL="285750" lvl="1" indent="-285750">
              <a:tabLst>
                <a:tab pos="3138488" algn="l"/>
              </a:tabLst>
            </a:pPr>
            <a:endParaRPr lang="en-GB" b="1" dirty="0"/>
          </a:p>
          <a:p>
            <a:pPr marL="285750" lvl="1" indent="-285750">
              <a:tabLst>
                <a:tab pos="3138488" algn="l"/>
              </a:tabLst>
            </a:pPr>
            <a:endParaRPr lang="en-GB" b="1" dirty="0"/>
          </a:p>
          <a:p>
            <a:pPr marL="0" lvl="1" indent="0">
              <a:buNone/>
              <a:tabLst>
                <a:tab pos="3138488" algn="l"/>
              </a:tabLst>
            </a:pPr>
            <a:endParaRPr lang="en-GB" b="1" u="sng" dirty="0"/>
          </a:p>
          <a:p>
            <a:pPr marL="0" lvl="1" indent="0">
              <a:buNone/>
              <a:tabLst>
                <a:tab pos="3138488" algn="l"/>
              </a:tabLst>
            </a:pPr>
            <a:r>
              <a:rPr lang="en-GB" b="1" u="sng" dirty="0"/>
              <a:t>Two cases</a:t>
            </a:r>
          </a:p>
          <a:p>
            <a:pPr marL="342900" lvl="1" indent="-342900">
              <a:buFont typeface="+mj-lt"/>
              <a:buAutoNum type="alphaUcPeriod"/>
              <a:tabLst>
                <a:tab pos="3138488" algn="l"/>
              </a:tabLst>
            </a:pPr>
            <a:r>
              <a:rPr lang="en-GB" b="1" dirty="0"/>
              <a:t>Only attributes</a:t>
            </a:r>
          </a:p>
          <a:p>
            <a:pPr marL="342900" lvl="1" indent="-342900">
              <a:buFont typeface="+mj-lt"/>
              <a:buAutoNum type="alphaUcPeriod"/>
              <a:tabLst>
                <a:tab pos="3138488" algn="l"/>
              </a:tabLst>
            </a:pPr>
            <a:endParaRPr lang="en-GB" b="1" dirty="0"/>
          </a:p>
          <a:p>
            <a:pPr marL="342900" lvl="1" indent="-342900">
              <a:buFont typeface="+mj-lt"/>
              <a:buAutoNum type="alphaUcPeriod"/>
              <a:tabLst>
                <a:tab pos="3138488" algn="l"/>
              </a:tabLst>
            </a:pPr>
            <a:r>
              <a:rPr lang="en-GB" b="1" dirty="0">
                <a:solidFill>
                  <a:schemeClr val="bg1">
                    <a:lumMod val="65000"/>
                  </a:schemeClr>
                </a:solidFill>
              </a:rPr>
              <a:t>Attributes + socio demographic variables</a:t>
            </a:r>
          </a:p>
          <a:p>
            <a:pPr marL="285750" lvl="1" indent="-285750">
              <a:tabLst>
                <a:tab pos="3138488" algn="l"/>
              </a:tabLst>
            </a:pPr>
            <a:endParaRPr lang="en-GB" sz="1800" dirty="0"/>
          </a:p>
          <a:p>
            <a:pPr marL="1257300" lvl="3"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3" name="Picture 2">
            <a:extLst>
              <a:ext uri="{FF2B5EF4-FFF2-40B4-BE49-F238E27FC236}">
                <a16:creationId xmlns:a16="http://schemas.microsoft.com/office/drawing/2014/main" id="{3FB8B2DC-2A08-FBA4-18A4-C0906F173090}"/>
              </a:ext>
            </a:extLst>
          </p:cNvPr>
          <p:cNvPicPr>
            <a:picLocks noChangeAspect="1"/>
          </p:cNvPicPr>
          <p:nvPr/>
        </p:nvPicPr>
        <p:blipFill>
          <a:blip r:embed="rId2"/>
          <a:stretch>
            <a:fillRect/>
          </a:stretch>
        </p:blipFill>
        <p:spPr>
          <a:xfrm>
            <a:off x="5302250" y="2574583"/>
            <a:ext cx="6767476" cy="4100660"/>
          </a:xfrm>
          <a:prstGeom prst="rect">
            <a:avLst/>
          </a:prstGeom>
        </p:spPr>
      </p:pic>
      <p:sp>
        <p:nvSpPr>
          <p:cNvPr id="7" name="Left Brace 6">
            <a:extLst>
              <a:ext uri="{FF2B5EF4-FFF2-40B4-BE49-F238E27FC236}">
                <a16:creationId xmlns:a16="http://schemas.microsoft.com/office/drawing/2014/main" id="{9E80D4AF-7389-CD83-6AC5-2EB06BBF88DA}"/>
              </a:ext>
            </a:extLst>
          </p:cNvPr>
          <p:cNvSpPr/>
          <p:nvPr/>
        </p:nvSpPr>
        <p:spPr>
          <a:xfrm>
            <a:off x="5135526" y="2574583"/>
            <a:ext cx="318976" cy="3643461"/>
          </a:xfrm>
          <a:prstGeom prst="leftBrace">
            <a:avLst>
              <a:gd name="adj1" fmla="val 8333"/>
              <a:gd name="adj2" fmla="val 83156"/>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4828D94D-8854-EE72-7A2A-C93B4B782755}"/>
              </a:ext>
            </a:extLst>
          </p:cNvPr>
          <p:cNvSpPr txBox="1"/>
          <p:nvPr/>
        </p:nvSpPr>
        <p:spPr>
          <a:xfrm>
            <a:off x="2288659" y="5198620"/>
            <a:ext cx="2785730" cy="978196"/>
          </a:xfrm>
          <a:prstGeom prst="rect">
            <a:avLst/>
          </a:prstGeom>
          <a:noFill/>
        </p:spPr>
        <p:txBody>
          <a:bodyPr wrap="square" rtlCol="0">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Attributes of alternatives: </a:t>
            </a:r>
            <a:r>
              <a:rPr kumimoji="0" lang="en-GB" sz="1800" b="1"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Travel cost </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and </a:t>
            </a:r>
            <a:r>
              <a:rPr kumimoji="0" lang="en-GB" sz="1800" b="1"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time</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for each alternative</a:t>
            </a:r>
          </a:p>
        </p:txBody>
      </p:sp>
      <p:sp>
        <p:nvSpPr>
          <p:cNvPr id="9" name="TextBox 8">
            <a:extLst>
              <a:ext uri="{FF2B5EF4-FFF2-40B4-BE49-F238E27FC236}">
                <a16:creationId xmlns:a16="http://schemas.microsoft.com/office/drawing/2014/main" id="{719A1B5B-68B6-F567-BE1D-22FFF5FB0CFA}"/>
              </a:ext>
            </a:extLst>
          </p:cNvPr>
          <p:cNvSpPr txBox="1"/>
          <p:nvPr/>
        </p:nvSpPr>
        <p:spPr>
          <a:xfrm>
            <a:off x="11507638" y="3836351"/>
            <a:ext cx="684362" cy="297711"/>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4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TRAIN</a:t>
            </a:r>
          </a:p>
        </p:txBody>
      </p:sp>
      <p:sp>
        <p:nvSpPr>
          <p:cNvPr id="10" name="TextBox 9">
            <a:extLst>
              <a:ext uri="{FF2B5EF4-FFF2-40B4-BE49-F238E27FC236}">
                <a16:creationId xmlns:a16="http://schemas.microsoft.com/office/drawing/2014/main" id="{EC3FB53E-C6DC-9DB1-72D9-A6BBED840AEE}"/>
              </a:ext>
            </a:extLst>
          </p:cNvPr>
          <p:cNvSpPr txBox="1"/>
          <p:nvPr/>
        </p:nvSpPr>
        <p:spPr>
          <a:xfrm>
            <a:off x="11507638" y="4247457"/>
            <a:ext cx="684362" cy="297711"/>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4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SM</a:t>
            </a:r>
          </a:p>
        </p:txBody>
      </p:sp>
      <p:sp>
        <p:nvSpPr>
          <p:cNvPr id="11" name="TextBox 10">
            <a:extLst>
              <a:ext uri="{FF2B5EF4-FFF2-40B4-BE49-F238E27FC236}">
                <a16:creationId xmlns:a16="http://schemas.microsoft.com/office/drawing/2014/main" id="{D6F155DB-9D95-FC0B-1750-426A4CB58AA0}"/>
              </a:ext>
            </a:extLst>
          </p:cNvPr>
          <p:cNvSpPr txBox="1"/>
          <p:nvPr/>
        </p:nvSpPr>
        <p:spPr>
          <a:xfrm>
            <a:off x="11472000" y="4669194"/>
            <a:ext cx="684362" cy="297711"/>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4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CAR</a:t>
            </a:r>
          </a:p>
        </p:txBody>
      </p:sp>
      <p:cxnSp>
        <p:nvCxnSpPr>
          <p:cNvPr id="13" name="Straight Arrow Connector 12">
            <a:extLst>
              <a:ext uri="{FF2B5EF4-FFF2-40B4-BE49-F238E27FC236}">
                <a16:creationId xmlns:a16="http://schemas.microsoft.com/office/drawing/2014/main" id="{4D565524-94BA-332F-81C3-E2B2F4B2D0A2}"/>
              </a:ext>
            </a:extLst>
          </p:cNvPr>
          <p:cNvCxnSpPr>
            <a:cxnSpLocks/>
          </p:cNvCxnSpPr>
          <p:nvPr/>
        </p:nvCxnSpPr>
        <p:spPr>
          <a:xfrm>
            <a:off x="3455773" y="3644860"/>
            <a:ext cx="1618616"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DFCAB8D6-5A6B-9174-B4A1-E657968445CB}"/>
              </a:ext>
            </a:extLst>
          </p:cNvPr>
          <p:cNvGrpSpPr/>
          <p:nvPr/>
        </p:nvGrpSpPr>
        <p:grpSpPr>
          <a:xfrm>
            <a:off x="807416" y="1588508"/>
            <a:ext cx="3936601" cy="1215735"/>
            <a:chOff x="6999514" y="1339615"/>
            <a:chExt cx="5152369" cy="1591200"/>
          </a:xfrm>
        </p:grpSpPr>
        <p:pic>
          <p:nvPicPr>
            <p:cNvPr id="12" name="Picture 11">
              <a:extLst>
                <a:ext uri="{FF2B5EF4-FFF2-40B4-BE49-F238E27FC236}">
                  <a16:creationId xmlns:a16="http://schemas.microsoft.com/office/drawing/2014/main" id="{14184B43-B7D4-F224-E659-491279CCF286}"/>
                </a:ext>
              </a:extLst>
            </p:cNvPr>
            <p:cNvPicPr>
              <a:picLocks noChangeAspect="1"/>
            </p:cNvPicPr>
            <p:nvPr/>
          </p:nvPicPr>
          <p:blipFill rotWithShape="1">
            <a:blip r:embed="rId3"/>
            <a:srcRect r="48807"/>
            <a:stretch/>
          </p:blipFill>
          <p:spPr>
            <a:xfrm>
              <a:off x="6999514" y="1339749"/>
              <a:ext cx="2606449" cy="1591066"/>
            </a:xfrm>
            <a:prstGeom prst="rect">
              <a:avLst/>
            </a:prstGeom>
            <a:ln>
              <a:no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C4B3AEF8-EFEA-AB83-EEA4-75C823DA6787}"/>
                </a:ext>
              </a:extLst>
            </p:cNvPr>
            <p:cNvGrpSpPr/>
            <p:nvPr/>
          </p:nvGrpSpPr>
          <p:grpSpPr>
            <a:xfrm>
              <a:off x="9605963" y="1339615"/>
              <a:ext cx="2545920" cy="1591200"/>
              <a:chOff x="8373120" y="3037357"/>
              <a:chExt cx="2545920" cy="1591200"/>
            </a:xfrm>
          </p:grpSpPr>
          <p:pic>
            <p:nvPicPr>
              <p:cNvPr id="15" name="Picture 14">
                <a:extLst>
                  <a:ext uri="{FF2B5EF4-FFF2-40B4-BE49-F238E27FC236}">
                    <a16:creationId xmlns:a16="http://schemas.microsoft.com/office/drawing/2014/main" id="{85D7E7FE-689F-8B5F-EB63-03BD6DC01A1E}"/>
                  </a:ext>
                </a:extLst>
              </p:cNvPr>
              <p:cNvPicPr>
                <a:picLocks noChangeAspect="1"/>
              </p:cNvPicPr>
              <p:nvPr/>
            </p:nvPicPr>
            <p:blipFill>
              <a:blip r:embed="rId4"/>
              <a:stretch>
                <a:fillRect/>
              </a:stretch>
            </p:blipFill>
            <p:spPr>
              <a:xfrm>
                <a:off x="8373120" y="3037357"/>
                <a:ext cx="2545920" cy="795600"/>
              </a:xfrm>
              <a:prstGeom prst="rect">
                <a:avLst/>
              </a:prstGeom>
              <a:ln>
                <a:noFill/>
              </a:ln>
              <a:effectLst>
                <a:outerShdw blurRad="292100" dist="139700" dir="2700000" algn="tl" rotWithShape="0">
                  <a:srgbClr val="333333">
                    <a:alpha val="65000"/>
                  </a:srgbClr>
                </a:outerShdw>
              </a:effectLst>
            </p:spPr>
          </p:pic>
          <p:pic>
            <p:nvPicPr>
              <p:cNvPr id="16" name="Picture 15">
                <a:extLst>
                  <a:ext uri="{FF2B5EF4-FFF2-40B4-BE49-F238E27FC236}">
                    <a16:creationId xmlns:a16="http://schemas.microsoft.com/office/drawing/2014/main" id="{E19B4EB6-7D75-2977-C1CB-114F9E7B87A4}"/>
                  </a:ext>
                </a:extLst>
              </p:cNvPr>
              <p:cNvPicPr>
                <a:picLocks noChangeAspect="1"/>
              </p:cNvPicPr>
              <p:nvPr/>
            </p:nvPicPr>
            <p:blipFill>
              <a:blip r:embed="rId5"/>
              <a:stretch>
                <a:fillRect/>
              </a:stretch>
            </p:blipFill>
            <p:spPr>
              <a:xfrm>
                <a:off x="8373120" y="3832957"/>
                <a:ext cx="2545920" cy="795600"/>
              </a:xfrm>
              <a:prstGeom prst="rect">
                <a:avLst/>
              </a:prstGeom>
              <a:ln>
                <a:noFill/>
              </a:ln>
              <a:effectLst>
                <a:outerShdw blurRad="292100" dist="139700" dir="2700000" algn="tl" rotWithShape="0">
                  <a:srgbClr val="333333">
                    <a:alpha val="65000"/>
                  </a:srgbClr>
                </a:outerShdw>
              </a:effectLst>
            </p:spPr>
          </p:pic>
        </p:grpSp>
      </p:grpSp>
      <p:sp>
        <p:nvSpPr>
          <p:cNvPr id="17" name="Title 1">
            <a:extLst>
              <a:ext uri="{FF2B5EF4-FFF2-40B4-BE49-F238E27FC236}">
                <a16:creationId xmlns:a16="http://schemas.microsoft.com/office/drawing/2014/main" id="{32521B0F-5B25-55E0-F086-441E6D96ACF0}"/>
              </a:ext>
            </a:extLst>
          </p:cNvPr>
          <p:cNvSpPr txBox="1">
            <a:spLocks/>
          </p:cNvSpPr>
          <p:nvPr/>
        </p:nvSpPr>
        <p:spPr>
          <a:xfrm>
            <a:off x="2032000" y="-79300"/>
            <a:ext cx="8229600" cy="1143000"/>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a:lstStyle>
          <a:p>
            <a:r>
              <a:rPr lang="en-GB" dirty="0"/>
              <a:t>Empirical example MLP</a:t>
            </a:r>
            <a:endParaRPr lang="en-GB" sz="1800" dirty="0"/>
          </a:p>
        </p:txBody>
      </p:sp>
      <p:sp>
        <p:nvSpPr>
          <p:cNvPr id="18" name="Line 2">
            <a:extLst>
              <a:ext uri="{FF2B5EF4-FFF2-40B4-BE49-F238E27FC236}">
                <a16:creationId xmlns:a16="http://schemas.microsoft.com/office/drawing/2014/main" id="{228D6745-C08A-C72A-FD96-4D0A422BE66A}"/>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9" name="Line 2">
            <a:extLst>
              <a:ext uri="{FF2B5EF4-FFF2-40B4-BE49-F238E27FC236}">
                <a16:creationId xmlns:a16="http://schemas.microsoft.com/office/drawing/2014/main" id="{BEEDE9A6-E4B5-3D5D-8318-F23BFEBD0939}"/>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dirty="0"/>
          </a:p>
        </p:txBody>
      </p:sp>
    </p:spTree>
    <p:extLst>
      <p:ext uri="{BB962C8B-B14F-4D97-AF65-F5344CB8AC3E}">
        <p14:creationId xmlns:p14="http://schemas.microsoft.com/office/powerpoint/2010/main" val="17299944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FCAB8D6-5A6B-9174-B4A1-E657968445CB}"/>
              </a:ext>
            </a:extLst>
          </p:cNvPr>
          <p:cNvGrpSpPr/>
          <p:nvPr/>
        </p:nvGrpSpPr>
        <p:grpSpPr>
          <a:xfrm>
            <a:off x="807416" y="1588508"/>
            <a:ext cx="3936601" cy="1215735"/>
            <a:chOff x="6999514" y="1339615"/>
            <a:chExt cx="5152369" cy="1591200"/>
          </a:xfrm>
        </p:grpSpPr>
        <p:pic>
          <p:nvPicPr>
            <p:cNvPr id="12" name="Picture 11">
              <a:extLst>
                <a:ext uri="{FF2B5EF4-FFF2-40B4-BE49-F238E27FC236}">
                  <a16:creationId xmlns:a16="http://schemas.microsoft.com/office/drawing/2014/main" id="{14184B43-B7D4-F224-E659-491279CCF286}"/>
                </a:ext>
              </a:extLst>
            </p:cNvPr>
            <p:cNvPicPr>
              <a:picLocks noChangeAspect="1"/>
            </p:cNvPicPr>
            <p:nvPr/>
          </p:nvPicPr>
          <p:blipFill rotWithShape="1">
            <a:blip r:embed="rId2"/>
            <a:srcRect r="48807"/>
            <a:stretch/>
          </p:blipFill>
          <p:spPr>
            <a:xfrm>
              <a:off x="6999514" y="1339749"/>
              <a:ext cx="2606449" cy="1591066"/>
            </a:xfrm>
            <a:prstGeom prst="rect">
              <a:avLst/>
            </a:prstGeom>
            <a:ln>
              <a:no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C4B3AEF8-EFEA-AB83-EEA4-75C823DA6787}"/>
                </a:ext>
              </a:extLst>
            </p:cNvPr>
            <p:cNvGrpSpPr/>
            <p:nvPr/>
          </p:nvGrpSpPr>
          <p:grpSpPr>
            <a:xfrm>
              <a:off x="9605963" y="1339615"/>
              <a:ext cx="2545920" cy="1591200"/>
              <a:chOff x="8373120" y="3037357"/>
              <a:chExt cx="2545920" cy="1591200"/>
            </a:xfrm>
          </p:grpSpPr>
          <p:pic>
            <p:nvPicPr>
              <p:cNvPr id="15" name="Picture 14">
                <a:extLst>
                  <a:ext uri="{FF2B5EF4-FFF2-40B4-BE49-F238E27FC236}">
                    <a16:creationId xmlns:a16="http://schemas.microsoft.com/office/drawing/2014/main" id="{85D7E7FE-689F-8B5F-EB63-03BD6DC01A1E}"/>
                  </a:ext>
                </a:extLst>
              </p:cNvPr>
              <p:cNvPicPr>
                <a:picLocks noChangeAspect="1"/>
              </p:cNvPicPr>
              <p:nvPr/>
            </p:nvPicPr>
            <p:blipFill>
              <a:blip r:embed="rId3"/>
              <a:stretch>
                <a:fillRect/>
              </a:stretch>
            </p:blipFill>
            <p:spPr>
              <a:xfrm>
                <a:off x="8373120" y="3037357"/>
                <a:ext cx="2545920" cy="795600"/>
              </a:xfrm>
              <a:prstGeom prst="rect">
                <a:avLst/>
              </a:prstGeom>
              <a:ln>
                <a:noFill/>
              </a:ln>
              <a:effectLst>
                <a:outerShdw blurRad="292100" dist="139700" dir="2700000" algn="tl" rotWithShape="0">
                  <a:srgbClr val="333333">
                    <a:alpha val="65000"/>
                  </a:srgbClr>
                </a:outerShdw>
              </a:effectLst>
            </p:spPr>
          </p:pic>
          <p:pic>
            <p:nvPicPr>
              <p:cNvPr id="16" name="Picture 15">
                <a:extLst>
                  <a:ext uri="{FF2B5EF4-FFF2-40B4-BE49-F238E27FC236}">
                    <a16:creationId xmlns:a16="http://schemas.microsoft.com/office/drawing/2014/main" id="{E19B4EB6-7D75-2977-C1CB-114F9E7B87A4}"/>
                  </a:ext>
                </a:extLst>
              </p:cNvPr>
              <p:cNvPicPr>
                <a:picLocks noChangeAspect="1"/>
              </p:cNvPicPr>
              <p:nvPr/>
            </p:nvPicPr>
            <p:blipFill>
              <a:blip r:embed="rId4"/>
              <a:stretch>
                <a:fillRect/>
              </a:stretch>
            </p:blipFill>
            <p:spPr>
              <a:xfrm>
                <a:off x="8373120" y="3832957"/>
                <a:ext cx="2545920" cy="795600"/>
              </a:xfrm>
              <a:prstGeom prst="rect">
                <a:avLst/>
              </a:prstGeom>
              <a:ln>
                <a:noFill/>
              </a:ln>
              <a:effectLst>
                <a:outerShdw blurRad="292100" dist="139700" dir="2700000" algn="tl" rotWithShape="0">
                  <a:srgbClr val="333333">
                    <a:alpha val="65000"/>
                  </a:srgbClr>
                </a:outerShdw>
              </a:effectLst>
            </p:spPr>
          </p:pic>
        </p:grpSp>
      </p:grpSp>
      <p:pic>
        <p:nvPicPr>
          <p:cNvPr id="17" name="Picture 16">
            <a:extLst>
              <a:ext uri="{FF2B5EF4-FFF2-40B4-BE49-F238E27FC236}">
                <a16:creationId xmlns:a16="http://schemas.microsoft.com/office/drawing/2014/main" id="{0A3028E2-9E2A-E7A9-0A01-3E114D295005}"/>
              </a:ext>
            </a:extLst>
          </p:cNvPr>
          <p:cNvPicPr>
            <a:picLocks noChangeAspect="1"/>
          </p:cNvPicPr>
          <p:nvPr/>
        </p:nvPicPr>
        <p:blipFill>
          <a:blip r:embed="rId5"/>
          <a:stretch>
            <a:fillRect/>
          </a:stretch>
        </p:blipFill>
        <p:spPr>
          <a:xfrm>
            <a:off x="6765853" y="1067343"/>
            <a:ext cx="4931713" cy="5654132"/>
          </a:xfrm>
          <a:prstGeom prst="rect">
            <a:avLst/>
          </a:prstGeom>
        </p:spPr>
      </p:pic>
      <p:cxnSp>
        <p:nvCxnSpPr>
          <p:cNvPr id="18" name="Straight Arrow Connector 17">
            <a:extLst>
              <a:ext uri="{FF2B5EF4-FFF2-40B4-BE49-F238E27FC236}">
                <a16:creationId xmlns:a16="http://schemas.microsoft.com/office/drawing/2014/main" id="{E242099D-A1B1-CDD7-A211-6F84902099F5}"/>
              </a:ext>
            </a:extLst>
          </p:cNvPr>
          <p:cNvCxnSpPr>
            <a:cxnSpLocks/>
          </p:cNvCxnSpPr>
          <p:nvPr/>
        </p:nvCxnSpPr>
        <p:spPr>
          <a:xfrm>
            <a:off x="3799085" y="4726752"/>
            <a:ext cx="2593544"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19" name="Left Brace 18">
            <a:extLst>
              <a:ext uri="{FF2B5EF4-FFF2-40B4-BE49-F238E27FC236}">
                <a16:creationId xmlns:a16="http://schemas.microsoft.com/office/drawing/2014/main" id="{0DAD64BA-EF83-6C12-993D-6F452D03C4C3}"/>
              </a:ext>
            </a:extLst>
          </p:cNvPr>
          <p:cNvSpPr/>
          <p:nvPr/>
        </p:nvSpPr>
        <p:spPr>
          <a:xfrm>
            <a:off x="6620547" y="1052626"/>
            <a:ext cx="315715" cy="2796363"/>
          </a:xfrm>
          <a:prstGeom prst="leftBrace">
            <a:avLst>
              <a:gd name="adj1" fmla="val 8333"/>
              <a:gd name="adj2" fmla="val 88373"/>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987DFC59-9752-BF7D-0E23-6D51B63E9824}"/>
              </a:ext>
            </a:extLst>
          </p:cNvPr>
          <p:cNvSpPr txBox="1"/>
          <p:nvPr/>
        </p:nvSpPr>
        <p:spPr>
          <a:xfrm>
            <a:off x="3894782" y="2939902"/>
            <a:ext cx="2657050" cy="978196"/>
          </a:xfrm>
          <a:prstGeom prst="rect">
            <a:avLst/>
          </a:prstGeom>
          <a:noFill/>
        </p:spPr>
        <p:txBody>
          <a:bodyPr wrap="square" rtlCol="0">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Attributes of alternatives: </a:t>
            </a:r>
            <a:r>
              <a:rPr kumimoji="0" lang="en-GB" sz="1800" b="1"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Travel cost </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and </a:t>
            </a:r>
            <a:r>
              <a:rPr kumimoji="0" lang="en-GB" sz="1800" b="1"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time</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for each alternative</a:t>
            </a:r>
          </a:p>
        </p:txBody>
      </p:sp>
      <p:sp>
        <p:nvSpPr>
          <p:cNvPr id="21" name="TextBox 20">
            <a:extLst>
              <a:ext uri="{FF2B5EF4-FFF2-40B4-BE49-F238E27FC236}">
                <a16:creationId xmlns:a16="http://schemas.microsoft.com/office/drawing/2014/main" id="{9434D54D-2136-AC8A-57D2-9B2760E26951}"/>
              </a:ext>
            </a:extLst>
          </p:cNvPr>
          <p:cNvSpPr txBox="1"/>
          <p:nvPr/>
        </p:nvSpPr>
        <p:spPr>
          <a:xfrm>
            <a:off x="11296542" y="3310289"/>
            <a:ext cx="684362" cy="297711"/>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4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TRAIN</a:t>
            </a:r>
          </a:p>
        </p:txBody>
      </p:sp>
      <p:sp>
        <p:nvSpPr>
          <p:cNvPr id="22" name="TextBox 21">
            <a:extLst>
              <a:ext uri="{FF2B5EF4-FFF2-40B4-BE49-F238E27FC236}">
                <a16:creationId xmlns:a16="http://schemas.microsoft.com/office/drawing/2014/main" id="{0023DB37-D519-D091-CE4D-901D83364B49}"/>
              </a:ext>
            </a:extLst>
          </p:cNvPr>
          <p:cNvSpPr txBox="1"/>
          <p:nvPr/>
        </p:nvSpPr>
        <p:spPr>
          <a:xfrm>
            <a:off x="11296542" y="3625702"/>
            <a:ext cx="684362" cy="297711"/>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4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SM</a:t>
            </a:r>
          </a:p>
        </p:txBody>
      </p:sp>
      <p:sp>
        <p:nvSpPr>
          <p:cNvPr id="23" name="TextBox 22">
            <a:extLst>
              <a:ext uri="{FF2B5EF4-FFF2-40B4-BE49-F238E27FC236}">
                <a16:creationId xmlns:a16="http://schemas.microsoft.com/office/drawing/2014/main" id="{2CDCA1F1-9B8B-4B94-A6AD-AEB3065153E0}"/>
              </a:ext>
            </a:extLst>
          </p:cNvPr>
          <p:cNvSpPr txBox="1"/>
          <p:nvPr/>
        </p:nvSpPr>
        <p:spPr>
          <a:xfrm>
            <a:off x="11260904" y="3941109"/>
            <a:ext cx="684362" cy="297711"/>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4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CAR</a:t>
            </a:r>
          </a:p>
        </p:txBody>
      </p:sp>
      <p:sp>
        <p:nvSpPr>
          <p:cNvPr id="24" name="Left Brace 23">
            <a:extLst>
              <a:ext uri="{FF2B5EF4-FFF2-40B4-BE49-F238E27FC236}">
                <a16:creationId xmlns:a16="http://schemas.microsoft.com/office/drawing/2014/main" id="{EE836CD1-1263-3A12-2E53-CE8915F98D2C}"/>
              </a:ext>
            </a:extLst>
          </p:cNvPr>
          <p:cNvSpPr/>
          <p:nvPr/>
        </p:nvSpPr>
        <p:spPr>
          <a:xfrm>
            <a:off x="6606650" y="3941000"/>
            <a:ext cx="318976" cy="2471430"/>
          </a:xfrm>
          <a:prstGeom prst="leftBrace">
            <a:avLst>
              <a:gd name="adj1" fmla="val 8333"/>
              <a:gd name="adj2" fmla="val 82225"/>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Box 24">
            <a:extLst>
              <a:ext uri="{FF2B5EF4-FFF2-40B4-BE49-F238E27FC236}">
                <a16:creationId xmlns:a16="http://schemas.microsoft.com/office/drawing/2014/main" id="{6442C46F-756A-0492-5496-623D25AFD4E9}"/>
              </a:ext>
            </a:extLst>
          </p:cNvPr>
          <p:cNvSpPr txBox="1"/>
          <p:nvPr/>
        </p:nvSpPr>
        <p:spPr>
          <a:xfrm>
            <a:off x="3799085" y="5486504"/>
            <a:ext cx="2785730" cy="978196"/>
          </a:xfrm>
          <a:prstGeom prst="rect">
            <a:avLst/>
          </a:prstGeom>
          <a:noFill/>
        </p:spPr>
        <p:txBody>
          <a:bodyPr wrap="square" rtlCol="0" anchor="ctr">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Socio-demographic variables, e.g. </a:t>
            </a:r>
            <a:r>
              <a:rPr kumimoji="0" lang="en-GB" sz="1800" b="1"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age</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a:t>
            </a:r>
            <a:r>
              <a:rPr kumimoji="0" lang="en-GB" sz="1800" b="1"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income</a:t>
            </a:r>
          </a:p>
        </p:txBody>
      </p:sp>
      <p:sp>
        <p:nvSpPr>
          <p:cNvPr id="8" name="Content Placeholder 2">
            <a:extLst>
              <a:ext uri="{FF2B5EF4-FFF2-40B4-BE49-F238E27FC236}">
                <a16:creationId xmlns:a16="http://schemas.microsoft.com/office/drawing/2014/main" id="{0142D0C7-B8F3-0AA8-6B3B-AAC3BA937260}"/>
              </a:ext>
            </a:extLst>
          </p:cNvPr>
          <p:cNvSpPr txBox="1">
            <a:spLocks/>
          </p:cNvSpPr>
          <p:nvPr/>
        </p:nvSpPr>
        <p:spPr>
          <a:xfrm>
            <a:off x="720000" y="1268760"/>
            <a:ext cx="2785730" cy="5400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Swiss metro</a:t>
            </a:r>
          </a:p>
          <a:p>
            <a:pPr marL="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tab pos="3138488" algn="l"/>
              </a:tabLst>
              <a:defRPr/>
            </a:pPr>
            <a:endParaRPr kumimoji="0" lang="en-GB" sz="1800" b="1" i="0" u="sng"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tab pos="3138488" algn="l"/>
              </a:tabLst>
              <a:defRPr/>
            </a:pPr>
            <a:r>
              <a:rPr kumimoji="0" lang="en-GB" sz="1800" b="1" i="0" u="sng" strike="noStrike" kern="1200" cap="none" spc="0" normalizeH="0" baseline="0" noProof="0" dirty="0">
                <a:ln>
                  <a:noFill/>
                </a:ln>
                <a:solidFill>
                  <a:prstClr val="black"/>
                </a:solidFill>
                <a:effectLst/>
                <a:uLnTx/>
                <a:uFillTx/>
                <a:latin typeface="Calibri" panose="020F0502020204030204"/>
                <a:ea typeface="+mn-ea"/>
                <a:cs typeface="+mn-cs"/>
              </a:rPr>
              <a:t>Two cases</a:t>
            </a:r>
          </a:p>
          <a:p>
            <a:pPr marL="342900" marR="0" lvl="1" indent="-342900" algn="l" defTabSz="914400" rtl="0" eaLnBrk="1" fontAlgn="auto" latinLnBrk="0" hangingPunct="1">
              <a:lnSpc>
                <a:spcPct val="90000"/>
              </a:lnSpc>
              <a:spcBef>
                <a:spcPts val="500"/>
              </a:spcBef>
              <a:spcAft>
                <a:spcPts val="0"/>
              </a:spcAft>
              <a:buClrTx/>
              <a:buSzTx/>
              <a:buFont typeface="+mj-lt"/>
              <a:buAutoNum type="alphaUcPeriod"/>
              <a:tabLst>
                <a:tab pos="3138488" algn="l"/>
              </a:tabLst>
              <a:defRPr/>
            </a:pPr>
            <a:r>
              <a:rPr kumimoji="0" lang="en-GB" sz="1800" b="1" i="0" u="none" strike="noStrike" kern="1200" cap="none" spc="0" normalizeH="0" baseline="0" noProof="0" dirty="0">
                <a:ln>
                  <a:noFill/>
                </a:ln>
                <a:solidFill>
                  <a:prstClr val="white">
                    <a:lumMod val="65000"/>
                  </a:prstClr>
                </a:solidFill>
                <a:effectLst/>
                <a:uLnTx/>
                <a:uFillTx/>
                <a:latin typeface="Calibri" panose="020F0502020204030204"/>
                <a:ea typeface="+mn-ea"/>
                <a:cs typeface="+mn-cs"/>
              </a:rPr>
              <a:t>Only attributes</a:t>
            </a:r>
          </a:p>
          <a:p>
            <a:pPr marL="342900" marR="0" lvl="1" indent="-342900" algn="l" defTabSz="914400" rtl="0" eaLnBrk="1" fontAlgn="auto" latinLnBrk="0" hangingPunct="1">
              <a:lnSpc>
                <a:spcPct val="90000"/>
              </a:lnSpc>
              <a:spcBef>
                <a:spcPts val="500"/>
              </a:spcBef>
              <a:spcAft>
                <a:spcPts val="0"/>
              </a:spcAft>
              <a:buClrTx/>
              <a:buSzTx/>
              <a:buFont typeface="+mj-lt"/>
              <a:buAutoNum type="alphaUcPeriod"/>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1" indent="-342900" algn="l" defTabSz="914400" rtl="0" eaLnBrk="1" fontAlgn="auto" latinLnBrk="0" hangingPunct="1">
              <a:lnSpc>
                <a:spcPct val="90000"/>
              </a:lnSpc>
              <a:spcBef>
                <a:spcPts val="500"/>
              </a:spcBef>
              <a:spcAft>
                <a:spcPts val="0"/>
              </a:spcAft>
              <a:buClrTx/>
              <a:buSzTx/>
              <a:buFont typeface="+mj-lt"/>
              <a:buAutoNum type="alphaUcPeriod"/>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Attributes + socio demographic variables</a:t>
            </a:r>
          </a:p>
          <a:p>
            <a:pPr marL="285750" marR="0" lvl="1" indent="-2857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1257300" marR="0" lvl="3"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itle 1">
            <a:extLst>
              <a:ext uri="{FF2B5EF4-FFF2-40B4-BE49-F238E27FC236}">
                <a16:creationId xmlns:a16="http://schemas.microsoft.com/office/drawing/2014/main" id="{C80E18E8-756B-60A1-07F2-0E1DDADF32C3}"/>
              </a:ext>
            </a:extLst>
          </p:cNvPr>
          <p:cNvSpPr txBox="1">
            <a:spLocks/>
          </p:cNvSpPr>
          <p:nvPr/>
        </p:nvSpPr>
        <p:spPr>
          <a:xfrm>
            <a:off x="2032000" y="-79300"/>
            <a:ext cx="8229600" cy="1143000"/>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a:lstStyle>
          <a:p>
            <a:r>
              <a:rPr lang="en-GB" dirty="0"/>
              <a:t>Empirical example MLP</a:t>
            </a:r>
            <a:endParaRPr lang="en-GB" sz="1800" dirty="0"/>
          </a:p>
        </p:txBody>
      </p:sp>
      <p:sp>
        <p:nvSpPr>
          <p:cNvPr id="9" name="Line 2">
            <a:extLst>
              <a:ext uri="{FF2B5EF4-FFF2-40B4-BE49-F238E27FC236}">
                <a16:creationId xmlns:a16="http://schemas.microsoft.com/office/drawing/2014/main" id="{B853B44B-5BB5-D724-E32D-A44A98F6577E}"/>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EE7C0842-A32E-65D0-4A7E-6B29B567D1AB}"/>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dirty="0"/>
          </a:p>
        </p:txBody>
      </p:sp>
    </p:spTree>
    <p:extLst>
      <p:ext uri="{BB962C8B-B14F-4D97-AF65-F5344CB8AC3E}">
        <p14:creationId xmlns:p14="http://schemas.microsoft.com/office/powerpoint/2010/main" val="19522706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10225136"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b="1" dirty="0"/>
              <a:t>Split data in a training and test set</a:t>
            </a:r>
          </a:p>
          <a:p>
            <a:pPr marL="0" lvl="1" indent="0">
              <a:buNone/>
              <a:tabLst>
                <a:tab pos="3138488" algn="l"/>
              </a:tabLst>
            </a:pPr>
            <a:endParaRPr lang="en-GB" sz="1800" dirty="0"/>
          </a:p>
          <a:p>
            <a:pPr marL="1257300" lvl="3"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Title 1"/>
          <p:cNvSpPr>
            <a:spLocks noGrp="1"/>
          </p:cNvSpPr>
          <p:nvPr>
            <p:ph type="title"/>
          </p:nvPr>
        </p:nvSpPr>
        <p:spPr>
          <a:xfrm>
            <a:off x="1981200" y="-41608"/>
            <a:ext cx="8229600" cy="1143000"/>
          </a:xfrm>
        </p:spPr>
        <p:txBody>
          <a:bodyPr/>
          <a:lstStyle/>
          <a:p>
            <a:r>
              <a:rPr lang="en-GB" dirty="0"/>
              <a:t>Empirical example MLP: Case A</a:t>
            </a:r>
            <a:endParaRPr lang="en-GB" sz="1800" dirty="0"/>
          </a:p>
        </p:txBody>
      </p:sp>
      <p:pic>
        <p:nvPicPr>
          <p:cNvPr id="3" name="Picture 2" descr="A screenshot of a computer program&#10;&#10;Description automatically generated">
            <a:extLst>
              <a:ext uri="{FF2B5EF4-FFF2-40B4-BE49-F238E27FC236}">
                <a16:creationId xmlns:a16="http://schemas.microsoft.com/office/drawing/2014/main" id="{A947FBFF-2476-002B-7DF1-0A8E26D664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707" y="1886977"/>
            <a:ext cx="7340621" cy="3036087"/>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45111684-289F-67E4-B33D-AFE0BD558174}"/>
              </a:ext>
            </a:extLst>
          </p:cNvPr>
          <p:cNvSpPr txBox="1"/>
          <p:nvPr/>
        </p:nvSpPr>
        <p:spPr>
          <a:xfrm>
            <a:off x="4648707" y="5257800"/>
            <a:ext cx="7340621" cy="1463675"/>
          </a:xfrm>
          <a:prstGeom prst="rect">
            <a:avLst/>
          </a:prstGeom>
          <a:noFill/>
        </p:spPr>
        <p:txBody>
          <a:bodyPr wrap="square" rtlCol="0">
            <a:noAutofit/>
          </a:bodyPr>
          <a:lstStyle/>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The data set is ‘manually’ split by ‘ID’ to avoid data leakage</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GB" sz="1800" b="0" i="0" u="sng"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Data leakage</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refers to the unintentional spoiling of information from the training data into the test set</a:t>
            </a:r>
          </a:p>
        </p:txBody>
      </p:sp>
      <p:sp>
        <p:nvSpPr>
          <p:cNvPr id="2" name="Line 2">
            <a:extLst>
              <a:ext uri="{FF2B5EF4-FFF2-40B4-BE49-F238E27FC236}">
                <a16:creationId xmlns:a16="http://schemas.microsoft.com/office/drawing/2014/main" id="{32CD16F8-9C8C-82A7-3827-73DE8830C837}"/>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8" name="Line 2">
            <a:extLst>
              <a:ext uri="{FF2B5EF4-FFF2-40B4-BE49-F238E27FC236}">
                <a16:creationId xmlns:a16="http://schemas.microsoft.com/office/drawing/2014/main" id="{93E95200-5793-A7C5-85CC-1BBA990D9720}"/>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14925644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4894416"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dirty="0"/>
              <a:t>Split data in a training and test set</a:t>
            </a:r>
          </a:p>
          <a:p>
            <a:pPr marL="342900" lvl="1" indent="-342900">
              <a:buFont typeface="+mj-lt"/>
              <a:buAutoNum type="arabicPeriod"/>
              <a:tabLst>
                <a:tab pos="3138488" algn="l"/>
              </a:tabLst>
            </a:pPr>
            <a:endParaRPr lang="en-GB" dirty="0"/>
          </a:p>
          <a:p>
            <a:pPr marL="342900" lvl="1" indent="-342900">
              <a:buFont typeface="+mj-lt"/>
              <a:buAutoNum type="arabicPeriod"/>
              <a:tabLst>
                <a:tab pos="3138488" algn="l"/>
              </a:tabLst>
            </a:pPr>
            <a:r>
              <a:rPr lang="en-GB" dirty="0"/>
              <a:t>A) Estimate linear RUM-MNL on the train data</a:t>
            </a:r>
          </a:p>
          <a:p>
            <a:pPr marL="361950" lvl="2" indent="0">
              <a:buNone/>
              <a:tabLst>
                <a:tab pos="3138488" algn="l"/>
              </a:tabLst>
            </a:pPr>
            <a:r>
              <a:rPr lang="en-GB" dirty="0"/>
              <a:t>B) Compute the Log-likelihood of the test data given the model (as the benchmark)</a:t>
            </a:r>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7" name="TextBox 36">
            <a:extLst>
              <a:ext uri="{FF2B5EF4-FFF2-40B4-BE49-F238E27FC236}">
                <a16:creationId xmlns:a16="http://schemas.microsoft.com/office/drawing/2014/main" id="{B8044BC8-2FB2-9DC0-38B6-D3A294104A57}"/>
              </a:ext>
            </a:extLst>
          </p:cNvPr>
          <p:cNvSpPr txBox="1"/>
          <p:nvPr/>
        </p:nvSpPr>
        <p:spPr>
          <a:xfrm>
            <a:off x="6289223" y="2411759"/>
            <a:ext cx="2841171" cy="1107048"/>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Always good practice to start with a simple linear-additive RUM-MNL</a:t>
            </a:r>
          </a:p>
        </p:txBody>
      </p:sp>
      <p:sp>
        <p:nvSpPr>
          <p:cNvPr id="38" name="Right Brace 37">
            <a:extLst>
              <a:ext uri="{FF2B5EF4-FFF2-40B4-BE49-F238E27FC236}">
                <a16:creationId xmlns:a16="http://schemas.microsoft.com/office/drawing/2014/main" id="{5FEAAFE2-8149-958E-66D2-64AF25FB2844}"/>
              </a:ext>
            </a:extLst>
          </p:cNvPr>
          <p:cNvSpPr/>
          <p:nvPr/>
        </p:nvSpPr>
        <p:spPr>
          <a:xfrm>
            <a:off x="5666014" y="2411760"/>
            <a:ext cx="236765" cy="1107047"/>
          </a:xfrm>
          <a:prstGeom prst="rightBrace">
            <a:avLst>
              <a:gd name="adj1" fmla="val 8333"/>
              <a:gd name="adj2" fmla="val 34513"/>
            </a:avLst>
          </a:prstGeom>
          <a:ln>
            <a:solidFill>
              <a:srgbClr val="24B5B3"/>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itle 1">
            <a:extLst>
              <a:ext uri="{FF2B5EF4-FFF2-40B4-BE49-F238E27FC236}">
                <a16:creationId xmlns:a16="http://schemas.microsoft.com/office/drawing/2014/main" id="{D9718801-E7EA-4CA5-C634-65C8486F12C2}"/>
              </a:ext>
            </a:extLst>
          </p:cNvPr>
          <p:cNvSpPr txBox="1">
            <a:spLocks/>
          </p:cNvSpPr>
          <p:nvPr/>
        </p:nvSpPr>
        <p:spPr>
          <a:xfrm>
            <a:off x="1981200" y="-41608"/>
            <a:ext cx="8229600" cy="1143000"/>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a:lstStyle>
          <a:p>
            <a:r>
              <a:rPr lang="en-GB"/>
              <a:t>Empirical example MLP: Case A</a:t>
            </a:r>
            <a:endParaRPr lang="en-GB" sz="1800" dirty="0"/>
          </a:p>
        </p:txBody>
      </p:sp>
      <p:sp>
        <p:nvSpPr>
          <p:cNvPr id="8" name="Line 2">
            <a:extLst>
              <a:ext uri="{FF2B5EF4-FFF2-40B4-BE49-F238E27FC236}">
                <a16:creationId xmlns:a16="http://schemas.microsoft.com/office/drawing/2014/main" id="{92124F95-B22C-F136-F093-CF4A4AE9595A}"/>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9" name="Line 2">
            <a:extLst>
              <a:ext uri="{FF2B5EF4-FFF2-40B4-BE49-F238E27FC236}">
                <a16:creationId xmlns:a16="http://schemas.microsoft.com/office/drawing/2014/main" id="{E88EA141-628D-9E02-FE8C-BA8960639553}"/>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6320207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7702E38-93A2-E49D-E1EE-4B7EC54DFE22}"/>
              </a:ext>
            </a:extLst>
          </p:cNvPr>
          <p:cNvPicPr>
            <a:picLocks noChangeAspect="1"/>
          </p:cNvPicPr>
          <p:nvPr/>
        </p:nvPicPr>
        <p:blipFill>
          <a:blip r:embed="rId2"/>
          <a:stretch>
            <a:fillRect/>
          </a:stretch>
        </p:blipFill>
        <p:spPr>
          <a:xfrm>
            <a:off x="6782785" y="1135081"/>
            <a:ext cx="5211108" cy="5558961"/>
          </a:xfrm>
          <a:prstGeom prst="rect">
            <a:avLst/>
          </a:prstGeom>
        </p:spPr>
      </p:pic>
      <p:sp>
        <p:nvSpPr>
          <p:cNvPr id="5" name="Content Placeholder 2"/>
          <p:cNvSpPr>
            <a:spLocks noGrp="1"/>
          </p:cNvSpPr>
          <p:nvPr>
            <p:ph idx="1"/>
          </p:nvPr>
        </p:nvSpPr>
        <p:spPr>
          <a:xfrm>
            <a:off x="720000" y="1268760"/>
            <a:ext cx="4894416"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dirty="0"/>
              <a:t>Split data in a training and test set</a:t>
            </a:r>
          </a:p>
          <a:p>
            <a:pPr marL="342900" lvl="1" indent="-342900">
              <a:buFont typeface="+mj-lt"/>
              <a:buAutoNum type="arabicPeriod"/>
              <a:tabLst>
                <a:tab pos="3138488" algn="l"/>
              </a:tabLst>
            </a:pPr>
            <a:endParaRPr lang="en-GB" dirty="0"/>
          </a:p>
          <a:p>
            <a:pPr marL="342900" lvl="1" indent="-342900">
              <a:buFont typeface="+mj-lt"/>
              <a:buAutoNum type="arabicPeriod"/>
              <a:tabLst>
                <a:tab pos="3138488" algn="l"/>
              </a:tabLst>
            </a:pPr>
            <a:r>
              <a:rPr lang="en-GB" b="1" dirty="0"/>
              <a:t>A) Estimate linear RUM-MNL on the train data</a:t>
            </a:r>
          </a:p>
          <a:p>
            <a:pPr marL="361950" lvl="2" indent="0">
              <a:buNone/>
              <a:tabLst>
                <a:tab pos="3138488" algn="l"/>
              </a:tabLst>
            </a:pPr>
            <a:r>
              <a:rPr lang="en-GB" dirty="0"/>
              <a:t>B) Compute the Log-likelihood of the test data given the model</a:t>
            </a:r>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64</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Title 1">
            <a:extLst>
              <a:ext uri="{FF2B5EF4-FFF2-40B4-BE49-F238E27FC236}">
                <a16:creationId xmlns:a16="http://schemas.microsoft.com/office/drawing/2014/main" id="{53C14B7B-7FAF-76CC-E561-7C05D28DB048}"/>
              </a:ext>
            </a:extLst>
          </p:cNvPr>
          <p:cNvSpPr>
            <a:spLocks noGrp="1"/>
          </p:cNvSpPr>
          <p:nvPr>
            <p:ph type="title"/>
          </p:nvPr>
        </p:nvSpPr>
        <p:spPr>
          <a:xfrm>
            <a:off x="1981200" y="-41608"/>
            <a:ext cx="8229600" cy="1143000"/>
          </a:xfrm>
        </p:spPr>
        <p:txBody>
          <a:bodyPr/>
          <a:lstStyle/>
          <a:p>
            <a:r>
              <a:rPr lang="en-GB" dirty="0"/>
              <a:t>Empirical example MLP: Case A</a:t>
            </a:r>
            <a:endParaRPr lang="en-GB" sz="1800" dirty="0"/>
          </a:p>
        </p:txBody>
      </p:sp>
      <p:sp>
        <p:nvSpPr>
          <p:cNvPr id="9" name="Line 2">
            <a:extLst>
              <a:ext uri="{FF2B5EF4-FFF2-40B4-BE49-F238E27FC236}">
                <a16:creationId xmlns:a16="http://schemas.microsoft.com/office/drawing/2014/main" id="{CB618281-C35A-D256-D4BD-D45C2F69846A}"/>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053DA365-2069-5DF9-3120-21CB30C90238}"/>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4798472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E6D3100-4B69-89D8-FBB9-1AE6F8AA609F}"/>
              </a:ext>
            </a:extLst>
          </p:cNvPr>
          <p:cNvPicPr>
            <a:picLocks noChangeAspect="1"/>
          </p:cNvPicPr>
          <p:nvPr/>
        </p:nvPicPr>
        <p:blipFill>
          <a:blip r:embed="rId2"/>
          <a:stretch>
            <a:fillRect/>
          </a:stretch>
        </p:blipFill>
        <p:spPr>
          <a:xfrm>
            <a:off x="6677816" y="1267968"/>
            <a:ext cx="5273601" cy="2891676"/>
          </a:xfrm>
          <a:prstGeom prst="rect">
            <a:avLst/>
          </a:prstGeom>
        </p:spPr>
      </p:pic>
      <p:sp>
        <p:nvSpPr>
          <p:cNvPr id="5" name="Content Placeholder 2"/>
          <p:cNvSpPr>
            <a:spLocks noGrp="1"/>
          </p:cNvSpPr>
          <p:nvPr>
            <p:ph idx="1"/>
          </p:nvPr>
        </p:nvSpPr>
        <p:spPr>
          <a:xfrm>
            <a:off x="720000" y="1268760"/>
            <a:ext cx="4894416"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dirty="0"/>
              <a:t>Split data in a training and test set</a:t>
            </a:r>
          </a:p>
          <a:p>
            <a:pPr marL="342900" lvl="1" indent="-342900">
              <a:buFont typeface="+mj-lt"/>
              <a:buAutoNum type="arabicPeriod"/>
              <a:tabLst>
                <a:tab pos="3138488" algn="l"/>
              </a:tabLst>
            </a:pPr>
            <a:endParaRPr lang="en-GB" dirty="0"/>
          </a:p>
          <a:p>
            <a:pPr marL="342900" lvl="1" indent="-342900">
              <a:buFont typeface="+mj-lt"/>
              <a:buAutoNum type="arabicPeriod"/>
              <a:tabLst>
                <a:tab pos="3138488" algn="l"/>
              </a:tabLst>
            </a:pPr>
            <a:r>
              <a:rPr lang="en-GB" b="1" dirty="0"/>
              <a:t>A) Estimate linear RUM-MNL on the train data</a:t>
            </a:r>
          </a:p>
          <a:p>
            <a:pPr marL="361950" lvl="2" indent="0">
              <a:buNone/>
              <a:tabLst>
                <a:tab pos="3138488" algn="l"/>
              </a:tabLst>
            </a:pPr>
            <a:r>
              <a:rPr lang="en-GB" dirty="0"/>
              <a:t>B) Compute the Log-likelihood of the test data given the model</a:t>
            </a:r>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Rounded Rectangle 2">
            <a:extLst>
              <a:ext uri="{FF2B5EF4-FFF2-40B4-BE49-F238E27FC236}">
                <a16:creationId xmlns:a16="http://schemas.microsoft.com/office/drawing/2014/main" id="{4FA0A4CE-9C2D-CAA6-ECED-618B8936B841}"/>
              </a:ext>
            </a:extLst>
          </p:cNvPr>
          <p:cNvSpPr/>
          <p:nvPr/>
        </p:nvSpPr>
        <p:spPr>
          <a:xfrm>
            <a:off x="8795970" y="2093975"/>
            <a:ext cx="750366" cy="205695"/>
          </a:xfrm>
          <a:prstGeom prst="round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Rounded Rectangle 6">
            <a:extLst>
              <a:ext uri="{FF2B5EF4-FFF2-40B4-BE49-F238E27FC236}">
                <a16:creationId xmlns:a16="http://schemas.microsoft.com/office/drawing/2014/main" id="{2C693CFB-07EE-7702-EB99-6F63586ED24B}"/>
              </a:ext>
            </a:extLst>
          </p:cNvPr>
          <p:cNvSpPr/>
          <p:nvPr/>
        </p:nvSpPr>
        <p:spPr>
          <a:xfrm>
            <a:off x="8795970" y="1610136"/>
            <a:ext cx="384606" cy="205695"/>
          </a:xfrm>
          <a:prstGeom prst="round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6749EB6A-2929-83EF-1BE7-21DDBDC3C453}"/>
              </a:ext>
            </a:extLst>
          </p:cNvPr>
          <p:cNvSpPr txBox="1"/>
          <p:nvPr/>
        </p:nvSpPr>
        <p:spPr>
          <a:xfrm>
            <a:off x="9143721" y="1465612"/>
            <a:ext cx="2952165" cy="427512"/>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Sample size of train set</a:t>
            </a:r>
          </a:p>
        </p:txBody>
      </p:sp>
      <p:sp>
        <p:nvSpPr>
          <p:cNvPr id="9" name="TextBox 8">
            <a:extLst>
              <a:ext uri="{FF2B5EF4-FFF2-40B4-BE49-F238E27FC236}">
                <a16:creationId xmlns:a16="http://schemas.microsoft.com/office/drawing/2014/main" id="{DE6EB911-FB30-E44B-66E9-4F9CFF34B817}"/>
              </a:ext>
            </a:extLst>
          </p:cNvPr>
          <p:cNvSpPr txBox="1"/>
          <p:nvPr/>
        </p:nvSpPr>
        <p:spPr>
          <a:xfrm>
            <a:off x="9518904" y="1964778"/>
            <a:ext cx="2294817" cy="427512"/>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a:t>
            </a:r>
            <a:r>
              <a:rPr kumimoji="0" lang="en-GB" sz="1800" b="0" i="0" u="none" strike="noStrike" kern="1200" cap="none" spc="0" normalizeH="0" baseline="0" noProof="0" dirty="0" err="1">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LL</a:t>
            </a:r>
            <a:r>
              <a:rPr kumimoji="0" lang="en-GB" sz="1800" b="0" i="0" u="none" strike="noStrike" kern="1200" cap="none" spc="0" normalizeH="0" baseline="-25000" noProof="0" dirty="0" err="1">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training</a:t>
            </a:r>
            <a:r>
              <a:rPr kumimoji="0" lang="en-GB" sz="1800" b="0" i="0" u="none" strike="noStrike" kern="1200" cap="none" spc="0" normalizeH="0" baseline="-2500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set</a:t>
            </a:r>
          </a:p>
        </p:txBody>
      </p:sp>
      <p:sp>
        <p:nvSpPr>
          <p:cNvPr id="12" name="Title 1">
            <a:extLst>
              <a:ext uri="{FF2B5EF4-FFF2-40B4-BE49-F238E27FC236}">
                <a16:creationId xmlns:a16="http://schemas.microsoft.com/office/drawing/2014/main" id="{72761996-11D3-7EE4-C94D-F986554AFDD3}"/>
              </a:ext>
            </a:extLst>
          </p:cNvPr>
          <p:cNvSpPr>
            <a:spLocks noGrp="1"/>
          </p:cNvSpPr>
          <p:nvPr>
            <p:ph type="title"/>
          </p:nvPr>
        </p:nvSpPr>
        <p:spPr>
          <a:xfrm>
            <a:off x="1981200" y="-41608"/>
            <a:ext cx="8229600" cy="1143000"/>
          </a:xfrm>
        </p:spPr>
        <p:txBody>
          <a:bodyPr/>
          <a:lstStyle/>
          <a:p>
            <a:r>
              <a:rPr lang="en-GB" dirty="0"/>
              <a:t>Empirical example MLP: Case A</a:t>
            </a:r>
            <a:endParaRPr lang="en-GB" sz="1800" dirty="0"/>
          </a:p>
        </p:txBody>
      </p:sp>
      <p:sp>
        <p:nvSpPr>
          <p:cNvPr id="13" name="Line 2">
            <a:extLst>
              <a:ext uri="{FF2B5EF4-FFF2-40B4-BE49-F238E27FC236}">
                <a16:creationId xmlns:a16="http://schemas.microsoft.com/office/drawing/2014/main" id="{9DDA5C89-DEFB-957A-B7A1-8E9320973052}"/>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4" name="Line 2">
            <a:extLst>
              <a:ext uri="{FF2B5EF4-FFF2-40B4-BE49-F238E27FC236}">
                <a16:creationId xmlns:a16="http://schemas.microsoft.com/office/drawing/2014/main" id="{14FFD628-1972-8E3F-9F16-5ACF63FAFE96}"/>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1925612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E3A4A4E-F8FD-D359-AD7D-DB6D1BB062F4}"/>
              </a:ext>
            </a:extLst>
          </p:cNvPr>
          <p:cNvPicPr>
            <a:picLocks noChangeAspect="1"/>
          </p:cNvPicPr>
          <p:nvPr/>
        </p:nvPicPr>
        <p:blipFill>
          <a:blip r:embed="rId2"/>
          <a:stretch>
            <a:fillRect/>
          </a:stretch>
        </p:blipFill>
        <p:spPr>
          <a:xfrm>
            <a:off x="6677815" y="4356489"/>
            <a:ext cx="5220001" cy="2163960"/>
          </a:xfrm>
          <a:prstGeom prst="rect">
            <a:avLst/>
          </a:prstGeom>
        </p:spPr>
      </p:pic>
      <p:sp>
        <p:nvSpPr>
          <p:cNvPr id="5" name="Content Placeholder 2"/>
          <p:cNvSpPr>
            <a:spLocks noGrp="1"/>
          </p:cNvSpPr>
          <p:nvPr>
            <p:ph idx="1"/>
          </p:nvPr>
        </p:nvSpPr>
        <p:spPr>
          <a:xfrm>
            <a:off x="720000" y="1268760"/>
            <a:ext cx="4986836"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dirty="0"/>
              <a:t>Split data in a training and test set</a:t>
            </a:r>
          </a:p>
          <a:p>
            <a:pPr marL="342900" lvl="1" indent="-342900">
              <a:buFont typeface="+mj-lt"/>
              <a:buAutoNum type="arabicPeriod"/>
              <a:tabLst>
                <a:tab pos="3138488" algn="l"/>
              </a:tabLst>
            </a:pPr>
            <a:endParaRPr lang="en-GB" dirty="0"/>
          </a:p>
          <a:p>
            <a:pPr marL="342900" lvl="1" indent="-342900">
              <a:buFont typeface="+mj-lt"/>
              <a:buAutoNum type="arabicPeriod"/>
              <a:tabLst>
                <a:tab pos="3138488" algn="l"/>
              </a:tabLst>
            </a:pPr>
            <a:r>
              <a:rPr lang="en-GB" dirty="0"/>
              <a:t>A) Estimate linear RUM-MNL on the train data</a:t>
            </a:r>
          </a:p>
          <a:p>
            <a:pPr marL="361950" lvl="2" indent="0">
              <a:buNone/>
              <a:tabLst>
                <a:tab pos="3138488" algn="l"/>
              </a:tabLst>
            </a:pPr>
            <a:r>
              <a:rPr lang="en-GB" b="1" dirty="0"/>
              <a:t>B) Compute the Log-likelihood of the </a:t>
            </a:r>
            <a:r>
              <a:rPr lang="en-GB" b="1" u="sng" dirty="0"/>
              <a:t>test data</a:t>
            </a:r>
            <a:r>
              <a:rPr lang="en-GB" b="1" dirty="0"/>
              <a:t> given the model</a:t>
            </a:r>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66</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2" name="Picture 1">
            <a:extLst>
              <a:ext uri="{FF2B5EF4-FFF2-40B4-BE49-F238E27FC236}">
                <a16:creationId xmlns:a16="http://schemas.microsoft.com/office/drawing/2014/main" id="{2E05B983-8AE9-0BD9-242E-7819D8B27395}"/>
              </a:ext>
            </a:extLst>
          </p:cNvPr>
          <p:cNvPicPr>
            <a:picLocks noChangeAspect="1"/>
          </p:cNvPicPr>
          <p:nvPr/>
        </p:nvPicPr>
        <p:blipFill>
          <a:blip r:embed="rId3"/>
          <a:stretch>
            <a:fillRect/>
          </a:stretch>
        </p:blipFill>
        <p:spPr>
          <a:xfrm>
            <a:off x="6677816" y="1268760"/>
            <a:ext cx="5220000" cy="2778102"/>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2B15E9B4-DE70-8953-2FA9-F3C9E819A664}"/>
              </a:ext>
            </a:extLst>
          </p:cNvPr>
          <p:cNvSpPr txBox="1"/>
          <p:nvPr/>
        </p:nvSpPr>
        <p:spPr>
          <a:xfrm>
            <a:off x="3304034" y="6241848"/>
            <a:ext cx="3273552" cy="427512"/>
          </a:xfrm>
          <a:prstGeom prst="rect">
            <a:avLst/>
          </a:prstGeom>
          <a:noFill/>
        </p:spPr>
        <p:txBody>
          <a:bodyPr wrap="square" rtlCol="0" anchor="ctr">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1"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LL of the benchmark model   </a:t>
            </a:r>
          </a:p>
        </p:txBody>
      </p:sp>
      <p:sp>
        <p:nvSpPr>
          <p:cNvPr id="8" name="TextBox 7">
            <a:extLst>
              <a:ext uri="{FF2B5EF4-FFF2-40B4-BE49-F238E27FC236}">
                <a16:creationId xmlns:a16="http://schemas.microsoft.com/office/drawing/2014/main" id="{8367F6A5-4105-DBC2-566D-BDCB9B2D74F1}"/>
              </a:ext>
            </a:extLst>
          </p:cNvPr>
          <p:cNvSpPr txBox="1"/>
          <p:nvPr/>
        </p:nvSpPr>
        <p:spPr>
          <a:xfrm>
            <a:off x="461595" y="5088972"/>
            <a:ext cx="6166106" cy="544128"/>
          </a:xfrm>
          <a:prstGeom prst="rect">
            <a:avLst/>
          </a:prstGeom>
          <a:noFill/>
        </p:spPr>
        <p:txBody>
          <a:bodyPr wrap="square" rtlCol="0" anchor="ctr">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Simulate the choice probabilities using β of estimated model   </a:t>
            </a:r>
          </a:p>
        </p:txBody>
      </p:sp>
      <p:sp>
        <p:nvSpPr>
          <p:cNvPr id="9" name="TextBox 8">
            <a:extLst>
              <a:ext uri="{FF2B5EF4-FFF2-40B4-BE49-F238E27FC236}">
                <a16:creationId xmlns:a16="http://schemas.microsoft.com/office/drawing/2014/main" id="{FEEF46A5-B66E-1B37-6E52-E87FBC80C22C}"/>
              </a:ext>
            </a:extLst>
          </p:cNvPr>
          <p:cNvSpPr txBox="1"/>
          <p:nvPr/>
        </p:nvSpPr>
        <p:spPr>
          <a:xfrm>
            <a:off x="1869771" y="4875216"/>
            <a:ext cx="4757930" cy="427512"/>
          </a:xfrm>
          <a:prstGeom prst="rect">
            <a:avLst/>
          </a:prstGeom>
          <a:noFill/>
        </p:spPr>
        <p:txBody>
          <a:bodyPr wrap="square" rtlCol="0" anchor="ctr">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Create simulation object for test data set    </a:t>
            </a:r>
          </a:p>
        </p:txBody>
      </p:sp>
      <p:sp>
        <p:nvSpPr>
          <p:cNvPr id="11" name="Rounded Rectangle 10">
            <a:extLst>
              <a:ext uri="{FF2B5EF4-FFF2-40B4-BE49-F238E27FC236}">
                <a16:creationId xmlns:a16="http://schemas.microsoft.com/office/drawing/2014/main" id="{BF9D72C9-0ADB-5586-B23D-302A5E3A3B0F}"/>
              </a:ext>
            </a:extLst>
          </p:cNvPr>
          <p:cNvSpPr/>
          <p:nvPr/>
        </p:nvSpPr>
        <p:spPr>
          <a:xfrm>
            <a:off x="8284464" y="5061540"/>
            <a:ext cx="768096" cy="177180"/>
          </a:xfrm>
          <a:prstGeom prst="round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ounded Rectangle 11">
            <a:extLst>
              <a:ext uri="{FF2B5EF4-FFF2-40B4-BE49-F238E27FC236}">
                <a16:creationId xmlns:a16="http://schemas.microsoft.com/office/drawing/2014/main" id="{7CA5FA9D-4BA0-E12F-BB8D-091180DF7AA5}"/>
              </a:ext>
            </a:extLst>
          </p:cNvPr>
          <p:cNvSpPr/>
          <p:nvPr/>
        </p:nvSpPr>
        <p:spPr>
          <a:xfrm>
            <a:off x="10091140" y="5186706"/>
            <a:ext cx="1540028" cy="253974"/>
          </a:xfrm>
          <a:prstGeom prst="round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ounded Rectangle 12">
            <a:extLst>
              <a:ext uri="{FF2B5EF4-FFF2-40B4-BE49-F238E27FC236}">
                <a16:creationId xmlns:a16="http://schemas.microsoft.com/office/drawing/2014/main" id="{2D512273-6FA9-FE03-0A0F-B0B96514EE7C}"/>
              </a:ext>
            </a:extLst>
          </p:cNvPr>
          <p:cNvSpPr/>
          <p:nvPr/>
        </p:nvSpPr>
        <p:spPr>
          <a:xfrm>
            <a:off x="8768538" y="2075687"/>
            <a:ext cx="750366" cy="205695"/>
          </a:xfrm>
          <a:prstGeom prst="round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ounded Rectangle 13">
            <a:extLst>
              <a:ext uri="{FF2B5EF4-FFF2-40B4-BE49-F238E27FC236}">
                <a16:creationId xmlns:a16="http://schemas.microsoft.com/office/drawing/2014/main" id="{16F4C3AC-9B4E-52C2-53D9-C766C12F95F7}"/>
              </a:ext>
            </a:extLst>
          </p:cNvPr>
          <p:cNvSpPr/>
          <p:nvPr/>
        </p:nvSpPr>
        <p:spPr>
          <a:xfrm>
            <a:off x="8768538" y="1591848"/>
            <a:ext cx="384606" cy="205695"/>
          </a:xfrm>
          <a:prstGeom prst="round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3738CE7C-901C-5696-D833-7121A54D69B0}"/>
              </a:ext>
            </a:extLst>
          </p:cNvPr>
          <p:cNvSpPr txBox="1"/>
          <p:nvPr/>
        </p:nvSpPr>
        <p:spPr>
          <a:xfrm>
            <a:off x="9143721" y="1465612"/>
            <a:ext cx="2952165" cy="427512"/>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Sample size of train set</a:t>
            </a:r>
          </a:p>
        </p:txBody>
      </p:sp>
      <p:sp>
        <p:nvSpPr>
          <p:cNvPr id="16" name="TextBox 15">
            <a:extLst>
              <a:ext uri="{FF2B5EF4-FFF2-40B4-BE49-F238E27FC236}">
                <a16:creationId xmlns:a16="http://schemas.microsoft.com/office/drawing/2014/main" id="{2598C124-0A40-67ED-5683-62F098E0E560}"/>
              </a:ext>
            </a:extLst>
          </p:cNvPr>
          <p:cNvSpPr txBox="1"/>
          <p:nvPr/>
        </p:nvSpPr>
        <p:spPr>
          <a:xfrm>
            <a:off x="9518904" y="1964778"/>
            <a:ext cx="2294817" cy="427512"/>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a:t>
            </a:r>
            <a:r>
              <a:rPr kumimoji="0" lang="en-GB" sz="1800" b="0" i="0" u="none" strike="noStrike" kern="1200" cap="none" spc="0" normalizeH="0" baseline="0" noProof="0" dirty="0" err="1">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LL</a:t>
            </a:r>
            <a:r>
              <a:rPr kumimoji="0" lang="en-GB" sz="1800" b="0" i="0" u="none" strike="noStrike" kern="1200" cap="none" spc="0" normalizeH="0" baseline="-25000" noProof="0" dirty="0" err="1">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training</a:t>
            </a:r>
            <a:r>
              <a:rPr kumimoji="0" lang="en-GB" sz="1800" b="0" i="0" u="none" strike="noStrike" kern="1200" cap="none" spc="0" normalizeH="0" baseline="-2500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set</a:t>
            </a:r>
          </a:p>
        </p:txBody>
      </p:sp>
      <p:sp>
        <p:nvSpPr>
          <p:cNvPr id="18" name="Title 1">
            <a:extLst>
              <a:ext uri="{FF2B5EF4-FFF2-40B4-BE49-F238E27FC236}">
                <a16:creationId xmlns:a16="http://schemas.microsoft.com/office/drawing/2014/main" id="{60CEBA0A-9D53-83D8-CFC4-F2A0DC946B3E}"/>
              </a:ext>
            </a:extLst>
          </p:cNvPr>
          <p:cNvSpPr>
            <a:spLocks noGrp="1"/>
          </p:cNvSpPr>
          <p:nvPr>
            <p:ph type="title"/>
          </p:nvPr>
        </p:nvSpPr>
        <p:spPr>
          <a:xfrm>
            <a:off x="1981200" y="-41608"/>
            <a:ext cx="8229600" cy="1143000"/>
          </a:xfrm>
        </p:spPr>
        <p:txBody>
          <a:bodyPr/>
          <a:lstStyle/>
          <a:p>
            <a:r>
              <a:rPr lang="en-GB" dirty="0"/>
              <a:t>Empirical example MLP: Case A</a:t>
            </a:r>
            <a:endParaRPr lang="en-GB" sz="1800" dirty="0"/>
          </a:p>
        </p:txBody>
      </p:sp>
      <p:sp>
        <p:nvSpPr>
          <p:cNvPr id="19" name="Line 2">
            <a:extLst>
              <a:ext uri="{FF2B5EF4-FFF2-40B4-BE49-F238E27FC236}">
                <a16:creationId xmlns:a16="http://schemas.microsoft.com/office/drawing/2014/main" id="{92238C97-F501-6F0C-6906-355FB2317D28}"/>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20" name="Line 2">
            <a:extLst>
              <a:ext uri="{FF2B5EF4-FFF2-40B4-BE49-F238E27FC236}">
                <a16:creationId xmlns:a16="http://schemas.microsoft.com/office/drawing/2014/main" id="{18951588-F9EB-A4A2-12D0-F2CA6565F417}"/>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1127280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4894416"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dirty="0"/>
              <a:t>Split data in a training and test set</a:t>
            </a:r>
          </a:p>
          <a:p>
            <a:pPr marL="342900" lvl="1" indent="-342900">
              <a:buFont typeface="+mj-lt"/>
              <a:buAutoNum type="arabicPeriod"/>
              <a:tabLst>
                <a:tab pos="3138488" algn="l"/>
              </a:tabLst>
            </a:pPr>
            <a:endParaRPr lang="en-GB" dirty="0"/>
          </a:p>
          <a:p>
            <a:pPr marL="342900" lvl="1" indent="-342900">
              <a:buFont typeface="+mj-lt"/>
              <a:buAutoNum type="arabicPeriod"/>
              <a:tabLst>
                <a:tab pos="3138488" algn="l"/>
              </a:tabLst>
            </a:pPr>
            <a:r>
              <a:rPr lang="en-GB" dirty="0"/>
              <a:t>A) Estimate linear-RUM MNL on the train data</a:t>
            </a:r>
          </a:p>
          <a:p>
            <a:pPr marL="361950" lvl="2" indent="0">
              <a:buNone/>
              <a:tabLst>
                <a:tab pos="3138488" algn="l"/>
              </a:tabLst>
            </a:pPr>
            <a:r>
              <a:rPr lang="en-GB" dirty="0"/>
              <a:t>B) Compute the Log-likelihood of the test data given the model</a:t>
            </a:r>
          </a:p>
          <a:p>
            <a:pPr marL="361950" lvl="2" indent="0">
              <a:buNone/>
              <a:tabLst>
                <a:tab pos="3138488" algn="l"/>
              </a:tabLst>
            </a:pPr>
            <a:endParaRPr lang="en-GB" dirty="0"/>
          </a:p>
          <a:p>
            <a:pPr marL="247650" lvl="1" indent="-342900">
              <a:buFont typeface="+mj-lt"/>
              <a:buAutoNum type="arabicPeriod"/>
              <a:tabLst>
                <a:tab pos="3138488" algn="l"/>
              </a:tabLst>
            </a:pPr>
            <a:r>
              <a:rPr lang="en-GB" b="1" dirty="0"/>
              <a:t>Scale the data</a:t>
            </a:r>
          </a:p>
          <a:p>
            <a:pPr marL="0" lvl="1" indent="0">
              <a:buNone/>
              <a:tabLst>
                <a:tab pos="3138488" algn="l"/>
              </a:tabLst>
            </a:pPr>
            <a:endParaRPr lang="en-GB" sz="1800" dirty="0"/>
          </a:p>
          <a:p>
            <a:pPr marL="1257300" lvl="3"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67</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21" name="Picture 20">
            <a:extLst>
              <a:ext uri="{FF2B5EF4-FFF2-40B4-BE49-F238E27FC236}">
                <a16:creationId xmlns:a16="http://schemas.microsoft.com/office/drawing/2014/main" id="{64FCBD0B-C757-87F0-93C3-689CDF491ADC}"/>
              </a:ext>
            </a:extLst>
          </p:cNvPr>
          <p:cNvPicPr>
            <a:picLocks noChangeAspect="1"/>
          </p:cNvPicPr>
          <p:nvPr/>
        </p:nvPicPr>
        <p:blipFill>
          <a:blip r:embed="rId2"/>
          <a:stretch>
            <a:fillRect/>
          </a:stretch>
        </p:blipFill>
        <p:spPr>
          <a:xfrm>
            <a:off x="6705179" y="2842129"/>
            <a:ext cx="5180426" cy="2954900"/>
          </a:xfrm>
          <a:prstGeom prst="rect">
            <a:avLst/>
          </a:prstGeom>
          <a:ln>
            <a:noFill/>
          </a:ln>
          <a:effectLst>
            <a:outerShdw blurRad="292100" dist="139700" dir="2700000" algn="tl" rotWithShape="0">
              <a:srgbClr val="333333">
                <a:alpha val="65000"/>
              </a:srgbClr>
            </a:outerShdw>
          </a:effectLst>
        </p:spPr>
      </p:pic>
      <p:sp>
        <p:nvSpPr>
          <p:cNvPr id="22" name="TextBox 21">
            <a:extLst>
              <a:ext uri="{FF2B5EF4-FFF2-40B4-BE49-F238E27FC236}">
                <a16:creationId xmlns:a16="http://schemas.microsoft.com/office/drawing/2014/main" id="{905BA622-FF36-B396-6A13-4D2C38DFD2F6}"/>
              </a:ext>
            </a:extLst>
          </p:cNvPr>
          <p:cNvSpPr txBox="1"/>
          <p:nvPr/>
        </p:nvSpPr>
        <p:spPr>
          <a:xfrm>
            <a:off x="3331029" y="4449533"/>
            <a:ext cx="2947306" cy="661307"/>
          </a:xfrm>
          <a:prstGeom prst="rect">
            <a:avLst/>
          </a:prstGeom>
          <a:noFill/>
        </p:spPr>
        <p:txBody>
          <a:bodyPr wrap="square" rtlCol="0">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Availabilities enter the model just as any other feature</a:t>
            </a:r>
          </a:p>
        </p:txBody>
      </p:sp>
      <p:cxnSp>
        <p:nvCxnSpPr>
          <p:cNvPr id="24" name="Elbow Connector 23">
            <a:extLst>
              <a:ext uri="{FF2B5EF4-FFF2-40B4-BE49-F238E27FC236}">
                <a16:creationId xmlns:a16="http://schemas.microsoft.com/office/drawing/2014/main" id="{3FBE91FF-4257-1E69-2084-81A965497C93}"/>
              </a:ext>
            </a:extLst>
          </p:cNvPr>
          <p:cNvCxnSpPr>
            <a:cxnSpLocks/>
          </p:cNvCxnSpPr>
          <p:nvPr/>
        </p:nvCxnSpPr>
        <p:spPr>
          <a:xfrm rot="5400000" flipH="1" flipV="1">
            <a:off x="5728670" y="3610959"/>
            <a:ext cx="1161506" cy="536326"/>
          </a:xfrm>
          <a:prstGeom prst="bentConnector3">
            <a:avLst>
              <a:gd name="adj1" fmla="val 99906"/>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BC7BE2E-F0D5-E782-F74A-583C4501F09A}"/>
              </a:ext>
            </a:extLst>
          </p:cNvPr>
          <p:cNvSpPr txBox="1"/>
          <p:nvPr/>
        </p:nvSpPr>
        <p:spPr>
          <a:xfrm>
            <a:off x="3568891" y="5583494"/>
            <a:ext cx="2947306" cy="661307"/>
          </a:xfrm>
          <a:prstGeom prst="rect">
            <a:avLst/>
          </a:prstGeom>
          <a:noFill/>
        </p:spPr>
        <p:txBody>
          <a:bodyPr wrap="square" rtlCol="0">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Rescale the data using the </a:t>
            </a:r>
            <a:r>
              <a:rPr kumimoji="0" lang="en-GB" sz="1800" b="0" i="0" u="none" strike="noStrike" kern="1200" cap="none" spc="0" normalizeH="0" baseline="0" noProof="0" dirty="0" err="1">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StandardScaler</a:t>
            </a:r>
            <a:endPar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p:txBody>
      </p:sp>
      <p:cxnSp>
        <p:nvCxnSpPr>
          <p:cNvPr id="29" name="Elbow Connector 28">
            <a:extLst>
              <a:ext uri="{FF2B5EF4-FFF2-40B4-BE49-F238E27FC236}">
                <a16:creationId xmlns:a16="http://schemas.microsoft.com/office/drawing/2014/main" id="{174F3934-2AFF-B07C-9ECB-C5E57C98C370}"/>
              </a:ext>
            </a:extLst>
          </p:cNvPr>
          <p:cNvCxnSpPr>
            <a:cxnSpLocks/>
          </p:cNvCxnSpPr>
          <p:nvPr/>
        </p:nvCxnSpPr>
        <p:spPr>
          <a:xfrm rot="5400000" flipH="1" flipV="1">
            <a:off x="5988511" y="4963332"/>
            <a:ext cx="909989" cy="330336"/>
          </a:xfrm>
          <a:prstGeom prst="bentConnector3">
            <a:avLst>
              <a:gd name="adj1" fmla="val 100242"/>
            </a:avLst>
          </a:prstGeom>
          <a:ln>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81392A07-B1FC-B41D-770C-4B7E7179AEE4}"/>
              </a:ext>
            </a:extLst>
          </p:cNvPr>
          <p:cNvPicPr>
            <a:picLocks noChangeAspect="1"/>
          </p:cNvPicPr>
          <p:nvPr/>
        </p:nvPicPr>
        <p:blipFill>
          <a:blip r:embed="rId3"/>
          <a:stretch>
            <a:fillRect/>
          </a:stretch>
        </p:blipFill>
        <p:spPr>
          <a:xfrm>
            <a:off x="6705178" y="1606022"/>
            <a:ext cx="5180427" cy="1052118"/>
          </a:xfrm>
          <a:prstGeom prst="rect">
            <a:avLst/>
          </a:prstGeom>
          <a:ln>
            <a:noFill/>
          </a:ln>
          <a:effectLst>
            <a:outerShdw blurRad="292100" dist="139700" dir="2700000" algn="tl" rotWithShape="0">
              <a:srgbClr val="333333">
                <a:alpha val="65000"/>
              </a:srgbClr>
            </a:outerShdw>
          </a:effectLst>
        </p:spPr>
      </p:pic>
      <p:sp>
        <p:nvSpPr>
          <p:cNvPr id="8" name="Title 1">
            <a:extLst>
              <a:ext uri="{FF2B5EF4-FFF2-40B4-BE49-F238E27FC236}">
                <a16:creationId xmlns:a16="http://schemas.microsoft.com/office/drawing/2014/main" id="{8DD0B1D6-7E6D-47DF-921F-7579C83342E3}"/>
              </a:ext>
            </a:extLst>
          </p:cNvPr>
          <p:cNvSpPr>
            <a:spLocks noGrp="1"/>
          </p:cNvSpPr>
          <p:nvPr>
            <p:ph type="title"/>
          </p:nvPr>
        </p:nvSpPr>
        <p:spPr>
          <a:xfrm>
            <a:off x="1981200" y="-41608"/>
            <a:ext cx="8229600" cy="1143000"/>
          </a:xfrm>
        </p:spPr>
        <p:txBody>
          <a:bodyPr/>
          <a:lstStyle/>
          <a:p>
            <a:r>
              <a:rPr lang="en-GB" dirty="0"/>
              <a:t>Empirical example MLP: Case A</a:t>
            </a:r>
            <a:endParaRPr lang="en-GB" sz="1800" dirty="0"/>
          </a:p>
        </p:txBody>
      </p:sp>
      <p:sp>
        <p:nvSpPr>
          <p:cNvPr id="9" name="Line 2">
            <a:extLst>
              <a:ext uri="{FF2B5EF4-FFF2-40B4-BE49-F238E27FC236}">
                <a16:creationId xmlns:a16="http://schemas.microsoft.com/office/drawing/2014/main" id="{13904042-353C-71A0-0F1E-F43173E0124B}"/>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532A6E65-5393-8D07-E09D-76F279160D17}"/>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5720309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4894416"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dirty="0"/>
              <a:t>Split data in a training and test set</a:t>
            </a:r>
          </a:p>
          <a:p>
            <a:pPr marL="342900" lvl="1" indent="-342900">
              <a:buFont typeface="+mj-lt"/>
              <a:buAutoNum type="arabicPeriod"/>
              <a:tabLst>
                <a:tab pos="3138488" algn="l"/>
              </a:tabLst>
            </a:pPr>
            <a:endParaRPr lang="en-GB" dirty="0"/>
          </a:p>
          <a:p>
            <a:pPr marL="342900" lvl="1" indent="-342900">
              <a:buFont typeface="+mj-lt"/>
              <a:buAutoNum type="arabicPeriod"/>
              <a:tabLst>
                <a:tab pos="3138488" algn="l"/>
              </a:tabLst>
            </a:pPr>
            <a:r>
              <a:rPr lang="en-GB" dirty="0"/>
              <a:t>A) Estimate linear-RUM MNL on the train data</a:t>
            </a:r>
          </a:p>
          <a:p>
            <a:pPr marL="361950" lvl="2" indent="0">
              <a:buNone/>
              <a:tabLst>
                <a:tab pos="3138488" algn="l"/>
              </a:tabLst>
            </a:pPr>
            <a:r>
              <a:rPr lang="en-GB" dirty="0"/>
              <a:t>B) Compute the Log-likelihood of the </a:t>
            </a:r>
            <a:r>
              <a:rPr lang="en-GB" b="1" u="sng" dirty="0"/>
              <a:t>test data</a:t>
            </a:r>
            <a:r>
              <a:rPr lang="en-GB" dirty="0"/>
              <a:t> given the model</a:t>
            </a:r>
          </a:p>
          <a:p>
            <a:pPr marL="361950" lvl="2" indent="0">
              <a:buNone/>
              <a:tabLst>
                <a:tab pos="3138488" algn="l"/>
              </a:tabLst>
            </a:pPr>
            <a:endParaRPr lang="en-GB" dirty="0"/>
          </a:p>
          <a:p>
            <a:pPr marL="247650" lvl="1" indent="-342900">
              <a:buFont typeface="+mj-lt"/>
              <a:buAutoNum type="arabicPeriod"/>
              <a:tabLst>
                <a:tab pos="3138488" algn="l"/>
              </a:tabLst>
            </a:pPr>
            <a:r>
              <a:rPr lang="en-GB" dirty="0"/>
              <a:t>Scale the data</a:t>
            </a:r>
          </a:p>
          <a:p>
            <a:pPr marL="247650" lvl="1" indent="-342900">
              <a:buFont typeface="+mj-lt"/>
              <a:buAutoNum type="arabicPeriod"/>
              <a:tabLst>
                <a:tab pos="3138488" algn="l"/>
              </a:tabLst>
            </a:pPr>
            <a:endParaRPr lang="en-GB" dirty="0"/>
          </a:p>
          <a:p>
            <a:pPr marL="247650" lvl="1" indent="-342900">
              <a:buFont typeface="+mj-lt"/>
              <a:buAutoNum type="arabicPeriod"/>
              <a:tabLst>
                <a:tab pos="3138488" algn="l"/>
              </a:tabLst>
            </a:pPr>
            <a:r>
              <a:rPr lang="en-GB" b="1" dirty="0"/>
              <a:t>Dummy code the choices </a:t>
            </a:r>
          </a:p>
          <a:p>
            <a:pPr marL="0" lvl="1" indent="0">
              <a:buNone/>
              <a:tabLst>
                <a:tab pos="3138488" algn="l"/>
              </a:tabLst>
            </a:pPr>
            <a:endParaRPr lang="en-GB" sz="1800" dirty="0"/>
          </a:p>
          <a:p>
            <a:pPr marL="1257300" lvl="3"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2" name="Picture 1">
            <a:extLst>
              <a:ext uri="{FF2B5EF4-FFF2-40B4-BE49-F238E27FC236}">
                <a16:creationId xmlns:a16="http://schemas.microsoft.com/office/drawing/2014/main" id="{D865E2F2-6282-030B-C25E-45E99CF3C471}"/>
              </a:ext>
            </a:extLst>
          </p:cNvPr>
          <p:cNvPicPr>
            <a:picLocks noChangeAspect="1"/>
          </p:cNvPicPr>
          <p:nvPr/>
        </p:nvPicPr>
        <p:blipFill rotWithShape="1">
          <a:blip r:embed="rId2"/>
          <a:srcRect r="11646" b="16263"/>
          <a:stretch/>
        </p:blipFill>
        <p:spPr>
          <a:xfrm>
            <a:off x="6326372" y="3742296"/>
            <a:ext cx="5510208" cy="1282378"/>
          </a:xfrm>
          <a:prstGeom prst="rect">
            <a:avLst/>
          </a:prstGeom>
          <a:ln>
            <a:noFill/>
          </a:ln>
          <a:effectLst>
            <a:outerShdw blurRad="292100" dist="139700" dir="2700000" algn="tl" rotWithShape="0">
              <a:srgbClr val="333333">
                <a:alpha val="65000"/>
              </a:srgbClr>
            </a:outerShdw>
          </a:effectLst>
        </p:spPr>
      </p:pic>
      <p:sp>
        <p:nvSpPr>
          <p:cNvPr id="8" name="Title 1">
            <a:extLst>
              <a:ext uri="{FF2B5EF4-FFF2-40B4-BE49-F238E27FC236}">
                <a16:creationId xmlns:a16="http://schemas.microsoft.com/office/drawing/2014/main" id="{4BBDB9D5-150C-18FE-59A6-9B8C483E7147}"/>
              </a:ext>
            </a:extLst>
          </p:cNvPr>
          <p:cNvSpPr>
            <a:spLocks noGrp="1"/>
          </p:cNvSpPr>
          <p:nvPr>
            <p:ph type="title"/>
          </p:nvPr>
        </p:nvSpPr>
        <p:spPr>
          <a:xfrm>
            <a:off x="1981200" y="-41608"/>
            <a:ext cx="8229600" cy="1143000"/>
          </a:xfrm>
        </p:spPr>
        <p:txBody>
          <a:bodyPr/>
          <a:lstStyle/>
          <a:p>
            <a:r>
              <a:rPr lang="en-GB" dirty="0"/>
              <a:t>Empirical example MLP: Case A</a:t>
            </a:r>
            <a:endParaRPr lang="en-GB" sz="1800" dirty="0"/>
          </a:p>
        </p:txBody>
      </p:sp>
      <p:sp>
        <p:nvSpPr>
          <p:cNvPr id="9" name="Line 2">
            <a:extLst>
              <a:ext uri="{FF2B5EF4-FFF2-40B4-BE49-F238E27FC236}">
                <a16:creationId xmlns:a16="http://schemas.microsoft.com/office/drawing/2014/main" id="{68476685-5823-2ABC-FE9F-3A9BA297A3E9}"/>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AFEDFB21-3B0D-C6EE-90E1-7FC9684913BB}"/>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96181907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4856207"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dirty="0"/>
              <a:t>Split data in a training and test set</a:t>
            </a:r>
          </a:p>
          <a:p>
            <a:pPr marL="342900" lvl="1" indent="-342900">
              <a:buFont typeface="+mj-lt"/>
              <a:buAutoNum type="arabicPeriod"/>
              <a:tabLst>
                <a:tab pos="3138488" algn="l"/>
              </a:tabLst>
            </a:pPr>
            <a:endParaRPr lang="en-GB" dirty="0"/>
          </a:p>
          <a:p>
            <a:pPr marL="342900" lvl="1" indent="-342900">
              <a:buFont typeface="+mj-lt"/>
              <a:buAutoNum type="arabicPeriod"/>
              <a:tabLst>
                <a:tab pos="3138488" algn="l"/>
              </a:tabLst>
            </a:pPr>
            <a:r>
              <a:rPr lang="en-GB" dirty="0"/>
              <a:t>A) Estimate linear-RUM MNL on the train data</a:t>
            </a:r>
          </a:p>
          <a:p>
            <a:pPr marL="361950" lvl="2" indent="0">
              <a:buNone/>
              <a:tabLst>
                <a:tab pos="3138488" algn="l"/>
              </a:tabLst>
            </a:pPr>
            <a:r>
              <a:rPr lang="en-GB" dirty="0"/>
              <a:t>B) Compute the Log-likelihood of the </a:t>
            </a:r>
            <a:r>
              <a:rPr lang="en-GB" b="1" u="sng" dirty="0"/>
              <a:t>test data</a:t>
            </a:r>
            <a:r>
              <a:rPr lang="en-GB" dirty="0"/>
              <a:t> given the model</a:t>
            </a:r>
          </a:p>
          <a:p>
            <a:pPr marL="361950" lvl="2" indent="0">
              <a:buNone/>
              <a:tabLst>
                <a:tab pos="3138488" algn="l"/>
              </a:tabLst>
            </a:pPr>
            <a:endParaRPr lang="en-GB" dirty="0"/>
          </a:p>
          <a:p>
            <a:pPr marL="247650" lvl="1" indent="-342900">
              <a:buFont typeface="+mj-lt"/>
              <a:buAutoNum type="arabicPeriod"/>
              <a:tabLst>
                <a:tab pos="3138488" algn="l"/>
              </a:tabLst>
            </a:pPr>
            <a:r>
              <a:rPr lang="en-GB" dirty="0"/>
              <a:t>Scale the data</a:t>
            </a:r>
          </a:p>
          <a:p>
            <a:pPr marL="247650" lvl="1" indent="-342900">
              <a:buFont typeface="+mj-lt"/>
              <a:buAutoNum type="arabicPeriod"/>
              <a:tabLst>
                <a:tab pos="3138488" algn="l"/>
              </a:tabLst>
            </a:pPr>
            <a:endParaRPr lang="en-GB" dirty="0"/>
          </a:p>
          <a:p>
            <a:pPr marL="247650" lvl="1" indent="-342900">
              <a:buFont typeface="+mj-lt"/>
              <a:buAutoNum type="arabicPeriod"/>
              <a:tabLst>
                <a:tab pos="3138488" algn="l"/>
              </a:tabLst>
            </a:pPr>
            <a:r>
              <a:rPr lang="en-GB" dirty="0"/>
              <a:t>Dummy code the choices </a:t>
            </a:r>
          </a:p>
          <a:p>
            <a:pPr marL="247650" lvl="1" indent="-342900">
              <a:buFont typeface="+mj-lt"/>
              <a:buAutoNum type="arabicPeriod"/>
              <a:tabLst>
                <a:tab pos="3138488" algn="l"/>
              </a:tabLst>
            </a:pPr>
            <a:endParaRPr lang="en-GB" dirty="0"/>
          </a:p>
          <a:p>
            <a:pPr marL="247650" lvl="1" indent="-342900">
              <a:buFont typeface="+mj-lt"/>
              <a:buAutoNum type="arabicPeriod"/>
              <a:tabLst>
                <a:tab pos="3138488" algn="l"/>
              </a:tabLst>
            </a:pPr>
            <a:r>
              <a:rPr lang="en-GB" b="1" dirty="0"/>
              <a:t>Tune hyperparameters, using a </a:t>
            </a:r>
            <a:r>
              <a:rPr lang="en-GB" b="1" dirty="0" err="1"/>
              <a:t>gridsearch</a:t>
            </a:r>
            <a:r>
              <a:rPr lang="en-GB" b="1" dirty="0"/>
              <a:t> object</a:t>
            </a:r>
          </a:p>
          <a:p>
            <a:pPr marL="0" lvl="1" indent="0">
              <a:buNone/>
              <a:tabLst>
                <a:tab pos="3138488" algn="l"/>
              </a:tabLst>
            </a:pPr>
            <a:endParaRPr lang="en-GB" sz="1800" dirty="0"/>
          </a:p>
          <a:p>
            <a:pPr marL="1257300" lvl="3"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69</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3" name="Picture 2">
            <a:extLst>
              <a:ext uri="{FF2B5EF4-FFF2-40B4-BE49-F238E27FC236}">
                <a16:creationId xmlns:a16="http://schemas.microsoft.com/office/drawing/2014/main" id="{D04FD410-BE1A-01BA-B8DB-5427B8568008}"/>
              </a:ext>
            </a:extLst>
          </p:cNvPr>
          <p:cNvPicPr>
            <a:picLocks noChangeAspect="1"/>
          </p:cNvPicPr>
          <p:nvPr/>
        </p:nvPicPr>
        <p:blipFill rotWithShape="1">
          <a:blip r:embed="rId2"/>
          <a:srcRect b="5788"/>
          <a:stretch/>
        </p:blipFill>
        <p:spPr>
          <a:xfrm>
            <a:off x="5815332" y="1417638"/>
            <a:ext cx="6279132" cy="3878736"/>
          </a:xfrm>
          <a:prstGeom prst="rect">
            <a:avLst/>
          </a:prstGeom>
          <a:ln>
            <a:noFill/>
          </a:ln>
          <a:effectLst>
            <a:outerShdw blurRad="292100" dist="139700" dir="2700000" algn="tl" rotWithShape="0">
              <a:srgbClr val="333333">
                <a:alpha val="65000"/>
              </a:srgbClr>
            </a:outerShdw>
          </a:effectLst>
        </p:spPr>
      </p:pic>
      <p:sp>
        <p:nvSpPr>
          <p:cNvPr id="7" name="Rounded Rectangle 6">
            <a:extLst>
              <a:ext uri="{FF2B5EF4-FFF2-40B4-BE49-F238E27FC236}">
                <a16:creationId xmlns:a16="http://schemas.microsoft.com/office/drawing/2014/main" id="{B6FB9D05-EABA-293F-300A-DD5A3299D104}"/>
              </a:ext>
            </a:extLst>
          </p:cNvPr>
          <p:cNvSpPr/>
          <p:nvPr/>
        </p:nvSpPr>
        <p:spPr>
          <a:xfrm>
            <a:off x="6025243" y="2560638"/>
            <a:ext cx="2906485" cy="812681"/>
          </a:xfrm>
          <a:prstGeom prst="round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D6DE2213-997F-5791-1162-69597E023622}"/>
              </a:ext>
            </a:extLst>
          </p:cNvPr>
          <p:cNvSpPr txBox="1"/>
          <p:nvPr/>
        </p:nvSpPr>
        <p:spPr>
          <a:xfrm>
            <a:off x="9027196" y="2560638"/>
            <a:ext cx="2971800" cy="427512"/>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Search space</a:t>
            </a:r>
            <a:endParaRPr kumimoji="0" lang="en-GB" sz="1800" b="0" i="0" u="none" strike="noStrike" kern="1200" cap="none" spc="0" normalizeH="0" baseline="-2500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9" name="Rounded Rectangle 8">
            <a:extLst>
              <a:ext uri="{FF2B5EF4-FFF2-40B4-BE49-F238E27FC236}">
                <a16:creationId xmlns:a16="http://schemas.microsoft.com/office/drawing/2014/main" id="{02F9BAC5-973A-A3AF-C72C-865BCB4BFB7C}"/>
              </a:ext>
            </a:extLst>
          </p:cNvPr>
          <p:cNvSpPr/>
          <p:nvPr/>
        </p:nvSpPr>
        <p:spPr>
          <a:xfrm>
            <a:off x="6096000" y="3629200"/>
            <a:ext cx="4746171" cy="163080"/>
          </a:xfrm>
          <a:prstGeom prst="round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11CD499D-FAB6-CADF-9524-40A296A4E1B7}"/>
              </a:ext>
            </a:extLst>
          </p:cNvPr>
          <p:cNvSpPr txBox="1"/>
          <p:nvPr/>
        </p:nvSpPr>
        <p:spPr>
          <a:xfrm>
            <a:off x="9340814" y="3159563"/>
            <a:ext cx="2801384" cy="427512"/>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↓Define the loss function</a:t>
            </a:r>
            <a:endParaRPr kumimoji="0" lang="en-GB" sz="1800" b="0" i="0" u="none" strike="noStrike" kern="1200" cap="none" spc="0" normalizeH="0" baseline="-2500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11" name="TextBox 10">
            <a:extLst>
              <a:ext uri="{FF2B5EF4-FFF2-40B4-BE49-F238E27FC236}">
                <a16:creationId xmlns:a16="http://schemas.microsoft.com/office/drawing/2014/main" id="{24EC5136-080E-1DB9-BB9B-D8B12C483835}"/>
              </a:ext>
            </a:extLst>
          </p:cNvPr>
          <p:cNvSpPr txBox="1"/>
          <p:nvPr/>
        </p:nvSpPr>
        <p:spPr>
          <a:xfrm>
            <a:off x="3708218" y="5565755"/>
            <a:ext cx="1867989" cy="355044"/>
          </a:xfrm>
          <a:prstGeom prst="rect">
            <a:avLst/>
          </a:prstGeom>
          <a:noFill/>
        </p:spPr>
        <p:txBody>
          <a:bodyPr wrap="square" rtlCol="0">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err="1">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Gridsearch</a:t>
            </a: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object</a:t>
            </a:r>
          </a:p>
        </p:txBody>
      </p:sp>
      <p:sp>
        <p:nvSpPr>
          <p:cNvPr id="17" name="TextBox 16">
            <a:extLst>
              <a:ext uri="{FF2B5EF4-FFF2-40B4-BE49-F238E27FC236}">
                <a16:creationId xmlns:a16="http://schemas.microsoft.com/office/drawing/2014/main" id="{D3BA879D-4458-BE8A-8B89-F3BBD150B833}"/>
              </a:ext>
            </a:extLst>
          </p:cNvPr>
          <p:cNvSpPr txBox="1"/>
          <p:nvPr/>
        </p:nvSpPr>
        <p:spPr>
          <a:xfrm>
            <a:off x="2835349" y="6045892"/>
            <a:ext cx="2860421" cy="355044"/>
          </a:xfrm>
          <a:prstGeom prst="rect">
            <a:avLst/>
          </a:prstGeom>
          <a:noFill/>
        </p:spPr>
        <p:txBody>
          <a:bodyPr wrap="square" rtlCol="0">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Start training the models!</a:t>
            </a:r>
          </a:p>
        </p:txBody>
      </p:sp>
      <p:cxnSp>
        <p:nvCxnSpPr>
          <p:cNvPr id="18" name="Elbow Connector 17">
            <a:extLst>
              <a:ext uri="{FF2B5EF4-FFF2-40B4-BE49-F238E27FC236}">
                <a16:creationId xmlns:a16="http://schemas.microsoft.com/office/drawing/2014/main" id="{2E26AE0B-8A42-23F5-CEAB-C581246FBD2E}"/>
              </a:ext>
            </a:extLst>
          </p:cNvPr>
          <p:cNvCxnSpPr>
            <a:cxnSpLocks/>
          </p:cNvCxnSpPr>
          <p:nvPr/>
        </p:nvCxnSpPr>
        <p:spPr>
          <a:xfrm rot="5400000" flipH="1" flipV="1">
            <a:off x="5097767" y="5529423"/>
            <a:ext cx="1172136" cy="167525"/>
          </a:xfrm>
          <a:prstGeom prst="bentConnector3">
            <a:avLst>
              <a:gd name="adj1" fmla="val 100193"/>
            </a:avLst>
          </a:prstGeom>
          <a:ln>
            <a:tailEnd type="triangle"/>
          </a:ln>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779DBE44-ACA1-AC8C-9C99-66C111810E3D}"/>
              </a:ext>
            </a:extLst>
          </p:cNvPr>
          <p:cNvPicPr>
            <a:picLocks noChangeAspect="1"/>
          </p:cNvPicPr>
          <p:nvPr/>
        </p:nvPicPr>
        <p:blipFill>
          <a:blip r:embed="rId3"/>
          <a:stretch>
            <a:fillRect/>
          </a:stretch>
        </p:blipFill>
        <p:spPr>
          <a:xfrm>
            <a:off x="5815331" y="5727509"/>
            <a:ext cx="6279132" cy="710438"/>
          </a:xfrm>
          <a:prstGeom prst="rect">
            <a:avLst/>
          </a:prstGeom>
          <a:ln>
            <a:noFill/>
          </a:ln>
          <a:effectLst>
            <a:outerShdw blurRad="292100" dist="139700" dir="2700000" algn="tl" rotWithShape="0">
              <a:srgbClr val="333333">
                <a:alpha val="65000"/>
              </a:srgbClr>
            </a:outerShdw>
          </a:effectLst>
        </p:spPr>
      </p:pic>
      <p:sp>
        <p:nvSpPr>
          <p:cNvPr id="2" name="TextBox 1">
            <a:extLst>
              <a:ext uri="{FF2B5EF4-FFF2-40B4-BE49-F238E27FC236}">
                <a16:creationId xmlns:a16="http://schemas.microsoft.com/office/drawing/2014/main" id="{79B8BF68-6D15-19DC-2F3D-63A267DBCB19}"/>
              </a:ext>
            </a:extLst>
          </p:cNvPr>
          <p:cNvSpPr txBox="1"/>
          <p:nvPr/>
        </p:nvSpPr>
        <p:spPr>
          <a:xfrm>
            <a:off x="2800102" y="6479065"/>
            <a:ext cx="2860421" cy="355044"/>
          </a:xfrm>
          <a:prstGeom prst="rect">
            <a:avLst/>
          </a:prstGeom>
          <a:noFill/>
        </p:spPr>
        <p:txBody>
          <a:bodyPr wrap="square" rtlCol="0">
            <a:noAutofit/>
          </a:bodyPr>
          <a:lstStyle/>
          <a:p>
            <a:pPr marL="0" marR="0" lvl="0" indent="0" algn="r"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Best hyperparameters</a:t>
            </a:r>
          </a:p>
        </p:txBody>
      </p:sp>
      <p:cxnSp>
        <p:nvCxnSpPr>
          <p:cNvPr id="13" name="Elbow Connector 12">
            <a:extLst>
              <a:ext uri="{FF2B5EF4-FFF2-40B4-BE49-F238E27FC236}">
                <a16:creationId xmlns:a16="http://schemas.microsoft.com/office/drawing/2014/main" id="{DEAAB4A2-D941-52DE-DF91-9045992DB69F}"/>
              </a:ext>
            </a:extLst>
          </p:cNvPr>
          <p:cNvCxnSpPr>
            <a:cxnSpLocks/>
          </p:cNvCxnSpPr>
          <p:nvPr/>
        </p:nvCxnSpPr>
        <p:spPr>
          <a:xfrm flipV="1">
            <a:off x="5601410" y="6504611"/>
            <a:ext cx="2232144" cy="207008"/>
          </a:xfrm>
          <a:prstGeom prst="bentConnector3">
            <a:avLst>
              <a:gd name="adj1" fmla="val 100097"/>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B5541C2-08C8-D446-E40E-7CE03DDD7665}"/>
              </a:ext>
            </a:extLst>
          </p:cNvPr>
          <p:cNvSpPr txBox="1"/>
          <p:nvPr/>
        </p:nvSpPr>
        <p:spPr>
          <a:xfrm>
            <a:off x="9892828" y="1561626"/>
            <a:ext cx="2201635" cy="427512"/>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 Create MLP object</a:t>
            </a:r>
            <a:endParaRPr kumimoji="0" lang="en-GB" sz="1800" b="0" i="0" u="none" strike="noStrike" kern="1200" cap="none" spc="0" normalizeH="0" baseline="-2500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15" name="Title 1">
            <a:extLst>
              <a:ext uri="{FF2B5EF4-FFF2-40B4-BE49-F238E27FC236}">
                <a16:creationId xmlns:a16="http://schemas.microsoft.com/office/drawing/2014/main" id="{744B09BC-4BF6-23E9-E364-6E879110EDB9}"/>
              </a:ext>
            </a:extLst>
          </p:cNvPr>
          <p:cNvSpPr>
            <a:spLocks noGrp="1"/>
          </p:cNvSpPr>
          <p:nvPr>
            <p:ph type="title"/>
          </p:nvPr>
        </p:nvSpPr>
        <p:spPr>
          <a:xfrm>
            <a:off x="1981200" y="-41608"/>
            <a:ext cx="8229600" cy="1143000"/>
          </a:xfrm>
        </p:spPr>
        <p:txBody>
          <a:bodyPr/>
          <a:lstStyle/>
          <a:p>
            <a:r>
              <a:rPr lang="en-GB" dirty="0"/>
              <a:t>Empirical example MLP: Case A</a:t>
            </a:r>
            <a:endParaRPr lang="en-GB" sz="1800" dirty="0"/>
          </a:p>
        </p:txBody>
      </p:sp>
      <p:sp>
        <p:nvSpPr>
          <p:cNvPr id="16" name="Line 2">
            <a:extLst>
              <a:ext uri="{FF2B5EF4-FFF2-40B4-BE49-F238E27FC236}">
                <a16:creationId xmlns:a16="http://schemas.microsoft.com/office/drawing/2014/main" id="{760DB8BF-2F57-C1EB-FD40-8CAD314BA339}"/>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9" name="Line 2">
            <a:extLst>
              <a:ext uri="{FF2B5EF4-FFF2-40B4-BE49-F238E27FC236}">
                <a16:creationId xmlns:a16="http://schemas.microsoft.com/office/drawing/2014/main" id="{DFBEEA91-9100-A2D5-FF8F-218CA91A53E3}"/>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56088140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EB428B2-3526-6247-C907-8151CBA14C82}"/>
              </a:ext>
            </a:extLst>
          </p:cNvPr>
          <p:cNvPicPr>
            <a:picLocks noChangeAspect="1"/>
          </p:cNvPicPr>
          <p:nvPr/>
        </p:nvPicPr>
        <p:blipFill>
          <a:blip r:embed="rId2"/>
          <a:stretch>
            <a:fillRect/>
          </a:stretch>
        </p:blipFill>
        <p:spPr>
          <a:xfrm>
            <a:off x="6096000" y="2266759"/>
            <a:ext cx="5976000" cy="2221026"/>
          </a:xfrm>
          <a:prstGeom prst="rect">
            <a:avLst/>
          </a:prstGeom>
        </p:spPr>
      </p:pic>
      <p:sp>
        <p:nvSpPr>
          <p:cNvPr id="5" name="Content Placeholder 2"/>
          <p:cNvSpPr>
            <a:spLocks noGrp="1"/>
          </p:cNvSpPr>
          <p:nvPr>
            <p:ph idx="1"/>
          </p:nvPr>
        </p:nvSpPr>
        <p:spPr>
          <a:xfrm>
            <a:off x="720000" y="1268760"/>
            <a:ext cx="4856207"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dirty="0"/>
              <a:t>Split data in a training and test set</a:t>
            </a:r>
          </a:p>
          <a:p>
            <a:pPr marL="342900" lvl="1" indent="-342900">
              <a:buFont typeface="+mj-lt"/>
              <a:buAutoNum type="arabicPeriod"/>
              <a:tabLst>
                <a:tab pos="3138488" algn="l"/>
              </a:tabLst>
            </a:pPr>
            <a:endParaRPr lang="en-GB" dirty="0"/>
          </a:p>
          <a:p>
            <a:pPr marL="342900" lvl="1" indent="-342900">
              <a:buFont typeface="+mj-lt"/>
              <a:buAutoNum type="arabicPeriod"/>
              <a:tabLst>
                <a:tab pos="3138488" algn="l"/>
              </a:tabLst>
            </a:pPr>
            <a:r>
              <a:rPr lang="en-GB" dirty="0"/>
              <a:t>A) Estimate linear-RUM MNL on the train data</a:t>
            </a:r>
          </a:p>
          <a:p>
            <a:pPr marL="361950" lvl="2" indent="0">
              <a:buNone/>
              <a:tabLst>
                <a:tab pos="3138488" algn="l"/>
              </a:tabLst>
            </a:pPr>
            <a:r>
              <a:rPr lang="en-GB" dirty="0"/>
              <a:t>B) Compute the Log-likelihood of the </a:t>
            </a:r>
            <a:r>
              <a:rPr lang="en-GB" b="1" u="sng" dirty="0"/>
              <a:t>test data</a:t>
            </a:r>
            <a:r>
              <a:rPr lang="en-GB" dirty="0"/>
              <a:t> given the model</a:t>
            </a:r>
          </a:p>
          <a:p>
            <a:pPr marL="361950" lvl="2" indent="0">
              <a:buNone/>
              <a:tabLst>
                <a:tab pos="3138488" algn="l"/>
              </a:tabLst>
            </a:pPr>
            <a:endParaRPr lang="en-GB" dirty="0"/>
          </a:p>
          <a:p>
            <a:pPr marL="247650" lvl="1" indent="-342900">
              <a:buFont typeface="+mj-lt"/>
              <a:buAutoNum type="arabicPeriod"/>
              <a:tabLst>
                <a:tab pos="3138488" algn="l"/>
              </a:tabLst>
            </a:pPr>
            <a:r>
              <a:rPr lang="en-GB" dirty="0"/>
              <a:t>Scale the data</a:t>
            </a:r>
          </a:p>
          <a:p>
            <a:pPr marL="247650" lvl="1" indent="-342900">
              <a:buFont typeface="+mj-lt"/>
              <a:buAutoNum type="arabicPeriod"/>
              <a:tabLst>
                <a:tab pos="3138488" algn="l"/>
              </a:tabLst>
            </a:pPr>
            <a:endParaRPr lang="en-GB" dirty="0"/>
          </a:p>
          <a:p>
            <a:pPr marL="247650" lvl="1" indent="-342900">
              <a:buFont typeface="+mj-lt"/>
              <a:buAutoNum type="arabicPeriod"/>
              <a:tabLst>
                <a:tab pos="3138488" algn="l"/>
              </a:tabLst>
            </a:pPr>
            <a:r>
              <a:rPr lang="en-GB" dirty="0"/>
              <a:t>Dummy code the choices </a:t>
            </a:r>
          </a:p>
          <a:p>
            <a:pPr marL="247650" lvl="1" indent="-342900">
              <a:buFont typeface="+mj-lt"/>
              <a:buAutoNum type="arabicPeriod"/>
              <a:tabLst>
                <a:tab pos="3138488" algn="l"/>
              </a:tabLst>
            </a:pPr>
            <a:endParaRPr lang="en-GB" dirty="0"/>
          </a:p>
          <a:p>
            <a:pPr marL="247650" lvl="1" indent="-342900">
              <a:buFont typeface="+mj-lt"/>
              <a:buAutoNum type="arabicPeriod"/>
              <a:tabLst>
                <a:tab pos="3138488" algn="l"/>
              </a:tabLst>
            </a:pPr>
            <a:r>
              <a:rPr lang="en-GB" dirty="0"/>
              <a:t>Tune hyperparameters, using a </a:t>
            </a:r>
            <a:r>
              <a:rPr lang="en-GB" dirty="0" err="1"/>
              <a:t>gridsearch</a:t>
            </a:r>
            <a:endParaRPr lang="en-GB" dirty="0"/>
          </a:p>
          <a:p>
            <a:pPr marL="247650" lvl="1" indent="-342900">
              <a:buFont typeface="+mj-lt"/>
              <a:buAutoNum type="arabicPeriod"/>
              <a:tabLst>
                <a:tab pos="3138488" algn="l"/>
              </a:tabLst>
            </a:pPr>
            <a:endParaRPr lang="en-GB" sz="1800" dirty="0"/>
          </a:p>
          <a:p>
            <a:pPr marL="247650" lvl="1" indent="-342900">
              <a:buFont typeface="+mj-lt"/>
              <a:buAutoNum type="arabicPeriod"/>
              <a:tabLst>
                <a:tab pos="3138488" algn="l"/>
              </a:tabLst>
            </a:pPr>
            <a:r>
              <a:rPr lang="en-GB" b="1" dirty="0"/>
              <a:t>Train model with tuned hyperparameters</a:t>
            </a:r>
            <a:endParaRPr lang="en-GB" sz="1800" b="1" dirty="0"/>
          </a:p>
          <a:p>
            <a:pPr marL="1257300" lvl="3"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70</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Title 1">
            <a:extLst>
              <a:ext uri="{FF2B5EF4-FFF2-40B4-BE49-F238E27FC236}">
                <a16:creationId xmlns:a16="http://schemas.microsoft.com/office/drawing/2014/main" id="{E9878D34-1C58-C8C1-1213-8679805F1F53}"/>
              </a:ext>
            </a:extLst>
          </p:cNvPr>
          <p:cNvSpPr>
            <a:spLocks noGrp="1"/>
          </p:cNvSpPr>
          <p:nvPr>
            <p:ph type="title"/>
          </p:nvPr>
        </p:nvSpPr>
        <p:spPr>
          <a:xfrm>
            <a:off x="1981200" y="-41608"/>
            <a:ext cx="8229600" cy="1143000"/>
          </a:xfrm>
        </p:spPr>
        <p:txBody>
          <a:bodyPr/>
          <a:lstStyle/>
          <a:p>
            <a:r>
              <a:rPr lang="en-GB" dirty="0"/>
              <a:t>Empirical example MLP: Case A</a:t>
            </a:r>
            <a:endParaRPr lang="en-GB" sz="1800" dirty="0"/>
          </a:p>
        </p:txBody>
      </p:sp>
      <p:sp>
        <p:nvSpPr>
          <p:cNvPr id="9" name="Line 2">
            <a:extLst>
              <a:ext uri="{FF2B5EF4-FFF2-40B4-BE49-F238E27FC236}">
                <a16:creationId xmlns:a16="http://schemas.microsoft.com/office/drawing/2014/main" id="{DBE968E0-A238-716E-6738-E399BD8634A4}"/>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9A74F21A-550F-2523-9425-0D1405C873FE}"/>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94003372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4856207" cy="5400600"/>
          </a:xfrm>
        </p:spPr>
        <p:txBody>
          <a:bodyPr>
            <a:noAutofit/>
          </a:bodyPr>
          <a:lstStyle/>
          <a:p>
            <a:pPr marL="0" lvl="1" indent="0">
              <a:buNone/>
              <a:tabLst>
                <a:tab pos="3138488" algn="l"/>
              </a:tabLst>
            </a:pPr>
            <a:r>
              <a:rPr lang="en-GB" b="1" dirty="0"/>
              <a:t>MLP using attributes of alternatives only</a:t>
            </a:r>
          </a:p>
          <a:p>
            <a:pPr marL="0" lvl="1" indent="0">
              <a:buNone/>
              <a:tabLst>
                <a:tab pos="3138488" algn="l"/>
              </a:tabLst>
            </a:pPr>
            <a:endParaRPr lang="en-GB" sz="1800" dirty="0"/>
          </a:p>
          <a:p>
            <a:pPr marL="342900" lvl="1" indent="-342900">
              <a:buFont typeface="+mj-lt"/>
              <a:buAutoNum type="arabicPeriod"/>
              <a:tabLst>
                <a:tab pos="3138488" algn="l"/>
              </a:tabLst>
            </a:pPr>
            <a:r>
              <a:rPr lang="en-GB" dirty="0"/>
              <a:t>Split data in a training and test set</a:t>
            </a:r>
          </a:p>
          <a:p>
            <a:pPr marL="342900" lvl="1" indent="-342900">
              <a:buFont typeface="+mj-lt"/>
              <a:buAutoNum type="arabicPeriod"/>
              <a:tabLst>
                <a:tab pos="3138488" algn="l"/>
              </a:tabLst>
            </a:pPr>
            <a:endParaRPr lang="en-GB" dirty="0"/>
          </a:p>
          <a:p>
            <a:pPr marL="342900" lvl="1" indent="-342900">
              <a:buFont typeface="+mj-lt"/>
              <a:buAutoNum type="arabicPeriod"/>
              <a:tabLst>
                <a:tab pos="3138488" algn="l"/>
              </a:tabLst>
            </a:pPr>
            <a:r>
              <a:rPr lang="en-GB" dirty="0"/>
              <a:t>A) Estimate linear-RUM MNL on the train data</a:t>
            </a:r>
          </a:p>
          <a:p>
            <a:pPr marL="361950" lvl="2" indent="0">
              <a:buNone/>
              <a:tabLst>
                <a:tab pos="3138488" algn="l"/>
              </a:tabLst>
            </a:pPr>
            <a:r>
              <a:rPr lang="en-GB" dirty="0"/>
              <a:t>B) Compute the Log-likelihood of the </a:t>
            </a:r>
            <a:r>
              <a:rPr lang="en-GB" b="1" u="sng" dirty="0"/>
              <a:t>test data</a:t>
            </a:r>
            <a:r>
              <a:rPr lang="en-GB" dirty="0"/>
              <a:t> given the model</a:t>
            </a:r>
          </a:p>
          <a:p>
            <a:pPr marL="361950" lvl="2" indent="0">
              <a:buNone/>
              <a:tabLst>
                <a:tab pos="3138488" algn="l"/>
              </a:tabLst>
            </a:pPr>
            <a:endParaRPr lang="en-GB" dirty="0"/>
          </a:p>
          <a:p>
            <a:pPr marL="247650" lvl="1" indent="-342900">
              <a:buFont typeface="+mj-lt"/>
              <a:buAutoNum type="arabicPeriod"/>
              <a:tabLst>
                <a:tab pos="3138488" algn="l"/>
              </a:tabLst>
            </a:pPr>
            <a:r>
              <a:rPr lang="en-GB" dirty="0"/>
              <a:t>Scale the data</a:t>
            </a:r>
          </a:p>
          <a:p>
            <a:pPr marL="247650" lvl="1" indent="-342900">
              <a:buFont typeface="+mj-lt"/>
              <a:buAutoNum type="arabicPeriod"/>
              <a:tabLst>
                <a:tab pos="3138488" algn="l"/>
              </a:tabLst>
            </a:pPr>
            <a:endParaRPr lang="en-GB" dirty="0"/>
          </a:p>
          <a:p>
            <a:pPr marL="247650" lvl="1" indent="-342900">
              <a:buFont typeface="+mj-lt"/>
              <a:buAutoNum type="arabicPeriod"/>
              <a:tabLst>
                <a:tab pos="3138488" algn="l"/>
              </a:tabLst>
            </a:pPr>
            <a:r>
              <a:rPr lang="en-GB" dirty="0"/>
              <a:t>Dummy code the choices </a:t>
            </a:r>
          </a:p>
          <a:p>
            <a:pPr marL="247650" lvl="1" indent="-342900">
              <a:buFont typeface="+mj-lt"/>
              <a:buAutoNum type="arabicPeriod"/>
              <a:tabLst>
                <a:tab pos="3138488" algn="l"/>
              </a:tabLst>
            </a:pPr>
            <a:endParaRPr lang="en-GB" dirty="0"/>
          </a:p>
          <a:p>
            <a:pPr marL="247650" lvl="1" indent="-342900">
              <a:buFont typeface="+mj-lt"/>
              <a:buAutoNum type="arabicPeriod"/>
              <a:tabLst>
                <a:tab pos="3138488" algn="l"/>
              </a:tabLst>
            </a:pPr>
            <a:r>
              <a:rPr lang="en-GB" dirty="0"/>
              <a:t>Tune hyperparameters using a </a:t>
            </a:r>
            <a:r>
              <a:rPr lang="en-GB" dirty="0" err="1"/>
              <a:t>gridsearch</a:t>
            </a:r>
            <a:endParaRPr lang="en-GB" dirty="0"/>
          </a:p>
          <a:p>
            <a:pPr marL="247650" lvl="1" indent="-342900">
              <a:buFont typeface="+mj-lt"/>
              <a:buAutoNum type="arabicPeriod"/>
              <a:tabLst>
                <a:tab pos="3138488" algn="l"/>
              </a:tabLst>
            </a:pPr>
            <a:endParaRPr lang="en-GB" sz="1800" dirty="0"/>
          </a:p>
          <a:p>
            <a:pPr marL="247650" lvl="1" indent="-342900">
              <a:buFont typeface="+mj-lt"/>
              <a:buAutoNum type="arabicPeriod"/>
              <a:tabLst>
                <a:tab pos="3138488" algn="l"/>
              </a:tabLst>
            </a:pPr>
            <a:r>
              <a:rPr lang="en-GB" dirty="0"/>
              <a:t>Train model with tuned hyperparameters</a:t>
            </a:r>
          </a:p>
          <a:p>
            <a:pPr marL="247650" lvl="1" indent="-342900">
              <a:buFont typeface="+mj-lt"/>
              <a:buAutoNum type="arabicPeriod"/>
              <a:tabLst>
                <a:tab pos="3138488" algn="l"/>
              </a:tabLst>
            </a:pPr>
            <a:endParaRPr lang="en-GB" sz="1800" dirty="0"/>
          </a:p>
          <a:p>
            <a:pPr marL="247650" lvl="1" indent="-342900">
              <a:buFont typeface="+mj-lt"/>
              <a:buAutoNum type="arabicPeriod"/>
              <a:tabLst>
                <a:tab pos="3138488" algn="l"/>
              </a:tabLst>
            </a:pPr>
            <a:r>
              <a:rPr lang="en-GB" b="1" dirty="0"/>
              <a:t>Compute the log-likelihood of the test data, given the trained MLP model</a:t>
            </a:r>
            <a:endParaRPr lang="en-GB" sz="1800" b="1" dirty="0"/>
          </a:p>
          <a:p>
            <a:pPr marL="1257300" lvl="3"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TextBox 6">
            <a:extLst>
              <a:ext uri="{FF2B5EF4-FFF2-40B4-BE49-F238E27FC236}">
                <a16:creationId xmlns:a16="http://schemas.microsoft.com/office/drawing/2014/main" id="{31A03BBB-5D5C-2F5F-C425-0A2025EB1244}"/>
              </a:ext>
            </a:extLst>
          </p:cNvPr>
          <p:cNvSpPr txBox="1"/>
          <p:nvPr/>
        </p:nvSpPr>
        <p:spPr>
          <a:xfrm>
            <a:off x="7090075" y="4858989"/>
            <a:ext cx="4989363" cy="1999011"/>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Now we can compare LL</a:t>
            </a:r>
            <a:r>
              <a:rPr kumimoji="0" lang="en-GB" sz="1800" b="0" i="0" u="none" strike="noStrike" kern="1200" cap="none" spc="0" normalizeH="0" baseline="-2500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MLP</a:t>
            </a: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 with LL</a:t>
            </a:r>
            <a:r>
              <a:rPr kumimoji="0" lang="en-GB" sz="1800" b="0" i="0" u="none" strike="noStrike" kern="1200" cap="none" spc="0" normalizeH="0" baseline="-2500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MNL</a:t>
            </a: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 (-1146)</a:t>
            </a: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MLP model obtains a much better model fit       (-116 LL points) </a:t>
            </a: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Suggests data generating process substantially deviate from linear-additive RUM!</a:t>
            </a: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p:txBody>
      </p:sp>
      <p:pic>
        <p:nvPicPr>
          <p:cNvPr id="8" name="Picture 2" descr="Image result for understand icon">
            <a:extLst>
              <a:ext uri="{FF2B5EF4-FFF2-40B4-BE49-F238E27FC236}">
                <a16:creationId xmlns:a16="http://schemas.microsoft.com/office/drawing/2014/main" id="{CDB802C7-14AC-43C8-D390-D7C27E17E13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47075" y="4981039"/>
            <a:ext cx="1143000" cy="11430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2CF24742-4FDA-F708-2344-C34B06A291A8}"/>
              </a:ext>
            </a:extLst>
          </p:cNvPr>
          <p:cNvPicPr>
            <a:picLocks noChangeAspect="1"/>
          </p:cNvPicPr>
          <p:nvPr/>
        </p:nvPicPr>
        <p:blipFill>
          <a:blip r:embed="rId3"/>
          <a:stretch>
            <a:fillRect/>
          </a:stretch>
        </p:blipFill>
        <p:spPr>
          <a:xfrm>
            <a:off x="6096001" y="2499828"/>
            <a:ext cx="5350654" cy="2213702"/>
          </a:xfrm>
          <a:prstGeom prst="rect">
            <a:avLst/>
          </a:prstGeom>
        </p:spPr>
      </p:pic>
      <p:sp>
        <p:nvSpPr>
          <p:cNvPr id="10" name="Title 1">
            <a:extLst>
              <a:ext uri="{FF2B5EF4-FFF2-40B4-BE49-F238E27FC236}">
                <a16:creationId xmlns:a16="http://schemas.microsoft.com/office/drawing/2014/main" id="{12429841-B77C-15B6-9B6B-89037DC0AB57}"/>
              </a:ext>
            </a:extLst>
          </p:cNvPr>
          <p:cNvSpPr>
            <a:spLocks noGrp="1"/>
          </p:cNvSpPr>
          <p:nvPr>
            <p:ph type="title"/>
          </p:nvPr>
        </p:nvSpPr>
        <p:spPr>
          <a:xfrm>
            <a:off x="1981200" y="-41608"/>
            <a:ext cx="8229600" cy="1143000"/>
          </a:xfrm>
        </p:spPr>
        <p:txBody>
          <a:bodyPr/>
          <a:lstStyle/>
          <a:p>
            <a:r>
              <a:rPr lang="en-GB" dirty="0"/>
              <a:t>Empirical example MLP: Case A</a:t>
            </a:r>
            <a:endParaRPr lang="en-GB" sz="1800" dirty="0"/>
          </a:p>
        </p:txBody>
      </p:sp>
      <p:sp>
        <p:nvSpPr>
          <p:cNvPr id="11" name="Line 2">
            <a:extLst>
              <a:ext uri="{FF2B5EF4-FFF2-40B4-BE49-F238E27FC236}">
                <a16:creationId xmlns:a16="http://schemas.microsoft.com/office/drawing/2014/main" id="{AC11ECAF-5222-4ACD-3F63-CDDB12080647}"/>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2" name="Line 2">
            <a:extLst>
              <a:ext uri="{FF2B5EF4-FFF2-40B4-BE49-F238E27FC236}">
                <a16:creationId xmlns:a16="http://schemas.microsoft.com/office/drawing/2014/main" id="{8845A074-D19F-422D-5AEE-4F33937F7DEB}"/>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7679057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4856207" cy="5087590"/>
          </a:xfrm>
        </p:spPr>
        <p:txBody>
          <a:bodyPr>
            <a:noAutofit/>
          </a:bodyPr>
          <a:lstStyle/>
          <a:p>
            <a:pPr marL="0" lvl="1" indent="0">
              <a:buNone/>
              <a:tabLst>
                <a:tab pos="3138488" algn="l"/>
              </a:tabLst>
            </a:pPr>
            <a:r>
              <a:rPr lang="en-GB" b="1" dirty="0"/>
              <a:t>MLP using attributes of alternatives only</a:t>
            </a:r>
            <a:endParaRPr lang="en-GB"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800100" lvl="2" indent="-400050">
              <a:tabLst>
                <a:tab pos="3138488" algn="l"/>
              </a:tabLst>
            </a:pPr>
            <a:endParaRPr lang="en-GB" sz="1800" dirty="0"/>
          </a:p>
          <a:p>
            <a:pPr marL="0" lvl="1" indent="-57150">
              <a:buNone/>
              <a:tabLst>
                <a:tab pos="3138488" algn="l"/>
              </a:tabLst>
            </a:pPr>
            <a:endParaRPr lang="en-GB" dirty="0"/>
          </a:p>
          <a:p>
            <a:pPr marL="0" lvl="1" indent="-57150">
              <a:buNone/>
              <a:tabLst>
                <a:tab pos="3138488" algn="l"/>
              </a:tabLst>
            </a:pPr>
            <a:endParaRPr lang="en-GB" dirty="0"/>
          </a:p>
          <a:p>
            <a:pPr marL="800100" lvl="2" indent="-400050">
              <a:tabLst>
                <a:tab pos="3138488" algn="l"/>
              </a:tabLst>
            </a:pPr>
            <a:endParaRPr lang="en-GB" sz="1800"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72</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TextBox 6">
            <a:extLst>
              <a:ext uri="{FF2B5EF4-FFF2-40B4-BE49-F238E27FC236}">
                <a16:creationId xmlns:a16="http://schemas.microsoft.com/office/drawing/2014/main" id="{31A03BBB-5D5C-2F5F-C425-0A2025EB1244}"/>
              </a:ext>
            </a:extLst>
          </p:cNvPr>
          <p:cNvSpPr txBox="1"/>
          <p:nvPr/>
        </p:nvSpPr>
        <p:spPr>
          <a:xfrm>
            <a:off x="7283375" y="3295998"/>
            <a:ext cx="4693363" cy="3287364"/>
          </a:xfrm>
          <a:prstGeom prst="rect">
            <a:avLst/>
          </a:prstGeom>
          <a:noFill/>
        </p:spPr>
        <p:txBody>
          <a:bodyPr wrap="square" rtlCol="0">
            <a:noAutofit/>
          </a:bodyPr>
          <a:lstStyle/>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MNL is uniquely identifiable. Convex LL  guaranteed unique solution</a:t>
            </a: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MLP model robustly improves model fit, on </a:t>
            </a:r>
            <a:r>
              <a:rPr kumimoji="0" lang="en-GB" sz="1800" b="0" i="0" u="none" strike="noStrike" kern="1200" cap="none" spc="0" normalizeH="0" baseline="0" noProof="0" dirty="0" err="1">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avg</a:t>
            </a: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 by almost 120 LL points</a:t>
            </a: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Var(LL) = ~70 LL</a:t>
            </a: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p:txBody>
      </p:sp>
      <p:pic>
        <p:nvPicPr>
          <p:cNvPr id="2" name="Picture 1">
            <a:extLst>
              <a:ext uri="{FF2B5EF4-FFF2-40B4-BE49-F238E27FC236}">
                <a16:creationId xmlns:a16="http://schemas.microsoft.com/office/drawing/2014/main" id="{BB5A3EE8-F757-A83F-A8CB-C0DC06445340}"/>
              </a:ext>
            </a:extLst>
          </p:cNvPr>
          <p:cNvPicPr>
            <a:picLocks noChangeAspect="1"/>
          </p:cNvPicPr>
          <p:nvPr/>
        </p:nvPicPr>
        <p:blipFill>
          <a:blip r:embed="rId2">
            <a:duotone>
              <a:schemeClr val="accent5">
                <a:shade val="45000"/>
                <a:satMod val="135000"/>
              </a:schemeClr>
              <a:prstClr val="white"/>
            </a:duotone>
          </a:blip>
          <a:stretch>
            <a:fillRect/>
          </a:stretch>
        </p:blipFill>
        <p:spPr>
          <a:xfrm>
            <a:off x="910978" y="1813691"/>
            <a:ext cx="778511" cy="813600"/>
          </a:xfrm>
          <a:prstGeom prst="rect">
            <a:avLst/>
          </a:prstGeom>
        </p:spPr>
      </p:pic>
      <p:sp>
        <p:nvSpPr>
          <p:cNvPr id="9" name="TextBox 8">
            <a:extLst>
              <a:ext uri="{FF2B5EF4-FFF2-40B4-BE49-F238E27FC236}">
                <a16:creationId xmlns:a16="http://schemas.microsoft.com/office/drawing/2014/main" id="{10097362-4502-42A5-B23C-1ED95F9959E3}"/>
              </a:ext>
            </a:extLst>
          </p:cNvPr>
          <p:cNvSpPr txBox="1"/>
          <p:nvPr/>
        </p:nvSpPr>
        <p:spPr>
          <a:xfrm>
            <a:off x="1863000" y="1956391"/>
            <a:ext cx="3527707" cy="543437"/>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MLPs are not uniquely identifiable</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 </a:t>
            </a:r>
          </a:p>
        </p:txBody>
      </p:sp>
      <p:grpSp>
        <p:nvGrpSpPr>
          <p:cNvPr id="3" name="Group 2">
            <a:extLst>
              <a:ext uri="{FF2B5EF4-FFF2-40B4-BE49-F238E27FC236}">
                <a16:creationId xmlns:a16="http://schemas.microsoft.com/office/drawing/2014/main" id="{B57C2E2B-D0BD-B670-542D-CBE112B75EB0}"/>
              </a:ext>
            </a:extLst>
          </p:cNvPr>
          <p:cNvGrpSpPr/>
          <p:nvPr/>
        </p:nvGrpSpPr>
        <p:grpSpPr>
          <a:xfrm>
            <a:off x="546265" y="1743364"/>
            <a:ext cx="10961373" cy="4935706"/>
            <a:chOff x="546265" y="1743364"/>
            <a:chExt cx="10961373" cy="4935706"/>
          </a:xfrm>
        </p:grpSpPr>
        <p:pic>
          <p:nvPicPr>
            <p:cNvPr id="17" name="Picture 16">
              <a:extLst>
                <a:ext uri="{FF2B5EF4-FFF2-40B4-BE49-F238E27FC236}">
                  <a16:creationId xmlns:a16="http://schemas.microsoft.com/office/drawing/2014/main" id="{D35F8E19-DF01-F239-CAFE-E2FD40757A10}"/>
                </a:ext>
              </a:extLst>
            </p:cNvPr>
            <p:cNvPicPr>
              <a:picLocks noChangeAspect="1"/>
            </p:cNvPicPr>
            <p:nvPr/>
          </p:nvPicPr>
          <p:blipFill>
            <a:blip r:embed="rId3"/>
            <a:stretch>
              <a:fillRect/>
            </a:stretch>
          </p:blipFill>
          <p:spPr>
            <a:xfrm>
              <a:off x="546265" y="3295070"/>
              <a:ext cx="6558214" cy="3384000"/>
            </a:xfrm>
            <a:prstGeom prst="rect">
              <a:avLst/>
            </a:prstGeom>
          </p:spPr>
        </p:pic>
        <p:pic>
          <p:nvPicPr>
            <p:cNvPr id="10" name="Picture 2" descr="Image result for understand icon">
              <a:extLst>
                <a:ext uri="{FF2B5EF4-FFF2-40B4-BE49-F238E27FC236}">
                  <a16:creationId xmlns:a16="http://schemas.microsoft.com/office/drawing/2014/main" id="{5ED6F463-AF6E-78E6-FA12-A9186A7B13F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13886" y="1743364"/>
              <a:ext cx="969489" cy="969489"/>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629E0C90-EC09-FD1F-266E-EB2D55A2D7D4}"/>
                </a:ext>
              </a:extLst>
            </p:cNvPr>
            <p:cNvSpPr txBox="1"/>
            <p:nvPr/>
          </p:nvSpPr>
          <p:spPr>
            <a:xfrm>
              <a:off x="7283375" y="1915219"/>
              <a:ext cx="4224263" cy="750029"/>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To see how robust the improvement in performance is, we must train numerous instances of the MLP</a:t>
              </a:r>
            </a:p>
          </p:txBody>
        </p:sp>
      </p:grpSp>
      <p:sp>
        <p:nvSpPr>
          <p:cNvPr id="13" name="Title 1">
            <a:extLst>
              <a:ext uri="{FF2B5EF4-FFF2-40B4-BE49-F238E27FC236}">
                <a16:creationId xmlns:a16="http://schemas.microsoft.com/office/drawing/2014/main" id="{DCE81571-730C-6CD9-BF5D-BF9EE899A7FC}"/>
              </a:ext>
            </a:extLst>
          </p:cNvPr>
          <p:cNvSpPr>
            <a:spLocks noGrp="1"/>
          </p:cNvSpPr>
          <p:nvPr>
            <p:ph type="title"/>
          </p:nvPr>
        </p:nvSpPr>
        <p:spPr>
          <a:xfrm>
            <a:off x="1981200" y="-41608"/>
            <a:ext cx="8229600" cy="1143000"/>
          </a:xfrm>
        </p:spPr>
        <p:txBody>
          <a:bodyPr/>
          <a:lstStyle/>
          <a:p>
            <a:r>
              <a:rPr lang="en-GB" dirty="0"/>
              <a:t>Empirical example MLP: Case A</a:t>
            </a:r>
            <a:endParaRPr lang="en-GB" sz="1800" dirty="0"/>
          </a:p>
        </p:txBody>
      </p:sp>
      <p:sp>
        <p:nvSpPr>
          <p:cNvPr id="14" name="Line 2">
            <a:extLst>
              <a:ext uri="{FF2B5EF4-FFF2-40B4-BE49-F238E27FC236}">
                <a16:creationId xmlns:a16="http://schemas.microsoft.com/office/drawing/2014/main" id="{4BB27E15-9141-7D5D-446F-F0200CD41CC3}"/>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5" name="Line 2">
            <a:extLst>
              <a:ext uri="{FF2B5EF4-FFF2-40B4-BE49-F238E27FC236}">
                <a16:creationId xmlns:a16="http://schemas.microsoft.com/office/drawing/2014/main" id="{7E83F414-EE48-EB67-82D4-7C234DF6865C}"/>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629590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6839644" cy="2160240"/>
          </a:xfrm>
        </p:spPr>
        <p:txBody>
          <a:bodyPr>
            <a:noAutofit/>
          </a:bodyPr>
          <a:lstStyle/>
          <a:p>
            <a:pPr marL="0" lvl="1" indent="0">
              <a:buNone/>
              <a:tabLst>
                <a:tab pos="3138488" algn="l"/>
              </a:tabLst>
            </a:pPr>
            <a:r>
              <a:rPr lang="en-GB" b="1" dirty="0"/>
              <a:t>MLP using attributes of alternatives + socio-demographic variables</a:t>
            </a:r>
          </a:p>
          <a:p>
            <a:pPr marL="285750" lvl="1" indent="-285750">
              <a:tabLst>
                <a:tab pos="3138488" algn="l"/>
              </a:tabLst>
            </a:pPr>
            <a:endParaRPr lang="en-GB" b="1" dirty="0"/>
          </a:p>
          <a:p>
            <a:pPr marL="285750" lvl="1" indent="-285750">
              <a:tabLst>
                <a:tab pos="3138488" algn="l"/>
              </a:tabLst>
            </a:pPr>
            <a:r>
              <a:rPr lang="en-GB" dirty="0">
                <a:cs typeface="Calibri" panose="020F0502020204030204" pitchFamily="34" charset="0"/>
                <a:sym typeface="Wingdings" panose="05000000000000000000" pitchFamily="2" charset="2"/>
              </a:rPr>
              <a:t>There is no good </a:t>
            </a:r>
            <a:r>
              <a:rPr lang="en-GB" b="1" dirty="0">
                <a:cs typeface="Calibri" panose="020F0502020204030204" pitchFamily="34" charset="0"/>
                <a:sym typeface="Wingdings" panose="05000000000000000000" pitchFamily="2" charset="2"/>
              </a:rPr>
              <a:t>theory</a:t>
            </a:r>
            <a:r>
              <a:rPr lang="en-GB" dirty="0">
                <a:cs typeface="Calibri" panose="020F0502020204030204" pitchFamily="34" charset="0"/>
                <a:sym typeface="Wingdings" panose="05000000000000000000" pitchFamily="2" charset="2"/>
              </a:rPr>
              <a:t> about how socio-demographic variables </a:t>
            </a:r>
            <a:r>
              <a:rPr lang="en-GB" b="1" dirty="0">
                <a:cs typeface="Calibri" panose="020F0502020204030204" pitchFamily="34" charset="0"/>
                <a:sym typeface="Wingdings" panose="05000000000000000000" pitchFamily="2" charset="2"/>
              </a:rPr>
              <a:t>interact</a:t>
            </a:r>
            <a:r>
              <a:rPr lang="en-GB" dirty="0">
                <a:cs typeface="Calibri" panose="020F0502020204030204" pitchFamily="34" charset="0"/>
                <a:sym typeface="Wingdings" panose="05000000000000000000" pitchFamily="2" charset="2"/>
              </a:rPr>
              <a:t> with tastes and preferences</a:t>
            </a:r>
          </a:p>
          <a:p>
            <a:pPr marL="285750" lvl="1" indent="-285750">
              <a:tabLst>
                <a:tab pos="3138488" algn="l"/>
              </a:tabLst>
            </a:pPr>
            <a:endParaRPr lang="en-GB" b="1" dirty="0"/>
          </a:p>
          <a:p>
            <a:pPr marL="285750" lvl="1" indent="-285750">
              <a:buFont typeface="Wingdings" pitchFamily="2" charset="2"/>
              <a:buChar char="Ø"/>
              <a:tabLst>
                <a:tab pos="3138488" algn="l"/>
              </a:tabLst>
            </a:pPr>
            <a:r>
              <a:rPr lang="en-GB" dirty="0">
                <a:cs typeface="Calibri" panose="020F0502020204030204" pitchFamily="34" charset="0"/>
                <a:sym typeface="Wingdings" panose="05000000000000000000" pitchFamily="2" charset="2"/>
              </a:rPr>
              <a:t>It is often unclear how to incorporate socio-demographic variables in the utility function</a:t>
            </a:r>
          </a:p>
          <a:p>
            <a:pPr marL="285750" lvl="1" indent="-285750">
              <a:tabLst>
                <a:tab pos="3138488" algn="l"/>
              </a:tabLst>
            </a:pPr>
            <a:endParaRPr lang="en-GB" b="1"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73</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Content Placeholder 2">
            <a:extLst>
              <a:ext uri="{FF2B5EF4-FFF2-40B4-BE49-F238E27FC236}">
                <a16:creationId xmlns:a16="http://schemas.microsoft.com/office/drawing/2014/main" id="{472FBBEC-0EDC-A590-F354-1C5A88DA60E6}"/>
              </a:ext>
            </a:extLst>
          </p:cNvPr>
          <p:cNvSpPr txBox="1">
            <a:spLocks/>
          </p:cNvSpPr>
          <p:nvPr/>
        </p:nvSpPr>
        <p:spPr>
          <a:xfrm>
            <a:off x="720000" y="3168502"/>
            <a:ext cx="4856207" cy="3500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8" name="Picture 2" descr="Image result for understand icon">
            <a:extLst>
              <a:ext uri="{FF2B5EF4-FFF2-40B4-BE49-F238E27FC236}">
                <a16:creationId xmlns:a16="http://schemas.microsoft.com/office/drawing/2014/main" id="{D14D7958-D6C1-948A-75FA-345374BCA7F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5326" y="3859023"/>
            <a:ext cx="969489" cy="969489"/>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1A35073E-36E4-A30B-577D-2088C5BB661F}"/>
              </a:ext>
            </a:extLst>
          </p:cNvPr>
          <p:cNvSpPr txBox="1"/>
          <p:nvPr/>
        </p:nvSpPr>
        <p:spPr>
          <a:xfrm>
            <a:off x="1981201" y="3507673"/>
            <a:ext cx="6329880" cy="1672191"/>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We might as well feed socio-demographic variables to the MLP</a:t>
            </a:r>
          </a:p>
        </p:txBody>
      </p:sp>
      <p:pic>
        <p:nvPicPr>
          <p:cNvPr id="18" name="Picture 2" descr="Inducing choice paralysis: how retailers bury customers in an avalanche of  options">
            <a:extLst>
              <a:ext uri="{FF2B5EF4-FFF2-40B4-BE49-F238E27FC236}">
                <a16:creationId xmlns:a16="http://schemas.microsoft.com/office/drawing/2014/main" id="{2A2AF620-0821-E5B6-4ED2-E4C779F506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8588513" y="1080000"/>
            <a:ext cx="3239418" cy="2328332"/>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9" name="Title 1">
            <a:extLst>
              <a:ext uri="{FF2B5EF4-FFF2-40B4-BE49-F238E27FC236}">
                <a16:creationId xmlns:a16="http://schemas.microsoft.com/office/drawing/2014/main" id="{DC072B3A-08F9-66D2-74ED-B59C1C91E2F1}"/>
              </a:ext>
            </a:extLst>
          </p:cNvPr>
          <p:cNvSpPr>
            <a:spLocks noGrp="1"/>
          </p:cNvSpPr>
          <p:nvPr>
            <p:ph type="title"/>
          </p:nvPr>
        </p:nvSpPr>
        <p:spPr>
          <a:xfrm>
            <a:off x="1981200" y="-41608"/>
            <a:ext cx="8229600" cy="1143000"/>
          </a:xfrm>
        </p:spPr>
        <p:txBody>
          <a:bodyPr/>
          <a:lstStyle/>
          <a:p>
            <a:r>
              <a:rPr lang="en-GB" dirty="0"/>
              <a:t>Empirical example MLP: Case B</a:t>
            </a:r>
            <a:endParaRPr lang="en-GB" sz="1800" dirty="0"/>
          </a:p>
        </p:txBody>
      </p:sp>
      <p:sp>
        <p:nvSpPr>
          <p:cNvPr id="10" name="Line 2">
            <a:extLst>
              <a:ext uri="{FF2B5EF4-FFF2-40B4-BE49-F238E27FC236}">
                <a16:creationId xmlns:a16="http://schemas.microsoft.com/office/drawing/2014/main" id="{AD99FDDF-44B8-FF95-BE67-42E7E728928A}"/>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D60D2243-3C54-9018-2889-D5C5450E9DB7}"/>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70033418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19999" y="1268760"/>
            <a:ext cx="6912071" cy="443082"/>
          </a:xfrm>
        </p:spPr>
        <p:txBody>
          <a:bodyPr>
            <a:noAutofit/>
          </a:bodyPr>
          <a:lstStyle/>
          <a:p>
            <a:pPr marL="0" lvl="1" indent="0">
              <a:buNone/>
              <a:tabLst>
                <a:tab pos="3138488" algn="l"/>
              </a:tabLst>
            </a:pPr>
            <a:r>
              <a:rPr lang="en-GB" b="1" dirty="0"/>
              <a:t>MLP using attributes of alternatives + socio-demographic variables</a:t>
            </a:r>
          </a:p>
          <a:p>
            <a:pPr marL="0" lvl="1" indent="0">
              <a:buNone/>
              <a:tabLst>
                <a:tab pos="3138488" algn="l"/>
              </a:tabLst>
            </a:pPr>
            <a:endParaRPr lang="en-GB" b="1"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74</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Content Placeholder 2">
            <a:extLst>
              <a:ext uri="{FF2B5EF4-FFF2-40B4-BE49-F238E27FC236}">
                <a16:creationId xmlns:a16="http://schemas.microsoft.com/office/drawing/2014/main" id="{472FBBEC-0EDC-A590-F354-1C5A88DA60E6}"/>
              </a:ext>
            </a:extLst>
          </p:cNvPr>
          <p:cNvSpPr txBox="1">
            <a:spLocks/>
          </p:cNvSpPr>
          <p:nvPr/>
        </p:nvSpPr>
        <p:spPr>
          <a:xfrm>
            <a:off x="720000" y="3168502"/>
            <a:ext cx="4856207" cy="3500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Content Placeholder 2">
            <a:extLst>
              <a:ext uri="{FF2B5EF4-FFF2-40B4-BE49-F238E27FC236}">
                <a16:creationId xmlns:a16="http://schemas.microsoft.com/office/drawing/2014/main" id="{25F1079E-FEC0-0AEF-5294-1B1D95E55BAB}"/>
              </a:ext>
            </a:extLst>
          </p:cNvPr>
          <p:cNvSpPr txBox="1">
            <a:spLocks/>
          </p:cNvSpPr>
          <p:nvPr/>
        </p:nvSpPr>
        <p:spPr>
          <a:xfrm>
            <a:off x="720000" y="1728000"/>
            <a:ext cx="4856207" cy="482992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Categorical socio-</a:t>
            </a:r>
            <a:r>
              <a:rPr kumimoji="0" lang="en-GB" sz="1800" b="1" i="0" u="none" strike="noStrike" kern="1200" cap="none" spc="0" normalizeH="0" baseline="0" noProof="0" dirty="0" err="1">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dem</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 data with more than two levels (e.g. ‘AGE’, INCOME’) must be dummy-coded</a:t>
            </a: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80AB0E11-EE6A-85E8-8780-4AA7C8C42DB3}"/>
              </a:ext>
            </a:extLst>
          </p:cNvPr>
          <p:cNvSpPr txBox="1"/>
          <p:nvPr/>
        </p:nvSpPr>
        <p:spPr>
          <a:xfrm>
            <a:off x="4827180" y="4379581"/>
            <a:ext cx="5146159" cy="2289777"/>
          </a:xfrm>
          <a:prstGeom prst="rect">
            <a:avLst/>
          </a:prstGeom>
          <a:noFill/>
        </p:spPr>
        <p:txBody>
          <a:bodyPr wrap="square" rtlCol="0">
            <a:noAutofit/>
          </a:bodyPr>
          <a:lstStyle/>
          <a:p>
            <a:pPr marL="342900" marR="0" lvl="0" indent="-34290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Dummy coding each ORIGIN/DEST station leads to many sparse columns</a:t>
            </a:r>
          </a:p>
          <a:p>
            <a:pPr marL="342900" marR="0" lvl="0" indent="-34290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a:p>
            <a:pPr marL="342900" marR="0" lvl="0" indent="-34290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Just 5 stations account for the majority of the trips</a:t>
            </a:r>
          </a:p>
          <a:p>
            <a:pPr marL="342900" marR="0" lvl="0" indent="-342900" algn="l" defTabSz="904875" rtl="0" eaLnBrk="1" fontAlgn="auto" latinLnBrk="0" hangingPunct="1">
              <a:lnSpc>
                <a:spcPct val="100000"/>
              </a:lnSpc>
              <a:spcBef>
                <a:spcPts val="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a:p>
            <a:pPr marL="342900" marR="0" lvl="0" indent="-34290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Therefore, we treat (recode) all non-frequent stations as one category</a:t>
            </a:r>
          </a:p>
          <a:p>
            <a:pPr marL="342900" marR="0" lvl="0" indent="-342900" algn="l" defTabSz="904875" rtl="0" eaLnBrk="1" fontAlgn="auto" latinLnBrk="0" hangingPunct="1">
              <a:lnSpc>
                <a:spcPct val="100000"/>
              </a:lnSpc>
              <a:spcBef>
                <a:spcPts val="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a:p>
            <a:pPr marL="342900" marR="0" lvl="0" indent="-342900" algn="l" defTabSz="904875" rtl="0" eaLnBrk="1" fontAlgn="auto" latinLnBrk="0" hangingPunct="1">
              <a:lnSpc>
                <a:spcPct val="100000"/>
              </a:lnSpc>
              <a:spcBef>
                <a:spcPts val="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p:txBody>
      </p:sp>
      <p:cxnSp>
        <p:nvCxnSpPr>
          <p:cNvPr id="10" name="Elbow Connector 9">
            <a:extLst>
              <a:ext uri="{FF2B5EF4-FFF2-40B4-BE49-F238E27FC236}">
                <a16:creationId xmlns:a16="http://schemas.microsoft.com/office/drawing/2014/main" id="{3F6B0753-127D-231A-5A1E-D4171CB9F17F}"/>
              </a:ext>
            </a:extLst>
          </p:cNvPr>
          <p:cNvCxnSpPr>
            <a:cxnSpLocks/>
          </p:cNvCxnSpPr>
          <p:nvPr/>
        </p:nvCxnSpPr>
        <p:spPr>
          <a:xfrm rot="5400000" flipH="1" flipV="1">
            <a:off x="3970280" y="3263782"/>
            <a:ext cx="2284967" cy="288941"/>
          </a:xfrm>
          <a:prstGeom prst="bentConnector3">
            <a:avLst>
              <a:gd name="adj1" fmla="val 99790"/>
            </a:avLst>
          </a:prstGeom>
          <a:ln>
            <a:headEnd type="oval"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E44F612-E9B2-6438-1C8B-A77DCDB6D9BD}"/>
              </a:ext>
            </a:extLst>
          </p:cNvPr>
          <p:cNvPicPr>
            <a:picLocks noChangeAspect="1"/>
          </p:cNvPicPr>
          <p:nvPr/>
        </p:nvPicPr>
        <p:blipFill>
          <a:blip r:embed="rId2"/>
          <a:stretch>
            <a:fillRect/>
          </a:stretch>
        </p:blipFill>
        <p:spPr>
          <a:xfrm>
            <a:off x="645727" y="3505625"/>
            <a:ext cx="4006476" cy="3163734"/>
          </a:xfrm>
          <a:prstGeom prst="rect">
            <a:avLst/>
          </a:prstGeom>
          <a:ln>
            <a:noFill/>
          </a:ln>
          <a:effectLst>
            <a:outerShdw blurRad="292100" dist="139700" dir="2700000" algn="tl" rotWithShape="0">
              <a:srgbClr val="333333">
                <a:alpha val="65000"/>
              </a:srgbClr>
            </a:outerShdw>
          </a:effectLst>
        </p:spPr>
      </p:pic>
      <p:cxnSp>
        <p:nvCxnSpPr>
          <p:cNvPr id="15" name="Elbow Connector 14">
            <a:extLst>
              <a:ext uri="{FF2B5EF4-FFF2-40B4-BE49-F238E27FC236}">
                <a16:creationId xmlns:a16="http://schemas.microsoft.com/office/drawing/2014/main" id="{252555E2-F9D2-A609-F65E-75EF1178BC36}"/>
              </a:ext>
            </a:extLst>
          </p:cNvPr>
          <p:cNvCxnSpPr>
            <a:cxnSpLocks/>
          </p:cNvCxnSpPr>
          <p:nvPr/>
        </p:nvCxnSpPr>
        <p:spPr>
          <a:xfrm rot="5400000" flipH="1" flipV="1">
            <a:off x="4792589" y="3405791"/>
            <a:ext cx="883534" cy="111249"/>
          </a:xfrm>
          <a:prstGeom prst="bentConnector3">
            <a:avLst>
              <a:gd name="adj1" fmla="val 99340"/>
            </a:avLst>
          </a:prstGeom>
          <a:ln>
            <a:headEnd type="oval"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EBDBB0A-1A66-FADE-F05A-A3FE69FC2AA1}"/>
              </a:ext>
            </a:extLst>
          </p:cNvPr>
          <p:cNvSpPr txBox="1"/>
          <p:nvPr/>
        </p:nvSpPr>
        <p:spPr>
          <a:xfrm>
            <a:off x="5392051" y="3698706"/>
            <a:ext cx="6346293" cy="459016"/>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Converts categorical data into new dummy columns</a:t>
            </a:r>
          </a:p>
        </p:txBody>
      </p:sp>
      <p:pic>
        <p:nvPicPr>
          <p:cNvPr id="8" name="Picture 7">
            <a:extLst>
              <a:ext uri="{FF2B5EF4-FFF2-40B4-BE49-F238E27FC236}">
                <a16:creationId xmlns:a16="http://schemas.microsoft.com/office/drawing/2014/main" id="{0A4B4C42-7056-08EF-AC38-185C109D98C1}"/>
              </a:ext>
            </a:extLst>
          </p:cNvPr>
          <p:cNvPicPr>
            <a:picLocks noChangeAspect="1"/>
          </p:cNvPicPr>
          <p:nvPr/>
        </p:nvPicPr>
        <p:blipFill>
          <a:blip r:embed="rId3"/>
          <a:stretch>
            <a:fillRect/>
          </a:stretch>
        </p:blipFill>
        <p:spPr>
          <a:xfrm>
            <a:off x="5407589" y="1913490"/>
            <a:ext cx="6610954" cy="2284967"/>
          </a:xfrm>
          <a:prstGeom prst="rect">
            <a:avLst/>
          </a:prstGeom>
        </p:spPr>
      </p:pic>
      <p:sp>
        <p:nvSpPr>
          <p:cNvPr id="13" name="Title 1">
            <a:extLst>
              <a:ext uri="{FF2B5EF4-FFF2-40B4-BE49-F238E27FC236}">
                <a16:creationId xmlns:a16="http://schemas.microsoft.com/office/drawing/2014/main" id="{64AA149E-E455-742E-DB8A-BDD02E91BA5B}"/>
              </a:ext>
            </a:extLst>
          </p:cNvPr>
          <p:cNvSpPr>
            <a:spLocks noGrp="1"/>
          </p:cNvSpPr>
          <p:nvPr>
            <p:ph type="title"/>
          </p:nvPr>
        </p:nvSpPr>
        <p:spPr>
          <a:xfrm>
            <a:off x="1981200" y="-41608"/>
            <a:ext cx="8229600" cy="1143000"/>
          </a:xfrm>
        </p:spPr>
        <p:txBody>
          <a:bodyPr/>
          <a:lstStyle/>
          <a:p>
            <a:r>
              <a:rPr lang="en-GB" dirty="0"/>
              <a:t>Empirical example MLP: Case B</a:t>
            </a:r>
            <a:endParaRPr lang="en-GB" sz="1800" dirty="0"/>
          </a:p>
        </p:txBody>
      </p:sp>
      <p:sp>
        <p:nvSpPr>
          <p:cNvPr id="14" name="Line 2">
            <a:extLst>
              <a:ext uri="{FF2B5EF4-FFF2-40B4-BE49-F238E27FC236}">
                <a16:creationId xmlns:a16="http://schemas.microsoft.com/office/drawing/2014/main" id="{2B46FE25-3885-4D10-73FB-97545194FED7}"/>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6" name="Line 2">
            <a:extLst>
              <a:ext uri="{FF2B5EF4-FFF2-40B4-BE49-F238E27FC236}">
                <a16:creationId xmlns:a16="http://schemas.microsoft.com/office/drawing/2014/main" id="{F1C9EADE-D7D8-9F4A-7627-534A6EBAFEE5}"/>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01928725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60"/>
            <a:ext cx="6866804" cy="443082"/>
          </a:xfrm>
        </p:spPr>
        <p:txBody>
          <a:bodyPr>
            <a:noAutofit/>
          </a:bodyPr>
          <a:lstStyle/>
          <a:p>
            <a:pPr marL="0" lvl="1" indent="0">
              <a:buNone/>
              <a:tabLst>
                <a:tab pos="3138488" algn="l"/>
              </a:tabLst>
            </a:pPr>
            <a:r>
              <a:rPr lang="en-GB" b="1" dirty="0"/>
              <a:t>MLP using attributes of alternatives + socio-demographic variables</a:t>
            </a:r>
          </a:p>
          <a:p>
            <a:pPr marL="0" lvl="1" indent="0">
              <a:buNone/>
              <a:tabLst>
                <a:tab pos="3138488" algn="l"/>
              </a:tabLst>
            </a:pPr>
            <a:endParaRPr lang="en-GB" b="1"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75</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Content Placeholder 2">
            <a:extLst>
              <a:ext uri="{FF2B5EF4-FFF2-40B4-BE49-F238E27FC236}">
                <a16:creationId xmlns:a16="http://schemas.microsoft.com/office/drawing/2014/main" id="{472FBBEC-0EDC-A590-F354-1C5A88DA60E6}"/>
              </a:ext>
            </a:extLst>
          </p:cNvPr>
          <p:cNvSpPr txBox="1">
            <a:spLocks/>
          </p:cNvSpPr>
          <p:nvPr/>
        </p:nvSpPr>
        <p:spPr>
          <a:xfrm>
            <a:off x="454178" y="3168502"/>
            <a:ext cx="4856207" cy="3500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Content Placeholder 2">
            <a:extLst>
              <a:ext uri="{FF2B5EF4-FFF2-40B4-BE49-F238E27FC236}">
                <a16:creationId xmlns:a16="http://schemas.microsoft.com/office/drawing/2014/main" id="{25F1079E-FEC0-0AEF-5294-1B1D95E55BAB}"/>
              </a:ext>
            </a:extLst>
          </p:cNvPr>
          <p:cNvSpPr txBox="1">
            <a:spLocks/>
          </p:cNvSpPr>
          <p:nvPr/>
        </p:nvSpPr>
        <p:spPr>
          <a:xfrm>
            <a:off x="720000" y="1728000"/>
            <a:ext cx="4856207" cy="482992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Categorical socio-</a:t>
            </a:r>
            <a:r>
              <a:rPr kumimoji="0" lang="en-GB" sz="1800" b="0" i="0" u="none" strike="noStrike" kern="1200" cap="none" spc="0" normalizeH="0" baseline="0" noProof="0" dirty="0" err="1">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dem</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 data (e.g. ‘purpose’, destination’) must be dummy-coded</a:t>
            </a: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Extend the list of features</a:t>
            </a: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8" name="Picture 7">
            <a:extLst>
              <a:ext uri="{FF2B5EF4-FFF2-40B4-BE49-F238E27FC236}">
                <a16:creationId xmlns:a16="http://schemas.microsoft.com/office/drawing/2014/main" id="{C902DEC1-BCEB-0C33-A658-7B4AC1431C61}"/>
              </a:ext>
            </a:extLst>
          </p:cNvPr>
          <p:cNvPicPr>
            <a:picLocks noChangeAspect="1"/>
          </p:cNvPicPr>
          <p:nvPr/>
        </p:nvPicPr>
        <p:blipFill>
          <a:blip r:embed="rId2"/>
          <a:stretch>
            <a:fillRect/>
          </a:stretch>
        </p:blipFill>
        <p:spPr>
          <a:xfrm>
            <a:off x="816270" y="3408252"/>
            <a:ext cx="9431925" cy="2948098"/>
          </a:xfrm>
          <a:prstGeom prst="rect">
            <a:avLst/>
          </a:prstGeom>
          <a:ln>
            <a:noFill/>
          </a:ln>
          <a:effectLst>
            <a:outerShdw blurRad="292100" dist="139700" dir="2700000" algn="tl" rotWithShape="0">
              <a:srgbClr val="333333">
                <a:alpha val="65000"/>
              </a:srgbClr>
            </a:outerShdw>
          </a:effectLst>
        </p:spPr>
      </p:pic>
      <p:sp>
        <p:nvSpPr>
          <p:cNvPr id="13" name="Rounded Rectangle 12">
            <a:extLst>
              <a:ext uri="{FF2B5EF4-FFF2-40B4-BE49-F238E27FC236}">
                <a16:creationId xmlns:a16="http://schemas.microsoft.com/office/drawing/2014/main" id="{4DF109A3-DBFC-9891-6C6C-0BBD5EE039CD}"/>
              </a:ext>
            </a:extLst>
          </p:cNvPr>
          <p:cNvSpPr/>
          <p:nvPr/>
        </p:nvSpPr>
        <p:spPr>
          <a:xfrm>
            <a:off x="1857272" y="4295554"/>
            <a:ext cx="2556000" cy="202019"/>
          </a:xfrm>
          <a:prstGeom prst="round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E1C31C59-DB1D-D959-2FF6-D560B27CE998}"/>
              </a:ext>
            </a:extLst>
          </p:cNvPr>
          <p:cNvSpPr txBox="1"/>
          <p:nvPr/>
        </p:nvSpPr>
        <p:spPr>
          <a:xfrm>
            <a:off x="6349974" y="3901314"/>
            <a:ext cx="3595004" cy="427512"/>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Categorical data with just two levels</a:t>
            </a:r>
            <a:endParaRPr kumimoji="0" lang="en-GB" sz="1800" b="0" i="0" u="none" strike="noStrike" kern="1200" cap="none" spc="0" normalizeH="0" baseline="-2500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p:txBody>
      </p:sp>
      <p:cxnSp>
        <p:nvCxnSpPr>
          <p:cNvPr id="17" name="Straight Arrow Connector 16">
            <a:extLst>
              <a:ext uri="{FF2B5EF4-FFF2-40B4-BE49-F238E27FC236}">
                <a16:creationId xmlns:a16="http://schemas.microsoft.com/office/drawing/2014/main" id="{1DFAAB3D-1D96-9256-44A5-B6476E313850}"/>
              </a:ext>
            </a:extLst>
          </p:cNvPr>
          <p:cNvCxnSpPr>
            <a:stCxn id="14" idx="1"/>
          </p:cNvCxnSpPr>
          <p:nvPr/>
        </p:nvCxnSpPr>
        <p:spPr>
          <a:xfrm flipH="1">
            <a:off x="4688950" y="4115070"/>
            <a:ext cx="1661024" cy="25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ight Brace 17">
            <a:extLst>
              <a:ext uri="{FF2B5EF4-FFF2-40B4-BE49-F238E27FC236}">
                <a16:creationId xmlns:a16="http://schemas.microsoft.com/office/drawing/2014/main" id="{01954BAB-83AE-5C2C-1FFB-C90774FD823E}"/>
              </a:ext>
            </a:extLst>
          </p:cNvPr>
          <p:cNvSpPr/>
          <p:nvPr/>
        </p:nvSpPr>
        <p:spPr>
          <a:xfrm>
            <a:off x="10334843" y="4306186"/>
            <a:ext cx="425302" cy="186069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900747C8-99A8-4793-D5A0-29E9E6DB9293}"/>
              </a:ext>
            </a:extLst>
          </p:cNvPr>
          <p:cNvSpPr txBox="1"/>
          <p:nvPr/>
        </p:nvSpPr>
        <p:spPr>
          <a:xfrm>
            <a:off x="10834576" y="3785191"/>
            <a:ext cx="1294769" cy="2571159"/>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We add many new features (43)</a:t>
            </a: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Increasing risk of overfitting</a:t>
            </a: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10" name="Title 1">
            <a:extLst>
              <a:ext uri="{FF2B5EF4-FFF2-40B4-BE49-F238E27FC236}">
                <a16:creationId xmlns:a16="http://schemas.microsoft.com/office/drawing/2014/main" id="{4CCDB53E-9429-34CA-F4C6-9774C5BD569C}"/>
              </a:ext>
            </a:extLst>
          </p:cNvPr>
          <p:cNvSpPr>
            <a:spLocks noGrp="1"/>
          </p:cNvSpPr>
          <p:nvPr>
            <p:ph type="title"/>
          </p:nvPr>
        </p:nvSpPr>
        <p:spPr>
          <a:xfrm>
            <a:off x="1981200" y="-41608"/>
            <a:ext cx="8229600" cy="1143000"/>
          </a:xfrm>
        </p:spPr>
        <p:txBody>
          <a:bodyPr/>
          <a:lstStyle/>
          <a:p>
            <a:r>
              <a:rPr lang="en-GB" dirty="0"/>
              <a:t>Empirical example MLP: Case B</a:t>
            </a:r>
            <a:endParaRPr lang="en-GB" sz="1800" dirty="0"/>
          </a:p>
        </p:txBody>
      </p:sp>
      <p:sp>
        <p:nvSpPr>
          <p:cNvPr id="11" name="Line 2">
            <a:extLst>
              <a:ext uri="{FF2B5EF4-FFF2-40B4-BE49-F238E27FC236}">
                <a16:creationId xmlns:a16="http://schemas.microsoft.com/office/drawing/2014/main" id="{823A8731-EAE2-B886-D09D-9610B9E88A8B}"/>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2" name="Line 2">
            <a:extLst>
              <a:ext uri="{FF2B5EF4-FFF2-40B4-BE49-F238E27FC236}">
                <a16:creationId xmlns:a16="http://schemas.microsoft.com/office/drawing/2014/main" id="{76B355AB-144F-11AD-DDC3-164828C82A5E}"/>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13464581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19999" y="1268760"/>
            <a:ext cx="6984499" cy="443082"/>
          </a:xfrm>
        </p:spPr>
        <p:txBody>
          <a:bodyPr>
            <a:noAutofit/>
          </a:bodyPr>
          <a:lstStyle/>
          <a:p>
            <a:pPr marL="0" lvl="1" indent="0">
              <a:buNone/>
              <a:tabLst>
                <a:tab pos="3138488" algn="l"/>
              </a:tabLst>
            </a:pPr>
            <a:r>
              <a:rPr lang="en-GB" b="1" dirty="0"/>
              <a:t>MLP using attributes of alternatives + socio-demographic variables</a:t>
            </a:r>
          </a:p>
          <a:p>
            <a:pPr marL="0" lvl="1" indent="0">
              <a:buNone/>
              <a:tabLst>
                <a:tab pos="3138488" algn="l"/>
              </a:tabLst>
            </a:pPr>
            <a:endParaRPr lang="en-GB" b="1"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Content Placeholder 2">
            <a:extLst>
              <a:ext uri="{FF2B5EF4-FFF2-40B4-BE49-F238E27FC236}">
                <a16:creationId xmlns:a16="http://schemas.microsoft.com/office/drawing/2014/main" id="{472FBBEC-0EDC-A590-F354-1C5A88DA60E6}"/>
              </a:ext>
            </a:extLst>
          </p:cNvPr>
          <p:cNvSpPr txBox="1">
            <a:spLocks/>
          </p:cNvSpPr>
          <p:nvPr/>
        </p:nvSpPr>
        <p:spPr>
          <a:xfrm>
            <a:off x="720000" y="3168502"/>
            <a:ext cx="4856207" cy="3500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Content Placeholder 2">
            <a:extLst>
              <a:ext uri="{FF2B5EF4-FFF2-40B4-BE49-F238E27FC236}">
                <a16:creationId xmlns:a16="http://schemas.microsoft.com/office/drawing/2014/main" id="{25F1079E-FEC0-0AEF-5294-1B1D95E55BAB}"/>
              </a:ext>
            </a:extLst>
          </p:cNvPr>
          <p:cNvSpPr txBox="1">
            <a:spLocks/>
          </p:cNvSpPr>
          <p:nvPr/>
        </p:nvSpPr>
        <p:spPr>
          <a:xfrm>
            <a:off x="720000" y="1728000"/>
            <a:ext cx="4856207" cy="50185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Categorical socio-</a:t>
            </a:r>
            <a:r>
              <a:rPr kumimoji="0" lang="en-GB" sz="1800" b="0" i="0" u="none" strike="noStrike" kern="1200" cap="none" spc="0" normalizeH="0" baseline="0" noProof="0" dirty="0" err="1">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dem</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 data (e.g. ‘purpose’, destination’) must be dummy-coded</a:t>
            </a: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Extend the list of features</a:t>
            </a: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Scale the data</a:t>
            </a: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Dummy code the choices </a:t>
            </a: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Tune hyperparameters, using a </a:t>
            </a:r>
            <a:r>
              <a:rPr kumimoji="0" lang="en-GB" sz="1800" b="0" i="0" u="none" strike="noStrike" kern="1200" cap="none" spc="0" normalizeH="0" baseline="0" noProof="0" dirty="0" err="1">
                <a:ln>
                  <a:noFill/>
                </a:ln>
                <a:solidFill>
                  <a:prstClr val="black"/>
                </a:solidFill>
                <a:effectLst/>
                <a:uLnTx/>
                <a:uFillTx/>
                <a:latin typeface="Calibri" panose="020F0502020204030204"/>
                <a:ea typeface="+mn-ea"/>
                <a:cs typeface="+mn-cs"/>
              </a:rPr>
              <a:t>gridsearch</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Train model with tuned hyperparameters</a:t>
            </a: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Compute the Log-likelihood of the test data</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342900" marR="0" lvl="0" indent="-342900" algn="l" defTabSz="904875" rtl="0" eaLnBrk="1" fontAlgn="auto" latinLnBrk="0" hangingPunct="1">
              <a:lnSpc>
                <a:spcPct val="90000"/>
              </a:lnSpc>
              <a:spcBef>
                <a:spcPts val="1000"/>
              </a:spcBef>
              <a:spcAft>
                <a:spcPts val="0"/>
              </a:spcAft>
              <a:buClrTx/>
              <a:buSzTx/>
              <a:buFont typeface="+mj-lt"/>
              <a:buAutoNum type="arabicPeriod"/>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800100" marR="0" lvl="2" indent="-400050" algn="l" defTabSz="914400" rtl="0" eaLnBrk="1" fontAlgn="auto" latinLnBrk="0" hangingPunct="1">
              <a:lnSpc>
                <a:spcPct val="90000"/>
              </a:lnSpc>
              <a:spcBef>
                <a:spcPts val="50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Right Brace 6">
            <a:extLst>
              <a:ext uri="{FF2B5EF4-FFF2-40B4-BE49-F238E27FC236}">
                <a16:creationId xmlns:a16="http://schemas.microsoft.com/office/drawing/2014/main" id="{EB47C34D-44F2-46DB-D3EF-39E410997B12}"/>
              </a:ext>
            </a:extLst>
          </p:cNvPr>
          <p:cNvSpPr/>
          <p:nvPr/>
        </p:nvSpPr>
        <p:spPr>
          <a:xfrm>
            <a:off x="5231219" y="3429000"/>
            <a:ext cx="344988" cy="331756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27D1646B-1507-75E5-DF25-13068E20B88C}"/>
              </a:ext>
            </a:extLst>
          </p:cNvPr>
          <p:cNvSpPr txBox="1"/>
          <p:nvPr/>
        </p:nvSpPr>
        <p:spPr>
          <a:xfrm>
            <a:off x="5618739" y="4568515"/>
            <a:ext cx="1265274" cy="1041991"/>
          </a:xfrm>
          <a:prstGeom prst="rect">
            <a:avLst/>
          </a:prstGeom>
          <a:noFill/>
        </p:spPr>
        <p:txBody>
          <a:bodyPr wrap="square" rtlCol="0" anchor="ctr">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70C0"/>
                </a:solidFill>
                <a:effectLst/>
                <a:uLnTx/>
                <a:uFillTx/>
                <a:latin typeface="Calibri" panose="020F0502020204030204"/>
                <a:ea typeface="+mn-ea"/>
                <a:cs typeface="Calibri" panose="020F0502020204030204" pitchFamily="34" charset="0"/>
                <a:sym typeface="Wingdings" panose="05000000000000000000" pitchFamily="2" charset="2"/>
              </a:rPr>
              <a:t>Exactly the same as before</a:t>
            </a:r>
          </a:p>
        </p:txBody>
      </p:sp>
      <p:sp>
        <p:nvSpPr>
          <p:cNvPr id="11" name="Title 1">
            <a:extLst>
              <a:ext uri="{FF2B5EF4-FFF2-40B4-BE49-F238E27FC236}">
                <a16:creationId xmlns:a16="http://schemas.microsoft.com/office/drawing/2014/main" id="{FDA829EB-6E0C-A27E-82BB-37DFA58E247A}"/>
              </a:ext>
            </a:extLst>
          </p:cNvPr>
          <p:cNvSpPr txBox="1">
            <a:spLocks/>
          </p:cNvSpPr>
          <p:nvPr/>
        </p:nvSpPr>
        <p:spPr>
          <a:xfrm>
            <a:off x="1981200" y="-41608"/>
            <a:ext cx="8229600" cy="1143000"/>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a:lstStyle>
          <a:p>
            <a:r>
              <a:rPr lang="en-GB"/>
              <a:t>Empirical example MLP: Case B</a:t>
            </a:r>
            <a:endParaRPr lang="en-GB" sz="1800" dirty="0"/>
          </a:p>
        </p:txBody>
      </p:sp>
      <p:sp>
        <p:nvSpPr>
          <p:cNvPr id="12" name="Line 2">
            <a:extLst>
              <a:ext uri="{FF2B5EF4-FFF2-40B4-BE49-F238E27FC236}">
                <a16:creationId xmlns:a16="http://schemas.microsoft.com/office/drawing/2014/main" id="{9907F212-1818-FCA6-2F16-67AC301F7989}"/>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3" name="Line 2">
            <a:extLst>
              <a:ext uri="{FF2B5EF4-FFF2-40B4-BE49-F238E27FC236}">
                <a16:creationId xmlns:a16="http://schemas.microsoft.com/office/drawing/2014/main" id="{6F2B7F1C-38C6-BF2D-484F-BA4E126C8993}"/>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8865656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A763F07-1156-B4E2-090E-82F4BD983AEB}"/>
              </a:ext>
            </a:extLst>
          </p:cNvPr>
          <p:cNvPicPr>
            <a:picLocks noChangeAspect="1"/>
          </p:cNvPicPr>
          <p:nvPr/>
        </p:nvPicPr>
        <p:blipFill>
          <a:blip r:embed="rId2"/>
          <a:stretch>
            <a:fillRect/>
          </a:stretch>
        </p:blipFill>
        <p:spPr>
          <a:xfrm>
            <a:off x="720069" y="2038521"/>
            <a:ext cx="6558214" cy="3384000"/>
          </a:xfrm>
          <a:prstGeom prst="rect">
            <a:avLst/>
          </a:prstGeom>
        </p:spPr>
      </p:pic>
      <p:sp>
        <p:nvSpPr>
          <p:cNvPr id="5" name="Content Placeholder 2"/>
          <p:cNvSpPr>
            <a:spLocks noGrp="1"/>
          </p:cNvSpPr>
          <p:nvPr>
            <p:ph idx="1"/>
          </p:nvPr>
        </p:nvSpPr>
        <p:spPr>
          <a:xfrm>
            <a:off x="720000" y="1268760"/>
            <a:ext cx="6866804" cy="443082"/>
          </a:xfrm>
        </p:spPr>
        <p:txBody>
          <a:bodyPr>
            <a:noAutofit/>
          </a:bodyPr>
          <a:lstStyle/>
          <a:p>
            <a:pPr marL="0" lvl="1" indent="0">
              <a:buNone/>
              <a:tabLst>
                <a:tab pos="3138488" algn="l"/>
              </a:tabLst>
            </a:pPr>
            <a:r>
              <a:rPr lang="en-GB" b="1" dirty="0"/>
              <a:t>MLP using attributes of alternatives + socio-demographic variables</a:t>
            </a:r>
          </a:p>
          <a:p>
            <a:pPr marL="0" lvl="1" indent="0">
              <a:buNone/>
              <a:tabLst>
                <a:tab pos="3138488" algn="l"/>
              </a:tabLst>
            </a:pPr>
            <a:endParaRPr lang="en-GB" b="1"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Content Placeholder 2">
            <a:extLst>
              <a:ext uri="{FF2B5EF4-FFF2-40B4-BE49-F238E27FC236}">
                <a16:creationId xmlns:a16="http://schemas.microsoft.com/office/drawing/2014/main" id="{472FBBEC-0EDC-A590-F354-1C5A88DA60E6}"/>
              </a:ext>
            </a:extLst>
          </p:cNvPr>
          <p:cNvSpPr txBox="1">
            <a:spLocks/>
          </p:cNvSpPr>
          <p:nvPr/>
        </p:nvSpPr>
        <p:spPr>
          <a:xfrm>
            <a:off x="677397" y="1967023"/>
            <a:ext cx="4856207" cy="3500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EDB782C2-3560-15FB-C469-846293C4EF25}"/>
              </a:ext>
            </a:extLst>
          </p:cNvPr>
          <p:cNvSpPr txBox="1"/>
          <p:nvPr/>
        </p:nvSpPr>
        <p:spPr>
          <a:xfrm>
            <a:off x="7072777" y="2100404"/>
            <a:ext cx="4995176" cy="2824681"/>
          </a:xfrm>
          <a:prstGeom prst="rect">
            <a:avLst/>
          </a:prstGeom>
          <a:noFill/>
        </p:spPr>
        <p:txBody>
          <a:bodyPr wrap="square" rtlCol="0">
            <a:noAutofit/>
          </a:bodyPr>
          <a:lstStyle/>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Adding socio-demographic features further substantially improves the generalisation performance</a:t>
            </a: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But it is unclear how this comes about</a:t>
            </a: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457200" marR="0" lvl="1"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GB" sz="1800" b="1"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8" name="Title 1">
            <a:extLst>
              <a:ext uri="{FF2B5EF4-FFF2-40B4-BE49-F238E27FC236}">
                <a16:creationId xmlns:a16="http://schemas.microsoft.com/office/drawing/2014/main" id="{F1987483-4C05-769F-E843-6AF8A73B9EA3}"/>
              </a:ext>
            </a:extLst>
          </p:cNvPr>
          <p:cNvSpPr>
            <a:spLocks noGrp="1"/>
          </p:cNvSpPr>
          <p:nvPr>
            <p:ph type="title"/>
          </p:nvPr>
        </p:nvSpPr>
        <p:spPr>
          <a:xfrm>
            <a:off x="1981200" y="-41608"/>
            <a:ext cx="8229600" cy="1143000"/>
          </a:xfrm>
        </p:spPr>
        <p:txBody>
          <a:bodyPr/>
          <a:lstStyle/>
          <a:p>
            <a:r>
              <a:rPr lang="en-GB" dirty="0"/>
              <a:t>Empirical example MLP: Case B</a:t>
            </a:r>
            <a:endParaRPr lang="en-GB" sz="1800" dirty="0"/>
          </a:p>
        </p:txBody>
      </p:sp>
      <p:sp>
        <p:nvSpPr>
          <p:cNvPr id="9" name="Line 2">
            <a:extLst>
              <a:ext uri="{FF2B5EF4-FFF2-40B4-BE49-F238E27FC236}">
                <a16:creationId xmlns:a16="http://schemas.microsoft.com/office/drawing/2014/main" id="{8687B25F-F63D-A7BD-6C4C-0EEAA9785115}"/>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2" name="Line 2">
            <a:extLst>
              <a:ext uri="{FF2B5EF4-FFF2-40B4-BE49-F238E27FC236}">
                <a16:creationId xmlns:a16="http://schemas.microsoft.com/office/drawing/2014/main" id="{621582B5-8EC6-89FC-49AD-33BA5C7973A8}"/>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3221444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35C23131-4261-1FE8-BAB5-18C39B4F2134}"/>
              </a:ext>
            </a:extLst>
          </p:cNvPr>
          <p:cNvPicPr>
            <a:picLocks noChangeAspect="1"/>
          </p:cNvPicPr>
          <p:nvPr/>
        </p:nvPicPr>
        <p:blipFill>
          <a:blip r:embed="rId2"/>
          <a:stretch>
            <a:fillRect/>
          </a:stretch>
        </p:blipFill>
        <p:spPr>
          <a:xfrm>
            <a:off x="720000" y="2046653"/>
            <a:ext cx="6558214" cy="3384000"/>
          </a:xfrm>
          <a:prstGeom prst="rect">
            <a:avLst/>
          </a:prstGeom>
        </p:spPr>
      </p:pic>
      <p:sp>
        <p:nvSpPr>
          <p:cNvPr id="5" name="Content Placeholder 2"/>
          <p:cNvSpPr>
            <a:spLocks noGrp="1"/>
          </p:cNvSpPr>
          <p:nvPr>
            <p:ph idx="1"/>
          </p:nvPr>
        </p:nvSpPr>
        <p:spPr>
          <a:xfrm>
            <a:off x="720000" y="1268760"/>
            <a:ext cx="6866804" cy="443082"/>
          </a:xfrm>
        </p:spPr>
        <p:txBody>
          <a:bodyPr>
            <a:noAutofit/>
          </a:bodyPr>
          <a:lstStyle/>
          <a:p>
            <a:pPr marL="0" lvl="1" indent="0">
              <a:buNone/>
              <a:tabLst>
                <a:tab pos="3138488" algn="l"/>
              </a:tabLst>
            </a:pPr>
            <a:r>
              <a:rPr lang="en-GB" b="1" dirty="0"/>
              <a:t>MLP using attributes of alternatives + socio-demographic variables</a:t>
            </a:r>
          </a:p>
          <a:p>
            <a:pPr marL="0" lvl="1" indent="0">
              <a:buNone/>
              <a:tabLst>
                <a:tab pos="3138488" algn="l"/>
              </a:tabLst>
            </a:pPr>
            <a:endParaRPr lang="en-GB" b="1"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Content Placeholder 2">
            <a:extLst>
              <a:ext uri="{FF2B5EF4-FFF2-40B4-BE49-F238E27FC236}">
                <a16:creationId xmlns:a16="http://schemas.microsoft.com/office/drawing/2014/main" id="{472FBBEC-0EDC-A590-F354-1C5A88DA60E6}"/>
              </a:ext>
            </a:extLst>
          </p:cNvPr>
          <p:cNvSpPr txBox="1">
            <a:spLocks/>
          </p:cNvSpPr>
          <p:nvPr/>
        </p:nvSpPr>
        <p:spPr>
          <a:xfrm>
            <a:off x="677397" y="1967023"/>
            <a:ext cx="4856207" cy="3500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EDB782C2-3560-15FB-C469-846293C4EF25}"/>
              </a:ext>
            </a:extLst>
          </p:cNvPr>
          <p:cNvSpPr txBox="1"/>
          <p:nvPr/>
        </p:nvSpPr>
        <p:spPr>
          <a:xfrm>
            <a:off x="7072777" y="2100404"/>
            <a:ext cx="4995176" cy="2824681"/>
          </a:xfrm>
          <a:prstGeom prst="rect">
            <a:avLst/>
          </a:prstGeom>
          <a:noFill/>
        </p:spPr>
        <p:txBody>
          <a:bodyPr wrap="square" rtlCol="0">
            <a:noAutofit/>
          </a:bodyPr>
          <a:lstStyle/>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Adding socio-demographic features further substantially improves the generalisation performance</a:t>
            </a: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But it is unclear how this comes about</a:t>
            </a: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Var(LL) = ~150 LL  Variance increases</a:t>
            </a: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457200" marR="0" lvl="1"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GB" sz="1800" b="1"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8" name="Title 1">
            <a:extLst>
              <a:ext uri="{FF2B5EF4-FFF2-40B4-BE49-F238E27FC236}">
                <a16:creationId xmlns:a16="http://schemas.microsoft.com/office/drawing/2014/main" id="{11B4A06E-4308-045A-B372-A461F412AFB5}"/>
              </a:ext>
            </a:extLst>
          </p:cNvPr>
          <p:cNvSpPr>
            <a:spLocks noGrp="1"/>
          </p:cNvSpPr>
          <p:nvPr>
            <p:ph type="title"/>
          </p:nvPr>
        </p:nvSpPr>
        <p:spPr>
          <a:xfrm>
            <a:off x="1981200" y="-41608"/>
            <a:ext cx="8229600" cy="1143000"/>
          </a:xfrm>
        </p:spPr>
        <p:txBody>
          <a:bodyPr/>
          <a:lstStyle/>
          <a:p>
            <a:r>
              <a:rPr lang="en-GB" dirty="0"/>
              <a:t>Empirical example MLP: Case B</a:t>
            </a:r>
            <a:endParaRPr lang="en-GB" sz="1800" dirty="0"/>
          </a:p>
        </p:txBody>
      </p:sp>
      <p:sp>
        <p:nvSpPr>
          <p:cNvPr id="9" name="Line 2">
            <a:extLst>
              <a:ext uri="{FF2B5EF4-FFF2-40B4-BE49-F238E27FC236}">
                <a16:creationId xmlns:a16="http://schemas.microsoft.com/office/drawing/2014/main" id="{12B67AB9-7EFD-9656-F291-67661FA7EFFC}"/>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0" name="Line 2">
            <a:extLst>
              <a:ext uri="{FF2B5EF4-FFF2-40B4-BE49-F238E27FC236}">
                <a16:creationId xmlns:a16="http://schemas.microsoft.com/office/drawing/2014/main" id="{9EF78169-C2B8-B2B9-F9B8-687A72D470EC}"/>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8395380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720000" y="1268759"/>
            <a:ext cx="8379612" cy="1580767"/>
          </a:xfrm>
        </p:spPr>
        <p:txBody>
          <a:bodyPr>
            <a:noAutofit/>
          </a:bodyPr>
          <a:lstStyle/>
          <a:p>
            <a:pPr marL="0" lvl="1" indent="0">
              <a:buNone/>
              <a:tabLst>
                <a:tab pos="3138488" algn="l"/>
              </a:tabLst>
            </a:pPr>
            <a:r>
              <a:rPr lang="en-GB" b="1" dirty="0"/>
              <a:t>Final observations</a:t>
            </a:r>
          </a:p>
          <a:p>
            <a:pPr algn="l" defTabSz="904875">
              <a:tabLst>
                <a:tab pos="715963" algn="l"/>
                <a:tab pos="3228975" algn="l"/>
              </a:tabLst>
            </a:pPr>
            <a:r>
              <a:rPr lang="en-GB" dirty="0">
                <a:cs typeface="Calibri" panose="020F0502020204030204" pitchFamily="34" charset="0"/>
                <a:sym typeface="Wingdings" panose="05000000000000000000" pitchFamily="2" charset="2"/>
              </a:rPr>
              <a:t>MLPs usually outperform traditional MNL-based choice models in terms of model fit</a:t>
            </a:r>
          </a:p>
          <a:p>
            <a:pPr algn="l" defTabSz="904875">
              <a:tabLst>
                <a:tab pos="715963" algn="l"/>
                <a:tab pos="3228975" algn="l"/>
              </a:tabLst>
            </a:pPr>
            <a:endParaRPr lang="en-GB" dirty="0">
              <a:cs typeface="Calibri" panose="020F0502020204030204" pitchFamily="34" charset="0"/>
              <a:sym typeface="Wingdings" panose="05000000000000000000" pitchFamily="2" charset="2"/>
            </a:endParaRPr>
          </a:p>
          <a:p>
            <a:pPr algn="l" defTabSz="904875">
              <a:tabLst>
                <a:tab pos="715963" algn="l"/>
                <a:tab pos="3228975" algn="l"/>
              </a:tabLst>
            </a:pPr>
            <a:r>
              <a:rPr lang="en-GB" dirty="0">
                <a:cs typeface="Calibri" panose="020F0502020204030204" pitchFamily="34" charset="0"/>
                <a:sym typeface="Wingdings" panose="05000000000000000000" pitchFamily="2" charset="2"/>
              </a:rPr>
              <a:t>MLPs indeed can overcome the ad-hoc-ness of the model specification in traditional choice models</a:t>
            </a:r>
          </a:p>
          <a:p>
            <a:pPr marL="0" lvl="1" indent="0">
              <a:buNone/>
              <a:tabLst>
                <a:tab pos="3138488" algn="l"/>
              </a:tabLst>
            </a:pPr>
            <a:endParaRPr lang="en-GB" b="1" dirty="0"/>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79</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Title 1"/>
          <p:cNvSpPr>
            <a:spLocks noGrp="1"/>
          </p:cNvSpPr>
          <p:nvPr>
            <p:ph type="title"/>
          </p:nvPr>
        </p:nvSpPr>
        <p:spPr>
          <a:xfrm>
            <a:off x="1979451" y="-60287"/>
            <a:ext cx="8229600" cy="1143000"/>
          </a:xfrm>
        </p:spPr>
        <p:txBody>
          <a:bodyPr/>
          <a:lstStyle/>
          <a:p>
            <a:r>
              <a:rPr lang="en-GB" dirty="0"/>
              <a:t>MLP</a:t>
            </a:r>
            <a:endParaRPr lang="en-GB" sz="1800" dirty="0"/>
          </a:p>
        </p:txBody>
      </p:sp>
      <p:sp>
        <p:nvSpPr>
          <p:cNvPr id="3" name="Content Placeholder 2">
            <a:extLst>
              <a:ext uri="{FF2B5EF4-FFF2-40B4-BE49-F238E27FC236}">
                <a16:creationId xmlns:a16="http://schemas.microsoft.com/office/drawing/2014/main" id="{472FBBEC-0EDC-A590-F354-1C5A88DA60E6}"/>
              </a:ext>
            </a:extLst>
          </p:cNvPr>
          <p:cNvSpPr txBox="1">
            <a:spLocks/>
          </p:cNvSpPr>
          <p:nvPr/>
        </p:nvSpPr>
        <p:spPr>
          <a:xfrm>
            <a:off x="677397" y="1967023"/>
            <a:ext cx="4856207" cy="3500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DAFCEE82-256B-01C7-01DA-E2ABF19E3EFF}"/>
              </a:ext>
            </a:extLst>
          </p:cNvPr>
          <p:cNvSpPr txBox="1"/>
          <p:nvPr/>
        </p:nvSpPr>
        <p:spPr>
          <a:xfrm>
            <a:off x="719999" y="3266613"/>
            <a:ext cx="6586147" cy="1790580"/>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However …</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MLPs give ZERO behavioural or economic insight</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MLPs may violate behavioural regularity e.g.</a:t>
            </a:r>
          </a:p>
          <a:p>
            <a:pPr marL="742950" marR="0" lvl="1" indent="-285750" algn="l" defTabSz="904875" rtl="0" eaLnBrk="1" fontAlgn="auto" latinLnBrk="0" hangingPunct="1">
              <a:lnSpc>
                <a:spcPct val="100000"/>
              </a:lnSpc>
              <a:spcBef>
                <a:spcPts val="0"/>
              </a:spcBef>
              <a:spcAft>
                <a:spcPts val="0"/>
              </a:spcAft>
              <a:buClrTx/>
              <a:buSzTx/>
              <a:buFont typeface="System Font Regular"/>
              <a:buChar char="−"/>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An increase in cost will (in some cases) lead to an increase in demand</a:t>
            </a:r>
          </a:p>
          <a:p>
            <a:pPr marL="742950" marR="0" lvl="1" indent="-285750" algn="l" defTabSz="904875" rtl="0" eaLnBrk="1" fontAlgn="auto" latinLnBrk="0" hangingPunct="1">
              <a:lnSpc>
                <a:spcPct val="100000"/>
              </a:lnSpc>
              <a:spcBef>
                <a:spcPts val="0"/>
              </a:spcBef>
              <a:spcAft>
                <a:spcPts val="0"/>
              </a:spcAft>
              <a:buClrTx/>
              <a:buSzTx/>
              <a:buFont typeface="System Font Regular"/>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grpSp>
        <p:nvGrpSpPr>
          <p:cNvPr id="19" name="Group 18">
            <a:extLst>
              <a:ext uri="{FF2B5EF4-FFF2-40B4-BE49-F238E27FC236}">
                <a16:creationId xmlns:a16="http://schemas.microsoft.com/office/drawing/2014/main" id="{6BE446FD-3859-D4A9-5184-6485AE434A65}"/>
              </a:ext>
            </a:extLst>
          </p:cNvPr>
          <p:cNvGrpSpPr/>
          <p:nvPr/>
        </p:nvGrpSpPr>
        <p:grpSpPr>
          <a:xfrm>
            <a:off x="8946101" y="194894"/>
            <a:ext cx="3201618" cy="6545243"/>
            <a:chOff x="8946101" y="194894"/>
            <a:chExt cx="3201618" cy="6545243"/>
          </a:xfrm>
        </p:grpSpPr>
        <p:pic>
          <p:nvPicPr>
            <p:cNvPr id="11" name="Picture 10">
              <a:extLst>
                <a:ext uri="{FF2B5EF4-FFF2-40B4-BE49-F238E27FC236}">
                  <a16:creationId xmlns:a16="http://schemas.microsoft.com/office/drawing/2014/main" id="{6612947A-FE41-B240-475D-EBF2803C2863}"/>
                </a:ext>
              </a:extLst>
            </p:cNvPr>
            <p:cNvPicPr>
              <a:picLocks noChangeAspect="1"/>
            </p:cNvPicPr>
            <p:nvPr/>
          </p:nvPicPr>
          <p:blipFill rotWithShape="1">
            <a:blip r:embed="rId2"/>
            <a:srcRect r="66774" b="11712"/>
            <a:stretch/>
          </p:blipFill>
          <p:spPr>
            <a:xfrm>
              <a:off x="9057998" y="194894"/>
              <a:ext cx="2324914" cy="2090924"/>
            </a:xfrm>
            <a:prstGeom prst="rect">
              <a:avLst/>
            </a:prstGeom>
          </p:spPr>
        </p:pic>
        <p:pic>
          <p:nvPicPr>
            <p:cNvPr id="14" name="Picture 13">
              <a:extLst>
                <a:ext uri="{FF2B5EF4-FFF2-40B4-BE49-F238E27FC236}">
                  <a16:creationId xmlns:a16="http://schemas.microsoft.com/office/drawing/2014/main" id="{47171C58-29F0-3B21-B6C5-8C2226A606FA}"/>
                </a:ext>
              </a:extLst>
            </p:cNvPr>
            <p:cNvPicPr>
              <a:picLocks noChangeAspect="1"/>
            </p:cNvPicPr>
            <p:nvPr/>
          </p:nvPicPr>
          <p:blipFill rotWithShape="1">
            <a:blip r:embed="rId2"/>
            <a:srcRect l="67534" b="10628"/>
            <a:stretch/>
          </p:blipFill>
          <p:spPr>
            <a:xfrm>
              <a:off x="8966719" y="4555948"/>
              <a:ext cx="2344238" cy="2184189"/>
            </a:xfrm>
            <a:prstGeom prst="rect">
              <a:avLst/>
            </a:prstGeom>
          </p:spPr>
        </p:pic>
        <p:pic>
          <p:nvPicPr>
            <p:cNvPr id="15" name="Picture 14">
              <a:extLst>
                <a:ext uri="{FF2B5EF4-FFF2-40B4-BE49-F238E27FC236}">
                  <a16:creationId xmlns:a16="http://schemas.microsoft.com/office/drawing/2014/main" id="{1262FFA2-BE20-0ED2-2175-278ABFD09E7F}"/>
                </a:ext>
              </a:extLst>
            </p:cNvPr>
            <p:cNvPicPr>
              <a:picLocks noChangeAspect="1"/>
            </p:cNvPicPr>
            <p:nvPr/>
          </p:nvPicPr>
          <p:blipFill rotWithShape="1">
            <a:blip r:embed="rId2"/>
            <a:srcRect l="33194" r="31824" b="11591"/>
            <a:stretch/>
          </p:blipFill>
          <p:spPr>
            <a:xfrm>
              <a:off x="8946101" y="2355898"/>
              <a:ext cx="2525900" cy="2160639"/>
            </a:xfrm>
            <a:prstGeom prst="rect">
              <a:avLst/>
            </a:prstGeom>
          </p:spPr>
        </p:pic>
        <p:sp>
          <p:nvSpPr>
            <p:cNvPr id="16" name="TextBox 15">
              <a:extLst>
                <a:ext uri="{FF2B5EF4-FFF2-40B4-BE49-F238E27FC236}">
                  <a16:creationId xmlns:a16="http://schemas.microsoft.com/office/drawing/2014/main" id="{A0EF4028-74F3-22CA-9675-A2B531433B42}"/>
                </a:ext>
              </a:extLst>
            </p:cNvPr>
            <p:cNvSpPr txBox="1"/>
            <p:nvPr/>
          </p:nvSpPr>
          <p:spPr>
            <a:xfrm>
              <a:off x="11237051" y="194894"/>
              <a:ext cx="836762" cy="1867171"/>
            </a:xfrm>
            <a:prstGeom prst="rect">
              <a:avLst/>
            </a:prstGeom>
            <a:noFill/>
          </p:spPr>
          <p:txBody>
            <a:bodyPr wrap="square" rtlCol="0" anchor="ctr">
              <a:noAutofit/>
            </a:bodyPr>
            <a:lstStyle/>
            <a:p>
              <a:pPr algn="ctr" defTabSz="904875">
                <a:tabLst>
                  <a:tab pos="715963" algn="l"/>
                  <a:tab pos="3228975" algn="l"/>
                </a:tabLst>
              </a:pPr>
              <a:r>
                <a:rPr lang="en-GB" sz="1600" dirty="0">
                  <a:cs typeface="Calibri" panose="020F0502020204030204" pitchFamily="34" charset="0"/>
                  <a:sym typeface="Wingdings" panose="05000000000000000000" pitchFamily="2" charset="2"/>
                </a:rPr>
                <a:t>MNL</a:t>
              </a:r>
            </a:p>
          </p:txBody>
        </p:sp>
        <p:sp>
          <p:nvSpPr>
            <p:cNvPr id="17" name="TextBox 16">
              <a:extLst>
                <a:ext uri="{FF2B5EF4-FFF2-40B4-BE49-F238E27FC236}">
                  <a16:creationId xmlns:a16="http://schemas.microsoft.com/office/drawing/2014/main" id="{80A83322-9FC8-A3C4-5FA5-1292CD708DE5}"/>
                </a:ext>
              </a:extLst>
            </p:cNvPr>
            <p:cNvSpPr txBox="1"/>
            <p:nvPr/>
          </p:nvSpPr>
          <p:spPr>
            <a:xfrm>
              <a:off x="11237051" y="2495414"/>
              <a:ext cx="910668" cy="1867171"/>
            </a:xfrm>
            <a:prstGeom prst="rect">
              <a:avLst/>
            </a:prstGeom>
            <a:noFill/>
          </p:spPr>
          <p:txBody>
            <a:bodyPr wrap="square" rtlCol="0" anchor="ctr">
              <a:noAutofit/>
            </a:bodyPr>
            <a:lstStyle/>
            <a:p>
              <a:pPr algn="ctr" defTabSz="904875">
                <a:tabLst>
                  <a:tab pos="715963" algn="l"/>
                  <a:tab pos="3228975" algn="l"/>
                </a:tabLst>
              </a:pPr>
              <a:r>
                <a:rPr lang="en-GB" sz="1600" dirty="0">
                  <a:cs typeface="Calibri" panose="020F0502020204030204" pitchFamily="34" charset="0"/>
                  <a:sym typeface="Wingdings" panose="05000000000000000000" pitchFamily="2" charset="2"/>
                </a:rPr>
                <a:t>MLP</a:t>
              </a:r>
            </a:p>
            <a:p>
              <a:pPr algn="ctr" defTabSz="904875">
                <a:tabLst>
                  <a:tab pos="715963" algn="l"/>
                  <a:tab pos="3228975" algn="l"/>
                </a:tabLst>
              </a:pPr>
              <a:r>
                <a:rPr lang="en-GB" sz="1600" dirty="0">
                  <a:cs typeface="Calibri" panose="020F0502020204030204" pitchFamily="34" charset="0"/>
                  <a:sym typeface="Wingdings" panose="05000000000000000000" pitchFamily="2" charset="2"/>
                </a:rPr>
                <a:t>(best model)</a:t>
              </a:r>
            </a:p>
          </p:txBody>
        </p:sp>
        <p:sp>
          <p:nvSpPr>
            <p:cNvPr id="18" name="TextBox 17">
              <a:extLst>
                <a:ext uri="{FF2B5EF4-FFF2-40B4-BE49-F238E27FC236}">
                  <a16:creationId xmlns:a16="http://schemas.microsoft.com/office/drawing/2014/main" id="{0E1763BF-4562-2294-0BDD-3BD9DB86338A}"/>
                </a:ext>
              </a:extLst>
            </p:cNvPr>
            <p:cNvSpPr txBox="1"/>
            <p:nvPr/>
          </p:nvSpPr>
          <p:spPr>
            <a:xfrm>
              <a:off x="11237051" y="4586617"/>
              <a:ext cx="910668" cy="1867171"/>
            </a:xfrm>
            <a:prstGeom prst="rect">
              <a:avLst/>
            </a:prstGeom>
            <a:noFill/>
          </p:spPr>
          <p:txBody>
            <a:bodyPr wrap="square" rtlCol="0" anchor="ctr">
              <a:noAutofit/>
            </a:bodyPr>
            <a:lstStyle/>
            <a:p>
              <a:pPr algn="ctr" defTabSz="904875">
                <a:tabLst>
                  <a:tab pos="715963" algn="l"/>
                  <a:tab pos="3228975" algn="l"/>
                </a:tabLst>
              </a:pPr>
              <a:r>
                <a:rPr lang="en-GB" sz="1600" dirty="0">
                  <a:cs typeface="Calibri" panose="020F0502020204030204" pitchFamily="34" charset="0"/>
                  <a:sym typeface="Wingdings" panose="05000000000000000000" pitchFamily="2" charset="2"/>
                </a:rPr>
                <a:t>MLP</a:t>
              </a:r>
            </a:p>
            <a:p>
              <a:pPr algn="ctr" defTabSz="904875">
                <a:tabLst>
                  <a:tab pos="715963" algn="l"/>
                  <a:tab pos="3228975" algn="l"/>
                </a:tabLst>
              </a:pPr>
              <a:r>
                <a:rPr lang="en-GB" sz="1600" dirty="0">
                  <a:cs typeface="Calibri" panose="020F0502020204030204" pitchFamily="34" charset="0"/>
                  <a:sym typeface="Wingdings" panose="05000000000000000000" pitchFamily="2" charset="2"/>
                </a:rPr>
                <a:t>(top 10 models)</a:t>
              </a:r>
            </a:p>
          </p:txBody>
        </p:sp>
      </p:grpSp>
      <p:sp>
        <p:nvSpPr>
          <p:cNvPr id="7" name="Line 2">
            <a:extLst>
              <a:ext uri="{FF2B5EF4-FFF2-40B4-BE49-F238E27FC236}">
                <a16:creationId xmlns:a16="http://schemas.microsoft.com/office/drawing/2014/main" id="{6BC6C2B4-D5B4-3201-B124-247B062C69C3}"/>
              </a:ext>
            </a:extLst>
          </p:cNvPr>
          <p:cNvSpPr/>
          <p:nvPr/>
        </p:nvSpPr>
        <p:spPr>
          <a:xfrm>
            <a:off x="513273" y="87064"/>
            <a:ext cx="8229600"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8" name="Line 2">
            <a:extLst>
              <a:ext uri="{FF2B5EF4-FFF2-40B4-BE49-F238E27FC236}">
                <a16:creationId xmlns:a16="http://schemas.microsoft.com/office/drawing/2014/main" id="{26D5FBC1-D422-5BE4-DBFD-D5C4B2C74D20}"/>
              </a:ext>
            </a:extLst>
          </p:cNvPr>
          <p:cNvSpPr/>
          <p:nvPr/>
        </p:nvSpPr>
        <p:spPr>
          <a:xfrm>
            <a:off x="513273" y="899844"/>
            <a:ext cx="8229600"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dirty="0"/>
          </a:p>
        </p:txBody>
      </p:sp>
    </p:spTree>
    <p:extLst>
      <p:ext uri="{BB962C8B-B14F-4D97-AF65-F5344CB8AC3E}">
        <p14:creationId xmlns:p14="http://schemas.microsoft.com/office/powerpoint/2010/main" val="3728484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xEl>
                                              <p:pRg st="3" end="3"/>
                                            </p:txEl>
                                          </p:spTgt>
                                        </p:tgtEl>
                                        <p:attrNameLst>
                                          <p:attrName>style.visibility</p:attrName>
                                        </p:attrNameLst>
                                      </p:cBhvr>
                                      <p:to>
                                        <p:strVal val="visible"/>
                                      </p:to>
                                    </p:set>
                                    <p:animEffect transition="in" filter="fade">
                                      <p:cBhvr>
                                        <p:cTn id="12" dur="500"/>
                                        <p:tgtEl>
                                          <p:spTgt spid="2">
                                            <p:txEl>
                                              <p:pRg st="3" end="3"/>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FCC01-EFCA-F06B-9778-7B0F51918C03}"/>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5A265B12-E321-65E4-EA61-0017713886C9}"/>
              </a:ext>
            </a:extLst>
          </p:cNvPr>
          <p:cNvSpPr>
            <a:spLocks noGrp="1"/>
          </p:cNvSpPr>
          <p:nvPr>
            <p:ph idx="1"/>
          </p:nvPr>
        </p:nvSpPr>
        <p:spPr>
          <a:xfrm>
            <a:off x="720000" y="1268759"/>
            <a:ext cx="8379612" cy="1580767"/>
          </a:xfrm>
        </p:spPr>
        <p:txBody>
          <a:bodyPr>
            <a:noAutofit/>
          </a:bodyPr>
          <a:lstStyle/>
          <a:p>
            <a:pPr marL="0" lvl="1" indent="0">
              <a:buNone/>
              <a:tabLst>
                <a:tab pos="3138488" algn="l"/>
              </a:tabLst>
            </a:pPr>
            <a:r>
              <a:rPr lang="en-GB" b="1" dirty="0"/>
              <a:t>Final observations</a:t>
            </a:r>
          </a:p>
          <a:p>
            <a:pPr algn="l" defTabSz="904875">
              <a:tabLst>
                <a:tab pos="715963" algn="l"/>
                <a:tab pos="3228975" algn="l"/>
              </a:tabLst>
            </a:pPr>
            <a:r>
              <a:rPr lang="en-GB" dirty="0">
                <a:cs typeface="Calibri" panose="020F0502020204030204" pitchFamily="34" charset="0"/>
                <a:sym typeface="Wingdings" panose="05000000000000000000" pitchFamily="2" charset="2"/>
              </a:rPr>
              <a:t>MLPs usually outperform traditional MNL-based choice models in terms of model fit</a:t>
            </a:r>
          </a:p>
          <a:p>
            <a:pPr algn="l" defTabSz="904875">
              <a:tabLst>
                <a:tab pos="715963" algn="l"/>
                <a:tab pos="3228975" algn="l"/>
              </a:tabLst>
            </a:pPr>
            <a:endParaRPr lang="en-GB" dirty="0">
              <a:cs typeface="Calibri" panose="020F0502020204030204" pitchFamily="34" charset="0"/>
              <a:sym typeface="Wingdings" panose="05000000000000000000" pitchFamily="2" charset="2"/>
            </a:endParaRPr>
          </a:p>
          <a:p>
            <a:pPr algn="l" defTabSz="904875">
              <a:tabLst>
                <a:tab pos="715963" algn="l"/>
                <a:tab pos="3228975" algn="l"/>
              </a:tabLst>
            </a:pPr>
            <a:r>
              <a:rPr lang="en-GB" dirty="0">
                <a:cs typeface="Calibri" panose="020F0502020204030204" pitchFamily="34" charset="0"/>
                <a:sym typeface="Wingdings" panose="05000000000000000000" pitchFamily="2" charset="2"/>
              </a:rPr>
              <a:t>MLPs indeed can overcome the ad-hoc-ness of the model specification in traditional choice models</a:t>
            </a:r>
          </a:p>
          <a:p>
            <a:pPr marL="0" lvl="1" indent="0">
              <a:buNone/>
              <a:tabLst>
                <a:tab pos="3138488" algn="l"/>
              </a:tabLst>
            </a:pPr>
            <a:endParaRPr lang="en-GB" b="1" dirty="0"/>
          </a:p>
        </p:txBody>
      </p:sp>
      <p:sp>
        <p:nvSpPr>
          <p:cNvPr id="4" name="Slide Number Placeholder 3">
            <a:extLst>
              <a:ext uri="{FF2B5EF4-FFF2-40B4-BE49-F238E27FC236}">
                <a16:creationId xmlns:a16="http://schemas.microsoft.com/office/drawing/2014/main" id="{B2B05FEE-5CE5-847A-E413-19FDAEAF129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80</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Content Placeholder 2">
            <a:extLst>
              <a:ext uri="{FF2B5EF4-FFF2-40B4-BE49-F238E27FC236}">
                <a16:creationId xmlns:a16="http://schemas.microsoft.com/office/drawing/2014/main" id="{B075EFC2-177C-E2F5-FA47-95AE1050DA4C}"/>
              </a:ext>
            </a:extLst>
          </p:cNvPr>
          <p:cNvSpPr txBox="1">
            <a:spLocks/>
          </p:cNvSpPr>
          <p:nvPr/>
        </p:nvSpPr>
        <p:spPr>
          <a:xfrm>
            <a:off x="677397" y="1967023"/>
            <a:ext cx="4856207" cy="3500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14FA0AC0-C1DD-ED1C-F16F-E2463987E5E2}"/>
              </a:ext>
            </a:extLst>
          </p:cNvPr>
          <p:cNvSpPr txBox="1"/>
          <p:nvPr/>
        </p:nvSpPr>
        <p:spPr>
          <a:xfrm>
            <a:off x="719999" y="3266613"/>
            <a:ext cx="6586147" cy="1790580"/>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However …</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MLPs give ZERO behavioural or economic insight</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MLPs may violate behavioural regularity e.g.</a:t>
            </a:r>
          </a:p>
          <a:p>
            <a:pPr marL="742950" marR="0" lvl="1" indent="-285750" algn="l" defTabSz="904875" rtl="0" eaLnBrk="1" fontAlgn="auto" latinLnBrk="0" hangingPunct="1">
              <a:lnSpc>
                <a:spcPct val="100000"/>
              </a:lnSpc>
              <a:spcBef>
                <a:spcPts val="0"/>
              </a:spcBef>
              <a:spcAft>
                <a:spcPts val="0"/>
              </a:spcAft>
              <a:buClrTx/>
              <a:buSzTx/>
              <a:buFont typeface="System Font Regular"/>
              <a:buChar char="−"/>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An increase in cost will (in some cases) lead to an increase in demand</a:t>
            </a:r>
          </a:p>
          <a:p>
            <a:pPr marL="742950" marR="0" lvl="1" indent="-285750" algn="l" defTabSz="904875" rtl="0" eaLnBrk="1" fontAlgn="auto" latinLnBrk="0" hangingPunct="1">
              <a:lnSpc>
                <a:spcPct val="100000"/>
              </a:lnSpc>
              <a:spcBef>
                <a:spcPts val="0"/>
              </a:spcBef>
              <a:spcAft>
                <a:spcPts val="0"/>
              </a:spcAft>
              <a:buClrTx/>
              <a:buSzTx/>
              <a:buFont typeface="System Font Regular"/>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7" name="TextBox 6">
            <a:extLst>
              <a:ext uri="{FF2B5EF4-FFF2-40B4-BE49-F238E27FC236}">
                <a16:creationId xmlns:a16="http://schemas.microsoft.com/office/drawing/2014/main" id="{3F6CC4B2-64F0-980F-70F4-6569C672D84F}"/>
              </a:ext>
            </a:extLst>
          </p:cNvPr>
          <p:cNvSpPr txBox="1"/>
          <p:nvPr/>
        </p:nvSpPr>
        <p:spPr>
          <a:xfrm>
            <a:off x="719998" y="5186849"/>
            <a:ext cx="6586148" cy="1580768"/>
          </a:xfrm>
          <a:prstGeom prst="rect">
            <a:avLst/>
          </a:prstGeom>
          <a:noFill/>
        </p:spPr>
        <p:txBody>
          <a:bodyPr wrap="square" rtlCol="0">
            <a:noAutofit/>
          </a:bodyPr>
          <a:lstStyle/>
          <a:p>
            <a:pPr marL="742950" marR="0" lvl="1" indent="-285750" algn="l" defTabSz="904875" rtl="0" eaLnBrk="1" fontAlgn="auto" latinLnBrk="0" hangingPunct="1">
              <a:lnSpc>
                <a:spcPct val="100000"/>
              </a:lnSpc>
              <a:spcBef>
                <a:spcPts val="0"/>
              </a:spcBef>
              <a:spcAft>
                <a:spcPts val="0"/>
              </a:spcAft>
              <a:buClrTx/>
              <a:buSzTx/>
              <a:buFont typeface="System Font Regular"/>
              <a:buChar char="−"/>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Proportional substitution. Despite their complexity ANNs cannot account for unobserved preference heterogeneity </a:t>
            </a:r>
          </a:p>
          <a:p>
            <a:pPr marL="742950" marR="0" lvl="1" indent="-285750" algn="l" defTabSz="904875" rtl="0" eaLnBrk="1" fontAlgn="auto" latinLnBrk="0" hangingPunct="1">
              <a:lnSpc>
                <a:spcPct val="100000"/>
              </a:lnSpc>
              <a:spcBef>
                <a:spcPts val="0"/>
              </a:spcBef>
              <a:spcAft>
                <a:spcPts val="0"/>
              </a:spcAft>
              <a:buClrTx/>
              <a:buSzTx/>
              <a:buFont typeface="System Font Regular"/>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742950" marR="0" lvl="1" indent="-285750" algn="l" defTabSz="904875" rtl="0" eaLnBrk="1" fontAlgn="auto" latinLnBrk="0" hangingPunct="1">
              <a:lnSpc>
                <a:spcPct val="100000"/>
              </a:lnSpc>
              <a:spcBef>
                <a:spcPts val="0"/>
              </a:spcBef>
              <a:spcAft>
                <a:spcPts val="0"/>
              </a:spcAft>
              <a:buClrTx/>
              <a:buSzTx/>
              <a:buFont typeface="System Font Regular"/>
              <a:buChar char="−"/>
              <a:tabLst>
                <a:tab pos="715963" algn="l"/>
                <a:tab pos="3228975"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rPr>
              <a:t>One cannot “trust” this model to make sensible predictions + multiple outcomes</a:t>
            </a:r>
          </a:p>
        </p:txBody>
      </p:sp>
      <p:grpSp>
        <p:nvGrpSpPr>
          <p:cNvPr id="8" name="Group 7">
            <a:extLst>
              <a:ext uri="{FF2B5EF4-FFF2-40B4-BE49-F238E27FC236}">
                <a16:creationId xmlns:a16="http://schemas.microsoft.com/office/drawing/2014/main" id="{91F5AA9F-631B-5C05-E65C-C878220CEA46}"/>
              </a:ext>
            </a:extLst>
          </p:cNvPr>
          <p:cNvGrpSpPr/>
          <p:nvPr/>
        </p:nvGrpSpPr>
        <p:grpSpPr>
          <a:xfrm>
            <a:off x="7950977" y="4018235"/>
            <a:ext cx="1249378" cy="1919334"/>
            <a:chOff x="7300267" y="2745853"/>
            <a:chExt cx="1249378" cy="1919334"/>
          </a:xfrm>
        </p:grpSpPr>
        <p:sp>
          <p:nvSpPr>
            <p:cNvPr id="9" name="Right Arrow 8">
              <a:extLst>
                <a:ext uri="{FF2B5EF4-FFF2-40B4-BE49-F238E27FC236}">
                  <a16:creationId xmlns:a16="http://schemas.microsoft.com/office/drawing/2014/main" id="{FB782BB0-4706-87AD-29C3-64B6752796B4}"/>
                </a:ext>
              </a:extLst>
            </p:cNvPr>
            <p:cNvSpPr/>
            <p:nvPr/>
          </p:nvSpPr>
          <p:spPr>
            <a:xfrm>
              <a:off x="7300267" y="2745853"/>
              <a:ext cx="1249378" cy="1919334"/>
            </a:xfrm>
            <a:prstGeom prst="rightArrow">
              <a:avLst>
                <a:gd name="adj1" fmla="val 51886"/>
                <a:gd name="adj2" fmla="val 50000"/>
              </a:avLst>
            </a:prstGeom>
            <a:noFill/>
            <a:ln w="57150">
              <a:solidFill>
                <a:srgbClr val="24B5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NL"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0" name="Picture 2" descr="Image result for understand icon">
              <a:extLst>
                <a:ext uri="{FF2B5EF4-FFF2-40B4-BE49-F238E27FC236}">
                  <a16:creationId xmlns:a16="http://schemas.microsoft.com/office/drawing/2014/main" id="{0A4035E4-4AE7-90FF-229A-D8D52442689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07675" y="3286270"/>
              <a:ext cx="838501" cy="838501"/>
            </a:xfrm>
            <a:prstGeom prst="rect">
              <a:avLst/>
            </a:prstGeom>
            <a:noFill/>
            <a:extLst>
              <a:ext uri="{909E8E84-426E-40DD-AFC4-6F175D3DCCD1}">
                <a14:hiddenFill xmlns:a14="http://schemas.microsoft.com/office/drawing/2010/main">
                  <a:solidFill>
                    <a:srgbClr val="FFFFFF"/>
                  </a:solidFill>
                </a14:hiddenFill>
              </a:ext>
            </a:extLst>
          </p:spPr>
        </p:pic>
      </p:grpSp>
      <p:sp>
        <p:nvSpPr>
          <p:cNvPr id="12" name="TextBox 11">
            <a:extLst>
              <a:ext uri="{FF2B5EF4-FFF2-40B4-BE49-F238E27FC236}">
                <a16:creationId xmlns:a16="http://schemas.microsoft.com/office/drawing/2014/main" id="{BA97E69E-4E83-05A9-6A83-4CCF5A730288}"/>
              </a:ext>
            </a:extLst>
          </p:cNvPr>
          <p:cNvSpPr txBox="1"/>
          <p:nvPr/>
        </p:nvSpPr>
        <p:spPr>
          <a:xfrm>
            <a:off x="9241777" y="4558652"/>
            <a:ext cx="2480324" cy="918988"/>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NL" sz="1800" b="1"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Utility-based ML</a:t>
            </a:r>
          </a:p>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NL"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a:p>
            <a:pPr marL="285750" marR="0" lvl="0" indent="-285750" algn="l" defTabSz="904875" rtl="0" eaLnBrk="1" fontAlgn="auto" latinLnBrk="0" hangingPunct="1">
              <a:lnSpc>
                <a:spcPct val="100000"/>
              </a:lnSpc>
              <a:spcBef>
                <a:spcPts val="0"/>
              </a:spcBef>
              <a:spcAft>
                <a:spcPts val="0"/>
              </a:spcAft>
              <a:buClrTx/>
              <a:buSzTx/>
              <a:buFont typeface="Wingdings" pitchFamily="2" charset="2"/>
              <a:buChar char="Ø"/>
              <a:tabLst>
                <a:tab pos="715963" algn="l"/>
                <a:tab pos="3228975" algn="l"/>
              </a:tabLst>
              <a:defRPr/>
            </a:pPr>
            <a:r>
              <a:rPr kumimoji="0" lang="en-NL"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a.k.a. Hybrid choice models</a:t>
            </a: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742950" marR="0" lvl="1"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pic>
        <p:nvPicPr>
          <p:cNvPr id="13" name="Picture 4" descr="Too much balance memes busy be balanced out with imbalance memes :  r/thanosdidnothingwrong">
            <a:extLst>
              <a:ext uri="{FF2B5EF4-FFF2-40B4-BE49-F238E27FC236}">
                <a16:creationId xmlns:a16="http://schemas.microsoft.com/office/drawing/2014/main" id="{DB9F1053-09BB-2A75-F0F1-B00F477040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82093" y="3000914"/>
            <a:ext cx="1252946" cy="1454643"/>
          </a:xfrm>
          <a:prstGeom prst="rect">
            <a:avLst/>
          </a:prstGeom>
          <a:noFill/>
          <a:extLst>
            <a:ext uri="{909E8E84-426E-40DD-AFC4-6F175D3DCCD1}">
              <a14:hiddenFill xmlns:a14="http://schemas.microsoft.com/office/drawing/2010/main">
                <a:solidFill>
                  <a:srgbClr val="FFFFFF"/>
                </a:solidFill>
              </a14:hiddenFill>
            </a:ext>
          </a:extLst>
        </p:spPr>
      </p:pic>
      <p:sp>
        <p:nvSpPr>
          <p:cNvPr id="11" name="Line 2">
            <a:extLst>
              <a:ext uri="{FF2B5EF4-FFF2-40B4-BE49-F238E27FC236}">
                <a16:creationId xmlns:a16="http://schemas.microsoft.com/office/drawing/2014/main" id="{20197D0A-1E34-E5AC-74C1-A6A594ECE888}"/>
              </a:ext>
            </a:extLst>
          </p:cNvPr>
          <p:cNvSpPr/>
          <p:nvPr/>
        </p:nvSpPr>
        <p:spPr>
          <a:xfrm>
            <a:off x="513273" y="8706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4" name="Line 2">
            <a:extLst>
              <a:ext uri="{FF2B5EF4-FFF2-40B4-BE49-F238E27FC236}">
                <a16:creationId xmlns:a16="http://schemas.microsoft.com/office/drawing/2014/main" id="{8003D3E5-EBD5-8A0D-4315-AAF411B9340B}"/>
              </a:ext>
            </a:extLst>
          </p:cNvPr>
          <p:cNvSpPr/>
          <p:nvPr/>
        </p:nvSpPr>
        <p:spPr>
          <a:xfrm>
            <a:off x="513273" y="899844"/>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7" name="Title 1">
            <a:extLst>
              <a:ext uri="{FF2B5EF4-FFF2-40B4-BE49-F238E27FC236}">
                <a16:creationId xmlns:a16="http://schemas.microsoft.com/office/drawing/2014/main" id="{2040BB9F-86E9-9AB5-D2A4-1F2C61905F2F}"/>
              </a:ext>
            </a:extLst>
          </p:cNvPr>
          <p:cNvSpPr txBox="1">
            <a:spLocks/>
          </p:cNvSpPr>
          <p:nvPr/>
        </p:nvSpPr>
        <p:spPr>
          <a:xfrm>
            <a:off x="1979451" y="-60287"/>
            <a:ext cx="8229600" cy="1143000"/>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a:lstStyle>
          <a:p>
            <a:r>
              <a:rPr lang="en-GB"/>
              <a:t>MLP</a:t>
            </a:r>
            <a:endParaRPr lang="en-GB" sz="1800" dirty="0"/>
          </a:p>
        </p:txBody>
      </p:sp>
    </p:spTree>
    <p:extLst>
      <p:ext uri="{BB962C8B-B14F-4D97-AF65-F5344CB8AC3E}">
        <p14:creationId xmlns:p14="http://schemas.microsoft.com/office/powerpoint/2010/main" val="24698312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9050">
          <a:solidFill>
            <a:srgbClr val="24B5B3"/>
          </a:solidFill>
          <a:prstDash val="dash"/>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a:noAutofit/>
      </a:bodyPr>
      <a:lstStyle>
        <a:defPPr marL="285750" indent="-285750" algn="l" defTabSz="904875">
          <a:buFont typeface="Arial" panose="020B0604020202020204" pitchFamily="34" charset="0"/>
          <a:buChar char="•"/>
          <a:tabLst>
            <a:tab pos="715963" algn="l"/>
            <a:tab pos="3228975" algn="l"/>
          </a:tabLst>
          <a:defRPr dirty="0" smtClean="0">
            <a:cs typeface="Calibri" panose="020F0502020204030204" pitchFamily="34" charset="0"/>
            <a:sym typeface="Wingdings" panose="05000000000000000000" pitchFamily="2" charset="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a:noAutofit/>
      </a:bodyPr>
      <a:lstStyle>
        <a:defPPr marL="285750" indent="-285750" algn="l" defTabSz="904875">
          <a:buFont typeface="Arial" panose="020B0604020202020204" pitchFamily="34" charset="0"/>
          <a:buChar char="•"/>
          <a:tabLst>
            <a:tab pos="715963" algn="l"/>
            <a:tab pos="3228975" algn="l"/>
          </a:tabLst>
          <a:defRPr dirty="0" smtClean="0">
            <a:cs typeface="Calibri" panose="020F0502020204030204" pitchFamily="34" charset="0"/>
            <a:sym typeface="Wingdings" panose="05000000000000000000" pitchFamily="2" charset="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9050">
          <a:solidFill>
            <a:srgbClr val="24B5B3"/>
          </a:solidFill>
          <a:prstDash val="dash"/>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a:noAutofit/>
      </a:bodyPr>
      <a:lstStyle>
        <a:defPPr marL="285750" indent="-285750" algn="l" defTabSz="904875">
          <a:buFont typeface="Arial" panose="020B0604020202020204" pitchFamily="34" charset="0"/>
          <a:buChar char="•"/>
          <a:tabLst>
            <a:tab pos="715963" algn="l"/>
            <a:tab pos="3228975" algn="l"/>
          </a:tabLst>
          <a:defRPr dirty="0" smtClean="0">
            <a:cs typeface="Calibri" panose="020F0502020204030204" pitchFamily="34" charset="0"/>
            <a:sym typeface="Wingdings" panose="05000000000000000000" pitchFamily="2" charset="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430</TotalTime>
  <Words>5534</Words>
  <Application>Microsoft Macintosh PowerPoint</Application>
  <PresentationFormat>Widescreen</PresentationFormat>
  <Paragraphs>1583</Paragraphs>
  <Slides>80</Slides>
  <Notes>32</Notes>
  <HiddenSlides>0</HiddenSlides>
  <MMClips>0</MMClips>
  <ScaleCrop>false</ScaleCrop>
  <HeadingPairs>
    <vt:vector size="8" baseType="variant">
      <vt:variant>
        <vt:lpstr>Fonts Used</vt:lpstr>
      </vt:variant>
      <vt:variant>
        <vt:i4>11</vt:i4>
      </vt:variant>
      <vt:variant>
        <vt:lpstr>Theme</vt:lpstr>
      </vt:variant>
      <vt:variant>
        <vt:i4>4</vt:i4>
      </vt:variant>
      <vt:variant>
        <vt:lpstr>Embedded OLE Servers</vt:lpstr>
      </vt:variant>
      <vt:variant>
        <vt:i4>2</vt:i4>
      </vt:variant>
      <vt:variant>
        <vt:lpstr>Slide Titles</vt:lpstr>
      </vt:variant>
      <vt:variant>
        <vt:i4>80</vt:i4>
      </vt:variant>
    </vt:vector>
  </HeadingPairs>
  <TitlesOfParts>
    <vt:vector size="97" baseType="lpstr">
      <vt:lpstr>-webkit-standard</vt:lpstr>
      <vt:lpstr>Arial</vt:lpstr>
      <vt:lpstr>Calibri</vt:lpstr>
      <vt:lpstr>Calibri Light</vt:lpstr>
      <vt:lpstr>Cambria Math</vt:lpstr>
      <vt:lpstr>Gadugi</vt:lpstr>
      <vt:lpstr>Symbol</vt:lpstr>
      <vt:lpstr>System Font Regular</vt:lpstr>
      <vt:lpstr>Tahoma</vt:lpstr>
      <vt:lpstr>Times New Roman</vt:lpstr>
      <vt:lpstr>Wingdings</vt:lpstr>
      <vt:lpstr>Office Theme</vt:lpstr>
      <vt:lpstr>Custom Design</vt:lpstr>
      <vt:lpstr>1_Custom Design</vt:lpstr>
      <vt:lpstr>2_Custom Design</vt:lpstr>
      <vt:lpstr>Equation</vt:lpstr>
      <vt:lpstr>Visio</vt:lpstr>
      <vt:lpstr>Machine learning approaches for discrete choice analysis</vt:lpstr>
      <vt:lpstr>Course set-up</vt:lpstr>
      <vt:lpstr>Theory-driven Models (RUM-MNL) </vt:lpstr>
      <vt:lpstr>Theory-driven vs data-driven</vt:lpstr>
      <vt:lpstr>Theory-driven vs data-driven</vt:lpstr>
      <vt:lpstr>Limitations of RUM-MNL models</vt:lpstr>
      <vt:lpstr>Limitations of RUM-MNL models</vt:lpstr>
      <vt:lpstr>Limitations of RUM-MNL models</vt:lpstr>
      <vt:lpstr>Limitations of RUM-MNL models</vt:lpstr>
      <vt:lpstr>PowerPoint Presentation</vt:lpstr>
      <vt:lpstr>PowerPoint Presentation</vt:lpstr>
      <vt:lpstr>Data-driven Models  </vt:lpstr>
      <vt:lpstr>Theory-driven vs data-driven</vt:lpstr>
      <vt:lpstr>Machine Learning paradigms</vt:lpstr>
      <vt:lpstr>PowerPoint Presentation</vt:lpstr>
      <vt:lpstr>PowerPoint Presentation</vt:lpstr>
      <vt:lpstr>Artificial Neural Networks </vt:lpstr>
      <vt:lpstr>Artificial neural networks </vt:lpstr>
      <vt:lpstr>Artificial neural networks </vt:lpstr>
      <vt:lpstr>Artificial neural networks </vt:lpstr>
      <vt:lpstr>Artificial neural networks </vt:lpstr>
      <vt:lpstr>Artificial neural networks </vt:lpstr>
      <vt:lpstr>Artificial neural networks </vt:lpstr>
      <vt:lpstr>Artificial neural networks </vt:lpstr>
      <vt:lpstr>Artificial neural networks </vt:lpstr>
      <vt:lpstr>Artificial neural networks </vt:lpstr>
      <vt:lpstr>Training ANNs</vt:lpstr>
      <vt:lpstr>Training ANNs</vt:lpstr>
      <vt:lpstr>Training ANNs</vt:lpstr>
      <vt:lpstr>Training ANNs</vt:lpstr>
      <vt:lpstr>Training ANNs</vt:lpstr>
      <vt:lpstr>Training ANNs</vt:lpstr>
      <vt:lpstr>Training ANNs</vt:lpstr>
      <vt:lpstr>Training ANNs</vt:lpstr>
      <vt:lpstr>Training ANNs</vt:lpstr>
      <vt:lpstr>Training ANNs</vt:lpstr>
      <vt:lpstr>Training ANNs</vt:lpstr>
      <vt:lpstr>Training ANNs</vt:lpstr>
      <vt:lpstr>Training ANNs</vt:lpstr>
      <vt:lpstr>Training ANNs</vt:lpstr>
      <vt:lpstr>Training ANNs</vt:lpstr>
      <vt:lpstr>Training ANNs</vt:lpstr>
      <vt:lpstr>K-fold cross validation</vt:lpstr>
      <vt:lpstr>Model performance metrics</vt:lpstr>
      <vt:lpstr>Model performance metrics</vt:lpstr>
      <vt:lpstr>Model performance metrics</vt:lpstr>
      <vt:lpstr>Model performance metrics</vt:lpstr>
      <vt:lpstr>Model performance metrics</vt:lpstr>
      <vt:lpstr>Model performance metrics</vt:lpstr>
      <vt:lpstr>Model performance metrics</vt:lpstr>
      <vt:lpstr>Model performance metrics</vt:lpstr>
      <vt:lpstr>Model performance metrics</vt:lpstr>
      <vt:lpstr>Model performance metrics</vt:lpstr>
      <vt:lpstr>Model performance metrics</vt:lpstr>
      <vt:lpstr>Model performance metrics</vt:lpstr>
      <vt:lpstr>Model performance metrics</vt:lpstr>
      <vt:lpstr>Model performance metrics</vt:lpstr>
      <vt:lpstr>      An empirical example MLP</vt:lpstr>
      <vt:lpstr>Empirical example MNL</vt:lpstr>
      <vt:lpstr>PowerPoint Presentation</vt:lpstr>
      <vt:lpstr>PowerPoint Presentation</vt:lpstr>
      <vt:lpstr>Empirical example MLP: Case A</vt:lpstr>
      <vt:lpstr>PowerPoint Presentation</vt:lpstr>
      <vt:lpstr>Empirical example MLP: Case A</vt:lpstr>
      <vt:lpstr>Empirical example MLP: Case A</vt:lpstr>
      <vt:lpstr>Empirical example MLP: Case A</vt:lpstr>
      <vt:lpstr>Empirical example MLP: Case A</vt:lpstr>
      <vt:lpstr>Empirical example MLP: Case A</vt:lpstr>
      <vt:lpstr>Empirical example MLP: Case A</vt:lpstr>
      <vt:lpstr>Empirical example MLP: Case A</vt:lpstr>
      <vt:lpstr>Empirical example MLP: Case A</vt:lpstr>
      <vt:lpstr>Empirical example MLP: Case A</vt:lpstr>
      <vt:lpstr>Empirical example MLP: Case B</vt:lpstr>
      <vt:lpstr>Empirical example MLP: Case B</vt:lpstr>
      <vt:lpstr>Empirical example MLP: Case B</vt:lpstr>
      <vt:lpstr>PowerPoint Presentation</vt:lpstr>
      <vt:lpstr>Empirical example MLP: Case B</vt:lpstr>
      <vt:lpstr>Empirical example MLP: Case B</vt:lpstr>
      <vt:lpstr>MLP</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Discrete Choice Analysis: micro-econometrics and machine learning approaches   Machine learning approaches for discrete choice analysis   Sander van Cranenburgh  Associate Professor  CityAI lab Section of Transport and Logistics Faculty of Technology, Policy and Management Delft University of Technology</dc:title>
  <dc:creator>Sander van Cranenburgh</dc:creator>
  <cp:lastModifiedBy>Gabriel Nova</cp:lastModifiedBy>
  <cp:revision>16</cp:revision>
  <dcterms:created xsi:type="dcterms:W3CDTF">2024-01-30T08:42:43Z</dcterms:created>
  <dcterms:modified xsi:type="dcterms:W3CDTF">2026-06-09T14:12:46Z</dcterms:modified>
</cp:coreProperties>
</file>